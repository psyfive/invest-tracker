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charts/style2.xml" ContentType="application/vnd.ms-office.chartstyl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charts/colors4.xml" ContentType="application/vnd.ms-office.chartcolorstyl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charts/colors2.xml" ContentType="application/vnd.ms-office.chartcolorstyle+xml"/>
  <Override PartName="/ppt/charts/colors3.xml" ContentType="application/vnd.ms-office.chartcolorstyl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charts/colors1.xml" ContentType="application/vnd.ms-office.chartcolorstyle+xml"/>
  <Override PartName="/ppt/slideLayouts/slideLayout10.xml" ContentType="application/vnd.openxmlformats-officedocument.presentationml.slideLayout+xml"/>
  <Default Extension="xlsx" ContentType="application/vnd.openxmlformats-officedocument.spreadsheetml.sheet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ppt/charts/style4.xml" ContentType="application/vnd.ms-office.chartstyle+xml"/>
  <Override PartName="/ppt/charts/style3.xml" ContentType="application/vnd.ms-office.chartstyl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charts/style1.xml" ContentType="application/vnd.ms-office.chartstyl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5" r:id="rId4"/>
    <p:sldId id="258" r:id="rId5"/>
    <p:sldId id="261" r:id="rId6"/>
    <p:sldId id="266" r:id="rId7"/>
    <p:sldId id="276" r:id="rId8"/>
    <p:sldId id="260" r:id="rId9"/>
    <p:sldId id="271" r:id="rId10"/>
    <p:sldId id="272" r:id="rId11"/>
    <p:sldId id="273" r:id="rId12"/>
    <p:sldId id="268" r:id="rId13"/>
    <p:sldId id="269" r:id="rId14"/>
    <p:sldId id="270" r:id="rId15"/>
    <p:sldId id="267" r:id="rId16"/>
    <p:sldId id="277" r:id="rId17"/>
    <p:sldId id="262" r:id="rId18"/>
    <p:sldId id="274" r:id="rId19"/>
    <p:sldId id="263" r:id="rId20"/>
    <p:sldId id="281" r:id="rId21"/>
    <p:sldId id="282" r:id="rId22"/>
    <p:sldId id="283" r:id="rId23"/>
    <p:sldId id="284" r:id="rId24"/>
    <p:sldId id="285" r:id="rId25"/>
    <p:sldId id="286" r:id="rId26"/>
  </p:sldIdLst>
  <p:sldSz cx="12192000" cy="6858000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0000CC"/>
    <a:srgbClr val="FB19E0"/>
    <a:srgbClr val="004283"/>
    <a:srgbClr val="F420BC"/>
    <a:srgbClr val="F618AC"/>
    <a:srgbClr val="F915D8"/>
    <a:srgbClr val="F7179C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-954" y="-29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Style" Target="style1.xml"/><Relationship Id="rId2" Type="http://schemas.microsoft.com/office/2011/relationships/chartColorStyle" Target="colors1.xml"/><Relationship Id="rId1" Type="http://schemas.openxmlformats.org/officeDocument/2006/relationships/package" Target="../embeddings/Microsoft_Office_Excel_____1.xlsx"/></Relationships>
</file>

<file path=ppt/charts/_rels/chart2.xml.rels><?xml version="1.0" encoding="UTF-8" standalone="yes"?>
<Relationships xmlns="http://schemas.openxmlformats.org/package/2006/relationships"><Relationship Id="rId3" Type="http://schemas.microsoft.com/office/2011/relationships/chartStyle" Target="style2.xml"/><Relationship Id="rId2" Type="http://schemas.microsoft.com/office/2011/relationships/chartColorStyle" Target="colors2.xml"/><Relationship Id="rId1" Type="http://schemas.openxmlformats.org/officeDocument/2006/relationships/package" Target="../embeddings/Microsoft_Office_Excel_____2.xlsx"/></Relationships>
</file>

<file path=ppt/charts/_rels/chart3.xml.rels><?xml version="1.0" encoding="UTF-8" standalone="yes"?>
<Relationships xmlns="http://schemas.openxmlformats.org/package/2006/relationships"><Relationship Id="rId3" Type="http://schemas.microsoft.com/office/2011/relationships/chartStyle" Target="style3.xml"/><Relationship Id="rId2" Type="http://schemas.microsoft.com/office/2011/relationships/chartColorStyle" Target="colors3.xml"/><Relationship Id="rId1" Type="http://schemas.openxmlformats.org/officeDocument/2006/relationships/package" Target="../embeddings/Microsoft_Office_Excel_____3.xlsx"/></Relationships>
</file>

<file path=ppt/charts/_rels/chart4.xml.rels><?xml version="1.0" encoding="UTF-8" standalone="yes"?>
<Relationships xmlns="http://schemas.openxmlformats.org/package/2006/relationships"><Relationship Id="rId3" Type="http://schemas.microsoft.com/office/2011/relationships/chartStyle" Target="style4.xml"/><Relationship Id="rId2" Type="http://schemas.microsoft.com/office/2011/relationships/chartColorStyle" Target="colors4.xml"/><Relationship Id="rId1" Type="http://schemas.openxmlformats.org/officeDocument/2006/relationships/package" Target="../embeddings/Microsoft_Office_Excel_____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ko-KR"/>
  <c:chart>
    <c:autoTitleDeleted val="1"/>
    <c:plotArea>
      <c:layout/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매출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cat>
            <c:numRef>
              <c:f>Sheet1!$A$2:$A$7</c:f>
              <c:numCache>
                <c:formatCode>General</c:formatCod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numCache>
            </c:numRef>
          </c:cat>
          <c:val>
            <c:numRef>
              <c:f>Sheet1!$B$2:$B$7</c:f>
              <c:numCache>
                <c:formatCode>General</c:formatCode>
                <c:ptCount val="6"/>
                <c:pt idx="0">
                  <c:v>1155</c:v>
                </c:pt>
                <c:pt idx="1">
                  <c:v>1201</c:v>
                </c:pt>
                <c:pt idx="2">
                  <c:v>1063</c:v>
                </c:pt>
                <c:pt idx="3">
                  <c:v>1381</c:v>
                </c:pt>
                <c:pt idx="4">
                  <c:v>1444</c:v>
                </c:pt>
                <c:pt idx="5">
                  <c:v>1605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영업이익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cat>
            <c:numRef>
              <c:f>Sheet1!$A$2:$A$7</c:f>
              <c:numCache>
                <c:formatCode>General</c:formatCod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numCache>
            </c:numRef>
          </c:cat>
          <c:val>
            <c:numRef>
              <c:f>Sheet1!$C$2:$C$7</c:f>
              <c:numCache>
                <c:formatCode>General</c:formatCode>
                <c:ptCount val="6"/>
                <c:pt idx="0">
                  <c:v>125</c:v>
                </c:pt>
                <c:pt idx="1">
                  <c:v>174</c:v>
                </c:pt>
                <c:pt idx="2">
                  <c:v>129</c:v>
                </c:pt>
                <c:pt idx="3">
                  <c:v>155</c:v>
                </c:pt>
                <c:pt idx="4">
                  <c:v>177</c:v>
                </c:pt>
              </c:numCache>
            </c:numRef>
          </c:val>
        </c:ser>
        <c:gapWidth val="219"/>
        <c:axId val="124678912"/>
        <c:axId val="124680448"/>
      </c:barChart>
      <c:lineChart>
        <c:grouping val="standard"/>
        <c:ser>
          <c:idx val="2"/>
          <c:order val="2"/>
          <c:tx>
            <c:strRef>
              <c:f>Sheet1!$D$1</c:f>
              <c:strCache>
                <c:ptCount val="1"/>
                <c:pt idx="0">
                  <c:v>영업이익률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numRef>
              <c:f>Sheet1!$A$2:$A$7</c:f>
              <c:numCache>
                <c:formatCode>General</c:formatCod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numCache>
            </c:numRef>
          </c:cat>
          <c:val>
            <c:numRef>
              <c:f>Sheet1!$D$2:$D$7</c:f>
              <c:numCache>
                <c:formatCode>0.00%</c:formatCode>
                <c:ptCount val="6"/>
                <c:pt idx="0">
                  <c:v>0.1087</c:v>
                </c:pt>
                <c:pt idx="1">
                  <c:v>0.14499999999999999</c:v>
                </c:pt>
                <c:pt idx="2">
                  <c:v>0.12139999999999999</c:v>
                </c:pt>
                <c:pt idx="3">
                  <c:v>0.112</c:v>
                </c:pt>
                <c:pt idx="4">
                  <c:v>0.12280000000000001</c:v>
                </c:pt>
                <c:pt idx="5">
                  <c:v>0.12770000000000001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순이익률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cat>
            <c:numRef>
              <c:f>Sheet1!$A$2:$A$7</c:f>
              <c:numCache>
                <c:formatCode>General</c:formatCod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numCache>
            </c:numRef>
          </c:cat>
          <c:val>
            <c:numRef>
              <c:f>Sheet1!$E$2:$E$7</c:f>
              <c:numCache>
                <c:formatCode>0.00%</c:formatCode>
                <c:ptCount val="6"/>
                <c:pt idx="0">
                  <c:v>8.4099999999999994E-2</c:v>
                </c:pt>
                <c:pt idx="1">
                  <c:v>0.1114</c:v>
                </c:pt>
                <c:pt idx="2">
                  <c:v>0.10730000000000001</c:v>
                </c:pt>
                <c:pt idx="3">
                  <c:v>0.1641</c:v>
                </c:pt>
                <c:pt idx="4">
                  <c:v>0.1249</c:v>
                </c:pt>
                <c:pt idx="5">
                  <c:v>0.1246</c:v>
                </c:pt>
              </c:numCache>
            </c:numRef>
          </c:val>
        </c:ser>
        <c:marker val="1"/>
        <c:axId val="124687488"/>
        <c:axId val="124681600"/>
      </c:lineChart>
      <c:catAx>
        <c:axId val="124678912"/>
        <c:scaling>
          <c:orientation val="minMax"/>
        </c:scaling>
        <c:axPos val="b"/>
        <c:numFmt formatCode="General" sourceLinked="1"/>
        <c:maj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24680448"/>
        <c:crosses val="autoZero"/>
        <c:auto val="1"/>
        <c:lblAlgn val="ctr"/>
        <c:lblOffset val="100"/>
      </c:catAx>
      <c:valAx>
        <c:axId val="124680448"/>
        <c:scaling>
          <c:orientation val="minMax"/>
        </c:scaling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24678912"/>
        <c:crosses val="autoZero"/>
        <c:crossBetween val="between"/>
      </c:valAx>
      <c:valAx>
        <c:axId val="124681600"/>
        <c:scaling>
          <c:orientation val="minMax"/>
        </c:scaling>
        <c:axPos val="r"/>
        <c:numFmt formatCode="0.00%" sourceLinked="1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24687488"/>
        <c:crosses val="max"/>
        <c:crossBetween val="between"/>
      </c:valAx>
      <c:catAx>
        <c:axId val="124687488"/>
        <c:scaling>
          <c:orientation val="minMax"/>
        </c:scaling>
        <c:delete val="1"/>
        <c:axPos val="b"/>
        <c:numFmt formatCode="General" sourceLinked="1"/>
        <c:tickLblPos val="none"/>
        <c:crossAx val="124681600"/>
        <c:crosses val="autoZero"/>
        <c:auto val="1"/>
        <c:lblAlgn val="ctr"/>
        <c:lblOffset val="100"/>
      </c:catAx>
      <c:spPr>
        <a:noFill/>
        <a:ln>
          <a:noFill/>
        </a:ln>
        <a:effectLst/>
      </c:spPr>
    </c:plotArea>
    <c:legend>
      <c:legendPos val="b"/>
      <c:layout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1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ko-KR"/>
  <c:chart>
    <c:autoTitleDeleted val="1"/>
    <c:plotArea>
      <c:layout/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자산총계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2026/1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969</c:v>
                </c:pt>
                <c:pt idx="1">
                  <c:v>1205</c:v>
                </c:pt>
                <c:pt idx="2">
                  <c:v>1280</c:v>
                </c:pt>
                <c:pt idx="3">
                  <c:v>1775</c:v>
                </c:pt>
                <c:pt idx="4">
                  <c:v>2325</c:v>
                </c:pt>
                <c:pt idx="5">
                  <c:v>2347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자본총계</c:v>
                </c:pt>
              </c:strCache>
            </c:strRef>
          </c:tx>
          <c:spPr>
            <a:solidFill>
              <a:srgbClr val="00B050"/>
            </a:solidFill>
            <a:ln>
              <a:noFill/>
            </a:ln>
            <a:effectLst/>
          </c:spPr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2026/1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336.5</c:v>
                </c:pt>
                <c:pt idx="1">
                  <c:v>456.8</c:v>
                </c:pt>
                <c:pt idx="2">
                  <c:v>581.1</c:v>
                </c:pt>
                <c:pt idx="3">
                  <c:v>1021.3</c:v>
                </c:pt>
                <c:pt idx="4">
                  <c:v>1726.7</c:v>
                </c:pt>
                <c:pt idx="5">
                  <c:v>1704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부채총계</c:v>
                </c:pt>
              </c:strCache>
            </c:strRef>
          </c:tx>
          <c:spPr>
            <a:solidFill>
              <a:srgbClr val="F420BC"/>
            </a:solidFill>
            <a:ln>
              <a:noFill/>
            </a:ln>
            <a:effectLst/>
          </c:spPr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2026/1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633</c:v>
                </c:pt>
                <c:pt idx="1">
                  <c:v>748</c:v>
                </c:pt>
                <c:pt idx="2">
                  <c:v>699</c:v>
                </c:pt>
                <c:pt idx="3">
                  <c:v>753</c:v>
                </c:pt>
                <c:pt idx="4">
                  <c:v>599</c:v>
                </c:pt>
                <c:pt idx="5">
                  <c:v>643</c:v>
                </c:pt>
              </c:numCache>
            </c:numRef>
          </c:val>
        </c:ser>
        <c:gapWidth val="219"/>
        <c:axId val="137827840"/>
        <c:axId val="137829376"/>
      </c:barChart>
      <c:lineChart>
        <c:grouping val="standard"/>
        <c:ser>
          <c:idx val="3"/>
          <c:order val="3"/>
          <c:tx>
            <c:strRef>
              <c:f>Sheet1!$E$1</c:f>
              <c:strCache>
                <c:ptCount val="1"/>
                <c:pt idx="0">
                  <c:v>부채비율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2026/1</c:v>
                </c:pt>
              </c:strCache>
            </c:strRef>
          </c:cat>
          <c:val>
            <c:numRef>
              <c:f>Sheet1!$E$2:$E$7</c:f>
              <c:numCache>
                <c:formatCode>0%</c:formatCode>
                <c:ptCount val="6"/>
                <c:pt idx="0">
                  <c:v>1.8800000000000001</c:v>
                </c:pt>
                <c:pt idx="1">
                  <c:v>1.6400000000000001</c:v>
                </c:pt>
                <c:pt idx="2">
                  <c:v>1.2</c:v>
                </c:pt>
                <c:pt idx="3">
                  <c:v>0.74000000000000055</c:v>
                </c:pt>
                <c:pt idx="4">
                  <c:v>0.35000000000000026</c:v>
                </c:pt>
                <c:pt idx="5">
                  <c:v>0.37000000000000027</c:v>
                </c:pt>
              </c:numCache>
            </c:numRef>
          </c:val>
        </c:ser>
        <c:marker val="1"/>
        <c:axId val="137836800"/>
        <c:axId val="137835264"/>
      </c:lineChart>
      <c:catAx>
        <c:axId val="137827840"/>
        <c:scaling>
          <c:orientation val="minMax"/>
        </c:scaling>
        <c:axPos val="b"/>
        <c:numFmt formatCode="General" sourceLinked="1"/>
        <c:maj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37829376"/>
        <c:crosses val="autoZero"/>
        <c:auto val="1"/>
        <c:lblAlgn val="ctr"/>
        <c:lblOffset val="100"/>
      </c:catAx>
      <c:valAx>
        <c:axId val="137829376"/>
        <c:scaling>
          <c:orientation val="minMax"/>
        </c:scaling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37827840"/>
        <c:crosses val="autoZero"/>
        <c:crossBetween val="between"/>
      </c:valAx>
      <c:valAx>
        <c:axId val="137835264"/>
        <c:scaling>
          <c:orientation val="minMax"/>
        </c:scaling>
        <c:axPos val="r"/>
        <c:numFmt formatCode="0%" sourceLinked="1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37836800"/>
        <c:crosses val="max"/>
        <c:crossBetween val="between"/>
      </c:valAx>
      <c:catAx>
        <c:axId val="137836800"/>
        <c:scaling>
          <c:orientation val="minMax"/>
        </c:scaling>
        <c:delete val="1"/>
        <c:axPos val="b"/>
        <c:numFmt formatCode="General" sourceLinked="1"/>
        <c:tickLblPos val="none"/>
        <c:crossAx val="137835264"/>
        <c:crosses val="autoZero"/>
        <c:auto val="1"/>
        <c:lblAlgn val="ctr"/>
        <c:lblOffset val="100"/>
      </c:catAx>
      <c:spPr>
        <a:noFill/>
        <a:ln>
          <a:noFill/>
        </a:ln>
        <a:effectLst/>
      </c:spPr>
    </c:plotArea>
    <c:legend>
      <c:legendPos val="b"/>
      <c:layout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1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ko-KR"/>
  <c:chart>
    <c:autoTitleDeleted val="1"/>
    <c:plotArea>
      <c:layout/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파워솔루션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cat>
            <c:strRef>
              <c:f>Sheet1!$A$2:$A$5</c:f>
              <c:strCache>
                <c:ptCount val="4"/>
                <c:pt idx="0">
                  <c:v>2023년</c:v>
                </c:pt>
                <c:pt idx="1">
                  <c:v>2024년</c:v>
                </c:pt>
                <c:pt idx="2">
                  <c:v>2025년</c:v>
                </c:pt>
                <c:pt idx="3">
                  <c:v>2026/1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39826</c:v>
                </c:pt>
                <c:pt idx="1">
                  <c:v>52127</c:v>
                </c:pt>
                <c:pt idx="2">
                  <c:v>67255</c:v>
                </c:pt>
                <c:pt idx="3">
                  <c:v>17172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에코솔루션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cat>
            <c:strRef>
              <c:f>Sheet1!$A$2:$A$5</c:f>
              <c:strCache>
                <c:ptCount val="4"/>
                <c:pt idx="0">
                  <c:v>2023년</c:v>
                </c:pt>
                <c:pt idx="1">
                  <c:v>2024년</c:v>
                </c:pt>
                <c:pt idx="2">
                  <c:v>2025년</c:v>
                </c:pt>
                <c:pt idx="3">
                  <c:v>2026/1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28433</c:v>
                </c:pt>
                <c:pt idx="1">
                  <c:v>36622</c:v>
                </c:pt>
                <c:pt idx="2">
                  <c:v>28003</c:v>
                </c:pt>
                <c:pt idx="3">
                  <c:v>6763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운항제어솔루션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cat>
            <c:strRef>
              <c:f>Sheet1!$A$2:$A$5</c:f>
              <c:strCache>
                <c:ptCount val="4"/>
                <c:pt idx="0">
                  <c:v>2023년</c:v>
                </c:pt>
                <c:pt idx="1">
                  <c:v>2024년</c:v>
                </c:pt>
                <c:pt idx="2">
                  <c:v>2025년</c:v>
                </c:pt>
                <c:pt idx="3">
                  <c:v>2026/1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13011</c:v>
                </c:pt>
                <c:pt idx="1">
                  <c:v>15906</c:v>
                </c:pt>
                <c:pt idx="2">
                  <c:v>15896</c:v>
                </c:pt>
                <c:pt idx="3">
                  <c:v>4458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MRO(단위: 백만원)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cat>
            <c:strRef>
              <c:f>Sheet1!$A$2:$A$5</c:f>
              <c:strCache>
                <c:ptCount val="4"/>
                <c:pt idx="0">
                  <c:v>2023년</c:v>
                </c:pt>
                <c:pt idx="1">
                  <c:v>2024년</c:v>
                </c:pt>
                <c:pt idx="2">
                  <c:v>2025년</c:v>
                </c:pt>
                <c:pt idx="3">
                  <c:v>2026/1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24998</c:v>
                </c:pt>
                <c:pt idx="1">
                  <c:v>33472</c:v>
                </c:pt>
                <c:pt idx="2">
                  <c:v>33271</c:v>
                </c:pt>
                <c:pt idx="3">
                  <c:v>5859</c:v>
                </c:pt>
              </c:numCache>
            </c:numRef>
          </c:val>
        </c:ser>
        <c:overlap val="100"/>
        <c:axId val="173333504"/>
        <c:axId val="173351680"/>
      </c:barChart>
      <c:catAx>
        <c:axId val="173333504"/>
        <c:scaling>
          <c:orientation val="minMax"/>
        </c:scaling>
        <c:axPos val="b"/>
        <c:numFmt formatCode="General" sourceLinked="1"/>
        <c:maj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73351680"/>
        <c:crosses val="autoZero"/>
        <c:auto val="1"/>
        <c:lblAlgn val="ctr"/>
        <c:lblOffset val="100"/>
      </c:catAx>
      <c:valAx>
        <c:axId val="173351680"/>
        <c:scaling>
          <c:orientation val="minMax"/>
          <c:max val="150000"/>
        </c:scaling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733335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1"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ko-KR"/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dirty="0" smtClean="0"/>
              <a:t>2025</a:t>
            </a:r>
            <a:r>
              <a:rPr lang="ko-KR" altLang="en-US" dirty="0" smtClean="0"/>
              <a:t>년</a:t>
            </a:r>
            <a:r>
              <a:rPr lang="ko-KR" altLang="en-US" baseline="0" dirty="0" smtClean="0"/>
              <a:t> 기준 매출</a:t>
            </a:r>
            <a:endParaRPr lang="ko-KR" altLang="en-US" dirty="0"/>
          </a:p>
        </c:rich>
      </c:tx>
      <c:layout/>
      <c:spPr>
        <a:noFill/>
        <a:ln>
          <a:noFill/>
        </a:ln>
        <a:effectLst/>
      </c:spPr>
    </c:title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판매</c:v>
                </c:pt>
              </c:strCache>
            </c:strRef>
          </c:tx>
          <c:dPt>
            <c:idx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cat>
            <c:strRef>
              <c:f>Sheet1!$A$2:$A$5</c:f>
              <c:strCache>
                <c:ptCount val="4"/>
                <c:pt idx="0">
                  <c:v>파워 47%</c:v>
                </c:pt>
                <c:pt idx="1">
                  <c:v>에코 19%</c:v>
                </c:pt>
                <c:pt idx="2">
                  <c:v>운항 11%</c:v>
                </c:pt>
                <c:pt idx="3">
                  <c:v>MRO 23%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67255</c:v>
                </c:pt>
                <c:pt idx="1">
                  <c:v>28003</c:v>
                </c:pt>
                <c:pt idx="2">
                  <c:v>15896</c:v>
                </c:pt>
                <c:pt idx="3">
                  <c:v>33271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layout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zero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1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75F27-35F5-4DD1-ACE0-F2DCF0CF1DA4}" type="datetimeFigureOut">
              <a:rPr lang="ko-KR" altLang="en-US" smtClean="0"/>
              <a:pPr/>
              <a:t>2026-06-27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1A03C-5398-4764-8AA7-64E06FE71A0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75F27-35F5-4DD1-ACE0-F2DCF0CF1DA4}" type="datetimeFigureOut">
              <a:rPr lang="ko-KR" altLang="en-US" smtClean="0"/>
              <a:pPr/>
              <a:t>2026-06-27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1A03C-5398-4764-8AA7-64E06FE71A0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75F27-35F5-4DD1-ACE0-F2DCF0CF1DA4}" type="datetimeFigureOut">
              <a:rPr lang="ko-KR" altLang="en-US" smtClean="0"/>
              <a:pPr/>
              <a:t>2026-06-27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1A03C-5398-4764-8AA7-64E06FE71A0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75F27-35F5-4DD1-ACE0-F2DCF0CF1DA4}" type="datetimeFigureOut">
              <a:rPr lang="ko-KR" altLang="en-US" smtClean="0"/>
              <a:pPr/>
              <a:t>2026-06-27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1A03C-5398-4764-8AA7-64E06FE71A0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75F27-35F5-4DD1-ACE0-F2DCF0CF1DA4}" type="datetimeFigureOut">
              <a:rPr lang="ko-KR" altLang="en-US" smtClean="0"/>
              <a:pPr/>
              <a:t>2026-06-27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1A03C-5398-4764-8AA7-64E06FE71A0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75F27-35F5-4DD1-ACE0-F2DCF0CF1DA4}" type="datetimeFigureOut">
              <a:rPr lang="ko-KR" altLang="en-US" smtClean="0"/>
              <a:pPr/>
              <a:t>2026-06-27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1A03C-5398-4764-8AA7-64E06FE71A0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75F27-35F5-4DD1-ACE0-F2DCF0CF1DA4}" type="datetimeFigureOut">
              <a:rPr lang="ko-KR" altLang="en-US" smtClean="0"/>
              <a:pPr/>
              <a:t>2026-06-27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1A03C-5398-4764-8AA7-64E06FE71A0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75F27-35F5-4DD1-ACE0-F2DCF0CF1DA4}" type="datetimeFigureOut">
              <a:rPr lang="ko-KR" altLang="en-US" smtClean="0"/>
              <a:pPr/>
              <a:t>2026-06-27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1A03C-5398-4764-8AA7-64E06FE71A0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75F27-35F5-4DD1-ACE0-F2DCF0CF1DA4}" type="datetimeFigureOut">
              <a:rPr lang="ko-KR" altLang="en-US" smtClean="0"/>
              <a:pPr/>
              <a:t>2026-06-27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1A03C-5398-4764-8AA7-64E06FE71A0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75F27-35F5-4DD1-ACE0-F2DCF0CF1DA4}" type="datetimeFigureOut">
              <a:rPr lang="ko-KR" altLang="en-US" smtClean="0"/>
              <a:pPr/>
              <a:t>2026-06-27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1A03C-5398-4764-8AA7-64E06FE71A0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75F27-35F5-4DD1-ACE0-F2DCF0CF1DA4}" type="datetimeFigureOut">
              <a:rPr lang="ko-KR" altLang="en-US" smtClean="0"/>
              <a:pPr/>
              <a:t>2026-06-27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1A03C-5398-4764-8AA7-64E06FE71A0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D75F27-35F5-4DD1-ACE0-F2DCF0CF1DA4}" type="datetimeFigureOut">
              <a:rPr lang="ko-KR" altLang="en-US" smtClean="0"/>
              <a:pPr/>
              <a:t>2026-06-27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F1A03C-5398-4764-8AA7-64E06FE71A0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567608" y="2636912"/>
            <a:ext cx="69127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dirty="0" err="1"/>
              <a:t>에스엔시스</a:t>
            </a:r>
            <a:endParaRPr lang="ko-KR" altLang="en-US" sz="4000" dirty="0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03712" y="692696"/>
            <a:ext cx="4493300" cy="15841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2567608" y="4017258"/>
            <a:ext cx="69127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/>
              <a:t>20260628 </a:t>
            </a:r>
            <a:r>
              <a:rPr lang="ko-KR" altLang="en-US" sz="4000" dirty="0"/>
              <a:t>김동현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2" cstate="print"/>
          <a:srcRect b="14449"/>
          <a:stretch/>
        </p:blipFill>
        <p:spPr>
          <a:xfrm>
            <a:off x="1271464" y="3072533"/>
            <a:ext cx="9124950" cy="3732114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0" y="0"/>
            <a:ext cx="12192000" cy="9087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19336" y="202630"/>
            <a:ext cx="10091464" cy="490066"/>
          </a:xfrm>
        </p:spPr>
        <p:txBody>
          <a:bodyPr>
            <a:noAutofit/>
          </a:bodyPr>
          <a:lstStyle/>
          <a:p>
            <a:pPr algn="l"/>
            <a:r>
              <a:rPr lang="en-US" altLang="ko-KR" sz="3600" dirty="0">
                <a:solidFill>
                  <a:schemeClr val="bg1"/>
                </a:solidFill>
              </a:rPr>
              <a:t>1. </a:t>
            </a:r>
            <a:r>
              <a:rPr lang="ko-KR" altLang="en-US" sz="3600" dirty="0">
                <a:solidFill>
                  <a:schemeClr val="bg1"/>
                </a:solidFill>
              </a:rPr>
              <a:t>기업개요</a:t>
            </a:r>
          </a:p>
        </p:txBody>
      </p:sp>
      <p:sp>
        <p:nvSpPr>
          <p:cNvPr id="4" name="제목 1"/>
          <p:cNvSpPr txBox="1">
            <a:spLocks/>
          </p:cNvSpPr>
          <p:nvPr/>
        </p:nvSpPr>
        <p:spPr>
          <a:xfrm>
            <a:off x="674712" y="850702"/>
            <a:ext cx="8229600" cy="164219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defRPr/>
            </a:pPr>
            <a:r>
              <a:rPr lang="en-US" altLang="ko-KR" sz="2800" dirty="0">
                <a:latin typeface="+mj-lt"/>
                <a:ea typeface="+mj-ea"/>
                <a:cs typeface="+mj-cs"/>
              </a:rPr>
              <a:t>2017. 9</a:t>
            </a:r>
            <a:r>
              <a:rPr lang="ko-KR" altLang="en-US" sz="2800" dirty="0">
                <a:latin typeface="+mj-lt"/>
                <a:ea typeface="+mj-ea"/>
                <a:cs typeface="+mj-cs"/>
              </a:rPr>
              <a:t>월 삼성중공업 기전사업부에서 분사</a:t>
            </a:r>
            <a:endParaRPr lang="en-US" altLang="ko-KR" sz="2800" dirty="0">
              <a:latin typeface="+mj-lt"/>
              <a:ea typeface="+mj-ea"/>
              <a:cs typeface="+mj-cs"/>
            </a:endParaRPr>
          </a:p>
          <a:p>
            <a:pPr>
              <a:lnSpc>
                <a:spcPct val="150000"/>
              </a:lnSpc>
              <a:spcBef>
                <a:spcPct val="0"/>
              </a:spcBef>
              <a:defRPr/>
            </a:pPr>
            <a:r>
              <a:rPr lang="en-US" altLang="ko-KR" sz="2400" dirty="0">
                <a:latin typeface="+mj-lt"/>
                <a:ea typeface="+mj-ea"/>
                <a:cs typeface="+mj-cs"/>
              </a:rPr>
              <a:t>  *  </a:t>
            </a:r>
            <a:r>
              <a:rPr lang="ko-KR" altLang="en-US" sz="2400" dirty="0">
                <a:latin typeface="+mj-lt"/>
                <a:ea typeface="+mj-ea"/>
                <a:cs typeface="+mj-cs"/>
              </a:rPr>
              <a:t>기전사업부 </a:t>
            </a:r>
            <a:r>
              <a:rPr lang="en-US" altLang="ko-KR" sz="2400" dirty="0">
                <a:latin typeface="+mj-lt"/>
                <a:ea typeface="+mj-ea"/>
                <a:cs typeface="+mj-cs"/>
              </a:rPr>
              <a:t>: </a:t>
            </a:r>
            <a:r>
              <a:rPr lang="ko-KR" altLang="en-US" sz="2400" dirty="0">
                <a:latin typeface="+mj-lt"/>
                <a:ea typeface="+mj-ea"/>
                <a:cs typeface="+mj-cs"/>
              </a:rPr>
              <a:t>선박제어장치 관련부서</a:t>
            </a:r>
            <a:endParaRPr lang="en-US" altLang="ko-KR" sz="2400" dirty="0">
              <a:latin typeface="+mj-lt"/>
              <a:ea typeface="+mj-ea"/>
              <a:cs typeface="+mj-cs"/>
            </a:endParaRPr>
          </a:p>
          <a:p>
            <a:pPr>
              <a:spcBef>
                <a:spcPct val="0"/>
              </a:spcBef>
              <a:defRPr/>
            </a:pPr>
            <a:r>
              <a:rPr lang="en-US" altLang="ko-KR" sz="2400" dirty="0">
                <a:latin typeface="+mj-lt"/>
                <a:ea typeface="+mj-ea"/>
                <a:cs typeface="+mj-cs"/>
              </a:rPr>
              <a:t>  ** </a:t>
            </a:r>
            <a:r>
              <a:rPr lang="ko-KR" altLang="en-US" sz="2400" dirty="0">
                <a:latin typeface="+mj-lt"/>
                <a:ea typeface="+mj-ea"/>
                <a:cs typeface="+mj-cs"/>
              </a:rPr>
              <a:t>분사배경    </a:t>
            </a:r>
            <a:r>
              <a:rPr lang="en-US" altLang="ko-KR" sz="2400" dirty="0">
                <a:latin typeface="+mj-lt"/>
                <a:ea typeface="+mj-ea"/>
                <a:cs typeface="+mj-cs"/>
              </a:rPr>
              <a:t>: </a:t>
            </a:r>
            <a:r>
              <a:rPr lang="ko-KR" altLang="en-US" sz="2400" dirty="0">
                <a:latin typeface="+mj-lt"/>
                <a:ea typeface="+mj-ea"/>
                <a:cs typeface="+mj-cs"/>
              </a:rPr>
              <a:t>삼성중공업 적자 등으로 구조조정</a:t>
            </a:r>
            <a:endParaRPr lang="en-US" altLang="ko-KR" sz="2400" dirty="0">
              <a:latin typeface="+mj-lt"/>
              <a:ea typeface="+mj-ea"/>
              <a:cs typeface="+mj-cs"/>
            </a:endParaRPr>
          </a:p>
        </p:txBody>
      </p:sp>
      <p:sp>
        <p:nvSpPr>
          <p:cNvPr id="5" name="제목 1"/>
          <p:cNvSpPr txBox="1">
            <a:spLocks/>
          </p:cNvSpPr>
          <p:nvPr/>
        </p:nvSpPr>
        <p:spPr>
          <a:xfrm>
            <a:off x="674712" y="2492896"/>
            <a:ext cx="8229600" cy="7200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>
              <a:spcBef>
                <a:spcPct val="0"/>
              </a:spcBef>
              <a:defRPr/>
            </a:pPr>
            <a:r>
              <a:rPr lang="ko-KR" altLang="en-US" sz="2800" dirty="0">
                <a:latin typeface="+mj-lt"/>
                <a:ea typeface="+mj-ea"/>
                <a:cs typeface="+mj-cs"/>
              </a:rPr>
              <a:t>대표자 </a:t>
            </a:r>
            <a:r>
              <a:rPr lang="en-US" altLang="ko-KR" sz="2800" dirty="0">
                <a:latin typeface="+mj-lt"/>
                <a:ea typeface="+mj-ea"/>
                <a:cs typeface="+mj-cs"/>
              </a:rPr>
              <a:t>: </a:t>
            </a:r>
            <a:r>
              <a:rPr lang="ko-KR" altLang="en-US" sz="2800" dirty="0">
                <a:latin typeface="+mj-lt"/>
                <a:ea typeface="+mj-ea"/>
                <a:cs typeface="+mj-cs"/>
              </a:rPr>
              <a:t>배재혁</a:t>
            </a:r>
            <a:r>
              <a:rPr lang="en-US" altLang="ko-KR" sz="2800" dirty="0">
                <a:latin typeface="+mj-lt"/>
                <a:ea typeface="+mj-ea"/>
                <a:cs typeface="+mj-cs"/>
              </a:rPr>
              <a:t>(</a:t>
            </a:r>
            <a:r>
              <a:rPr lang="ko-KR" altLang="en-US" sz="2800" dirty="0" err="1">
                <a:latin typeface="+mj-lt"/>
                <a:ea typeface="+mj-ea"/>
                <a:cs typeface="+mj-cs"/>
              </a:rPr>
              <a:t>분사전</a:t>
            </a:r>
            <a:r>
              <a:rPr lang="ko-KR" altLang="en-US" sz="2800" dirty="0">
                <a:latin typeface="+mj-lt"/>
                <a:ea typeface="+mj-ea"/>
                <a:cs typeface="+mj-cs"/>
              </a:rPr>
              <a:t> 삼성중공업 기전팀장</a:t>
            </a:r>
            <a:r>
              <a:rPr lang="en-US" altLang="ko-KR" sz="2800" dirty="0">
                <a:latin typeface="+mj-lt"/>
                <a:ea typeface="+mj-ea"/>
                <a:cs typeface="+mj-cs"/>
              </a:rPr>
              <a:t>)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157642" y="1406337"/>
            <a:ext cx="1402854" cy="16091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직사각형 5"/>
          <p:cNvSpPr/>
          <p:nvPr/>
        </p:nvSpPr>
        <p:spPr>
          <a:xfrm>
            <a:off x="1631504" y="5537822"/>
            <a:ext cx="21602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2025. 08. </a:t>
            </a:r>
            <a:r>
              <a:rPr lang="ko-KR" altLang="en-US" dirty="0">
                <a:solidFill>
                  <a:schemeClr val="tx1"/>
                </a:solidFill>
              </a:rPr>
              <a:t>상장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공모가 </a:t>
            </a:r>
            <a:r>
              <a:rPr lang="en-US" altLang="ko-KR" dirty="0">
                <a:solidFill>
                  <a:schemeClr val="tx1"/>
                </a:solidFill>
              </a:rPr>
              <a:t>: 30,000</a:t>
            </a:r>
            <a:r>
              <a:rPr lang="ko-KR" altLang="en-US" dirty="0">
                <a:solidFill>
                  <a:schemeClr val="tx1"/>
                </a:solidFill>
              </a:rPr>
              <a:t>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>
          <a:xfrm>
            <a:off x="0" y="0"/>
            <a:ext cx="12192000" cy="9087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19336" y="202630"/>
            <a:ext cx="10091464" cy="490066"/>
          </a:xfrm>
        </p:spPr>
        <p:txBody>
          <a:bodyPr>
            <a:noAutofit/>
          </a:bodyPr>
          <a:lstStyle/>
          <a:p>
            <a:pPr algn="l"/>
            <a:r>
              <a:rPr lang="en-US" altLang="ko-KR" sz="3600" dirty="0">
                <a:solidFill>
                  <a:schemeClr val="bg1"/>
                </a:solidFill>
              </a:rPr>
              <a:t>1. </a:t>
            </a:r>
            <a:r>
              <a:rPr lang="ko-KR" altLang="en-US" sz="3600" dirty="0">
                <a:solidFill>
                  <a:schemeClr val="bg1"/>
                </a:solidFill>
              </a:rPr>
              <a:t>기업개요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119336" y="1052736"/>
            <a:ext cx="1728192" cy="43204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 smtClean="0"/>
              <a:t>주요연혁</a:t>
            </a:r>
            <a:endParaRPr lang="ko-KR" altLang="en-US" sz="2400" dirty="0"/>
          </a:p>
        </p:txBody>
      </p:sp>
      <p:sp>
        <p:nvSpPr>
          <p:cNvPr id="5" name="제목 1"/>
          <p:cNvSpPr txBox="1">
            <a:spLocks/>
          </p:cNvSpPr>
          <p:nvPr/>
        </p:nvSpPr>
        <p:spPr>
          <a:xfrm>
            <a:off x="623392" y="1700808"/>
            <a:ext cx="8280920" cy="5760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>
              <a:spcBef>
                <a:spcPct val="0"/>
              </a:spcBef>
              <a:defRPr/>
            </a:pPr>
            <a:r>
              <a:rPr lang="en-US" altLang="ko-KR" dirty="0" smtClean="0">
                <a:latin typeface="+mj-lt"/>
                <a:ea typeface="+mj-ea"/>
                <a:cs typeface="+mj-cs"/>
              </a:rPr>
              <a:t>1993. 03.     </a:t>
            </a:r>
            <a:r>
              <a:rPr lang="ko-KR" altLang="en-US" dirty="0" smtClean="0">
                <a:latin typeface="+mj-lt"/>
                <a:ea typeface="+mj-ea"/>
                <a:cs typeface="+mj-cs"/>
              </a:rPr>
              <a:t>삼성중공업 대덕 중앙연구소에서 시작</a:t>
            </a:r>
            <a:endParaRPr lang="en-US" altLang="ko-KR" dirty="0">
              <a:latin typeface="+mj-lt"/>
              <a:ea typeface="+mj-ea"/>
              <a:cs typeface="+mj-cs"/>
            </a:endParaRPr>
          </a:p>
        </p:txBody>
      </p:sp>
      <p:sp>
        <p:nvSpPr>
          <p:cNvPr id="6" name="제목 1"/>
          <p:cNvSpPr txBox="1">
            <a:spLocks/>
          </p:cNvSpPr>
          <p:nvPr/>
        </p:nvSpPr>
        <p:spPr>
          <a:xfrm>
            <a:off x="623392" y="2132856"/>
            <a:ext cx="8280920" cy="5760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>
              <a:spcBef>
                <a:spcPct val="0"/>
              </a:spcBef>
              <a:defRPr/>
            </a:pPr>
            <a:r>
              <a:rPr lang="en-US" altLang="ko-KR" dirty="0" smtClean="0">
                <a:latin typeface="+mj-lt"/>
                <a:ea typeface="+mj-ea"/>
                <a:cs typeface="+mj-cs"/>
              </a:rPr>
              <a:t>1994. 01.~   </a:t>
            </a:r>
            <a:r>
              <a:rPr lang="ko-KR" altLang="en-US" dirty="0" err="1" smtClean="0">
                <a:latin typeface="+mj-lt"/>
                <a:ea typeface="+mj-ea"/>
                <a:cs typeface="+mj-cs"/>
              </a:rPr>
              <a:t>수배전</a:t>
            </a:r>
            <a:r>
              <a:rPr lang="ko-KR" altLang="en-US" dirty="0" smtClean="0">
                <a:latin typeface="+mj-lt"/>
                <a:ea typeface="+mj-ea"/>
                <a:cs typeface="+mj-cs"/>
              </a:rPr>
              <a:t> 사업 및 </a:t>
            </a:r>
            <a:r>
              <a:rPr lang="ko-KR" altLang="en-US" dirty="0" err="1" smtClean="0">
                <a:latin typeface="+mj-lt"/>
                <a:ea typeface="+mj-ea"/>
                <a:cs typeface="+mj-cs"/>
              </a:rPr>
              <a:t>자동화시스템</a:t>
            </a:r>
            <a:r>
              <a:rPr lang="ko-KR" altLang="en-US" dirty="0" smtClean="0">
                <a:latin typeface="+mj-lt"/>
                <a:ea typeface="+mj-ea"/>
                <a:cs typeface="+mj-cs"/>
              </a:rPr>
              <a:t> 사업 개시</a:t>
            </a:r>
            <a:endParaRPr lang="en-US" altLang="ko-KR" dirty="0">
              <a:latin typeface="+mj-lt"/>
              <a:ea typeface="+mj-ea"/>
              <a:cs typeface="+mj-cs"/>
            </a:endParaRPr>
          </a:p>
        </p:txBody>
      </p:sp>
      <p:sp>
        <p:nvSpPr>
          <p:cNvPr id="8" name="제목 1"/>
          <p:cNvSpPr txBox="1">
            <a:spLocks/>
          </p:cNvSpPr>
          <p:nvPr/>
        </p:nvSpPr>
        <p:spPr>
          <a:xfrm>
            <a:off x="623392" y="2564904"/>
            <a:ext cx="8280920" cy="5760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>
              <a:spcBef>
                <a:spcPct val="0"/>
              </a:spcBef>
              <a:defRPr/>
            </a:pPr>
            <a:r>
              <a:rPr lang="en-US" altLang="ko-KR" dirty="0" smtClean="0">
                <a:latin typeface="+mj-lt"/>
                <a:ea typeface="+mj-ea"/>
                <a:cs typeface="+mj-cs"/>
              </a:rPr>
              <a:t>2009. 06.     </a:t>
            </a:r>
            <a:r>
              <a:rPr lang="ko-KR" altLang="en-US" dirty="0" smtClean="0">
                <a:latin typeface="+mj-lt"/>
                <a:ea typeface="+mj-ea"/>
                <a:cs typeface="+mj-cs"/>
              </a:rPr>
              <a:t>선박용 </a:t>
            </a:r>
            <a:r>
              <a:rPr lang="ko-KR" altLang="en-US" dirty="0" err="1" smtClean="0">
                <a:latin typeface="+mj-lt"/>
                <a:ea typeface="+mj-ea"/>
                <a:cs typeface="+mj-cs"/>
              </a:rPr>
              <a:t>배전반</a:t>
            </a:r>
            <a:r>
              <a:rPr lang="ko-KR" altLang="en-US" dirty="0" smtClean="0">
                <a:latin typeface="+mj-lt"/>
                <a:ea typeface="+mj-ea"/>
                <a:cs typeface="+mj-cs"/>
              </a:rPr>
              <a:t> </a:t>
            </a:r>
            <a:r>
              <a:rPr lang="en-US" altLang="ko-KR" dirty="0" smtClean="0">
                <a:latin typeface="+mj-lt"/>
                <a:ea typeface="+mj-ea"/>
                <a:cs typeface="+mj-cs"/>
              </a:rPr>
              <a:t>1,000</a:t>
            </a:r>
            <a:r>
              <a:rPr lang="ko-KR" altLang="en-US" dirty="0" smtClean="0">
                <a:latin typeface="+mj-lt"/>
                <a:ea typeface="+mj-ea"/>
                <a:cs typeface="+mj-cs"/>
              </a:rPr>
              <a:t>호기 수주 달성</a:t>
            </a:r>
            <a:endParaRPr lang="en-US" altLang="ko-KR" dirty="0">
              <a:latin typeface="+mj-lt"/>
              <a:ea typeface="+mj-ea"/>
              <a:cs typeface="+mj-cs"/>
            </a:endParaRPr>
          </a:p>
        </p:txBody>
      </p:sp>
      <p:sp>
        <p:nvSpPr>
          <p:cNvPr id="10" name="제목 1"/>
          <p:cNvSpPr txBox="1">
            <a:spLocks/>
          </p:cNvSpPr>
          <p:nvPr/>
        </p:nvSpPr>
        <p:spPr>
          <a:xfrm>
            <a:off x="623392" y="2996952"/>
            <a:ext cx="8280920" cy="5760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>
              <a:spcBef>
                <a:spcPct val="0"/>
              </a:spcBef>
              <a:defRPr/>
            </a:pPr>
            <a:r>
              <a:rPr lang="en-US" altLang="ko-KR" dirty="0" smtClean="0">
                <a:latin typeface="+mj-lt"/>
                <a:ea typeface="+mj-ea"/>
                <a:cs typeface="+mj-cs"/>
              </a:rPr>
              <a:t>2010. 03.     </a:t>
            </a:r>
            <a:r>
              <a:rPr lang="ko-KR" altLang="en-US" dirty="0" smtClean="0">
                <a:latin typeface="+mj-lt"/>
                <a:ea typeface="+mj-ea"/>
                <a:cs typeface="+mj-cs"/>
              </a:rPr>
              <a:t>운항제어시스템 </a:t>
            </a:r>
            <a:r>
              <a:rPr lang="en-US" altLang="ko-KR" dirty="0" smtClean="0">
                <a:latin typeface="+mj-lt"/>
                <a:ea typeface="+mj-ea"/>
                <a:cs typeface="+mj-cs"/>
              </a:rPr>
              <a:t>1,000</a:t>
            </a:r>
            <a:r>
              <a:rPr lang="ko-KR" altLang="en-US" dirty="0" smtClean="0">
                <a:latin typeface="+mj-lt"/>
                <a:ea typeface="+mj-ea"/>
                <a:cs typeface="+mj-cs"/>
              </a:rPr>
              <a:t>호기 달성</a:t>
            </a:r>
            <a:endParaRPr lang="en-US" altLang="ko-KR" dirty="0">
              <a:latin typeface="+mj-lt"/>
              <a:ea typeface="+mj-ea"/>
              <a:cs typeface="+mj-cs"/>
            </a:endParaRPr>
          </a:p>
        </p:txBody>
      </p:sp>
      <p:sp>
        <p:nvSpPr>
          <p:cNvPr id="11" name="제목 1"/>
          <p:cNvSpPr txBox="1">
            <a:spLocks/>
          </p:cNvSpPr>
          <p:nvPr/>
        </p:nvSpPr>
        <p:spPr>
          <a:xfrm>
            <a:off x="623392" y="3429000"/>
            <a:ext cx="8280920" cy="5760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>
              <a:spcBef>
                <a:spcPct val="0"/>
              </a:spcBef>
              <a:defRPr/>
            </a:pPr>
            <a:r>
              <a:rPr lang="en-US" altLang="ko-KR" dirty="0" smtClean="0">
                <a:latin typeface="+mj-lt"/>
                <a:ea typeface="+mj-ea"/>
                <a:cs typeface="+mj-cs"/>
              </a:rPr>
              <a:t>2011. 10.     </a:t>
            </a:r>
            <a:r>
              <a:rPr lang="ko-KR" altLang="en-US" dirty="0" err="1" smtClean="0">
                <a:latin typeface="+mj-lt"/>
                <a:ea typeface="+mj-ea"/>
                <a:cs typeface="+mj-cs"/>
              </a:rPr>
              <a:t>선박평형수시스템</a:t>
            </a:r>
            <a:r>
              <a:rPr lang="ko-KR" altLang="en-US" dirty="0" smtClean="0">
                <a:latin typeface="+mj-lt"/>
                <a:ea typeface="+mj-ea"/>
                <a:cs typeface="+mj-cs"/>
              </a:rPr>
              <a:t> 정부형식 승인</a:t>
            </a:r>
            <a:endParaRPr lang="en-US" altLang="ko-KR" dirty="0">
              <a:latin typeface="+mj-lt"/>
              <a:ea typeface="+mj-ea"/>
              <a:cs typeface="+mj-cs"/>
            </a:endParaRPr>
          </a:p>
        </p:txBody>
      </p:sp>
      <p:sp>
        <p:nvSpPr>
          <p:cNvPr id="12" name="제목 1"/>
          <p:cNvSpPr txBox="1">
            <a:spLocks/>
          </p:cNvSpPr>
          <p:nvPr/>
        </p:nvSpPr>
        <p:spPr>
          <a:xfrm>
            <a:off x="623392" y="3861048"/>
            <a:ext cx="8280920" cy="5760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>
              <a:spcBef>
                <a:spcPct val="0"/>
              </a:spcBef>
              <a:defRPr/>
            </a:pPr>
            <a:r>
              <a:rPr lang="en-US" altLang="ko-KR" dirty="0" smtClean="0">
                <a:latin typeface="+mj-lt"/>
                <a:ea typeface="+mj-ea"/>
                <a:cs typeface="+mj-cs"/>
              </a:rPr>
              <a:t>2017. 09.     </a:t>
            </a:r>
            <a:r>
              <a:rPr lang="ko-KR" altLang="en-US" dirty="0" smtClean="0">
                <a:latin typeface="+mj-lt"/>
                <a:ea typeface="+mj-ea"/>
                <a:cs typeface="+mj-cs"/>
              </a:rPr>
              <a:t>삼성중공업 기전사업 </a:t>
            </a:r>
            <a:r>
              <a:rPr lang="ko-KR" altLang="en-US" dirty="0" err="1" smtClean="0">
                <a:latin typeface="+mj-lt"/>
                <a:ea typeface="+mj-ea"/>
                <a:cs typeface="+mj-cs"/>
              </a:rPr>
              <a:t>에스엔시스</a:t>
            </a:r>
            <a:r>
              <a:rPr lang="ko-KR" altLang="en-US" dirty="0" smtClean="0">
                <a:latin typeface="+mj-lt"/>
                <a:ea typeface="+mj-ea"/>
                <a:cs typeface="+mj-cs"/>
              </a:rPr>
              <a:t>㈜ 분사 창업</a:t>
            </a:r>
            <a:endParaRPr lang="en-US" altLang="ko-KR" dirty="0">
              <a:latin typeface="+mj-lt"/>
              <a:ea typeface="+mj-ea"/>
              <a:cs typeface="+mj-cs"/>
            </a:endParaRPr>
          </a:p>
        </p:txBody>
      </p:sp>
      <p:sp>
        <p:nvSpPr>
          <p:cNvPr id="13" name="제목 1"/>
          <p:cNvSpPr txBox="1">
            <a:spLocks/>
          </p:cNvSpPr>
          <p:nvPr/>
        </p:nvSpPr>
        <p:spPr>
          <a:xfrm>
            <a:off x="623392" y="4293096"/>
            <a:ext cx="8280920" cy="5760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>
              <a:spcBef>
                <a:spcPct val="0"/>
              </a:spcBef>
              <a:defRPr/>
            </a:pPr>
            <a:r>
              <a:rPr lang="en-US" altLang="ko-KR" dirty="0" smtClean="0">
                <a:latin typeface="+mj-lt"/>
                <a:ea typeface="+mj-ea"/>
                <a:cs typeface="+mj-cs"/>
              </a:rPr>
              <a:t>2020. 12.     3,000</a:t>
            </a:r>
            <a:r>
              <a:rPr lang="ko-KR" altLang="en-US" dirty="0" smtClean="0">
                <a:latin typeface="+mj-lt"/>
                <a:ea typeface="+mj-ea"/>
                <a:cs typeface="+mj-cs"/>
              </a:rPr>
              <a:t>만불 수출 달성</a:t>
            </a:r>
            <a:endParaRPr lang="en-US" altLang="ko-KR" dirty="0">
              <a:latin typeface="+mj-lt"/>
              <a:ea typeface="+mj-ea"/>
              <a:cs typeface="+mj-cs"/>
            </a:endParaRPr>
          </a:p>
        </p:txBody>
      </p:sp>
      <p:sp>
        <p:nvSpPr>
          <p:cNvPr id="14" name="제목 1"/>
          <p:cNvSpPr txBox="1">
            <a:spLocks/>
          </p:cNvSpPr>
          <p:nvPr/>
        </p:nvSpPr>
        <p:spPr>
          <a:xfrm>
            <a:off x="623392" y="4725144"/>
            <a:ext cx="8280920" cy="5760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>
              <a:spcBef>
                <a:spcPct val="0"/>
              </a:spcBef>
              <a:defRPr/>
            </a:pPr>
            <a:r>
              <a:rPr lang="en-US" altLang="ko-KR" dirty="0" smtClean="0">
                <a:latin typeface="+mj-lt"/>
                <a:ea typeface="+mj-ea"/>
                <a:cs typeface="+mj-cs"/>
              </a:rPr>
              <a:t>2023. 12.     5,000</a:t>
            </a:r>
            <a:r>
              <a:rPr lang="ko-KR" altLang="en-US" dirty="0" smtClean="0">
                <a:latin typeface="+mj-lt"/>
                <a:ea typeface="+mj-ea"/>
                <a:cs typeface="+mj-cs"/>
              </a:rPr>
              <a:t>만불 수출 달성</a:t>
            </a:r>
            <a:endParaRPr lang="en-US" altLang="ko-KR" dirty="0">
              <a:latin typeface="+mj-lt"/>
              <a:ea typeface="+mj-ea"/>
              <a:cs typeface="+mj-cs"/>
            </a:endParaRPr>
          </a:p>
        </p:txBody>
      </p:sp>
      <p:sp>
        <p:nvSpPr>
          <p:cNvPr id="15" name="제목 1"/>
          <p:cNvSpPr txBox="1">
            <a:spLocks/>
          </p:cNvSpPr>
          <p:nvPr/>
        </p:nvSpPr>
        <p:spPr>
          <a:xfrm>
            <a:off x="623392" y="5157192"/>
            <a:ext cx="8280920" cy="5760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>
              <a:spcBef>
                <a:spcPct val="0"/>
              </a:spcBef>
              <a:defRPr/>
            </a:pPr>
            <a:r>
              <a:rPr lang="en-US" altLang="ko-KR" dirty="0" smtClean="0">
                <a:latin typeface="+mj-lt"/>
                <a:ea typeface="+mj-ea"/>
                <a:cs typeface="+mj-cs"/>
              </a:rPr>
              <a:t>2024. 07.     ABB </a:t>
            </a:r>
            <a:r>
              <a:rPr lang="ko-KR" altLang="en-US" dirty="0" err="1" smtClean="0">
                <a:latin typeface="+mj-lt"/>
                <a:ea typeface="+mj-ea"/>
                <a:cs typeface="+mj-cs"/>
              </a:rPr>
              <a:t>고압반</a:t>
            </a:r>
            <a:r>
              <a:rPr lang="ko-KR" altLang="en-US" dirty="0" smtClean="0">
                <a:latin typeface="+mj-lt"/>
                <a:ea typeface="+mj-ea"/>
                <a:cs typeface="+mj-cs"/>
              </a:rPr>
              <a:t> 사업협력 및 라이선스 획득</a:t>
            </a:r>
            <a:r>
              <a:rPr lang="en-US" altLang="ko-KR" dirty="0" smtClean="0">
                <a:latin typeface="+mj-lt"/>
                <a:ea typeface="+mj-ea"/>
                <a:cs typeface="+mj-cs"/>
              </a:rPr>
              <a:t>(</a:t>
            </a:r>
            <a:r>
              <a:rPr lang="ko-KR" altLang="en-US" dirty="0" smtClean="0">
                <a:latin typeface="+mj-lt"/>
                <a:ea typeface="+mj-ea"/>
                <a:cs typeface="+mj-cs"/>
              </a:rPr>
              <a:t>세계유일</a:t>
            </a:r>
            <a:r>
              <a:rPr lang="en-US" altLang="ko-KR" dirty="0" smtClean="0">
                <a:latin typeface="+mj-lt"/>
                <a:ea typeface="+mj-ea"/>
                <a:cs typeface="+mj-cs"/>
              </a:rPr>
              <a:t>)</a:t>
            </a:r>
            <a:endParaRPr lang="en-US" altLang="ko-KR" dirty="0">
              <a:latin typeface="+mj-lt"/>
              <a:ea typeface="+mj-ea"/>
              <a:cs typeface="+mj-cs"/>
            </a:endParaRPr>
          </a:p>
        </p:txBody>
      </p:sp>
      <p:sp>
        <p:nvSpPr>
          <p:cNvPr id="16" name="제목 1"/>
          <p:cNvSpPr txBox="1">
            <a:spLocks/>
          </p:cNvSpPr>
          <p:nvPr/>
        </p:nvSpPr>
        <p:spPr>
          <a:xfrm>
            <a:off x="623392" y="5589240"/>
            <a:ext cx="8280920" cy="5760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>
              <a:spcBef>
                <a:spcPct val="0"/>
              </a:spcBef>
              <a:defRPr/>
            </a:pPr>
            <a:r>
              <a:rPr lang="en-US" altLang="ko-KR" dirty="0" smtClean="0">
                <a:latin typeface="+mj-lt"/>
                <a:ea typeface="+mj-ea"/>
                <a:cs typeface="+mj-cs"/>
              </a:rPr>
              <a:t>2024. 07.     ABB </a:t>
            </a:r>
            <a:r>
              <a:rPr lang="ko-KR" altLang="en-US" dirty="0" err="1" smtClean="0">
                <a:latin typeface="+mj-lt"/>
                <a:ea typeface="+mj-ea"/>
                <a:cs typeface="+mj-cs"/>
              </a:rPr>
              <a:t>분전반</a:t>
            </a:r>
            <a:r>
              <a:rPr lang="ko-KR" altLang="en-US" dirty="0" smtClean="0">
                <a:latin typeface="+mj-lt"/>
                <a:ea typeface="+mj-ea"/>
                <a:cs typeface="+mj-cs"/>
              </a:rPr>
              <a:t> 사업협력 및 라이선스 획득</a:t>
            </a:r>
            <a:r>
              <a:rPr lang="en-US" altLang="ko-KR" dirty="0" smtClean="0">
                <a:latin typeface="+mj-lt"/>
                <a:ea typeface="+mj-ea"/>
                <a:cs typeface="+mj-cs"/>
              </a:rPr>
              <a:t>(</a:t>
            </a:r>
            <a:r>
              <a:rPr lang="ko-KR" altLang="en-US" dirty="0" smtClean="0">
                <a:latin typeface="+mj-lt"/>
                <a:ea typeface="+mj-ea"/>
                <a:cs typeface="+mj-cs"/>
              </a:rPr>
              <a:t>국내최초</a:t>
            </a:r>
            <a:r>
              <a:rPr lang="en-US" altLang="ko-KR" dirty="0" smtClean="0">
                <a:latin typeface="+mj-lt"/>
                <a:ea typeface="+mj-ea"/>
                <a:cs typeface="+mj-cs"/>
              </a:rPr>
              <a:t>)</a:t>
            </a:r>
            <a:endParaRPr lang="en-US" altLang="ko-KR" dirty="0">
              <a:latin typeface="+mj-lt"/>
              <a:ea typeface="+mj-ea"/>
              <a:cs typeface="+mj-cs"/>
            </a:endParaRPr>
          </a:p>
        </p:txBody>
      </p:sp>
      <p:sp>
        <p:nvSpPr>
          <p:cNvPr id="17" name="제목 1"/>
          <p:cNvSpPr txBox="1">
            <a:spLocks/>
          </p:cNvSpPr>
          <p:nvPr/>
        </p:nvSpPr>
        <p:spPr>
          <a:xfrm>
            <a:off x="623392" y="6021288"/>
            <a:ext cx="8280920" cy="5760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>
              <a:spcBef>
                <a:spcPct val="0"/>
              </a:spcBef>
              <a:defRPr/>
            </a:pPr>
            <a:r>
              <a:rPr lang="en-US" altLang="ko-KR" dirty="0" smtClean="0">
                <a:latin typeface="+mj-lt"/>
                <a:ea typeface="+mj-ea"/>
                <a:cs typeface="+mj-cs"/>
              </a:rPr>
              <a:t>2025. 08.     </a:t>
            </a:r>
            <a:r>
              <a:rPr lang="ko-KR" altLang="en-US" dirty="0" smtClean="0">
                <a:latin typeface="+mj-lt"/>
                <a:ea typeface="+mj-ea"/>
                <a:cs typeface="+mj-cs"/>
              </a:rPr>
              <a:t>코스닥 상장</a:t>
            </a:r>
            <a:r>
              <a:rPr lang="en-US" altLang="ko-KR" dirty="0" smtClean="0">
                <a:latin typeface="+mj-lt"/>
                <a:ea typeface="+mj-ea"/>
                <a:cs typeface="+mj-cs"/>
              </a:rPr>
              <a:t>(</a:t>
            </a:r>
            <a:r>
              <a:rPr lang="ko-KR" altLang="en-US" dirty="0" smtClean="0">
                <a:latin typeface="+mj-lt"/>
                <a:ea typeface="+mj-ea"/>
                <a:cs typeface="+mj-cs"/>
              </a:rPr>
              <a:t>공모가 </a:t>
            </a:r>
            <a:r>
              <a:rPr lang="en-US" altLang="ko-KR" dirty="0" smtClean="0">
                <a:latin typeface="+mj-lt"/>
                <a:ea typeface="+mj-ea"/>
                <a:cs typeface="+mj-cs"/>
              </a:rPr>
              <a:t>30,000</a:t>
            </a:r>
            <a:r>
              <a:rPr lang="ko-KR" altLang="en-US" dirty="0" smtClean="0">
                <a:latin typeface="+mj-lt"/>
                <a:ea typeface="+mj-ea"/>
                <a:cs typeface="+mj-cs"/>
              </a:rPr>
              <a:t>원</a:t>
            </a:r>
            <a:r>
              <a:rPr lang="en-US" altLang="ko-KR" dirty="0" smtClean="0">
                <a:latin typeface="+mj-lt"/>
                <a:ea typeface="+mj-ea"/>
                <a:cs typeface="+mj-cs"/>
              </a:rPr>
              <a:t>)</a:t>
            </a:r>
            <a:endParaRPr lang="en-US" altLang="ko-KR" dirty="0">
              <a:latin typeface="+mj-lt"/>
              <a:ea typeface="+mj-ea"/>
              <a:cs typeface="+mj-cs"/>
            </a:endParaRPr>
          </a:p>
        </p:txBody>
      </p:sp>
      <p:sp>
        <p:nvSpPr>
          <p:cNvPr id="18" name="제목 1"/>
          <p:cNvSpPr txBox="1">
            <a:spLocks/>
          </p:cNvSpPr>
          <p:nvPr/>
        </p:nvSpPr>
        <p:spPr>
          <a:xfrm>
            <a:off x="7582508" y="1700808"/>
            <a:ext cx="4202124" cy="5760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>
              <a:spcBef>
                <a:spcPct val="0"/>
              </a:spcBef>
              <a:defRPr/>
            </a:pPr>
            <a:r>
              <a:rPr lang="en-US" altLang="ko-KR" dirty="0" smtClean="0">
                <a:latin typeface="+mj-lt"/>
                <a:ea typeface="+mj-ea"/>
                <a:cs typeface="+mj-cs"/>
              </a:rPr>
              <a:t>2025. 12.     7,000</a:t>
            </a:r>
            <a:r>
              <a:rPr lang="ko-KR" altLang="en-US" dirty="0" smtClean="0">
                <a:latin typeface="+mj-lt"/>
                <a:ea typeface="+mj-ea"/>
                <a:cs typeface="+mj-cs"/>
              </a:rPr>
              <a:t>만불 수출 달성</a:t>
            </a:r>
            <a:endParaRPr lang="en-US" altLang="ko-KR" dirty="0"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/>
          <p:cNvSpPr/>
          <p:nvPr/>
        </p:nvSpPr>
        <p:spPr>
          <a:xfrm>
            <a:off x="119336" y="1052736"/>
            <a:ext cx="1728192" cy="43204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/>
              <a:t>주주현황</a:t>
            </a:r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32255" y="4941168"/>
            <a:ext cx="8758808" cy="1476284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32255" y="1683986"/>
            <a:ext cx="8732097" cy="777577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32255" y="2437103"/>
            <a:ext cx="8732096" cy="2288041"/>
          </a:xfrm>
          <a:prstGeom prst="rect">
            <a:avLst/>
          </a:prstGeom>
        </p:spPr>
      </p:pic>
      <p:sp>
        <p:nvSpPr>
          <p:cNvPr id="9" name="직사각형 8"/>
          <p:cNvSpPr/>
          <p:nvPr/>
        </p:nvSpPr>
        <p:spPr>
          <a:xfrm>
            <a:off x="0" y="0"/>
            <a:ext cx="12192000" cy="9087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제목 1"/>
          <p:cNvSpPr txBox="1">
            <a:spLocks/>
          </p:cNvSpPr>
          <p:nvPr/>
        </p:nvSpPr>
        <p:spPr>
          <a:xfrm>
            <a:off x="119336" y="202630"/>
            <a:ext cx="10091464" cy="4900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3600" smtClean="0">
                <a:solidFill>
                  <a:schemeClr val="bg1"/>
                </a:solidFill>
              </a:rPr>
              <a:t>1. </a:t>
            </a:r>
            <a:r>
              <a:rPr lang="ko-KR" altLang="en-US" sz="3600" smtClean="0">
                <a:solidFill>
                  <a:schemeClr val="bg1"/>
                </a:solidFill>
              </a:rPr>
              <a:t>기업개요</a:t>
            </a:r>
            <a:endParaRPr lang="ko-KR" altLang="en-US" sz="3600" dirty="0">
              <a:solidFill>
                <a:schemeClr val="bg1"/>
              </a:solidFill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407368" y="3558935"/>
            <a:ext cx="9145016" cy="42394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/>
          <p:cNvSpPr/>
          <p:nvPr/>
        </p:nvSpPr>
        <p:spPr>
          <a:xfrm>
            <a:off x="119336" y="1052736"/>
            <a:ext cx="1728192" cy="43204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/>
              <a:t>재무</a:t>
            </a:r>
            <a:endParaRPr lang="ko-KR" altLang="en-US" sz="2400" dirty="0"/>
          </a:p>
        </p:txBody>
      </p:sp>
      <p:sp>
        <p:nvSpPr>
          <p:cNvPr id="8" name="직사각형 7"/>
          <p:cNvSpPr/>
          <p:nvPr/>
        </p:nvSpPr>
        <p:spPr>
          <a:xfrm>
            <a:off x="0" y="0"/>
            <a:ext cx="12192000" cy="9087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제목 1"/>
          <p:cNvSpPr txBox="1">
            <a:spLocks/>
          </p:cNvSpPr>
          <p:nvPr/>
        </p:nvSpPr>
        <p:spPr>
          <a:xfrm>
            <a:off x="119336" y="202630"/>
            <a:ext cx="10091464" cy="4900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3600" smtClean="0">
                <a:solidFill>
                  <a:schemeClr val="bg1"/>
                </a:solidFill>
              </a:rPr>
              <a:t>1. </a:t>
            </a:r>
            <a:r>
              <a:rPr lang="ko-KR" altLang="en-US" sz="3600" smtClean="0">
                <a:solidFill>
                  <a:schemeClr val="bg1"/>
                </a:solidFill>
              </a:rPr>
              <a:t>기업개요</a:t>
            </a:r>
            <a:endParaRPr lang="ko-KR" altLang="en-US" sz="3600" dirty="0">
              <a:solidFill>
                <a:schemeClr val="bg1"/>
              </a:solidFill>
            </a:endParaRPr>
          </a:p>
        </p:txBody>
      </p:sp>
      <p:graphicFrame>
        <p:nvGraphicFramePr>
          <p:cNvPr id="4" name="차트 3"/>
          <p:cNvGraphicFramePr/>
          <p:nvPr>
            <p:extLst>
              <p:ext uri="{D42A27DB-BD31-4B8C-83A1-F6EECF244321}">
                <p14:modId xmlns="" xmlns:p14="http://schemas.microsoft.com/office/powerpoint/2010/main" val="3262949166"/>
              </p:ext>
            </p:extLst>
          </p:nvPr>
        </p:nvGraphicFramePr>
        <p:xfrm>
          <a:off x="335360" y="1772816"/>
          <a:ext cx="5544616" cy="278134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0" name="차트 9"/>
          <p:cNvGraphicFramePr/>
          <p:nvPr>
            <p:extLst>
              <p:ext uri="{D42A27DB-BD31-4B8C-83A1-F6EECF244321}">
                <p14:modId xmlns="" xmlns:p14="http://schemas.microsoft.com/office/powerpoint/2010/main" val="34217170"/>
              </p:ext>
            </p:extLst>
          </p:nvPr>
        </p:nvGraphicFramePr>
        <p:xfrm>
          <a:off x="6096000" y="1772816"/>
          <a:ext cx="5760640" cy="28591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3" name="표 12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566892519"/>
              </p:ext>
            </p:extLst>
          </p:nvPr>
        </p:nvGraphicFramePr>
        <p:xfrm>
          <a:off x="263352" y="4653136"/>
          <a:ext cx="5327777" cy="1398270"/>
        </p:xfrm>
        <a:graphic>
          <a:graphicData uri="http://schemas.openxmlformats.org/drawingml/2006/table">
            <a:tbl>
              <a:tblPr/>
              <a:tblGrid>
                <a:gridCol w="976757"/>
                <a:gridCol w="725170"/>
                <a:gridCol w="725170"/>
                <a:gridCol w="725170"/>
                <a:gridCol w="725170"/>
                <a:gridCol w="725170"/>
                <a:gridCol w="725170"/>
              </a:tblGrid>
              <a:tr h="16281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구분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8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2021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년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8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2022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년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8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2023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년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8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2024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년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8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2025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년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8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2026</a:t>
                      </a:r>
                      <a:r>
                        <a:rPr lang="ko-KR" altLang="en-US" sz="1000" kern="0" spc="0" dirty="0" smtClean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년</a:t>
                      </a:r>
                      <a:r>
                        <a:rPr lang="en-US" altLang="ko-KR" sz="1000" kern="0" spc="0" dirty="0" smtClean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(E)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8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</a:tr>
              <a:tr h="16281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매출액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(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억원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)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8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1,155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8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1,201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8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 smtClean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1,063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8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1,381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8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1,444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8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1,605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8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281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영업이익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(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억원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)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8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125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8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174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8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 smtClean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129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8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155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8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177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8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8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281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영업이익률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(%)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8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10.87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8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14.50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8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 smtClean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12.14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8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11.20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8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12.28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8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12.77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8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281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순이익률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(%)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8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8.41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8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11.14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8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 smtClean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10.73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8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16.41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8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12.49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8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12.46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8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4" name="표 13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3779884031"/>
              </p:ext>
            </p:extLst>
          </p:nvPr>
        </p:nvGraphicFramePr>
        <p:xfrm>
          <a:off x="6312024" y="4653136"/>
          <a:ext cx="5327777" cy="1398270"/>
        </p:xfrm>
        <a:graphic>
          <a:graphicData uri="http://schemas.openxmlformats.org/drawingml/2006/table">
            <a:tbl>
              <a:tblPr/>
              <a:tblGrid>
                <a:gridCol w="976757"/>
                <a:gridCol w="725170"/>
                <a:gridCol w="725170"/>
                <a:gridCol w="725170"/>
                <a:gridCol w="725170"/>
                <a:gridCol w="725170"/>
                <a:gridCol w="725170"/>
              </a:tblGrid>
              <a:tr h="16281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구분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8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2021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년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8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2022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년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8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2023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년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8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2024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년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8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2025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년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8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2026</a:t>
                      </a:r>
                      <a:r>
                        <a:rPr lang="ko-KR" altLang="en-US" sz="1000" kern="0" spc="0" dirty="0" smtClean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년</a:t>
                      </a:r>
                      <a:r>
                        <a:rPr lang="en-US" altLang="ko-KR" sz="1000" kern="0" spc="0" dirty="0" smtClean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/1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8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</a:tr>
              <a:tr h="16281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자산총계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(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억원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)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8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969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8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1,205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8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1,280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8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1,775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8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2,325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8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 smtClean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2,347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8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281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자본총계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(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억원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)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8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336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8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457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8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581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8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1,022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8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1,726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8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 smtClean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</a:rPr>
                        <a:t>1,704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8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281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부채총계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(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억원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)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8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633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8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748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8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699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8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753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8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599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8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 smtClean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643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8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281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부채비율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(%)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8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188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8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164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8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120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8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74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8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35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8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88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8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5904012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/>
          <p:cNvSpPr/>
          <p:nvPr/>
        </p:nvSpPr>
        <p:spPr>
          <a:xfrm>
            <a:off x="119336" y="1111350"/>
            <a:ext cx="1728192" cy="43204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/>
              <a:t>사업구조</a:t>
            </a:r>
            <a:endParaRPr lang="ko-KR" altLang="en-US" sz="2400" dirty="0"/>
          </a:p>
        </p:txBody>
      </p:sp>
      <p:sp>
        <p:nvSpPr>
          <p:cNvPr id="10" name="직사각형 9"/>
          <p:cNvSpPr/>
          <p:nvPr/>
        </p:nvSpPr>
        <p:spPr>
          <a:xfrm>
            <a:off x="0" y="0"/>
            <a:ext cx="12192000" cy="9087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제목 1"/>
          <p:cNvSpPr txBox="1">
            <a:spLocks/>
          </p:cNvSpPr>
          <p:nvPr/>
        </p:nvSpPr>
        <p:spPr>
          <a:xfrm>
            <a:off x="119336" y="202630"/>
            <a:ext cx="10091464" cy="4900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3600" smtClean="0">
                <a:solidFill>
                  <a:schemeClr val="bg1"/>
                </a:solidFill>
              </a:rPr>
              <a:t>1. </a:t>
            </a:r>
            <a:r>
              <a:rPr lang="ko-KR" altLang="en-US" sz="3600" smtClean="0">
                <a:solidFill>
                  <a:schemeClr val="bg1"/>
                </a:solidFill>
              </a:rPr>
              <a:t>기업개요</a:t>
            </a:r>
            <a:endParaRPr lang="ko-KR" altLang="en-US" sz="3600" dirty="0">
              <a:solidFill>
                <a:schemeClr val="bg1"/>
              </a:solidFill>
            </a:endParaRPr>
          </a:p>
        </p:txBody>
      </p:sp>
      <p:graphicFrame>
        <p:nvGraphicFramePr>
          <p:cNvPr id="19" name="차트 18"/>
          <p:cNvGraphicFramePr/>
          <p:nvPr>
            <p:extLst>
              <p:ext uri="{D42A27DB-BD31-4B8C-83A1-F6EECF244321}">
                <p14:modId xmlns="" xmlns:p14="http://schemas.microsoft.com/office/powerpoint/2010/main" val="4074757034"/>
              </p:ext>
            </p:extLst>
          </p:nvPr>
        </p:nvGraphicFramePr>
        <p:xfrm>
          <a:off x="191344" y="1700809"/>
          <a:ext cx="5400600" cy="27363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0" name="표 19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2904475915"/>
              </p:ext>
            </p:extLst>
          </p:nvPr>
        </p:nvGraphicFramePr>
        <p:xfrm>
          <a:off x="191344" y="4581128"/>
          <a:ext cx="5328285" cy="1677924"/>
        </p:xfrm>
        <a:graphic>
          <a:graphicData uri="http://schemas.openxmlformats.org/drawingml/2006/table">
            <a:tbl>
              <a:tblPr/>
              <a:tblGrid>
                <a:gridCol w="1065657"/>
                <a:gridCol w="1065657"/>
                <a:gridCol w="1065657"/>
                <a:gridCol w="1065657"/>
                <a:gridCol w="1065657"/>
              </a:tblGrid>
              <a:tr h="16281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구분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8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2023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년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8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2024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년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8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2025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년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8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2026. 1Q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8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</a:tr>
              <a:tr h="16281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파워솔루션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8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39,826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8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52,127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8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67,255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8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17,172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8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281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에코솔루션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8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28,433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8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36,622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8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28,003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8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6,763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8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281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운항제어솔루션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8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13,011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8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15,906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8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15,896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8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4,458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8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281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MRO</a:t>
                      </a:r>
                      <a:r>
                        <a:rPr lang="ko-KR" altLang="en-US" sz="1000" kern="0" spc="0" dirty="0" smtClean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솔루션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8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24,998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8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33,472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8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33,271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8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5,859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8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281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계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8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106,268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8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138,127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8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144,425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8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34,252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8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1" name="표 20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783012125"/>
              </p:ext>
            </p:extLst>
          </p:nvPr>
        </p:nvGraphicFramePr>
        <p:xfrm>
          <a:off x="6096000" y="4581128"/>
          <a:ext cx="5328666" cy="1398270"/>
        </p:xfrm>
        <a:graphic>
          <a:graphicData uri="http://schemas.openxmlformats.org/drawingml/2006/table">
            <a:tbl>
              <a:tblPr/>
              <a:tblGrid>
                <a:gridCol w="1776222"/>
                <a:gridCol w="1776222"/>
                <a:gridCol w="1776222"/>
              </a:tblGrid>
              <a:tr h="16281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구분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8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품목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8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수주잔고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(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단위 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: </a:t>
                      </a:r>
                      <a:r>
                        <a:rPr lang="ko-KR" altLang="en-US" sz="1000" kern="0" spc="0" dirty="0" err="1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백만원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)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8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</a:tr>
              <a:tr h="16281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파워솔루션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8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고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·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저압 배전반 등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8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171,509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8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281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에코솔루션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8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BMWS, LFSS 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등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8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37,233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8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281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운항제어솔루션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8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IAS, ICMS 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등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8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55,457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8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2814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계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8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264,199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8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5" name="차트 24"/>
          <p:cNvGraphicFramePr/>
          <p:nvPr>
            <p:extLst>
              <p:ext uri="{D42A27DB-BD31-4B8C-83A1-F6EECF244321}">
                <p14:modId xmlns="" xmlns:p14="http://schemas.microsoft.com/office/powerpoint/2010/main" val="3282592743"/>
              </p:ext>
            </p:extLst>
          </p:nvPr>
        </p:nvGraphicFramePr>
        <p:xfrm>
          <a:off x="5519936" y="1340768"/>
          <a:ext cx="3735512" cy="280831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="" xmlns:p14="http://schemas.microsoft.com/office/powerpoint/2010/main" val="22490466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/>
          <p:cNvSpPr/>
          <p:nvPr/>
        </p:nvSpPr>
        <p:spPr>
          <a:xfrm>
            <a:off x="119336" y="1111350"/>
            <a:ext cx="1728192" cy="43204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smtClean="0"/>
              <a:t>생산시설</a:t>
            </a:r>
            <a:endParaRPr lang="ko-KR" altLang="en-US" sz="2400" dirty="0"/>
          </a:p>
        </p:txBody>
      </p:sp>
      <p:sp>
        <p:nvSpPr>
          <p:cNvPr id="10" name="직사각형 9"/>
          <p:cNvSpPr/>
          <p:nvPr/>
        </p:nvSpPr>
        <p:spPr>
          <a:xfrm>
            <a:off x="0" y="0"/>
            <a:ext cx="12192000" cy="9087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제목 1"/>
          <p:cNvSpPr txBox="1">
            <a:spLocks/>
          </p:cNvSpPr>
          <p:nvPr/>
        </p:nvSpPr>
        <p:spPr>
          <a:xfrm>
            <a:off x="119336" y="202630"/>
            <a:ext cx="10091464" cy="4900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3600" smtClean="0">
                <a:solidFill>
                  <a:schemeClr val="bg1"/>
                </a:solidFill>
              </a:rPr>
              <a:t>1. </a:t>
            </a:r>
            <a:r>
              <a:rPr lang="ko-KR" altLang="en-US" sz="3600" smtClean="0">
                <a:solidFill>
                  <a:schemeClr val="bg1"/>
                </a:solidFill>
              </a:rPr>
              <a:t>기업개요</a:t>
            </a:r>
            <a:endParaRPr lang="ko-KR" altLang="en-US" sz="3600" dirty="0">
              <a:solidFill>
                <a:schemeClr val="bg1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071664" y="1844824"/>
            <a:ext cx="9001000" cy="4918543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63352" y="1895897"/>
            <a:ext cx="2736304" cy="294777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335360" y="1968713"/>
            <a:ext cx="2448272" cy="164143"/>
          </a:xfrm>
          <a:prstGeom prst="rect">
            <a:avLst/>
          </a:prstGeom>
          <a:solidFill>
            <a:srgbClr val="00428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 smtClean="0"/>
              <a:t>에코센터 부산 </a:t>
            </a:r>
            <a:r>
              <a:rPr lang="en-US" altLang="ko-KR" sz="1200" dirty="0" smtClean="0"/>
              <a:t>1</a:t>
            </a:r>
            <a:r>
              <a:rPr lang="ko-KR" altLang="en-US" sz="1200" dirty="0" smtClean="0"/>
              <a:t>공장</a:t>
            </a:r>
            <a:endParaRPr lang="ko-KR" altLang="en-US" sz="1200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89571" y="2228416"/>
            <a:ext cx="2660054" cy="1344600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263352" y="3717032"/>
            <a:ext cx="2686273" cy="1677805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62186" y="1772816"/>
            <a:ext cx="5976664" cy="4248472"/>
          </a:xfrm>
          <a:prstGeom prst="rect">
            <a:avLst/>
          </a:prstGeom>
          <a:noFill/>
          <a:ln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제목 1"/>
          <p:cNvSpPr txBox="1">
            <a:spLocks/>
          </p:cNvSpPr>
          <p:nvPr/>
        </p:nvSpPr>
        <p:spPr>
          <a:xfrm>
            <a:off x="2459596" y="1247806"/>
            <a:ext cx="2160240" cy="5760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>
              <a:spcBef>
                <a:spcPct val="0"/>
              </a:spcBef>
              <a:defRPr/>
            </a:pPr>
            <a:r>
              <a:rPr lang="ko-KR" altLang="en-US" dirty="0" smtClean="0">
                <a:solidFill>
                  <a:srgbClr val="0000CC"/>
                </a:solidFill>
                <a:latin typeface="+mj-lt"/>
                <a:ea typeface="+mj-ea"/>
                <a:cs typeface="+mj-cs"/>
              </a:rPr>
              <a:t>현재 확보</a:t>
            </a:r>
            <a:endParaRPr lang="en-US" altLang="ko-KR" dirty="0">
              <a:solidFill>
                <a:srgbClr val="0000CC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6110858" y="1754932"/>
            <a:ext cx="5976664" cy="424847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제목 1"/>
          <p:cNvSpPr txBox="1">
            <a:spLocks/>
          </p:cNvSpPr>
          <p:nvPr/>
        </p:nvSpPr>
        <p:spPr>
          <a:xfrm>
            <a:off x="7392144" y="1189843"/>
            <a:ext cx="3672408" cy="5760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>
              <a:spcBef>
                <a:spcPct val="0"/>
              </a:spcBef>
              <a:defRPr/>
            </a:pPr>
            <a:r>
              <a:rPr lang="ko-KR" altLang="en-US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증설 중</a:t>
            </a:r>
            <a:r>
              <a:rPr lang="en-US" altLang="ko-KR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, </a:t>
            </a:r>
            <a:r>
              <a:rPr lang="ko-KR" altLang="en-US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기존 대비 약 </a:t>
            </a:r>
            <a:r>
              <a:rPr lang="en-US" altLang="ko-KR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2.5</a:t>
            </a:r>
            <a:r>
              <a:rPr lang="ko-KR" altLang="en-US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배 규모</a:t>
            </a:r>
            <a:endParaRPr lang="en-US" altLang="ko-KR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9540558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직사각형 19"/>
          <p:cNvSpPr/>
          <p:nvPr/>
        </p:nvSpPr>
        <p:spPr>
          <a:xfrm>
            <a:off x="115221" y="4050606"/>
            <a:ext cx="5680278" cy="24404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9" name="직사각형 18"/>
          <p:cNvSpPr/>
          <p:nvPr/>
        </p:nvSpPr>
        <p:spPr>
          <a:xfrm>
            <a:off x="7771239" y="1586719"/>
            <a:ext cx="3892547" cy="241656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/>
          <p:cNvSpPr/>
          <p:nvPr/>
        </p:nvSpPr>
        <p:spPr>
          <a:xfrm>
            <a:off x="4065032" y="1586719"/>
            <a:ext cx="3610800" cy="241834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115221" y="1588505"/>
            <a:ext cx="3892547" cy="241656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/>
          <p:cNvSpPr/>
          <p:nvPr/>
        </p:nvSpPr>
        <p:spPr>
          <a:xfrm>
            <a:off x="0" y="0"/>
            <a:ext cx="12192000" cy="9087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19336" y="209327"/>
            <a:ext cx="8229600" cy="490066"/>
          </a:xfrm>
        </p:spPr>
        <p:txBody>
          <a:bodyPr>
            <a:noAutofit/>
          </a:bodyPr>
          <a:lstStyle/>
          <a:p>
            <a:pPr algn="l"/>
            <a:r>
              <a:rPr lang="en-US" altLang="ko-KR" sz="3600" dirty="0">
                <a:solidFill>
                  <a:schemeClr val="bg1"/>
                </a:solidFill>
              </a:rPr>
              <a:t>2. </a:t>
            </a:r>
            <a:r>
              <a:rPr lang="ko-KR" altLang="en-US" sz="3600" dirty="0">
                <a:solidFill>
                  <a:schemeClr val="bg1"/>
                </a:solidFill>
              </a:rPr>
              <a:t>주요사업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119336" y="1064165"/>
            <a:ext cx="2736304" cy="43204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/>
              <a:t>파워솔루션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6023992" y="1062540"/>
            <a:ext cx="2736304" cy="43204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/>
              <a:t>제어솔루션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3059195" y="1062540"/>
            <a:ext cx="2736304" cy="43204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/>
              <a:t>에코솔루션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8913456" y="1053396"/>
            <a:ext cx="2736304" cy="43204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/>
              <a:t>MRO</a:t>
            </a:r>
            <a:endParaRPr lang="ko-KR" altLang="en-US" sz="2400" dirty="0"/>
          </a:p>
        </p:txBody>
      </p:sp>
      <p:sp>
        <p:nvSpPr>
          <p:cNvPr id="13" name="제목 1"/>
          <p:cNvSpPr txBox="1">
            <a:spLocks/>
          </p:cNvSpPr>
          <p:nvPr/>
        </p:nvSpPr>
        <p:spPr>
          <a:xfrm>
            <a:off x="227348" y="3216903"/>
            <a:ext cx="4068452" cy="67491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>
              <a:spcBef>
                <a:spcPct val="0"/>
              </a:spcBef>
              <a:defRPr/>
            </a:pPr>
            <a:r>
              <a:rPr lang="ko-KR" altLang="en-US" dirty="0" err="1">
                <a:solidFill>
                  <a:srgbClr val="0000CC"/>
                </a:solidFill>
                <a:latin typeface="+mj-lt"/>
                <a:ea typeface="+mj-ea"/>
                <a:cs typeface="+mj-cs"/>
              </a:rPr>
              <a:t>고압배전반</a:t>
            </a:r>
            <a:r>
              <a:rPr lang="ko-KR" altLang="en-US" dirty="0">
                <a:latin typeface="+mj-lt"/>
                <a:ea typeface="+mj-ea"/>
                <a:cs typeface="+mj-cs"/>
              </a:rPr>
              <a:t> </a:t>
            </a:r>
            <a:r>
              <a:rPr lang="en-US" altLang="ko-KR" dirty="0">
                <a:latin typeface="+mj-lt"/>
                <a:ea typeface="+mj-ea"/>
                <a:cs typeface="+mj-cs"/>
              </a:rPr>
              <a:t>SSMV</a:t>
            </a:r>
          </a:p>
          <a:p>
            <a:pPr>
              <a:spcBef>
                <a:spcPct val="0"/>
              </a:spcBef>
              <a:defRPr/>
            </a:pPr>
            <a:r>
              <a:rPr lang="en-US" altLang="ko-KR" dirty="0">
                <a:latin typeface="+mj-lt"/>
                <a:ea typeface="+mj-ea"/>
                <a:cs typeface="+mj-cs"/>
              </a:rPr>
              <a:t>LNG, </a:t>
            </a:r>
            <a:r>
              <a:rPr lang="ko-KR" altLang="en-US" dirty="0">
                <a:latin typeface="+mj-lt"/>
                <a:ea typeface="+mj-ea"/>
                <a:cs typeface="+mj-cs"/>
              </a:rPr>
              <a:t>컨테이너</a:t>
            </a:r>
            <a:r>
              <a:rPr lang="en-US" altLang="ko-KR" dirty="0">
                <a:latin typeface="+mj-lt"/>
                <a:ea typeface="+mj-ea"/>
                <a:cs typeface="+mj-cs"/>
              </a:rPr>
              <a:t>, </a:t>
            </a:r>
            <a:r>
              <a:rPr lang="ko-KR" altLang="en-US" dirty="0">
                <a:latin typeface="+mj-lt"/>
                <a:ea typeface="+mj-ea"/>
                <a:cs typeface="+mj-cs"/>
              </a:rPr>
              <a:t>셔틀탱커 등 </a:t>
            </a:r>
            <a:r>
              <a:rPr lang="ko-KR" altLang="en-US" dirty="0" smtClean="0">
                <a:latin typeface="+mj-lt"/>
                <a:ea typeface="+mj-ea"/>
                <a:cs typeface="+mj-cs"/>
              </a:rPr>
              <a:t>대형선</a:t>
            </a:r>
            <a:endParaRPr lang="en-US" altLang="ko-KR" dirty="0">
              <a:latin typeface="+mj-lt"/>
              <a:ea typeface="+mj-ea"/>
              <a:cs typeface="+mj-cs"/>
            </a:endParaRPr>
          </a:p>
        </p:txBody>
      </p:sp>
      <p:sp>
        <p:nvSpPr>
          <p:cNvPr id="14" name="제목 1"/>
          <p:cNvSpPr txBox="1">
            <a:spLocks/>
          </p:cNvSpPr>
          <p:nvPr/>
        </p:nvSpPr>
        <p:spPr>
          <a:xfrm>
            <a:off x="4079777" y="3036883"/>
            <a:ext cx="3672408" cy="10349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>
              <a:spcBef>
                <a:spcPct val="0"/>
              </a:spcBef>
              <a:defRPr/>
            </a:pPr>
            <a:r>
              <a:rPr lang="ko-KR" altLang="en-US" dirty="0" err="1" smtClean="0">
                <a:solidFill>
                  <a:srgbClr val="0000CC"/>
                </a:solidFill>
                <a:latin typeface="+mj-lt"/>
                <a:ea typeface="+mj-ea"/>
                <a:cs typeface="+mj-cs"/>
              </a:rPr>
              <a:t>저압배전반</a:t>
            </a:r>
            <a:r>
              <a:rPr lang="ko-KR" altLang="en-US" dirty="0" smtClean="0">
                <a:latin typeface="+mj-lt"/>
                <a:ea typeface="+mj-ea"/>
                <a:cs typeface="+mj-cs"/>
              </a:rPr>
              <a:t> </a:t>
            </a:r>
            <a:r>
              <a:rPr lang="en-US" altLang="ko-KR" dirty="0" smtClean="0">
                <a:latin typeface="+mj-lt"/>
                <a:ea typeface="+mj-ea"/>
                <a:cs typeface="+mj-cs"/>
              </a:rPr>
              <a:t>SSLV, SOLT</a:t>
            </a:r>
            <a:endParaRPr lang="en-US" altLang="ko-KR" dirty="0">
              <a:latin typeface="+mj-lt"/>
              <a:ea typeface="+mj-ea"/>
              <a:cs typeface="+mj-cs"/>
            </a:endParaRPr>
          </a:p>
          <a:p>
            <a:pPr>
              <a:spcBef>
                <a:spcPct val="0"/>
              </a:spcBef>
              <a:defRPr/>
            </a:pPr>
            <a:r>
              <a:rPr lang="ko-KR" altLang="en-US" dirty="0" smtClean="0">
                <a:latin typeface="+mj-lt"/>
                <a:ea typeface="+mj-ea"/>
                <a:cs typeface="+mj-cs"/>
              </a:rPr>
              <a:t>탱커</a:t>
            </a:r>
            <a:r>
              <a:rPr lang="en-US" altLang="ko-KR" dirty="0" smtClean="0">
                <a:latin typeface="+mj-lt"/>
                <a:ea typeface="+mj-ea"/>
                <a:cs typeface="+mj-cs"/>
              </a:rPr>
              <a:t>, </a:t>
            </a:r>
            <a:r>
              <a:rPr lang="ko-KR" altLang="en-US" dirty="0" err="1" smtClean="0">
                <a:latin typeface="+mj-lt"/>
                <a:ea typeface="+mj-ea"/>
                <a:cs typeface="+mj-cs"/>
              </a:rPr>
              <a:t>드릴쉽</a:t>
            </a:r>
            <a:r>
              <a:rPr lang="en-US" altLang="ko-KR" dirty="0" smtClean="0">
                <a:latin typeface="+mj-lt"/>
                <a:ea typeface="+mj-ea"/>
                <a:cs typeface="+mj-cs"/>
              </a:rPr>
              <a:t>, FPSO </a:t>
            </a:r>
            <a:r>
              <a:rPr lang="ko-KR" altLang="en-US" dirty="0" smtClean="0">
                <a:latin typeface="+mj-lt"/>
                <a:ea typeface="+mj-ea"/>
                <a:cs typeface="+mj-cs"/>
              </a:rPr>
              <a:t>및 해양플랜트</a:t>
            </a:r>
            <a:endParaRPr lang="en-US" altLang="ko-KR" dirty="0">
              <a:latin typeface="+mj-lt"/>
              <a:ea typeface="+mj-ea"/>
              <a:cs typeface="+mj-cs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65056" y="1668319"/>
            <a:ext cx="3820539" cy="142538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855793" y="1721775"/>
            <a:ext cx="1872208" cy="1269566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847592" y="1648408"/>
            <a:ext cx="3765904" cy="1427158"/>
          </a:xfrm>
          <a:prstGeom prst="rect">
            <a:avLst/>
          </a:prstGeom>
        </p:spPr>
      </p:pic>
      <p:sp>
        <p:nvSpPr>
          <p:cNvPr id="16" name="제목 1"/>
          <p:cNvSpPr txBox="1">
            <a:spLocks/>
          </p:cNvSpPr>
          <p:nvPr/>
        </p:nvSpPr>
        <p:spPr>
          <a:xfrm>
            <a:off x="8040216" y="3036883"/>
            <a:ext cx="3146864" cy="10349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>
              <a:spcBef>
                <a:spcPct val="0"/>
              </a:spcBef>
              <a:defRPr/>
            </a:pPr>
            <a:r>
              <a:rPr lang="ko-KR" altLang="en-US" dirty="0" err="1" smtClean="0">
                <a:solidFill>
                  <a:srgbClr val="0000CC"/>
                </a:solidFill>
                <a:latin typeface="+mj-lt"/>
                <a:ea typeface="+mj-ea"/>
                <a:cs typeface="+mj-cs"/>
              </a:rPr>
              <a:t>분전반</a:t>
            </a:r>
            <a:r>
              <a:rPr lang="ko-KR" altLang="en-US" dirty="0" smtClean="0">
                <a:latin typeface="+mj-lt"/>
                <a:ea typeface="+mj-ea"/>
                <a:cs typeface="+mj-cs"/>
              </a:rPr>
              <a:t> </a:t>
            </a:r>
            <a:r>
              <a:rPr lang="en-US" altLang="ko-KR" dirty="0" smtClean="0">
                <a:latin typeface="+mj-lt"/>
                <a:ea typeface="+mj-ea"/>
                <a:cs typeface="+mj-cs"/>
              </a:rPr>
              <a:t>SSDB, RECT</a:t>
            </a:r>
          </a:p>
          <a:p>
            <a:pPr>
              <a:spcBef>
                <a:spcPct val="0"/>
              </a:spcBef>
              <a:defRPr/>
            </a:pPr>
            <a:r>
              <a:rPr lang="ko-KR" altLang="en-US" dirty="0" smtClean="0">
                <a:latin typeface="+mj-lt"/>
                <a:ea typeface="+mj-ea"/>
                <a:cs typeface="+mj-cs"/>
              </a:rPr>
              <a:t>모든 상선에 적용</a:t>
            </a:r>
            <a:r>
              <a:rPr lang="en-US" altLang="ko-KR" dirty="0" smtClean="0">
                <a:latin typeface="+mj-lt"/>
                <a:ea typeface="+mj-ea"/>
                <a:cs typeface="+mj-cs"/>
              </a:rPr>
              <a:t>, FLNG </a:t>
            </a:r>
            <a:r>
              <a:rPr lang="ko-KR" altLang="en-US" dirty="0">
                <a:latin typeface="+mj-lt"/>
                <a:ea typeface="+mj-ea"/>
                <a:cs typeface="+mj-cs"/>
              </a:rPr>
              <a:t>등</a:t>
            </a:r>
            <a:endParaRPr lang="en-US" altLang="ko-KR" dirty="0">
              <a:latin typeface="+mj-lt"/>
              <a:ea typeface="+mj-ea"/>
              <a:cs typeface="+mj-cs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227349" y="5173692"/>
            <a:ext cx="2556284" cy="1279644"/>
          </a:xfrm>
          <a:prstGeom prst="rect">
            <a:avLst/>
          </a:prstGeom>
        </p:spPr>
      </p:pic>
      <p:sp>
        <p:nvSpPr>
          <p:cNvPr id="17" name="제목 1"/>
          <p:cNvSpPr txBox="1">
            <a:spLocks/>
          </p:cNvSpPr>
          <p:nvPr/>
        </p:nvSpPr>
        <p:spPr>
          <a:xfrm>
            <a:off x="119336" y="4122242"/>
            <a:ext cx="5652628" cy="10349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>
              <a:spcBef>
                <a:spcPct val="0"/>
              </a:spcBef>
              <a:defRPr/>
            </a:pPr>
            <a:r>
              <a:rPr lang="en-US" altLang="ko-KR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ABB</a:t>
            </a:r>
            <a:r>
              <a:rPr lang="ko-KR" altLang="en-US" dirty="0" smtClean="0">
                <a:latin typeface="+mj-lt"/>
                <a:ea typeface="+mj-ea"/>
                <a:cs typeface="+mj-cs"/>
              </a:rPr>
              <a:t>사와 </a:t>
            </a:r>
            <a:r>
              <a:rPr lang="en-US" altLang="ko-KR" dirty="0" smtClean="0">
                <a:latin typeface="+mj-lt"/>
                <a:ea typeface="+mj-ea"/>
                <a:cs typeface="+mj-cs"/>
              </a:rPr>
              <a:t>2024</a:t>
            </a:r>
            <a:r>
              <a:rPr lang="ko-KR" altLang="en-US" dirty="0" smtClean="0">
                <a:latin typeface="+mj-lt"/>
                <a:ea typeface="+mj-ea"/>
                <a:cs typeface="+mj-cs"/>
              </a:rPr>
              <a:t>년 기술 협약 </a:t>
            </a:r>
            <a:r>
              <a:rPr lang="en-US" altLang="ko-KR" dirty="0" smtClean="0">
                <a:latin typeface="+mj-lt"/>
                <a:ea typeface="+mj-ea"/>
                <a:cs typeface="+mj-cs"/>
              </a:rPr>
              <a:t>MOU</a:t>
            </a:r>
          </a:p>
          <a:p>
            <a:pPr>
              <a:spcBef>
                <a:spcPct val="0"/>
              </a:spcBef>
              <a:defRPr/>
            </a:pPr>
            <a:r>
              <a:rPr lang="en-US" altLang="ko-KR" dirty="0" smtClean="0">
                <a:latin typeface="+mj-lt"/>
                <a:ea typeface="+mj-ea"/>
                <a:cs typeface="+mj-cs"/>
              </a:rPr>
              <a:t>ABB</a:t>
            </a:r>
            <a:r>
              <a:rPr lang="ko-KR" altLang="en-US" dirty="0" smtClean="0">
                <a:latin typeface="+mj-lt"/>
                <a:ea typeface="+mj-ea"/>
                <a:cs typeface="+mj-cs"/>
              </a:rPr>
              <a:t>사의 차단기 </a:t>
            </a:r>
            <a:r>
              <a:rPr lang="en-US" altLang="ko-KR" dirty="0" smtClean="0">
                <a:latin typeface="+mj-lt"/>
                <a:ea typeface="+mj-ea"/>
                <a:cs typeface="+mj-cs"/>
              </a:rPr>
              <a:t>VD4 </a:t>
            </a:r>
            <a:r>
              <a:rPr lang="ko-KR" altLang="en-US" dirty="0" smtClean="0">
                <a:latin typeface="+mj-lt"/>
                <a:ea typeface="+mj-ea"/>
                <a:cs typeface="+mj-cs"/>
              </a:rPr>
              <a:t>및 공기절연 개폐장치 </a:t>
            </a:r>
            <a:r>
              <a:rPr lang="en-US" altLang="ko-KR" dirty="0" smtClean="0">
                <a:latin typeface="+mj-lt"/>
                <a:ea typeface="+mj-ea"/>
                <a:cs typeface="+mj-cs"/>
              </a:rPr>
              <a:t>ZS1 </a:t>
            </a:r>
            <a:r>
              <a:rPr lang="ko-KR" altLang="en-US" dirty="0" smtClean="0">
                <a:latin typeface="+mj-lt"/>
                <a:ea typeface="+mj-ea"/>
                <a:cs typeface="+mj-cs"/>
              </a:rPr>
              <a:t>등을 공급받아 부산공장에서 완제품 생산 및 공급</a:t>
            </a:r>
            <a:endParaRPr lang="en-US" altLang="ko-KR" dirty="0">
              <a:latin typeface="+mj-lt"/>
              <a:ea typeface="+mj-ea"/>
              <a:cs typeface="+mj-cs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5878747" y="4083954"/>
            <a:ext cx="5800760" cy="24404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2" name="제목 1"/>
          <p:cNvSpPr txBox="1">
            <a:spLocks/>
          </p:cNvSpPr>
          <p:nvPr/>
        </p:nvSpPr>
        <p:spPr>
          <a:xfrm>
            <a:off x="5933982" y="4293096"/>
            <a:ext cx="5652628" cy="53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>
              <a:spcBef>
                <a:spcPct val="0"/>
              </a:spcBef>
              <a:defRPr/>
            </a:pPr>
            <a:r>
              <a:rPr lang="ko-KR" altLang="en-US" dirty="0" smtClean="0">
                <a:latin typeface="+mj-lt"/>
                <a:ea typeface="+mj-ea"/>
                <a:cs typeface="+mj-cs"/>
              </a:rPr>
              <a:t>해상용 및 선박용 전력시스템 납품실적 다수 보유</a:t>
            </a:r>
            <a:endParaRPr lang="en-US" altLang="ko-KR" dirty="0" smtClean="0">
              <a:latin typeface="+mj-lt"/>
              <a:ea typeface="+mj-ea"/>
              <a:cs typeface="+mj-cs"/>
            </a:endParaRPr>
          </a:p>
          <a:p>
            <a:pPr>
              <a:spcBef>
                <a:spcPct val="0"/>
              </a:spcBef>
              <a:defRPr/>
            </a:pPr>
            <a:r>
              <a:rPr lang="ko-KR" altLang="en-US" dirty="0" smtClean="0">
                <a:latin typeface="+mj-lt"/>
                <a:ea typeface="+mj-ea"/>
                <a:cs typeface="+mj-cs"/>
              </a:rPr>
              <a:t>삼성중공업 시절부터 누적</a:t>
            </a:r>
            <a:r>
              <a:rPr lang="en-US" altLang="ko-KR" dirty="0" smtClean="0">
                <a:latin typeface="+mj-lt"/>
                <a:ea typeface="+mj-ea"/>
                <a:cs typeface="+mj-cs"/>
              </a:rPr>
              <a:t>, </a:t>
            </a:r>
            <a:r>
              <a:rPr lang="ko-KR" altLang="en-US" dirty="0" smtClean="0">
                <a:latin typeface="+mj-lt"/>
                <a:ea typeface="+mj-ea"/>
                <a:cs typeface="+mj-cs"/>
              </a:rPr>
              <a:t>최근 </a:t>
            </a:r>
            <a:r>
              <a:rPr lang="ko-KR" altLang="en-US" dirty="0" err="1" smtClean="0">
                <a:latin typeface="+mj-lt"/>
                <a:ea typeface="+mj-ea"/>
                <a:cs typeface="+mj-cs"/>
              </a:rPr>
              <a:t>한화오션</a:t>
            </a:r>
            <a:r>
              <a:rPr lang="ko-KR" altLang="en-US" dirty="0" smtClean="0">
                <a:latin typeface="+mj-lt"/>
                <a:ea typeface="+mj-ea"/>
                <a:cs typeface="+mj-cs"/>
              </a:rPr>
              <a:t> 수주 증가</a:t>
            </a:r>
            <a:endParaRPr lang="en-US" altLang="ko-KR" dirty="0">
              <a:latin typeface="+mj-lt"/>
              <a:ea typeface="+mj-ea"/>
              <a:cs typeface="+mj-cs"/>
            </a:endParaRPr>
          </a:p>
        </p:txBody>
      </p:sp>
      <p:sp>
        <p:nvSpPr>
          <p:cNvPr id="23" name="제목 1"/>
          <p:cNvSpPr txBox="1">
            <a:spLocks/>
          </p:cNvSpPr>
          <p:nvPr/>
        </p:nvSpPr>
        <p:spPr>
          <a:xfrm>
            <a:off x="5934268" y="5051992"/>
            <a:ext cx="5922372" cy="53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>
              <a:spcBef>
                <a:spcPct val="0"/>
              </a:spcBef>
              <a:defRPr/>
            </a:pPr>
            <a:r>
              <a:rPr lang="en-US" altLang="ko-KR" dirty="0" smtClean="0">
                <a:latin typeface="+mj-lt"/>
                <a:ea typeface="+mj-ea"/>
                <a:cs typeface="+mj-cs"/>
              </a:rPr>
              <a:t>2025</a:t>
            </a:r>
            <a:r>
              <a:rPr lang="ko-KR" altLang="en-US" dirty="0" smtClean="0">
                <a:latin typeface="+mj-lt"/>
                <a:ea typeface="+mj-ea"/>
                <a:cs typeface="+mj-cs"/>
              </a:rPr>
              <a:t>년 평택공장 확보</a:t>
            </a:r>
            <a:r>
              <a:rPr lang="en-US" altLang="ko-KR" dirty="0" smtClean="0">
                <a:latin typeface="+mj-lt"/>
                <a:ea typeface="+mj-ea"/>
                <a:cs typeface="+mj-cs"/>
              </a:rPr>
              <a:t>, </a:t>
            </a:r>
            <a:r>
              <a:rPr lang="ko-KR" altLang="en-US" dirty="0" smtClean="0">
                <a:latin typeface="+mj-lt"/>
                <a:ea typeface="+mj-ea"/>
                <a:cs typeface="+mj-cs"/>
              </a:rPr>
              <a:t>삼성전자 반도체 공장 및</a:t>
            </a:r>
            <a:endParaRPr lang="en-US" altLang="ko-KR" dirty="0" smtClean="0">
              <a:latin typeface="+mj-lt"/>
              <a:ea typeface="+mj-ea"/>
              <a:cs typeface="+mj-cs"/>
            </a:endParaRPr>
          </a:p>
          <a:p>
            <a:pPr>
              <a:spcBef>
                <a:spcPct val="0"/>
              </a:spcBef>
              <a:defRPr/>
            </a:pPr>
            <a:r>
              <a:rPr lang="ko-KR" altLang="en-US" dirty="0" smtClean="0">
                <a:latin typeface="+mj-lt"/>
                <a:ea typeface="+mj-ea"/>
                <a:cs typeface="+mj-cs"/>
              </a:rPr>
              <a:t>삼성전기 필리핀 공장 배전함 초도 수주</a:t>
            </a:r>
            <a:r>
              <a:rPr lang="en-US" altLang="ko-KR" dirty="0" smtClean="0">
                <a:latin typeface="+mj-lt"/>
                <a:ea typeface="+mj-ea"/>
                <a:cs typeface="+mj-cs"/>
              </a:rPr>
              <a:t>(</a:t>
            </a:r>
            <a:r>
              <a:rPr lang="ko-KR" altLang="en-US" dirty="0" smtClean="0">
                <a:latin typeface="+mj-lt"/>
                <a:ea typeface="+mj-ea"/>
                <a:cs typeface="+mj-cs"/>
              </a:rPr>
              <a:t>삼성벤더 추정</a:t>
            </a:r>
            <a:r>
              <a:rPr lang="en-US" altLang="ko-KR" dirty="0" smtClean="0">
                <a:latin typeface="+mj-lt"/>
                <a:ea typeface="+mj-ea"/>
                <a:cs typeface="+mj-cs"/>
              </a:rPr>
              <a:t>)</a:t>
            </a:r>
            <a:endParaRPr lang="en-US" altLang="ko-KR" dirty="0">
              <a:latin typeface="+mj-lt"/>
              <a:ea typeface="+mj-ea"/>
              <a:cs typeface="+mj-cs"/>
            </a:endParaRPr>
          </a:p>
        </p:txBody>
      </p:sp>
      <p:sp>
        <p:nvSpPr>
          <p:cNvPr id="25" name="제목 1"/>
          <p:cNvSpPr txBox="1">
            <a:spLocks/>
          </p:cNvSpPr>
          <p:nvPr/>
        </p:nvSpPr>
        <p:spPr>
          <a:xfrm>
            <a:off x="5934840" y="5772072"/>
            <a:ext cx="5922372" cy="53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>
              <a:spcBef>
                <a:spcPct val="0"/>
              </a:spcBef>
              <a:defRPr/>
            </a:pPr>
            <a:r>
              <a:rPr lang="ko-KR" altLang="en-US" dirty="0" smtClean="0">
                <a:latin typeface="+mj-lt"/>
                <a:ea typeface="+mj-ea"/>
                <a:cs typeface="+mj-cs"/>
              </a:rPr>
              <a:t>부산</a:t>
            </a:r>
            <a:r>
              <a:rPr lang="en-US" altLang="ko-KR" dirty="0" smtClean="0">
                <a:latin typeface="+mj-lt"/>
                <a:ea typeface="+mj-ea"/>
                <a:cs typeface="+mj-cs"/>
              </a:rPr>
              <a:t>2</a:t>
            </a:r>
            <a:r>
              <a:rPr lang="ko-KR" altLang="en-US" dirty="0" smtClean="0">
                <a:latin typeface="+mj-lt"/>
                <a:ea typeface="+mj-ea"/>
                <a:cs typeface="+mj-cs"/>
              </a:rPr>
              <a:t>공장</a:t>
            </a:r>
            <a:r>
              <a:rPr lang="en-US" altLang="ko-KR" dirty="0" smtClean="0">
                <a:latin typeface="+mj-lt"/>
                <a:ea typeface="+mj-ea"/>
                <a:cs typeface="+mj-cs"/>
              </a:rPr>
              <a:t>, </a:t>
            </a:r>
            <a:r>
              <a:rPr lang="ko-KR" altLang="en-US" dirty="0" smtClean="0">
                <a:latin typeface="+mj-lt"/>
                <a:ea typeface="+mj-ea"/>
                <a:cs typeface="+mj-cs"/>
              </a:rPr>
              <a:t>거제 공장</a:t>
            </a:r>
            <a:r>
              <a:rPr lang="en-US" altLang="ko-KR" dirty="0" smtClean="0">
                <a:latin typeface="+mj-lt"/>
                <a:ea typeface="+mj-ea"/>
                <a:cs typeface="+mj-cs"/>
              </a:rPr>
              <a:t>, </a:t>
            </a:r>
            <a:r>
              <a:rPr lang="ko-KR" altLang="en-US" dirty="0" smtClean="0">
                <a:latin typeface="+mj-lt"/>
                <a:ea typeface="+mj-ea"/>
                <a:cs typeface="+mj-cs"/>
              </a:rPr>
              <a:t>중국 공장 등 증설 중</a:t>
            </a:r>
            <a:r>
              <a:rPr lang="en-US" altLang="ko-KR" dirty="0" smtClean="0">
                <a:latin typeface="+mj-lt"/>
                <a:ea typeface="+mj-ea"/>
                <a:cs typeface="+mj-cs"/>
              </a:rPr>
              <a:t>(~2027</a:t>
            </a:r>
            <a:r>
              <a:rPr lang="ko-KR" altLang="en-US" dirty="0" smtClean="0">
                <a:latin typeface="+mj-lt"/>
                <a:ea typeface="+mj-ea"/>
                <a:cs typeface="+mj-cs"/>
              </a:rPr>
              <a:t>년</a:t>
            </a:r>
            <a:r>
              <a:rPr lang="en-US" altLang="ko-KR" dirty="0" smtClean="0">
                <a:latin typeface="+mj-lt"/>
                <a:ea typeface="+mj-ea"/>
                <a:cs typeface="+mj-cs"/>
              </a:rPr>
              <a:t>)</a:t>
            </a:r>
            <a:endParaRPr lang="en-US" altLang="ko-KR" dirty="0">
              <a:latin typeface="+mj-lt"/>
              <a:ea typeface="+mj-ea"/>
              <a:cs typeface="+mj-cs"/>
            </a:endParaRPr>
          </a:p>
        </p:txBody>
      </p:sp>
      <p:sp>
        <p:nvSpPr>
          <p:cNvPr id="26" name="제목 1"/>
          <p:cNvSpPr txBox="1">
            <a:spLocks/>
          </p:cNvSpPr>
          <p:nvPr/>
        </p:nvSpPr>
        <p:spPr>
          <a:xfrm>
            <a:off x="2839546" y="5182756"/>
            <a:ext cx="2861496" cy="11985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>
              <a:spcBef>
                <a:spcPct val="0"/>
              </a:spcBef>
              <a:defRPr/>
            </a:pPr>
            <a:r>
              <a:rPr lang="en-US" altLang="ko-KR" dirty="0" smtClean="0">
                <a:latin typeface="+mj-lt"/>
                <a:ea typeface="+mj-ea"/>
                <a:cs typeface="+mj-cs"/>
              </a:rPr>
              <a:t>ABB</a:t>
            </a:r>
            <a:r>
              <a:rPr lang="ko-KR" altLang="en-US" dirty="0" smtClean="0">
                <a:latin typeface="+mj-lt"/>
                <a:ea typeface="+mj-ea"/>
                <a:cs typeface="+mj-cs"/>
              </a:rPr>
              <a:t>사와 생산 라이선스</a:t>
            </a:r>
            <a:r>
              <a:rPr lang="en-US" altLang="ko-KR" dirty="0">
                <a:latin typeface="+mj-lt"/>
                <a:ea typeface="+mj-ea"/>
                <a:cs typeface="+mj-cs"/>
              </a:rPr>
              <a:t> </a:t>
            </a:r>
            <a:r>
              <a:rPr lang="ko-KR" altLang="en-US" dirty="0" smtClean="0">
                <a:latin typeface="+mj-lt"/>
                <a:ea typeface="+mj-ea"/>
                <a:cs typeface="+mj-cs"/>
              </a:rPr>
              <a:t>협약은 세계 유일 독점</a:t>
            </a:r>
            <a:endParaRPr lang="en-US" altLang="ko-KR" dirty="0" smtClean="0">
              <a:latin typeface="+mj-lt"/>
              <a:ea typeface="+mj-ea"/>
              <a:cs typeface="+mj-cs"/>
            </a:endParaRPr>
          </a:p>
          <a:p>
            <a:pPr>
              <a:spcBef>
                <a:spcPct val="0"/>
              </a:spcBef>
              <a:defRPr/>
            </a:pPr>
            <a:r>
              <a:rPr lang="ko-KR" altLang="en-US" dirty="0" smtClean="0">
                <a:latin typeface="+mj-lt"/>
                <a:ea typeface="+mj-ea"/>
                <a:cs typeface="+mj-cs"/>
              </a:rPr>
              <a:t>해상플랜트 및 데이터센터 목표</a:t>
            </a:r>
            <a:endParaRPr lang="en-US" altLang="ko-KR" dirty="0" smtClean="0"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64342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115221" y="1586720"/>
            <a:ext cx="5680278" cy="230509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/>
          <p:cNvSpPr/>
          <p:nvPr/>
        </p:nvSpPr>
        <p:spPr>
          <a:xfrm>
            <a:off x="0" y="0"/>
            <a:ext cx="12192000" cy="9087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19336" y="209327"/>
            <a:ext cx="8229600" cy="490066"/>
          </a:xfrm>
        </p:spPr>
        <p:txBody>
          <a:bodyPr>
            <a:noAutofit/>
          </a:bodyPr>
          <a:lstStyle/>
          <a:p>
            <a:pPr algn="l"/>
            <a:r>
              <a:rPr lang="en-US" altLang="ko-KR" sz="3600" dirty="0">
                <a:solidFill>
                  <a:schemeClr val="bg1"/>
                </a:solidFill>
              </a:rPr>
              <a:t>2. </a:t>
            </a:r>
            <a:r>
              <a:rPr lang="ko-KR" altLang="en-US" sz="3600" dirty="0">
                <a:solidFill>
                  <a:schemeClr val="bg1"/>
                </a:solidFill>
              </a:rPr>
              <a:t>주요사업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119336" y="1064165"/>
            <a:ext cx="2736304" cy="43204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/>
              <a:t>파워솔루션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6023992" y="1062540"/>
            <a:ext cx="2736304" cy="43204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/>
              <a:t>제어솔루션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3059195" y="1062540"/>
            <a:ext cx="2736304" cy="43204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/>
              <a:t>에코솔루션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8913456" y="1053396"/>
            <a:ext cx="2736304" cy="43204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/>
              <a:t>MRO</a:t>
            </a:r>
            <a:endParaRPr lang="ko-KR" altLang="en-US" sz="2400" dirty="0"/>
          </a:p>
        </p:txBody>
      </p:sp>
      <p:sp>
        <p:nvSpPr>
          <p:cNvPr id="27" name="제목 1"/>
          <p:cNvSpPr txBox="1">
            <a:spLocks/>
          </p:cNvSpPr>
          <p:nvPr/>
        </p:nvSpPr>
        <p:spPr>
          <a:xfrm>
            <a:off x="227348" y="3216903"/>
            <a:ext cx="5436604" cy="67491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>
              <a:spcBef>
                <a:spcPct val="0"/>
              </a:spcBef>
              <a:defRPr/>
            </a:pPr>
            <a:r>
              <a:rPr lang="ko-KR" altLang="en-US" dirty="0" err="1" smtClean="0">
                <a:solidFill>
                  <a:srgbClr val="0000CC"/>
                </a:solidFill>
                <a:latin typeface="+mj-lt"/>
                <a:ea typeface="+mj-ea"/>
                <a:cs typeface="+mj-cs"/>
              </a:rPr>
              <a:t>평형수처리시스템</a:t>
            </a:r>
            <a:r>
              <a:rPr lang="ko-KR" altLang="en-US" dirty="0" smtClean="0">
                <a:latin typeface="+mj-lt"/>
                <a:ea typeface="+mj-ea"/>
                <a:cs typeface="+mj-cs"/>
              </a:rPr>
              <a:t> </a:t>
            </a:r>
            <a:r>
              <a:rPr lang="en-US" altLang="ko-KR" dirty="0" smtClean="0">
                <a:latin typeface="+mj-lt"/>
                <a:ea typeface="+mj-ea"/>
                <a:cs typeface="+mj-cs"/>
              </a:rPr>
              <a:t>PURIMAR</a:t>
            </a:r>
            <a:endParaRPr lang="en-US" altLang="ko-KR" dirty="0">
              <a:latin typeface="+mj-lt"/>
              <a:ea typeface="+mj-ea"/>
              <a:cs typeface="+mj-cs"/>
            </a:endParaRPr>
          </a:p>
          <a:p>
            <a:pPr>
              <a:spcBef>
                <a:spcPct val="0"/>
              </a:spcBef>
              <a:defRPr/>
            </a:pPr>
            <a:r>
              <a:rPr lang="ko-KR" altLang="en-US" dirty="0" smtClean="0">
                <a:latin typeface="+mj-lt"/>
                <a:ea typeface="+mj-ea"/>
                <a:cs typeface="+mj-cs"/>
              </a:rPr>
              <a:t>선박 </a:t>
            </a:r>
            <a:r>
              <a:rPr lang="ko-KR" altLang="en-US" dirty="0" err="1" smtClean="0">
                <a:latin typeface="+mj-lt"/>
                <a:ea typeface="+mj-ea"/>
                <a:cs typeface="+mj-cs"/>
              </a:rPr>
              <a:t>평형수처리</a:t>
            </a:r>
            <a:r>
              <a:rPr lang="ko-KR" altLang="en-US" dirty="0" smtClean="0">
                <a:latin typeface="+mj-lt"/>
                <a:ea typeface="+mj-ea"/>
                <a:cs typeface="+mj-cs"/>
              </a:rPr>
              <a:t> 통해 해양생태계 보호</a:t>
            </a:r>
            <a:endParaRPr lang="en-US" altLang="ko-KR" dirty="0">
              <a:latin typeface="+mj-lt"/>
              <a:ea typeface="+mj-ea"/>
              <a:cs typeface="+mj-cs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98546" y="1648408"/>
            <a:ext cx="3721298" cy="1406832"/>
          </a:xfrm>
          <a:prstGeom prst="rect">
            <a:avLst/>
          </a:prstGeom>
        </p:spPr>
      </p:pic>
      <p:sp>
        <p:nvSpPr>
          <p:cNvPr id="29" name="직사각형 28"/>
          <p:cNvSpPr/>
          <p:nvPr/>
        </p:nvSpPr>
        <p:spPr>
          <a:xfrm>
            <a:off x="6000730" y="1586720"/>
            <a:ext cx="5680278" cy="230509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제목 1"/>
          <p:cNvSpPr txBox="1">
            <a:spLocks/>
          </p:cNvSpPr>
          <p:nvPr/>
        </p:nvSpPr>
        <p:spPr>
          <a:xfrm>
            <a:off x="6096000" y="3223264"/>
            <a:ext cx="5436604" cy="67491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>
              <a:spcBef>
                <a:spcPct val="0"/>
              </a:spcBef>
              <a:defRPr/>
            </a:pPr>
            <a:r>
              <a:rPr lang="ko-KR" altLang="en-US" dirty="0" smtClean="0">
                <a:solidFill>
                  <a:srgbClr val="0000CC"/>
                </a:solidFill>
                <a:latin typeface="+mj-lt"/>
                <a:ea typeface="+mj-ea"/>
                <a:cs typeface="+mj-cs"/>
              </a:rPr>
              <a:t>이중연료공급시스템</a:t>
            </a:r>
            <a:r>
              <a:rPr lang="ko-KR" altLang="en-US" dirty="0" smtClean="0">
                <a:latin typeface="+mj-lt"/>
                <a:ea typeface="+mj-ea"/>
                <a:cs typeface="+mj-cs"/>
              </a:rPr>
              <a:t> </a:t>
            </a:r>
            <a:r>
              <a:rPr lang="en-US" altLang="ko-KR" dirty="0" smtClean="0">
                <a:latin typeface="+mj-lt"/>
                <a:ea typeface="+mj-ea"/>
                <a:cs typeface="+mj-cs"/>
              </a:rPr>
              <a:t>PURIGAS </a:t>
            </a:r>
            <a:r>
              <a:rPr lang="ko-KR" altLang="en-US" dirty="0" smtClean="0">
                <a:latin typeface="+mj-lt"/>
                <a:ea typeface="+mj-ea"/>
                <a:cs typeface="+mj-cs"/>
              </a:rPr>
              <a:t>등</a:t>
            </a:r>
            <a:endParaRPr lang="en-US" altLang="ko-KR" dirty="0">
              <a:latin typeface="+mj-lt"/>
              <a:ea typeface="+mj-ea"/>
              <a:cs typeface="+mj-cs"/>
            </a:endParaRPr>
          </a:p>
          <a:p>
            <a:pPr>
              <a:spcBef>
                <a:spcPct val="0"/>
              </a:spcBef>
              <a:defRPr/>
            </a:pPr>
            <a:r>
              <a:rPr lang="en-US" altLang="ko-KR" dirty="0" smtClean="0">
                <a:latin typeface="+mj-lt"/>
                <a:ea typeface="+mj-ea"/>
                <a:cs typeface="+mj-cs"/>
              </a:rPr>
              <a:t>FGSS(LNG) </a:t>
            </a:r>
            <a:r>
              <a:rPr lang="ko-KR" altLang="en-US" dirty="0" smtClean="0">
                <a:latin typeface="+mj-lt"/>
                <a:ea typeface="+mj-ea"/>
                <a:cs typeface="+mj-cs"/>
              </a:rPr>
              <a:t>및 </a:t>
            </a:r>
            <a:r>
              <a:rPr lang="en-US" altLang="ko-KR" dirty="0" smtClean="0">
                <a:latin typeface="+mj-lt"/>
                <a:ea typeface="+mj-ea"/>
                <a:cs typeface="+mj-cs"/>
              </a:rPr>
              <a:t>LFSS(</a:t>
            </a:r>
            <a:r>
              <a:rPr lang="ko-KR" altLang="en-US" dirty="0" smtClean="0">
                <a:latin typeface="+mj-lt"/>
                <a:ea typeface="+mj-ea"/>
                <a:cs typeface="+mj-cs"/>
              </a:rPr>
              <a:t>메탄올</a:t>
            </a:r>
            <a:r>
              <a:rPr lang="en-US" altLang="ko-KR" dirty="0" smtClean="0">
                <a:latin typeface="+mj-lt"/>
                <a:ea typeface="+mj-ea"/>
                <a:cs typeface="+mj-cs"/>
              </a:rPr>
              <a:t>, </a:t>
            </a:r>
            <a:r>
              <a:rPr lang="ko-KR" altLang="en-US" dirty="0" smtClean="0">
                <a:latin typeface="+mj-lt"/>
                <a:ea typeface="+mj-ea"/>
                <a:cs typeface="+mj-cs"/>
              </a:rPr>
              <a:t>암모니아</a:t>
            </a:r>
            <a:r>
              <a:rPr lang="en-US" altLang="ko-KR" dirty="0" smtClean="0">
                <a:latin typeface="+mj-lt"/>
                <a:ea typeface="+mj-ea"/>
                <a:cs typeface="+mj-cs"/>
              </a:rPr>
              <a:t>)</a:t>
            </a:r>
            <a:r>
              <a:rPr lang="ko-KR" altLang="en-US" dirty="0" smtClean="0">
                <a:latin typeface="+mj-lt"/>
                <a:ea typeface="+mj-ea"/>
                <a:cs typeface="+mj-cs"/>
              </a:rPr>
              <a:t> 친환경 연료</a:t>
            </a:r>
            <a:endParaRPr lang="en-US" altLang="ko-KR" dirty="0">
              <a:latin typeface="+mj-lt"/>
              <a:ea typeface="+mj-ea"/>
              <a:cs typeface="+mj-cs"/>
            </a:endParaRPr>
          </a:p>
        </p:txBody>
      </p:sp>
      <p:pic>
        <p:nvPicPr>
          <p:cNvPr id="24" name="그림 2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730295" y="1672424"/>
            <a:ext cx="2366321" cy="1520182"/>
          </a:xfrm>
          <a:prstGeom prst="rect">
            <a:avLst/>
          </a:prstGeom>
        </p:spPr>
      </p:pic>
      <p:sp>
        <p:nvSpPr>
          <p:cNvPr id="31" name="직사각형 30"/>
          <p:cNvSpPr/>
          <p:nvPr/>
        </p:nvSpPr>
        <p:spPr>
          <a:xfrm>
            <a:off x="119337" y="4015913"/>
            <a:ext cx="8424936" cy="24404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2" name="제목 1"/>
          <p:cNvSpPr txBox="1">
            <a:spLocks/>
          </p:cNvSpPr>
          <p:nvPr/>
        </p:nvSpPr>
        <p:spPr>
          <a:xfrm>
            <a:off x="176182" y="4168240"/>
            <a:ext cx="8776801" cy="53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>
              <a:spcBef>
                <a:spcPct val="0"/>
              </a:spcBef>
              <a:defRPr/>
            </a:pPr>
            <a:r>
              <a:rPr lang="ko-KR" altLang="en-US" dirty="0" smtClean="0">
                <a:latin typeface="+mj-lt"/>
                <a:ea typeface="+mj-ea"/>
                <a:cs typeface="+mj-cs"/>
              </a:rPr>
              <a:t>기존선의 </a:t>
            </a:r>
            <a:r>
              <a:rPr lang="ko-KR" altLang="en-US" dirty="0" err="1" smtClean="0">
                <a:latin typeface="+mj-lt"/>
                <a:ea typeface="+mj-ea"/>
                <a:cs typeface="+mj-cs"/>
              </a:rPr>
              <a:t>평형수처리시스템</a:t>
            </a:r>
            <a:r>
              <a:rPr lang="ko-KR" altLang="en-US" dirty="0" smtClean="0">
                <a:latin typeface="+mj-lt"/>
                <a:ea typeface="+mj-ea"/>
                <a:cs typeface="+mj-cs"/>
              </a:rPr>
              <a:t> </a:t>
            </a:r>
            <a:r>
              <a:rPr lang="en-US" altLang="ko-KR" dirty="0" smtClean="0">
                <a:latin typeface="+mj-lt"/>
                <a:ea typeface="+mj-ea"/>
                <a:cs typeface="+mj-cs"/>
              </a:rPr>
              <a:t>IMO </a:t>
            </a:r>
            <a:r>
              <a:rPr lang="ko-KR" altLang="en-US" dirty="0" smtClean="0">
                <a:latin typeface="+mj-lt"/>
                <a:ea typeface="+mj-ea"/>
                <a:cs typeface="+mj-cs"/>
              </a:rPr>
              <a:t>의무 설치기간</a:t>
            </a:r>
            <a:r>
              <a:rPr lang="en-US" altLang="ko-KR" dirty="0" smtClean="0">
                <a:latin typeface="+mj-lt"/>
                <a:ea typeface="+mj-ea"/>
                <a:cs typeface="+mj-cs"/>
              </a:rPr>
              <a:t>(2024</a:t>
            </a:r>
            <a:r>
              <a:rPr lang="ko-KR" altLang="en-US" dirty="0" smtClean="0">
                <a:latin typeface="+mj-lt"/>
                <a:ea typeface="+mj-ea"/>
                <a:cs typeface="+mj-cs"/>
              </a:rPr>
              <a:t>년 </a:t>
            </a:r>
            <a:r>
              <a:rPr lang="en-US" altLang="ko-KR" dirty="0" smtClean="0">
                <a:latin typeface="+mj-lt"/>
                <a:ea typeface="+mj-ea"/>
                <a:cs typeface="+mj-cs"/>
              </a:rPr>
              <a:t>9</a:t>
            </a:r>
            <a:r>
              <a:rPr lang="ko-KR" altLang="en-US" dirty="0" smtClean="0">
                <a:latin typeface="+mj-lt"/>
                <a:ea typeface="+mj-ea"/>
                <a:cs typeface="+mj-cs"/>
              </a:rPr>
              <a:t>월</a:t>
            </a:r>
            <a:r>
              <a:rPr lang="en-US" altLang="ko-KR" dirty="0" smtClean="0">
                <a:latin typeface="+mj-lt"/>
                <a:ea typeface="+mj-ea"/>
                <a:cs typeface="+mj-cs"/>
              </a:rPr>
              <a:t>) </a:t>
            </a:r>
            <a:r>
              <a:rPr lang="ko-KR" altLang="en-US" dirty="0" smtClean="0">
                <a:latin typeface="+mj-lt"/>
                <a:ea typeface="+mj-ea"/>
                <a:cs typeface="+mj-cs"/>
              </a:rPr>
              <a:t>종료</a:t>
            </a:r>
            <a:endParaRPr lang="en-US" altLang="ko-KR" dirty="0" smtClean="0">
              <a:latin typeface="+mj-lt"/>
              <a:ea typeface="+mj-ea"/>
              <a:cs typeface="+mj-cs"/>
            </a:endParaRPr>
          </a:p>
        </p:txBody>
      </p:sp>
      <p:sp>
        <p:nvSpPr>
          <p:cNvPr id="34" name="제목 1"/>
          <p:cNvSpPr txBox="1">
            <a:spLocks/>
          </p:cNvSpPr>
          <p:nvPr/>
        </p:nvSpPr>
        <p:spPr>
          <a:xfrm>
            <a:off x="176182" y="4869160"/>
            <a:ext cx="8776801" cy="53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>
              <a:spcBef>
                <a:spcPct val="0"/>
              </a:spcBef>
              <a:defRPr/>
            </a:pPr>
            <a:r>
              <a:rPr lang="ko-KR" altLang="en-US" dirty="0" smtClean="0">
                <a:latin typeface="+mj-lt"/>
                <a:ea typeface="+mj-ea"/>
                <a:cs typeface="+mj-cs"/>
              </a:rPr>
              <a:t>현재 신규선 위주의 설치가 이루어지고 있으나</a:t>
            </a:r>
            <a:r>
              <a:rPr lang="en-US" altLang="ko-KR" dirty="0" smtClean="0">
                <a:latin typeface="+mj-lt"/>
                <a:ea typeface="+mj-ea"/>
                <a:cs typeface="+mj-cs"/>
              </a:rPr>
              <a:t>, </a:t>
            </a:r>
            <a:r>
              <a:rPr lang="ko-KR" altLang="en-US" dirty="0" smtClean="0">
                <a:latin typeface="+mj-lt"/>
                <a:ea typeface="+mj-ea"/>
                <a:cs typeface="+mj-cs"/>
              </a:rPr>
              <a:t>친환경 규제는 지속 강화 중이며</a:t>
            </a:r>
            <a:endParaRPr lang="en-US" altLang="ko-KR" dirty="0" smtClean="0">
              <a:latin typeface="+mj-lt"/>
              <a:ea typeface="+mj-ea"/>
              <a:cs typeface="+mj-cs"/>
            </a:endParaRPr>
          </a:p>
          <a:p>
            <a:pPr>
              <a:spcBef>
                <a:spcPct val="0"/>
              </a:spcBef>
              <a:defRPr/>
            </a:pPr>
            <a:r>
              <a:rPr lang="ko-KR" altLang="en-US" dirty="0" err="1" smtClean="0">
                <a:latin typeface="+mj-lt"/>
                <a:ea typeface="+mj-ea"/>
                <a:cs typeface="+mj-cs"/>
              </a:rPr>
              <a:t>평형수처리</a:t>
            </a:r>
            <a:r>
              <a:rPr lang="ko-KR" altLang="en-US" dirty="0" smtClean="0">
                <a:latin typeface="+mj-lt"/>
                <a:ea typeface="+mj-ea"/>
                <a:cs typeface="+mj-cs"/>
              </a:rPr>
              <a:t> 시장은 </a:t>
            </a:r>
            <a:r>
              <a:rPr lang="en-US" altLang="ko-KR" dirty="0" smtClean="0">
                <a:latin typeface="+mj-lt"/>
                <a:ea typeface="+mj-ea"/>
                <a:cs typeface="+mj-cs"/>
              </a:rPr>
              <a:t>2025</a:t>
            </a:r>
            <a:r>
              <a:rPr lang="ko-KR" altLang="en-US" dirty="0" smtClean="0">
                <a:latin typeface="+mj-lt"/>
                <a:ea typeface="+mj-ea"/>
                <a:cs typeface="+mj-cs"/>
              </a:rPr>
              <a:t>년 </a:t>
            </a:r>
            <a:r>
              <a:rPr lang="en-US" altLang="ko-KR" dirty="0" smtClean="0">
                <a:latin typeface="+mj-lt"/>
                <a:ea typeface="+mj-ea"/>
                <a:cs typeface="+mj-cs"/>
              </a:rPr>
              <a:t>79</a:t>
            </a:r>
            <a:r>
              <a:rPr lang="ko-KR" altLang="en-US" dirty="0" err="1" smtClean="0">
                <a:latin typeface="+mj-lt"/>
                <a:ea typeface="+mj-ea"/>
                <a:cs typeface="+mj-cs"/>
              </a:rPr>
              <a:t>억달러에서</a:t>
            </a:r>
            <a:r>
              <a:rPr lang="ko-KR" altLang="en-US" dirty="0" smtClean="0">
                <a:latin typeface="+mj-lt"/>
                <a:ea typeface="+mj-ea"/>
                <a:cs typeface="+mj-cs"/>
              </a:rPr>
              <a:t> </a:t>
            </a:r>
            <a:r>
              <a:rPr lang="en-US" altLang="ko-KR" dirty="0" smtClean="0">
                <a:latin typeface="+mj-lt"/>
                <a:ea typeface="+mj-ea"/>
                <a:cs typeface="+mj-cs"/>
              </a:rPr>
              <a:t>2034</a:t>
            </a:r>
            <a:r>
              <a:rPr lang="ko-KR" altLang="en-US" dirty="0" smtClean="0">
                <a:latin typeface="+mj-lt"/>
                <a:ea typeface="+mj-ea"/>
                <a:cs typeface="+mj-cs"/>
              </a:rPr>
              <a:t>년 </a:t>
            </a:r>
            <a:r>
              <a:rPr lang="en-US" altLang="ko-KR" dirty="0" smtClean="0">
                <a:latin typeface="+mj-lt"/>
                <a:ea typeface="+mj-ea"/>
                <a:cs typeface="+mj-cs"/>
              </a:rPr>
              <a:t>159</a:t>
            </a:r>
            <a:r>
              <a:rPr lang="ko-KR" altLang="en-US" dirty="0" err="1" smtClean="0">
                <a:latin typeface="+mj-lt"/>
                <a:ea typeface="+mj-ea"/>
                <a:cs typeface="+mj-cs"/>
              </a:rPr>
              <a:t>억달러에</a:t>
            </a:r>
            <a:r>
              <a:rPr lang="ko-KR" altLang="en-US" dirty="0" smtClean="0">
                <a:latin typeface="+mj-lt"/>
                <a:ea typeface="+mj-ea"/>
                <a:cs typeface="+mj-cs"/>
              </a:rPr>
              <a:t> 이를 것으로 예상</a:t>
            </a:r>
            <a:r>
              <a:rPr lang="en-US" altLang="ko-KR" dirty="0" smtClean="0">
                <a:latin typeface="+mj-lt"/>
                <a:ea typeface="+mj-ea"/>
                <a:cs typeface="+mj-cs"/>
              </a:rPr>
              <a:t> </a:t>
            </a:r>
          </a:p>
        </p:txBody>
      </p:sp>
      <p:sp>
        <p:nvSpPr>
          <p:cNvPr id="35" name="제목 1"/>
          <p:cNvSpPr txBox="1">
            <a:spLocks/>
          </p:cNvSpPr>
          <p:nvPr/>
        </p:nvSpPr>
        <p:spPr>
          <a:xfrm>
            <a:off x="158863" y="5556048"/>
            <a:ext cx="8776801" cy="53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>
              <a:spcBef>
                <a:spcPct val="0"/>
              </a:spcBef>
              <a:defRPr/>
            </a:pPr>
            <a:r>
              <a:rPr lang="ko-KR" altLang="en-US" dirty="0" smtClean="0">
                <a:latin typeface="+mj-lt"/>
                <a:ea typeface="+mj-ea"/>
                <a:cs typeface="+mj-cs"/>
              </a:rPr>
              <a:t>최근 </a:t>
            </a:r>
            <a:r>
              <a:rPr lang="ko-KR" altLang="en-US" dirty="0" err="1" smtClean="0">
                <a:latin typeface="+mj-lt"/>
                <a:ea typeface="+mj-ea"/>
                <a:cs typeface="+mj-cs"/>
              </a:rPr>
              <a:t>머스크</a:t>
            </a:r>
            <a:r>
              <a:rPr lang="en-US" altLang="ko-KR" dirty="0" smtClean="0">
                <a:latin typeface="+mj-lt"/>
                <a:ea typeface="+mj-ea"/>
                <a:cs typeface="+mj-cs"/>
              </a:rPr>
              <a:t>(</a:t>
            </a:r>
            <a:r>
              <a:rPr lang="ko-KR" altLang="en-US" dirty="0" err="1" smtClean="0">
                <a:latin typeface="+mj-lt"/>
                <a:ea typeface="+mj-ea"/>
                <a:cs typeface="+mj-cs"/>
              </a:rPr>
              <a:t>선박사</a:t>
            </a:r>
            <a:r>
              <a:rPr lang="en-US" altLang="ko-KR" dirty="0" smtClean="0">
                <a:latin typeface="+mj-lt"/>
                <a:ea typeface="+mj-ea"/>
                <a:cs typeface="+mj-cs"/>
              </a:rPr>
              <a:t>)</a:t>
            </a:r>
            <a:r>
              <a:rPr lang="ko-KR" altLang="en-US" dirty="0" smtClean="0">
                <a:latin typeface="+mj-lt"/>
                <a:ea typeface="+mj-ea"/>
                <a:cs typeface="+mj-cs"/>
              </a:rPr>
              <a:t>에 </a:t>
            </a:r>
            <a:r>
              <a:rPr lang="en-US" altLang="ko-KR" dirty="0" smtClean="0">
                <a:latin typeface="+mj-lt"/>
                <a:ea typeface="+mj-ea"/>
                <a:cs typeface="+mj-cs"/>
              </a:rPr>
              <a:t>FGSS </a:t>
            </a:r>
            <a:r>
              <a:rPr lang="ko-KR" altLang="en-US" dirty="0" smtClean="0">
                <a:latin typeface="+mj-lt"/>
                <a:ea typeface="+mj-ea"/>
                <a:cs typeface="+mj-cs"/>
              </a:rPr>
              <a:t>수주하는 등 전체시장에서도 친환경 연료 추진선의</a:t>
            </a:r>
            <a:endParaRPr lang="en-US" altLang="ko-KR" dirty="0" smtClean="0">
              <a:latin typeface="+mj-lt"/>
              <a:ea typeface="+mj-ea"/>
              <a:cs typeface="+mj-cs"/>
            </a:endParaRPr>
          </a:p>
          <a:p>
            <a:pPr>
              <a:spcBef>
                <a:spcPct val="0"/>
              </a:spcBef>
              <a:defRPr/>
            </a:pPr>
            <a:r>
              <a:rPr lang="ko-KR" altLang="en-US" dirty="0" smtClean="0">
                <a:latin typeface="+mj-lt"/>
                <a:ea typeface="+mj-ea"/>
                <a:cs typeface="+mj-cs"/>
              </a:rPr>
              <a:t>수요는 지속적으로 증가 중</a:t>
            </a:r>
            <a:endParaRPr lang="en-US" altLang="ko-KR" dirty="0" smtClean="0">
              <a:latin typeface="+mj-lt"/>
              <a:ea typeface="+mj-ea"/>
              <a:cs typeface="+mj-cs"/>
            </a:endParaRPr>
          </a:p>
        </p:txBody>
      </p:sp>
      <p:pic>
        <p:nvPicPr>
          <p:cNvPr id="36" name="그림 35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583799" y="4015913"/>
            <a:ext cx="3102689" cy="2365415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2074875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/>
          <p:cNvSpPr/>
          <p:nvPr/>
        </p:nvSpPr>
        <p:spPr>
          <a:xfrm>
            <a:off x="0" y="0"/>
            <a:ext cx="12192000" cy="9087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19336" y="209327"/>
            <a:ext cx="8229600" cy="490066"/>
          </a:xfrm>
        </p:spPr>
        <p:txBody>
          <a:bodyPr>
            <a:noAutofit/>
          </a:bodyPr>
          <a:lstStyle/>
          <a:p>
            <a:pPr algn="l"/>
            <a:r>
              <a:rPr lang="en-US" altLang="ko-KR" sz="3600" dirty="0">
                <a:solidFill>
                  <a:schemeClr val="bg1"/>
                </a:solidFill>
              </a:rPr>
              <a:t>2. </a:t>
            </a:r>
            <a:r>
              <a:rPr lang="ko-KR" altLang="en-US" sz="3600" dirty="0">
                <a:solidFill>
                  <a:schemeClr val="bg1"/>
                </a:solidFill>
              </a:rPr>
              <a:t>주요사업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119336" y="1064165"/>
            <a:ext cx="2736304" cy="43204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/>
              <a:t>파워솔루션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6023992" y="1062540"/>
            <a:ext cx="2736304" cy="43204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/>
              <a:t>제어솔루션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3059195" y="1062540"/>
            <a:ext cx="2736304" cy="43204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/>
              <a:t>에코솔루션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8913456" y="1053396"/>
            <a:ext cx="2736304" cy="43204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/>
              <a:t>MRO</a:t>
            </a:r>
            <a:endParaRPr lang="ko-KR" altLang="en-US" sz="2400" dirty="0"/>
          </a:p>
        </p:txBody>
      </p:sp>
      <p:sp>
        <p:nvSpPr>
          <p:cNvPr id="27" name="직사각형 26"/>
          <p:cNvSpPr/>
          <p:nvPr/>
        </p:nvSpPr>
        <p:spPr>
          <a:xfrm>
            <a:off x="115221" y="1586720"/>
            <a:ext cx="5680278" cy="230509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/>
          <p:cNvSpPr/>
          <p:nvPr/>
        </p:nvSpPr>
        <p:spPr>
          <a:xfrm>
            <a:off x="6000730" y="1586720"/>
            <a:ext cx="5680278" cy="230509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1344" y="1689701"/>
            <a:ext cx="5472608" cy="1391341"/>
          </a:xfrm>
          <a:prstGeom prst="rect">
            <a:avLst/>
          </a:prstGeom>
        </p:spPr>
      </p:pic>
      <p:pic>
        <p:nvPicPr>
          <p:cNvPr id="24" name="그림 2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058600" y="1653618"/>
            <a:ext cx="5505107" cy="1419408"/>
          </a:xfrm>
          <a:prstGeom prst="rect">
            <a:avLst/>
          </a:prstGeom>
        </p:spPr>
      </p:pic>
      <p:sp>
        <p:nvSpPr>
          <p:cNvPr id="38" name="직사각형 37"/>
          <p:cNvSpPr/>
          <p:nvPr/>
        </p:nvSpPr>
        <p:spPr>
          <a:xfrm>
            <a:off x="119336" y="4015913"/>
            <a:ext cx="8794119" cy="24404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9" name="제목 1"/>
          <p:cNvSpPr txBox="1">
            <a:spLocks/>
          </p:cNvSpPr>
          <p:nvPr/>
        </p:nvSpPr>
        <p:spPr>
          <a:xfrm>
            <a:off x="176182" y="4149080"/>
            <a:ext cx="8776801" cy="53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ko-KR" dirty="0" smtClean="0"/>
              <a:t>LNGC </a:t>
            </a:r>
            <a:r>
              <a:rPr lang="ko-KR" altLang="en-US" dirty="0"/>
              <a:t>통합 제어 시스템</a:t>
            </a:r>
            <a:r>
              <a:rPr lang="en-US" altLang="ko-KR" dirty="0"/>
              <a:t>(ICMS) </a:t>
            </a:r>
            <a:r>
              <a:rPr lang="ko-KR" altLang="en-US" dirty="0"/>
              <a:t>보유 노르웨이 </a:t>
            </a:r>
            <a:r>
              <a:rPr lang="en-US" altLang="ko-KR" dirty="0"/>
              <a:t>Kongsberg </a:t>
            </a:r>
            <a:r>
              <a:rPr lang="ko-KR" altLang="en-US" dirty="0"/>
              <a:t>다음으로 </a:t>
            </a:r>
            <a:r>
              <a:rPr lang="ko-KR" altLang="en-US" dirty="0" err="1"/>
              <a:t>에스엔시스가</a:t>
            </a:r>
            <a:r>
              <a:rPr lang="ko-KR" altLang="en-US" dirty="0"/>
              <a:t> 전세계</a:t>
            </a:r>
            <a:r>
              <a:rPr lang="en-US" altLang="ko-KR" dirty="0"/>
              <a:t> </a:t>
            </a:r>
            <a:r>
              <a:rPr lang="ko-KR" altLang="en-US" dirty="0" err="1"/>
              <a:t>두번째</a:t>
            </a:r>
            <a:r>
              <a:rPr lang="en-US" altLang="ko-KR" dirty="0"/>
              <a:t>, 25. 10</a:t>
            </a:r>
            <a:r>
              <a:rPr lang="ko-KR" altLang="en-US" dirty="0"/>
              <a:t>월 삼성중공업 </a:t>
            </a:r>
            <a:r>
              <a:rPr lang="en-US" altLang="ko-KR" dirty="0"/>
              <a:t>LNG</a:t>
            </a:r>
            <a:r>
              <a:rPr lang="ko-KR" altLang="en-US" dirty="0"/>
              <a:t>화물선에 첫 </a:t>
            </a:r>
            <a:r>
              <a:rPr lang="ko-KR" altLang="en-US" dirty="0" smtClean="0"/>
              <a:t>탑재</a:t>
            </a:r>
            <a:endParaRPr lang="en-US" altLang="ko-KR" dirty="0"/>
          </a:p>
        </p:txBody>
      </p:sp>
      <p:sp>
        <p:nvSpPr>
          <p:cNvPr id="40" name="제목 1"/>
          <p:cNvSpPr txBox="1">
            <a:spLocks/>
          </p:cNvSpPr>
          <p:nvPr/>
        </p:nvSpPr>
        <p:spPr>
          <a:xfrm>
            <a:off x="172087" y="4835968"/>
            <a:ext cx="8776801" cy="53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 smtClean="0"/>
              <a:t>최근 </a:t>
            </a:r>
            <a:r>
              <a:rPr lang="ko-KR" altLang="en-US" dirty="0" err="1" smtClean="0"/>
              <a:t>한화필리조선소에</a:t>
            </a:r>
            <a:r>
              <a:rPr lang="ko-KR" altLang="en-US" dirty="0" smtClean="0"/>
              <a:t> 운항제어시스템 공급계약 체결</a:t>
            </a:r>
            <a:endParaRPr lang="en-US" altLang="ko-KR" dirty="0"/>
          </a:p>
        </p:txBody>
      </p:sp>
      <p:sp>
        <p:nvSpPr>
          <p:cNvPr id="41" name="제목 1"/>
          <p:cNvSpPr txBox="1">
            <a:spLocks/>
          </p:cNvSpPr>
          <p:nvPr/>
        </p:nvSpPr>
        <p:spPr>
          <a:xfrm>
            <a:off x="182200" y="5484040"/>
            <a:ext cx="8776801" cy="53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 smtClean="0"/>
              <a:t>한화시스템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한화오션과</a:t>
            </a:r>
            <a:r>
              <a:rPr lang="ko-KR" altLang="en-US" dirty="0" smtClean="0"/>
              <a:t> 함정용 통합기관제어시스템</a:t>
            </a:r>
            <a:r>
              <a:rPr lang="en-US" altLang="ko-KR" dirty="0" smtClean="0"/>
              <a:t>(ESC) </a:t>
            </a:r>
            <a:r>
              <a:rPr lang="ko-KR" altLang="en-US" dirty="0" smtClean="0"/>
              <a:t>개발</a:t>
            </a:r>
            <a:r>
              <a:rPr lang="en-US" altLang="ko-KR" dirty="0" smtClean="0"/>
              <a:t>(</a:t>
            </a:r>
            <a:r>
              <a:rPr lang="ko-KR" altLang="en-US" dirty="0" smtClean="0"/>
              <a:t>국내최초</a:t>
            </a:r>
            <a:r>
              <a:rPr lang="en-US" altLang="ko-KR" dirty="0" smtClean="0"/>
              <a:t>),</a:t>
            </a:r>
          </a:p>
          <a:p>
            <a:r>
              <a:rPr lang="ko-KR" altLang="en-US" dirty="0" err="1" smtClean="0"/>
              <a:t>한화오션에서</a:t>
            </a:r>
            <a:r>
              <a:rPr lang="ko-KR" altLang="en-US" dirty="0" smtClean="0"/>
              <a:t> 건조 중인 </a:t>
            </a:r>
            <a:r>
              <a:rPr lang="ko-KR" altLang="en-US" dirty="0" err="1" smtClean="0"/>
              <a:t>군수지원선에</a:t>
            </a:r>
            <a:r>
              <a:rPr lang="ko-KR" altLang="en-US" dirty="0" smtClean="0"/>
              <a:t> 적용 예정</a:t>
            </a:r>
            <a:r>
              <a:rPr lang="en-US" altLang="ko-KR" dirty="0" smtClean="0"/>
              <a:t>(2028</a:t>
            </a:r>
            <a:r>
              <a:rPr lang="ko-KR" altLang="en-US" dirty="0" smtClean="0"/>
              <a:t>년</a:t>
            </a:r>
            <a:r>
              <a:rPr lang="en-US" altLang="ko-KR" dirty="0" smtClean="0"/>
              <a:t>)</a:t>
            </a:r>
            <a:endParaRPr lang="en-US" altLang="ko-KR" dirty="0"/>
          </a:p>
        </p:txBody>
      </p:sp>
    </p:spTree>
    <p:extLst>
      <p:ext uri="{BB962C8B-B14F-4D97-AF65-F5344CB8AC3E}">
        <p14:creationId xmlns="" xmlns:p14="http://schemas.microsoft.com/office/powerpoint/2010/main" val="25592460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/>
          <p:cNvSpPr/>
          <p:nvPr/>
        </p:nvSpPr>
        <p:spPr>
          <a:xfrm>
            <a:off x="0" y="0"/>
            <a:ext cx="12192000" cy="9087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19336" y="209327"/>
            <a:ext cx="8229600" cy="490066"/>
          </a:xfrm>
        </p:spPr>
        <p:txBody>
          <a:bodyPr>
            <a:noAutofit/>
          </a:bodyPr>
          <a:lstStyle/>
          <a:p>
            <a:pPr algn="l"/>
            <a:r>
              <a:rPr lang="en-US" altLang="ko-KR" sz="3600" dirty="0">
                <a:solidFill>
                  <a:schemeClr val="bg1"/>
                </a:solidFill>
              </a:rPr>
              <a:t>2. </a:t>
            </a:r>
            <a:r>
              <a:rPr lang="ko-KR" altLang="en-US" sz="3600" dirty="0">
                <a:solidFill>
                  <a:schemeClr val="bg1"/>
                </a:solidFill>
              </a:rPr>
              <a:t>주요사업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119336" y="1064165"/>
            <a:ext cx="2736304" cy="43204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/>
              <a:t>파워솔루션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6023992" y="1062540"/>
            <a:ext cx="2736304" cy="43204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/>
              <a:t>제어솔루션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3059195" y="1062540"/>
            <a:ext cx="2736304" cy="43204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/>
              <a:t>에코솔루션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8913456" y="1053396"/>
            <a:ext cx="2736304" cy="43204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/>
              <a:t>MRO</a:t>
            </a:r>
            <a:endParaRPr lang="ko-KR" altLang="en-US" sz="240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9336" y="1628800"/>
            <a:ext cx="11769388" cy="357002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6059571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0" y="0"/>
            <a:ext cx="12192000" cy="9087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제목 1"/>
          <p:cNvSpPr>
            <a:spLocks noGrp="1"/>
          </p:cNvSpPr>
          <p:nvPr>
            <p:ph type="title"/>
          </p:nvPr>
        </p:nvSpPr>
        <p:spPr>
          <a:xfrm>
            <a:off x="119336" y="209327"/>
            <a:ext cx="8229600" cy="490066"/>
          </a:xfrm>
        </p:spPr>
        <p:txBody>
          <a:bodyPr>
            <a:noAutofit/>
          </a:bodyPr>
          <a:lstStyle/>
          <a:p>
            <a:pPr algn="l"/>
            <a:r>
              <a:rPr lang="en-US" altLang="ko-KR" sz="3600" dirty="0">
                <a:solidFill>
                  <a:schemeClr val="bg1"/>
                </a:solidFill>
              </a:rPr>
              <a:t>3</a:t>
            </a:r>
            <a:r>
              <a:rPr lang="en-US" altLang="ko-KR" sz="3600" dirty="0" smtClean="0">
                <a:solidFill>
                  <a:schemeClr val="bg1"/>
                </a:solidFill>
              </a:rPr>
              <a:t>. </a:t>
            </a:r>
            <a:r>
              <a:rPr lang="ko-KR" altLang="en-US" sz="3600" dirty="0" smtClean="0">
                <a:solidFill>
                  <a:schemeClr val="bg1"/>
                </a:solidFill>
              </a:rPr>
              <a:t>투자배경</a:t>
            </a:r>
            <a:endParaRPr lang="ko-KR" altLang="en-US" sz="3600" dirty="0">
              <a:solidFill>
                <a:schemeClr val="bg1"/>
              </a:solidFill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119336" y="1111350"/>
            <a:ext cx="1728192" cy="43204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 smtClean="0"/>
              <a:t>MASGA</a:t>
            </a:r>
            <a:endParaRPr lang="ko-KR" altLang="en-US" sz="2400" dirty="0"/>
          </a:p>
        </p:txBody>
      </p:sp>
      <p:sp>
        <p:nvSpPr>
          <p:cNvPr id="7" name="제목 1"/>
          <p:cNvSpPr txBox="1">
            <a:spLocks/>
          </p:cNvSpPr>
          <p:nvPr/>
        </p:nvSpPr>
        <p:spPr>
          <a:xfrm>
            <a:off x="99914" y="1952836"/>
            <a:ext cx="6500142" cy="14041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>
              <a:spcBef>
                <a:spcPct val="0"/>
              </a:spcBef>
              <a:defRPr/>
            </a:pPr>
            <a:r>
              <a:rPr lang="en-US" altLang="ko-KR" sz="2000" dirty="0" smtClean="0">
                <a:latin typeface="+mj-lt"/>
                <a:ea typeface="+mj-ea"/>
                <a:cs typeface="+mj-cs"/>
              </a:rPr>
              <a:t>2026. 4. 7. </a:t>
            </a:r>
            <a:r>
              <a:rPr lang="ko-KR" altLang="en-US" sz="2000" dirty="0" err="1" smtClean="0">
                <a:solidFill>
                  <a:srgbClr val="0000CC"/>
                </a:solidFill>
                <a:latin typeface="+mj-lt"/>
                <a:ea typeface="+mj-ea"/>
                <a:cs typeface="+mj-cs"/>
              </a:rPr>
              <a:t>한화필리조선소</a:t>
            </a:r>
            <a:r>
              <a:rPr lang="ko-KR" altLang="en-US" sz="2000" dirty="0" err="1" smtClean="0">
                <a:latin typeface="+mj-lt"/>
                <a:ea typeface="+mj-ea"/>
                <a:cs typeface="+mj-cs"/>
              </a:rPr>
              <a:t>가</a:t>
            </a:r>
            <a:r>
              <a:rPr lang="ko-KR" altLang="en-US" sz="2000" dirty="0" smtClean="0">
                <a:latin typeface="+mj-lt"/>
                <a:ea typeface="+mj-ea"/>
                <a:cs typeface="+mj-cs"/>
              </a:rPr>
              <a:t> 수주한 </a:t>
            </a:r>
            <a:r>
              <a:rPr lang="en-US" altLang="ko-KR" sz="2000" dirty="0" smtClean="0">
                <a:latin typeface="+mj-lt"/>
                <a:ea typeface="+mj-ea"/>
                <a:cs typeface="+mj-cs"/>
              </a:rPr>
              <a:t>MR</a:t>
            </a:r>
            <a:r>
              <a:rPr lang="ko-KR" altLang="en-US" sz="2000" dirty="0" smtClean="0">
                <a:latin typeface="+mj-lt"/>
                <a:ea typeface="+mj-ea"/>
                <a:cs typeface="+mj-cs"/>
              </a:rPr>
              <a:t>급 </a:t>
            </a:r>
            <a:r>
              <a:rPr lang="en-US" altLang="ko-KR" sz="2000" dirty="0" smtClean="0">
                <a:latin typeface="+mj-lt"/>
                <a:ea typeface="+mj-ea"/>
                <a:cs typeface="+mj-cs"/>
              </a:rPr>
              <a:t>P/C</a:t>
            </a:r>
            <a:r>
              <a:rPr lang="ko-KR" altLang="en-US" sz="2000" dirty="0" smtClean="0">
                <a:latin typeface="+mj-lt"/>
                <a:ea typeface="+mj-ea"/>
                <a:cs typeface="+mj-cs"/>
              </a:rPr>
              <a:t>선</a:t>
            </a:r>
            <a:r>
              <a:rPr lang="en-US" altLang="ko-KR" sz="2000" dirty="0" smtClean="0">
                <a:latin typeface="+mj-lt"/>
                <a:ea typeface="+mj-ea"/>
                <a:cs typeface="+mj-cs"/>
              </a:rPr>
              <a:t>(</a:t>
            </a:r>
            <a:r>
              <a:rPr lang="ko-KR" altLang="en-US" sz="2000" dirty="0" smtClean="0">
                <a:latin typeface="+mj-lt"/>
                <a:ea typeface="+mj-ea"/>
                <a:cs typeface="+mj-cs"/>
              </a:rPr>
              <a:t>연료운반선</a:t>
            </a:r>
            <a:r>
              <a:rPr lang="en-US" altLang="ko-KR" sz="2000" dirty="0" smtClean="0">
                <a:latin typeface="+mj-lt"/>
                <a:ea typeface="+mj-ea"/>
                <a:cs typeface="+mj-cs"/>
              </a:rPr>
              <a:t>)</a:t>
            </a:r>
            <a:r>
              <a:rPr lang="ko-KR" altLang="en-US" sz="2000" dirty="0">
                <a:latin typeface="+mj-lt"/>
                <a:ea typeface="+mj-ea"/>
                <a:cs typeface="+mj-cs"/>
              </a:rPr>
              <a:t> </a:t>
            </a:r>
            <a:r>
              <a:rPr lang="en-US" altLang="ko-KR" sz="2000" dirty="0" smtClean="0">
                <a:latin typeface="+mj-lt"/>
                <a:ea typeface="+mj-ea"/>
                <a:cs typeface="+mj-cs"/>
              </a:rPr>
              <a:t>10</a:t>
            </a:r>
            <a:r>
              <a:rPr lang="ko-KR" altLang="en-US" sz="2000" dirty="0" smtClean="0">
                <a:latin typeface="+mj-lt"/>
                <a:ea typeface="+mj-ea"/>
                <a:cs typeface="+mj-cs"/>
              </a:rPr>
              <a:t>척에</a:t>
            </a:r>
            <a:r>
              <a:rPr lang="en-US" altLang="ko-KR" sz="2000" dirty="0">
                <a:latin typeface="+mj-lt"/>
                <a:ea typeface="+mj-ea"/>
                <a:cs typeface="+mj-cs"/>
              </a:rPr>
              <a:t> </a:t>
            </a:r>
            <a:r>
              <a:rPr lang="ko-KR" altLang="en-US" sz="2000" dirty="0" err="1" smtClean="0">
                <a:solidFill>
                  <a:srgbClr val="0000CC"/>
                </a:solidFill>
                <a:latin typeface="+mj-lt"/>
                <a:ea typeface="+mj-ea"/>
                <a:cs typeface="+mj-cs"/>
              </a:rPr>
              <a:t>에스엔시스</a:t>
            </a:r>
            <a:r>
              <a:rPr lang="ko-KR" altLang="en-US" sz="2000" dirty="0" smtClean="0">
                <a:solidFill>
                  <a:srgbClr val="0000CC"/>
                </a:solidFill>
                <a:latin typeface="+mj-lt"/>
                <a:ea typeface="+mj-ea"/>
                <a:cs typeface="+mj-cs"/>
              </a:rPr>
              <a:t> 운항제어시스템 공급</a:t>
            </a:r>
            <a:r>
              <a:rPr lang="en-US" altLang="ko-KR" sz="2000" dirty="0" smtClean="0">
                <a:latin typeface="+mj-lt"/>
                <a:ea typeface="+mj-ea"/>
                <a:cs typeface="+mj-cs"/>
              </a:rPr>
              <a:t>(4</a:t>
            </a:r>
            <a:r>
              <a:rPr lang="ko-KR" altLang="en-US" sz="2000" dirty="0" smtClean="0">
                <a:latin typeface="+mj-lt"/>
                <a:ea typeface="+mj-ea"/>
                <a:cs typeface="+mj-cs"/>
              </a:rPr>
              <a:t>척 발주</a:t>
            </a:r>
            <a:r>
              <a:rPr lang="en-US" altLang="ko-KR" sz="2000" dirty="0" smtClean="0">
                <a:latin typeface="+mj-lt"/>
                <a:ea typeface="+mj-ea"/>
                <a:cs typeface="+mj-cs"/>
              </a:rPr>
              <a:t>, </a:t>
            </a:r>
            <a:r>
              <a:rPr lang="ko-KR" altLang="en-US" sz="2000" dirty="0" smtClean="0">
                <a:latin typeface="+mj-lt"/>
                <a:ea typeface="+mj-ea"/>
                <a:cs typeface="+mj-cs"/>
              </a:rPr>
              <a:t>추후 </a:t>
            </a:r>
            <a:r>
              <a:rPr lang="en-US" altLang="ko-KR" sz="2000" dirty="0" smtClean="0">
                <a:latin typeface="+mj-lt"/>
                <a:ea typeface="+mj-ea"/>
                <a:cs typeface="+mj-cs"/>
              </a:rPr>
              <a:t>6</a:t>
            </a:r>
            <a:r>
              <a:rPr lang="ko-KR" altLang="en-US" sz="2000" dirty="0" smtClean="0">
                <a:latin typeface="+mj-lt"/>
                <a:ea typeface="+mj-ea"/>
                <a:cs typeface="+mj-cs"/>
              </a:rPr>
              <a:t>척은 옵션</a:t>
            </a:r>
            <a:r>
              <a:rPr lang="en-US" altLang="ko-KR" sz="2000" dirty="0" smtClean="0">
                <a:latin typeface="+mj-lt"/>
                <a:ea typeface="+mj-ea"/>
                <a:cs typeface="+mj-cs"/>
              </a:rPr>
              <a:t>)</a:t>
            </a:r>
            <a:endParaRPr lang="en-US" altLang="ko-KR" sz="2000" dirty="0">
              <a:latin typeface="+mj-lt"/>
              <a:ea typeface="+mj-ea"/>
              <a:cs typeface="+mj-cs"/>
            </a:endParaRPr>
          </a:p>
        </p:txBody>
      </p:sp>
      <p:sp>
        <p:nvSpPr>
          <p:cNvPr id="8" name="제목 1"/>
          <p:cNvSpPr txBox="1">
            <a:spLocks/>
          </p:cNvSpPr>
          <p:nvPr/>
        </p:nvSpPr>
        <p:spPr>
          <a:xfrm>
            <a:off x="119336" y="3789040"/>
            <a:ext cx="11521280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>
              <a:spcBef>
                <a:spcPct val="0"/>
              </a:spcBef>
              <a:defRPr/>
            </a:pPr>
            <a:r>
              <a:rPr lang="ko-KR" altLang="en-US" sz="2000" dirty="0" err="1" smtClean="0">
                <a:latin typeface="+mj-lt"/>
                <a:ea typeface="+mj-ea"/>
                <a:cs typeface="+mj-cs"/>
              </a:rPr>
              <a:t>필리조선소의</a:t>
            </a:r>
            <a:r>
              <a:rPr lang="ko-KR" altLang="en-US" sz="2000" dirty="0" smtClean="0">
                <a:latin typeface="+mj-lt"/>
                <a:ea typeface="+mj-ea"/>
                <a:cs typeface="+mj-cs"/>
              </a:rPr>
              <a:t> 경우 </a:t>
            </a:r>
            <a:r>
              <a:rPr lang="ko-KR" altLang="en-US" sz="2000" dirty="0" err="1" smtClean="0">
                <a:latin typeface="+mj-lt"/>
                <a:ea typeface="+mj-ea"/>
                <a:cs typeface="+mj-cs"/>
              </a:rPr>
              <a:t>미국연안법</a:t>
            </a:r>
            <a:r>
              <a:rPr lang="en-US" altLang="ko-KR" sz="2000" dirty="0" smtClean="0">
                <a:latin typeface="+mj-lt"/>
                <a:ea typeface="+mj-ea"/>
                <a:cs typeface="+mj-cs"/>
              </a:rPr>
              <a:t>(</a:t>
            </a:r>
            <a:r>
              <a:rPr lang="ko-KR" altLang="en-US" sz="2000" dirty="0" err="1" smtClean="0">
                <a:latin typeface="+mj-lt"/>
                <a:ea typeface="+mj-ea"/>
                <a:cs typeface="+mj-cs"/>
              </a:rPr>
              <a:t>존스법</a:t>
            </a:r>
            <a:r>
              <a:rPr lang="en-US" altLang="ko-KR" sz="2000" dirty="0" smtClean="0">
                <a:latin typeface="+mj-lt"/>
                <a:ea typeface="+mj-ea"/>
                <a:cs typeface="+mj-cs"/>
              </a:rPr>
              <a:t>)</a:t>
            </a:r>
            <a:r>
              <a:rPr lang="ko-KR" altLang="en-US" sz="2000" dirty="0" smtClean="0">
                <a:latin typeface="+mj-lt"/>
                <a:ea typeface="+mj-ea"/>
                <a:cs typeface="+mj-cs"/>
              </a:rPr>
              <a:t>에 의해 </a:t>
            </a:r>
            <a:r>
              <a:rPr lang="ko-KR" altLang="en-US" sz="2000" dirty="0" err="1" smtClean="0">
                <a:latin typeface="+mj-lt"/>
                <a:ea typeface="+mj-ea"/>
                <a:cs typeface="+mj-cs"/>
              </a:rPr>
              <a:t>한화오션에서</a:t>
            </a:r>
            <a:r>
              <a:rPr lang="ko-KR" altLang="en-US" sz="2000" dirty="0" smtClean="0">
                <a:latin typeface="+mj-lt"/>
                <a:ea typeface="+mj-ea"/>
                <a:cs typeface="+mj-cs"/>
              </a:rPr>
              <a:t> 인수한 미국현지조선소이며</a:t>
            </a:r>
            <a:r>
              <a:rPr lang="en-US" altLang="ko-KR" sz="2000" dirty="0" smtClean="0">
                <a:latin typeface="+mj-lt"/>
                <a:ea typeface="+mj-ea"/>
                <a:cs typeface="+mj-cs"/>
              </a:rPr>
              <a:t>, </a:t>
            </a:r>
            <a:r>
              <a:rPr lang="ko-KR" altLang="en-US" sz="2000" dirty="0" smtClean="0">
                <a:solidFill>
                  <a:srgbClr val="0000CC"/>
                </a:solidFill>
                <a:latin typeface="+mj-lt"/>
                <a:ea typeface="+mj-ea"/>
                <a:cs typeface="+mj-cs"/>
              </a:rPr>
              <a:t>운항제어시스템의 경우 </a:t>
            </a:r>
            <a:r>
              <a:rPr lang="ko-KR" altLang="en-US" sz="2000" dirty="0" err="1" smtClean="0">
                <a:solidFill>
                  <a:srgbClr val="0000CC"/>
                </a:solidFill>
                <a:latin typeface="+mj-lt"/>
                <a:ea typeface="+mj-ea"/>
                <a:cs typeface="+mj-cs"/>
              </a:rPr>
              <a:t>존스법상</a:t>
            </a:r>
            <a:r>
              <a:rPr lang="ko-KR" altLang="en-US" sz="2000" dirty="0" smtClean="0">
                <a:solidFill>
                  <a:srgbClr val="0000CC"/>
                </a:solidFill>
                <a:latin typeface="+mj-lt"/>
                <a:ea typeface="+mj-ea"/>
                <a:cs typeface="+mj-cs"/>
              </a:rPr>
              <a:t> 외국산을 사용해도 무방</a:t>
            </a:r>
            <a:endParaRPr lang="en-US" altLang="ko-KR" sz="2000" dirty="0">
              <a:solidFill>
                <a:srgbClr val="0000CC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" name="제목 1"/>
          <p:cNvSpPr txBox="1">
            <a:spLocks/>
          </p:cNvSpPr>
          <p:nvPr/>
        </p:nvSpPr>
        <p:spPr>
          <a:xfrm>
            <a:off x="119336" y="4581128"/>
            <a:ext cx="11737304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>
              <a:spcBef>
                <a:spcPct val="0"/>
              </a:spcBef>
              <a:defRPr/>
            </a:pPr>
            <a:r>
              <a:rPr lang="ko-KR" altLang="en-US" sz="2000" dirty="0" err="1" smtClean="0">
                <a:solidFill>
                  <a:srgbClr val="0000CC"/>
                </a:solidFill>
                <a:latin typeface="+mj-lt"/>
                <a:ea typeface="+mj-ea"/>
                <a:cs typeface="+mj-cs"/>
              </a:rPr>
              <a:t>한화오션으로부터</a:t>
            </a:r>
            <a:r>
              <a:rPr lang="ko-KR" altLang="en-US" sz="2000" dirty="0" smtClean="0">
                <a:latin typeface="+mj-lt"/>
                <a:ea typeface="+mj-ea"/>
                <a:cs typeface="+mj-cs"/>
              </a:rPr>
              <a:t> 운항제어시스템의 </a:t>
            </a:r>
            <a:r>
              <a:rPr lang="ko-KR" altLang="en-US" sz="2000" dirty="0" smtClean="0">
                <a:solidFill>
                  <a:srgbClr val="0000CC"/>
                </a:solidFill>
                <a:latin typeface="+mj-lt"/>
                <a:ea typeface="+mj-ea"/>
                <a:cs typeface="+mj-cs"/>
              </a:rPr>
              <a:t>신뢰도 입증</a:t>
            </a:r>
            <a:r>
              <a:rPr lang="ko-KR" altLang="en-US" sz="2000" dirty="0" smtClean="0">
                <a:latin typeface="+mj-lt"/>
                <a:ea typeface="+mj-ea"/>
                <a:cs typeface="+mj-cs"/>
              </a:rPr>
              <a:t> 및 향후 </a:t>
            </a:r>
            <a:r>
              <a:rPr lang="ko-KR" altLang="en-US" sz="2000" dirty="0" err="1" smtClean="0">
                <a:solidFill>
                  <a:srgbClr val="0000CC"/>
                </a:solidFill>
                <a:latin typeface="+mj-lt"/>
                <a:ea typeface="+mj-ea"/>
                <a:cs typeface="+mj-cs"/>
              </a:rPr>
              <a:t>미국내</a:t>
            </a:r>
            <a:r>
              <a:rPr lang="ko-KR" altLang="en-US" sz="2000" dirty="0" smtClean="0">
                <a:latin typeface="+mj-lt"/>
                <a:ea typeface="+mj-ea"/>
                <a:cs typeface="+mj-cs"/>
              </a:rPr>
              <a:t> </a:t>
            </a:r>
            <a:r>
              <a:rPr lang="ko-KR" altLang="en-US" sz="2000" dirty="0" smtClean="0">
                <a:solidFill>
                  <a:srgbClr val="0000CC"/>
                </a:solidFill>
                <a:latin typeface="+mj-lt"/>
                <a:ea typeface="+mj-ea"/>
                <a:cs typeface="+mj-cs"/>
              </a:rPr>
              <a:t>물량 수주기대감</a:t>
            </a:r>
            <a:endParaRPr lang="en-US" altLang="ko-KR" sz="2000" dirty="0">
              <a:latin typeface="+mj-lt"/>
              <a:ea typeface="+mj-ea"/>
              <a:cs typeface="+mj-cs"/>
            </a:endParaRPr>
          </a:p>
        </p:txBody>
      </p:sp>
      <p:sp>
        <p:nvSpPr>
          <p:cNvPr id="11" name="제목 1"/>
          <p:cNvSpPr txBox="1">
            <a:spLocks/>
          </p:cNvSpPr>
          <p:nvPr/>
        </p:nvSpPr>
        <p:spPr>
          <a:xfrm>
            <a:off x="119336" y="5301208"/>
            <a:ext cx="12072664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>
              <a:spcBef>
                <a:spcPct val="0"/>
              </a:spcBef>
              <a:defRPr/>
            </a:pPr>
            <a:r>
              <a:rPr lang="ko-KR" altLang="en-US" sz="2000" dirty="0" err="1" smtClean="0">
                <a:latin typeface="+mj-lt"/>
                <a:ea typeface="+mj-ea"/>
                <a:cs typeface="+mj-cs"/>
              </a:rPr>
              <a:t>한화오션</a:t>
            </a:r>
            <a:r>
              <a:rPr lang="en-US" altLang="ko-KR" sz="2000" dirty="0" smtClean="0">
                <a:latin typeface="+mj-lt"/>
                <a:ea typeface="+mj-ea"/>
                <a:cs typeface="+mj-cs"/>
              </a:rPr>
              <a:t>, </a:t>
            </a:r>
            <a:r>
              <a:rPr lang="ko-KR" altLang="en-US" sz="2000" dirty="0" smtClean="0">
                <a:latin typeface="+mj-lt"/>
                <a:ea typeface="+mj-ea"/>
                <a:cs typeface="+mj-cs"/>
              </a:rPr>
              <a:t>한화시스템과 군함 제어시스템 공동개발 완료</a:t>
            </a:r>
            <a:r>
              <a:rPr lang="en-US" altLang="ko-KR" sz="2000" dirty="0" smtClean="0">
                <a:latin typeface="+mj-lt"/>
                <a:ea typeface="+mj-ea"/>
                <a:cs typeface="+mj-cs"/>
              </a:rPr>
              <a:t>, </a:t>
            </a:r>
            <a:r>
              <a:rPr lang="ko-KR" altLang="en-US" sz="2000" dirty="0" smtClean="0">
                <a:latin typeface="+mj-lt"/>
                <a:ea typeface="+mj-ea"/>
                <a:cs typeface="+mj-cs"/>
              </a:rPr>
              <a:t>향후 잠수함 건조 및</a:t>
            </a:r>
            <a:r>
              <a:rPr lang="en-US" altLang="ko-KR" sz="2000" dirty="0">
                <a:latin typeface="+mj-lt"/>
                <a:ea typeface="+mj-ea"/>
                <a:cs typeface="+mj-cs"/>
              </a:rPr>
              <a:t> </a:t>
            </a:r>
            <a:r>
              <a:rPr lang="ko-KR" altLang="en-US" sz="2000" dirty="0" err="1" smtClean="0">
                <a:latin typeface="+mj-lt"/>
                <a:ea typeface="+mj-ea"/>
                <a:cs typeface="+mj-cs"/>
              </a:rPr>
              <a:t>필리조선소의</a:t>
            </a:r>
            <a:r>
              <a:rPr lang="ko-KR" altLang="en-US" sz="2000" dirty="0" smtClean="0">
                <a:latin typeface="+mj-lt"/>
                <a:ea typeface="+mj-ea"/>
                <a:cs typeface="+mj-cs"/>
              </a:rPr>
              <a:t> </a:t>
            </a:r>
            <a:r>
              <a:rPr lang="ko-KR" altLang="en-US" sz="2000" dirty="0" err="1" smtClean="0">
                <a:latin typeface="+mj-lt"/>
                <a:ea typeface="+mj-ea"/>
                <a:cs typeface="+mj-cs"/>
              </a:rPr>
              <a:t>미군함</a:t>
            </a:r>
            <a:r>
              <a:rPr lang="ko-KR" altLang="en-US" sz="2000" dirty="0" smtClean="0">
                <a:latin typeface="+mj-lt"/>
                <a:ea typeface="+mj-ea"/>
                <a:cs typeface="+mj-cs"/>
              </a:rPr>
              <a:t> 신조</a:t>
            </a:r>
            <a:r>
              <a:rPr lang="en-US" altLang="ko-KR" sz="2000" dirty="0" smtClean="0">
                <a:latin typeface="+mj-lt"/>
                <a:ea typeface="+mj-ea"/>
                <a:cs typeface="+mj-cs"/>
              </a:rPr>
              <a:t>, </a:t>
            </a:r>
            <a:r>
              <a:rPr lang="ko-KR" altLang="en-US" sz="2000" dirty="0" err="1" smtClean="0">
                <a:latin typeface="+mj-lt"/>
                <a:ea typeface="+mj-ea"/>
                <a:cs typeface="+mj-cs"/>
              </a:rPr>
              <a:t>유지보수시</a:t>
            </a:r>
            <a:r>
              <a:rPr lang="ko-KR" altLang="en-US" sz="2000" dirty="0" smtClean="0">
                <a:latin typeface="+mj-lt"/>
                <a:ea typeface="+mj-ea"/>
                <a:cs typeface="+mj-cs"/>
              </a:rPr>
              <a:t> 기자재 패키지 벤더가능성</a:t>
            </a:r>
            <a:endParaRPr lang="en-US" altLang="ko-KR" sz="2000" dirty="0">
              <a:latin typeface="+mj-lt"/>
              <a:ea typeface="+mj-ea"/>
              <a:cs typeface="+mj-cs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723384" y="957659"/>
            <a:ext cx="5295900" cy="2638425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4882939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0" y="0"/>
            <a:ext cx="12192000" cy="9087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제목 1"/>
          <p:cNvSpPr>
            <a:spLocks noGrp="1"/>
          </p:cNvSpPr>
          <p:nvPr>
            <p:ph type="title"/>
          </p:nvPr>
        </p:nvSpPr>
        <p:spPr>
          <a:xfrm>
            <a:off x="119336" y="209327"/>
            <a:ext cx="8229600" cy="490066"/>
          </a:xfrm>
        </p:spPr>
        <p:txBody>
          <a:bodyPr>
            <a:noAutofit/>
          </a:bodyPr>
          <a:lstStyle/>
          <a:p>
            <a:pPr algn="l"/>
            <a:r>
              <a:rPr lang="en-US" altLang="ko-KR" sz="3600" dirty="0">
                <a:solidFill>
                  <a:schemeClr val="bg1"/>
                </a:solidFill>
              </a:rPr>
              <a:t>3</a:t>
            </a:r>
            <a:r>
              <a:rPr lang="en-US" altLang="ko-KR" sz="3600" dirty="0" smtClean="0">
                <a:solidFill>
                  <a:schemeClr val="bg1"/>
                </a:solidFill>
              </a:rPr>
              <a:t>. </a:t>
            </a:r>
            <a:r>
              <a:rPr lang="ko-KR" altLang="en-US" sz="3600" dirty="0" smtClean="0">
                <a:solidFill>
                  <a:schemeClr val="bg1"/>
                </a:solidFill>
              </a:rPr>
              <a:t>투자배경</a:t>
            </a:r>
            <a:endParaRPr lang="ko-KR" altLang="en-US" sz="3600" dirty="0">
              <a:solidFill>
                <a:schemeClr val="bg1"/>
              </a:solidFill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119336" y="1111350"/>
            <a:ext cx="1728192" cy="43204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smtClean="0"/>
              <a:t>지상전력</a:t>
            </a:r>
            <a:endParaRPr lang="ko-KR" altLang="en-US" sz="2400" dirty="0"/>
          </a:p>
        </p:txBody>
      </p:sp>
      <p:sp>
        <p:nvSpPr>
          <p:cNvPr id="7" name="제목 1"/>
          <p:cNvSpPr txBox="1">
            <a:spLocks/>
          </p:cNvSpPr>
          <p:nvPr/>
        </p:nvSpPr>
        <p:spPr>
          <a:xfrm>
            <a:off x="119336" y="4797152"/>
            <a:ext cx="12097344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>
              <a:spcBef>
                <a:spcPct val="0"/>
              </a:spcBef>
              <a:defRPr/>
            </a:pPr>
            <a:r>
              <a:rPr lang="en-US" altLang="ko-KR" dirty="0" smtClean="0">
                <a:latin typeface="+mj-lt"/>
                <a:ea typeface="+mj-ea"/>
                <a:cs typeface="+mj-cs"/>
              </a:rPr>
              <a:t>2025</a:t>
            </a:r>
            <a:r>
              <a:rPr lang="ko-KR" altLang="en-US" dirty="0" smtClean="0">
                <a:latin typeface="+mj-lt"/>
                <a:ea typeface="+mj-ea"/>
                <a:cs typeface="+mj-cs"/>
              </a:rPr>
              <a:t>년 삼성전자 평택 반도체 공장 및 삼전전기 필리핀 </a:t>
            </a:r>
            <a:r>
              <a:rPr lang="en-US" altLang="ko-KR" dirty="0" smtClean="0">
                <a:latin typeface="+mj-lt"/>
                <a:ea typeface="+mj-ea"/>
                <a:cs typeface="+mj-cs"/>
              </a:rPr>
              <a:t>MLCC </a:t>
            </a:r>
            <a:r>
              <a:rPr lang="ko-KR" altLang="en-US" dirty="0" err="1" smtClean="0">
                <a:latin typeface="+mj-lt"/>
                <a:ea typeface="+mj-ea"/>
                <a:cs typeface="+mj-cs"/>
              </a:rPr>
              <a:t>공장배전반</a:t>
            </a:r>
            <a:r>
              <a:rPr lang="ko-KR" altLang="en-US" dirty="0" smtClean="0">
                <a:latin typeface="+mj-lt"/>
                <a:ea typeface="+mj-ea"/>
                <a:cs typeface="+mj-cs"/>
              </a:rPr>
              <a:t> 초도 수주</a:t>
            </a:r>
            <a:r>
              <a:rPr lang="en-US" altLang="ko-KR" dirty="0" smtClean="0">
                <a:latin typeface="+mj-lt"/>
                <a:ea typeface="+mj-ea"/>
                <a:cs typeface="+mj-cs"/>
              </a:rPr>
              <a:t>, </a:t>
            </a:r>
            <a:r>
              <a:rPr lang="ko-KR" altLang="en-US" dirty="0" smtClean="0">
                <a:latin typeface="+mj-lt"/>
                <a:ea typeface="+mj-ea"/>
                <a:cs typeface="+mj-cs"/>
              </a:rPr>
              <a:t>향후 </a:t>
            </a:r>
            <a:r>
              <a:rPr lang="ko-KR" altLang="en-US" dirty="0" err="1" smtClean="0">
                <a:latin typeface="+mj-lt"/>
                <a:ea typeface="+mj-ea"/>
                <a:cs typeface="+mj-cs"/>
              </a:rPr>
              <a:t>삼성향</a:t>
            </a:r>
            <a:r>
              <a:rPr lang="ko-KR" altLang="en-US" dirty="0" smtClean="0">
                <a:latin typeface="+mj-lt"/>
                <a:ea typeface="+mj-ea"/>
                <a:cs typeface="+mj-cs"/>
              </a:rPr>
              <a:t> 물량 수행 기대감</a:t>
            </a:r>
            <a:endParaRPr lang="en-US" altLang="ko-KR" dirty="0">
              <a:latin typeface="+mj-lt"/>
              <a:ea typeface="+mj-ea"/>
              <a:cs typeface="+mj-cs"/>
            </a:endParaRPr>
          </a:p>
        </p:txBody>
      </p:sp>
      <p:sp>
        <p:nvSpPr>
          <p:cNvPr id="8" name="제목 1"/>
          <p:cNvSpPr txBox="1">
            <a:spLocks/>
          </p:cNvSpPr>
          <p:nvPr/>
        </p:nvSpPr>
        <p:spPr>
          <a:xfrm>
            <a:off x="108595" y="1768388"/>
            <a:ext cx="4264915" cy="29567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defRPr/>
            </a:pPr>
            <a:r>
              <a:rPr lang="en-US" altLang="ko-KR" dirty="0" smtClean="0">
                <a:solidFill>
                  <a:srgbClr val="0000CC"/>
                </a:solidFill>
                <a:latin typeface="+mj-lt"/>
                <a:ea typeface="+mj-ea"/>
                <a:cs typeface="+mj-cs"/>
              </a:rPr>
              <a:t>ABB</a:t>
            </a:r>
            <a:r>
              <a:rPr lang="ko-KR" altLang="en-US" dirty="0" smtClean="0">
                <a:solidFill>
                  <a:srgbClr val="0000CC"/>
                </a:solidFill>
                <a:latin typeface="+mj-lt"/>
                <a:ea typeface="+mj-ea"/>
                <a:cs typeface="+mj-cs"/>
              </a:rPr>
              <a:t>사와의 협약</a:t>
            </a:r>
            <a:r>
              <a:rPr lang="en-US" altLang="ko-KR" dirty="0" smtClean="0">
                <a:solidFill>
                  <a:srgbClr val="0000CC"/>
                </a:solidFill>
                <a:latin typeface="+mj-lt"/>
                <a:ea typeface="+mj-ea"/>
                <a:cs typeface="+mj-cs"/>
              </a:rPr>
              <a:t>, </a:t>
            </a:r>
            <a:r>
              <a:rPr lang="ko-KR" altLang="en-US" dirty="0" smtClean="0">
                <a:solidFill>
                  <a:srgbClr val="0000CC"/>
                </a:solidFill>
                <a:latin typeface="+mj-lt"/>
                <a:ea typeface="+mj-ea"/>
                <a:cs typeface="+mj-cs"/>
              </a:rPr>
              <a:t>삼성중공업 시절부터 협력 관계 지속해오면서 </a:t>
            </a:r>
            <a:r>
              <a:rPr lang="en-US" altLang="ko-KR" dirty="0" smtClean="0">
                <a:solidFill>
                  <a:srgbClr val="0000CC"/>
                </a:solidFill>
                <a:latin typeface="+mj-lt"/>
                <a:ea typeface="+mj-ea"/>
                <a:cs typeface="+mj-cs"/>
              </a:rPr>
              <a:t>2024</a:t>
            </a:r>
            <a:r>
              <a:rPr lang="ko-KR" altLang="en-US" dirty="0" smtClean="0">
                <a:solidFill>
                  <a:srgbClr val="0000CC"/>
                </a:solidFill>
                <a:latin typeface="+mj-lt"/>
                <a:ea typeface="+mj-ea"/>
                <a:cs typeface="+mj-cs"/>
              </a:rPr>
              <a:t>년</a:t>
            </a:r>
            <a:endParaRPr lang="en-US" altLang="ko-KR" dirty="0" smtClean="0">
              <a:solidFill>
                <a:srgbClr val="0000CC"/>
              </a:solidFill>
              <a:latin typeface="+mj-lt"/>
              <a:ea typeface="+mj-ea"/>
              <a:cs typeface="+mj-cs"/>
            </a:endParaRPr>
          </a:p>
          <a:p>
            <a:pPr>
              <a:lnSpc>
                <a:spcPct val="150000"/>
              </a:lnSpc>
              <a:spcBef>
                <a:spcPct val="0"/>
              </a:spcBef>
              <a:defRPr/>
            </a:pPr>
            <a:r>
              <a:rPr lang="ko-KR" altLang="en-US" dirty="0" smtClean="0">
                <a:solidFill>
                  <a:srgbClr val="0000CC"/>
                </a:solidFill>
                <a:latin typeface="+mj-lt"/>
                <a:ea typeface="+mj-ea"/>
                <a:cs typeface="+mj-cs"/>
              </a:rPr>
              <a:t>해상용 고압 </a:t>
            </a:r>
            <a:r>
              <a:rPr lang="ko-KR" altLang="en-US" dirty="0" err="1" smtClean="0">
                <a:solidFill>
                  <a:srgbClr val="0000CC"/>
                </a:solidFill>
                <a:latin typeface="+mj-lt"/>
                <a:ea typeface="+mj-ea"/>
                <a:cs typeface="+mj-cs"/>
              </a:rPr>
              <a:t>배전반</a:t>
            </a:r>
            <a:r>
              <a:rPr lang="ko-KR" altLang="en-US" dirty="0" smtClean="0">
                <a:solidFill>
                  <a:srgbClr val="0000CC"/>
                </a:solidFill>
                <a:latin typeface="+mj-lt"/>
                <a:ea typeface="+mj-ea"/>
                <a:cs typeface="+mj-cs"/>
              </a:rPr>
              <a:t> 중심으로 협약 체결</a:t>
            </a:r>
            <a:r>
              <a:rPr lang="en-US" altLang="ko-KR" dirty="0" smtClean="0">
                <a:solidFill>
                  <a:srgbClr val="0000CC"/>
                </a:solidFill>
                <a:latin typeface="+mj-lt"/>
                <a:ea typeface="+mj-ea"/>
                <a:cs typeface="+mj-cs"/>
              </a:rPr>
              <a:t>, 2025</a:t>
            </a:r>
            <a:r>
              <a:rPr lang="ko-KR" altLang="en-US" dirty="0" smtClean="0">
                <a:solidFill>
                  <a:srgbClr val="0000CC"/>
                </a:solidFill>
                <a:latin typeface="+mj-lt"/>
                <a:ea typeface="+mj-ea"/>
                <a:cs typeface="+mj-cs"/>
              </a:rPr>
              <a:t>년 </a:t>
            </a:r>
            <a:r>
              <a:rPr lang="ko-KR" altLang="en-US" dirty="0" err="1" smtClean="0">
                <a:solidFill>
                  <a:srgbClr val="0000CC"/>
                </a:solidFill>
                <a:latin typeface="+mj-lt"/>
                <a:ea typeface="+mj-ea"/>
                <a:cs typeface="+mj-cs"/>
              </a:rPr>
              <a:t>배전반으로</a:t>
            </a:r>
            <a:r>
              <a:rPr lang="ko-KR" altLang="en-US" dirty="0" smtClean="0">
                <a:solidFill>
                  <a:srgbClr val="0000CC"/>
                </a:solidFill>
                <a:latin typeface="+mj-lt"/>
                <a:ea typeface="+mj-ea"/>
                <a:cs typeface="+mj-cs"/>
              </a:rPr>
              <a:t> 확대</a:t>
            </a:r>
            <a:endParaRPr lang="en-US" altLang="ko-KR" dirty="0" smtClean="0">
              <a:solidFill>
                <a:srgbClr val="0000CC"/>
              </a:solidFill>
              <a:latin typeface="+mj-lt"/>
              <a:ea typeface="+mj-ea"/>
              <a:cs typeface="+mj-cs"/>
            </a:endParaRPr>
          </a:p>
          <a:p>
            <a:pPr>
              <a:lnSpc>
                <a:spcPct val="150000"/>
              </a:lnSpc>
              <a:spcBef>
                <a:spcPct val="0"/>
              </a:spcBef>
              <a:defRPr/>
            </a:pPr>
            <a:r>
              <a:rPr lang="ko-KR" altLang="en-US" dirty="0" smtClean="0">
                <a:solidFill>
                  <a:srgbClr val="0000CC"/>
                </a:solidFill>
                <a:latin typeface="+mj-lt"/>
                <a:ea typeface="+mj-ea"/>
                <a:cs typeface="+mj-cs"/>
              </a:rPr>
              <a:t>부산</a:t>
            </a:r>
            <a:r>
              <a:rPr lang="en-US" altLang="ko-KR" dirty="0" smtClean="0">
                <a:solidFill>
                  <a:srgbClr val="0000CC"/>
                </a:solidFill>
                <a:latin typeface="+mj-lt"/>
                <a:ea typeface="+mj-ea"/>
                <a:cs typeface="+mj-cs"/>
              </a:rPr>
              <a:t>2</a:t>
            </a:r>
            <a:r>
              <a:rPr lang="ko-KR" altLang="en-US" dirty="0" smtClean="0">
                <a:solidFill>
                  <a:srgbClr val="0000CC"/>
                </a:solidFill>
                <a:latin typeface="+mj-lt"/>
                <a:ea typeface="+mj-ea"/>
                <a:cs typeface="+mj-cs"/>
              </a:rPr>
              <a:t>공장 완공</a:t>
            </a:r>
            <a:r>
              <a:rPr lang="en-US" altLang="ko-KR" dirty="0" smtClean="0">
                <a:solidFill>
                  <a:srgbClr val="0000CC"/>
                </a:solidFill>
                <a:latin typeface="+mj-lt"/>
                <a:ea typeface="+mj-ea"/>
                <a:cs typeface="+mj-cs"/>
              </a:rPr>
              <a:t>(2027</a:t>
            </a:r>
            <a:r>
              <a:rPr lang="ko-KR" altLang="en-US" dirty="0" smtClean="0">
                <a:solidFill>
                  <a:srgbClr val="0000CC"/>
                </a:solidFill>
                <a:latin typeface="+mj-lt"/>
                <a:ea typeface="+mj-ea"/>
                <a:cs typeface="+mj-cs"/>
              </a:rPr>
              <a:t>년</a:t>
            </a:r>
            <a:r>
              <a:rPr lang="en-US" altLang="ko-KR" dirty="0" smtClean="0">
                <a:solidFill>
                  <a:srgbClr val="0000CC"/>
                </a:solidFill>
                <a:latin typeface="+mj-lt"/>
                <a:ea typeface="+mj-ea"/>
                <a:cs typeface="+mj-cs"/>
              </a:rPr>
              <a:t>)</a:t>
            </a:r>
            <a:r>
              <a:rPr lang="ko-KR" altLang="en-US" dirty="0" smtClean="0">
                <a:solidFill>
                  <a:srgbClr val="0000CC"/>
                </a:solidFill>
                <a:latin typeface="+mj-lt"/>
                <a:ea typeface="+mj-ea"/>
                <a:cs typeface="+mj-cs"/>
              </a:rPr>
              <a:t>시 </a:t>
            </a:r>
            <a:r>
              <a:rPr lang="en-US" altLang="ko-KR" dirty="0" smtClean="0">
                <a:solidFill>
                  <a:srgbClr val="0000CC"/>
                </a:solidFill>
                <a:latin typeface="+mj-lt"/>
                <a:ea typeface="+mj-ea"/>
                <a:cs typeface="+mj-cs"/>
              </a:rPr>
              <a:t>ABB</a:t>
            </a:r>
            <a:r>
              <a:rPr lang="ko-KR" altLang="en-US" dirty="0" smtClean="0">
                <a:solidFill>
                  <a:srgbClr val="0000CC"/>
                </a:solidFill>
                <a:latin typeface="+mj-lt"/>
                <a:ea typeface="+mj-ea"/>
                <a:cs typeface="+mj-cs"/>
              </a:rPr>
              <a:t>사 생산 라인 구축</a:t>
            </a:r>
            <a:endParaRPr lang="en-US" altLang="ko-KR" dirty="0">
              <a:solidFill>
                <a:srgbClr val="0000CC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" name="제목 1"/>
          <p:cNvSpPr txBox="1">
            <a:spLocks/>
          </p:cNvSpPr>
          <p:nvPr/>
        </p:nvSpPr>
        <p:spPr>
          <a:xfrm>
            <a:off x="119336" y="5589240"/>
            <a:ext cx="11953328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>
              <a:spcBef>
                <a:spcPct val="0"/>
              </a:spcBef>
              <a:defRPr/>
            </a:pPr>
            <a:r>
              <a:rPr lang="en-US" altLang="ko-KR" dirty="0" smtClean="0">
                <a:solidFill>
                  <a:srgbClr val="0000CC"/>
                </a:solidFill>
                <a:latin typeface="+mj-lt"/>
                <a:ea typeface="+mj-ea"/>
                <a:cs typeface="+mj-cs"/>
              </a:rPr>
              <a:t>ABB</a:t>
            </a:r>
            <a:r>
              <a:rPr lang="ko-KR" altLang="en-US" dirty="0" smtClean="0">
                <a:solidFill>
                  <a:srgbClr val="0000CC"/>
                </a:solidFill>
                <a:latin typeface="+mj-lt"/>
                <a:ea typeface="+mj-ea"/>
                <a:cs typeface="+mj-cs"/>
              </a:rPr>
              <a:t>사</a:t>
            </a:r>
            <a:r>
              <a:rPr lang="ko-KR" altLang="en-US" dirty="0" smtClean="0">
                <a:latin typeface="+mj-lt"/>
                <a:ea typeface="+mj-ea"/>
                <a:cs typeface="+mj-cs"/>
              </a:rPr>
              <a:t>는 </a:t>
            </a:r>
            <a:r>
              <a:rPr lang="en-US" altLang="ko-KR" dirty="0" smtClean="0">
                <a:latin typeface="+mj-lt"/>
                <a:ea typeface="+mj-ea"/>
                <a:cs typeface="+mj-cs"/>
              </a:rPr>
              <a:t>2026</a:t>
            </a:r>
            <a:r>
              <a:rPr lang="ko-KR" altLang="en-US" dirty="0" smtClean="0">
                <a:latin typeface="+mj-lt"/>
                <a:ea typeface="+mj-ea"/>
                <a:cs typeface="+mj-cs"/>
              </a:rPr>
              <a:t>년 </a:t>
            </a:r>
            <a:r>
              <a:rPr lang="en-US" altLang="ko-KR" dirty="0" smtClean="0">
                <a:latin typeface="+mj-lt"/>
                <a:ea typeface="+mj-ea"/>
                <a:cs typeface="+mj-cs"/>
              </a:rPr>
              <a:t>1</a:t>
            </a:r>
            <a:r>
              <a:rPr lang="ko-KR" altLang="en-US" dirty="0" smtClean="0">
                <a:latin typeface="+mj-lt"/>
                <a:ea typeface="+mj-ea"/>
                <a:cs typeface="+mj-cs"/>
              </a:rPr>
              <a:t>분기 전년 동기 대비 </a:t>
            </a:r>
            <a:r>
              <a:rPr lang="ko-KR" altLang="en-US" dirty="0" err="1" smtClean="0">
                <a:latin typeface="+mj-lt"/>
                <a:ea typeface="+mj-ea"/>
                <a:cs typeface="+mj-cs"/>
              </a:rPr>
              <a:t>수주액</a:t>
            </a:r>
            <a:r>
              <a:rPr lang="ko-KR" altLang="en-US" dirty="0" smtClean="0">
                <a:latin typeface="+mj-lt"/>
                <a:ea typeface="+mj-ea"/>
                <a:cs typeface="+mj-cs"/>
              </a:rPr>
              <a:t> </a:t>
            </a:r>
            <a:r>
              <a:rPr lang="en-US" altLang="ko-KR" dirty="0" smtClean="0">
                <a:latin typeface="+mj-lt"/>
                <a:ea typeface="+mj-ea"/>
                <a:cs typeface="+mj-cs"/>
              </a:rPr>
              <a:t>24% </a:t>
            </a:r>
            <a:r>
              <a:rPr lang="ko-KR" altLang="en-US" dirty="0" smtClean="0">
                <a:latin typeface="+mj-lt"/>
                <a:ea typeface="+mj-ea"/>
                <a:cs typeface="+mj-cs"/>
              </a:rPr>
              <a:t>증가</a:t>
            </a:r>
            <a:r>
              <a:rPr lang="en-US" altLang="ko-KR" dirty="0" smtClean="0">
                <a:latin typeface="+mj-lt"/>
                <a:ea typeface="+mj-ea"/>
                <a:cs typeface="+mj-cs"/>
              </a:rPr>
              <a:t>, </a:t>
            </a:r>
            <a:r>
              <a:rPr lang="ko-KR" altLang="en-US" dirty="0" smtClean="0">
                <a:latin typeface="+mj-lt"/>
                <a:ea typeface="+mj-ea"/>
                <a:cs typeface="+mj-cs"/>
              </a:rPr>
              <a:t>그 중 전력부분 </a:t>
            </a:r>
            <a:r>
              <a:rPr lang="en-US" altLang="ko-KR" dirty="0" smtClean="0">
                <a:latin typeface="+mj-lt"/>
                <a:ea typeface="+mj-ea"/>
                <a:cs typeface="+mj-cs"/>
              </a:rPr>
              <a:t>44% </a:t>
            </a:r>
            <a:r>
              <a:rPr lang="ko-KR" altLang="en-US" dirty="0" smtClean="0">
                <a:latin typeface="+mj-lt"/>
                <a:ea typeface="+mj-ea"/>
                <a:cs typeface="+mj-cs"/>
              </a:rPr>
              <a:t>증가</a:t>
            </a:r>
            <a:r>
              <a:rPr lang="en-US" altLang="ko-KR" dirty="0" smtClean="0">
                <a:latin typeface="+mj-lt"/>
                <a:ea typeface="+mj-ea"/>
                <a:cs typeface="+mj-cs"/>
              </a:rPr>
              <a:t>, </a:t>
            </a:r>
            <a:r>
              <a:rPr lang="ko-KR" altLang="en-US" dirty="0" smtClean="0">
                <a:solidFill>
                  <a:srgbClr val="0000CC"/>
                </a:solidFill>
                <a:latin typeface="+mj-lt"/>
                <a:ea typeface="+mj-ea"/>
                <a:cs typeface="+mj-cs"/>
              </a:rPr>
              <a:t>데이터센터 부분은 </a:t>
            </a:r>
            <a:r>
              <a:rPr lang="en-US" altLang="ko-KR" dirty="0" smtClean="0">
                <a:solidFill>
                  <a:srgbClr val="0000CC"/>
                </a:solidFill>
                <a:latin typeface="+mj-lt"/>
                <a:ea typeface="+mj-ea"/>
                <a:cs typeface="+mj-cs"/>
              </a:rPr>
              <a:t>100% </a:t>
            </a:r>
            <a:r>
              <a:rPr lang="ko-KR" altLang="en-US" dirty="0" smtClean="0">
                <a:solidFill>
                  <a:srgbClr val="0000CC"/>
                </a:solidFill>
                <a:latin typeface="+mj-lt"/>
                <a:ea typeface="+mj-ea"/>
                <a:cs typeface="+mj-cs"/>
              </a:rPr>
              <a:t>증가</a:t>
            </a:r>
            <a:endParaRPr lang="en-US" altLang="ko-KR" dirty="0" smtClean="0">
              <a:solidFill>
                <a:srgbClr val="0000CC"/>
              </a:solidFill>
              <a:latin typeface="+mj-lt"/>
              <a:ea typeface="+mj-ea"/>
              <a:cs typeface="+mj-cs"/>
            </a:endParaRPr>
          </a:p>
          <a:p>
            <a:pPr>
              <a:spcBef>
                <a:spcPct val="0"/>
              </a:spcBef>
              <a:defRPr/>
            </a:pPr>
            <a:r>
              <a:rPr lang="ko-KR" altLang="en-US" dirty="0" smtClean="0">
                <a:latin typeface="+mj-lt"/>
                <a:ea typeface="+mj-ea"/>
                <a:cs typeface="+mj-cs"/>
              </a:rPr>
              <a:t>이에 육상용 전력시스템 진출을 대비하기 위해 부산공장을 증설 </a:t>
            </a:r>
            <a:endParaRPr lang="en-US" altLang="ko-KR" dirty="0">
              <a:latin typeface="+mj-lt"/>
              <a:ea typeface="+mj-ea"/>
              <a:cs typeface="+mj-cs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373510" y="908720"/>
            <a:ext cx="7819631" cy="39782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4143432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0" y="0"/>
            <a:ext cx="12192000" cy="9087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제목 1"/>
          <p:cNvSpPr>
            <a:spLocks noGrp="1"/>
          </p:cNvSpPr>
          <p:nvPr>
            <p:ph type="title"/>
          </p:nvPr>
        </p:nvSpPr>
        <p:spPr>
          <a:xfrm>
            <a:off x="119336" y="209327"/>
            <a:ext cx="8229600" cy="490066"/>
          </a:xfrm>
        </p:spPr>
        <p:txBody>
          <a:bodyPr>
            <a:noAutofit/>
          </a:bodyPr>
          <a:lstStyle/>
          <a:p>
            <a:pPr algn="l"/>
            <a:r>
              <a:rPr lang="en-US" altLang="ko-KR" sz="3600" dirty="0">
                <a:solidFill>
                  <a:schemeClr val="bg1"/>
                </a:solidFill>
              </a:rPr>
              <a:t>3</a:t>
            </a:r>
            <a:r>
              <a:rPr lang="en-US" altLang="ko-KR" sz="3600" dirty="0" smtClean="0">
                <a:solidFill>
                  <a:schemeClr val="bg1"/>
                </a:solidFill>
              </a:rPr>
              <a:t>. </a:t>
            </a:r>
            <a:r>
              <a:rPr lang="ko-KR" altLang="en-US" sz="3600" dirty="0" smtClean="0">
                <a:solidFill>
                  <a:schemeClr val="bg1"/>
                </a:solidFill>
              </a:rPr>
              <a:t>투자배경</a:t>
            </a:r>
            <a:endParaRPr lang="ko-KR" altLang="en-US" sz="3600" dirty="0">
              <a:solidFill>
                <a:schemeClr val="bg1"/>
              </a:solidFill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119336" y="1111350"/>
            <a:ext cx="1728192" cy="43204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smtClean="0"/>
              <a:t>해외법인</a:t>
            </a:r>
            <a:endParaRPr lang="ko-KR" altLang="en-US" sz="2400" dirty="0"/>
          </a:p>
        </p:txBody>
      </p:sp>
      <p:sp>
        <p:nvSpPr>
          <p:cNvPr id="7" name="제목 1"/>
          <p:cNvSpPr txBox="1">
            <a:spLocks/>
          </p:cNvSpPr>
          <p:nvPr/>
        </p:nvSpPr>
        <p:spPr>
          <a:xfrm>
            <a:off x="119336" y="1700808"/>
            <a:ext cx="11953328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>
              <a:spcBef>
                <a:spcPct val="0"/>
              </a:spcBef>
              <a:defRPr/>
            </a:pPr>
            <a:r>
              <a:rPr lang="en-US" altLang="ko-KR" sz="2800" dirty="0" smtClean="0">
                <a:latin typeface="+mj-lt"/>
                <a:ea typeface="+mj-ea"/>
                <a:cs typeface="+mj-cs"/>
              </a:rPr>
              <a:t>2024. 12</a:t>
            </a:r>
            <a:r>
              <a:rPr lang="ko-KR" altLang="en-US" sz="2800" dirty="0" smtClean="0">
                <a:latin typeface="+mj-lt"/>
                <a:ea typeface="+mj-ea"/>
                <a:cs typeface="+mj-cs"/>
              </a:rPr>
              <a:t>월 중국 상해법인 설립</a:t>
            </a:r>
            <a:r>
              <a:rPr lang="en-US" altLang="ko-KR" sz="2800" dirty="0" smtClean="0">
                <a:latin typeface="+mj-lt"/>
                <a:ea typeface="+mj-ea"/>
                <a:cs typeface="+mj-cs"/>
              </a:rPr>
              <a:t>(</a:t>
            </a:r>
            <a:r>
              <a:rPr lang="ko-KR" altLang="en-US" sz="2800" dirty="0" smtClean="0">
                <a:latin typeface="+mj-lt"/>
                <a:ea typeface="+mj-ea"/>
                <a:cs typeface="+mj-cs"/>
              </a:rPr>
              <a:t>신규 영업 및 </a:t>
            </a:r>
            <a:r>
              <a:rPr lang="en-US" altLang="ko-KR" sz="2800" dirty="0" smtClean="0">
                <a:latin typeface="+mj-lt"/>
                <a:ea typeface="+mj-ea"/>
                <a:cs typeface="+mj-cs"/>
              </a:rPr>
              <a:t>A/S</a:t>
            </a:r>
            <a:r>
              <a:rPr lang="ko-KR" altLang="en-US" sz="2800" dirty="0" smtClean="0">
                <a:latin typeface="+mj-lt"/>
                <a:ea typeface="+mj-ea"/>
                <a:cs typeface="+mj-cs"/>
              </a:rPr>
              <a:t>유지관리 업무 목적</a:t>
            </a:r>
            <a:r>
              <a:rPr lang="en-US" altLang="ko-KR" sz="2800" dirty="0" smtClean="0">
                <a:latin typeface="+mj-lt"/>
                <a:ea typeface="+mj-ea"/>
                <a:cs typeface="+mj-cs"/>
              </a:rPr>
              <a:t>)</a:t>
            </a:r>
            <a:endParaRPr lang="en-US" altLang="ko-KR" sz="2800" dirty="0">
              <a:latin typeface="+mj-lt"/>
              <a:ea typeface="+mj-ea"/>
              <a:cs typeface="+mj-cs"/>
            </a:endParaRPr>
          </a:p>
        </p:txBody>
      </p:sp>
      <p:sp>
        <p:nvSpPr>
          <p:cNvPr id="8" name="제목 1"/>
          <p:cNvSpPr txBox="1">
            <a:spLocks/>
          </p:cNvSpPr>
          <p:nvPr/>
        </p:nvSpPr>
        <p:spPr>
          <a:xfrm>
            <a:off x="119336" y="2564904"/>
            <a:ext cx="12169352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514350" indent="-514350">
              <a:spcBef>
                <a:spcPct val="0"/>
              </a:spcBef>
              <a:buAutoNum type="arabicPeriod" startAt="2026"/>
              <a:defRPr/>
            </a:pPr>
            <a:r>
              <a:rPr lang="en-US" altLang="ko-KR" sz="2800" dirty="0" smtClean="0">
                <a:latin typeface="+mj-lt"/>
                <a:ea typeface="+mj-ea"/>
                <a:cs typeface="+mj-cs"/>
              </a:rPr>
              <a:t>4</a:t>
            </a:r>
            <a:r>
              <a:rPr lang="ko-KR" altLang="en-US" sz="2800" dirty="0" smtClean="0">
                <a:latin typeface="+mj-lt"/>
                <a:ea typeface="+mj-ea"/>
                <a:cs typeface="+mj-cs"/>
              </a:rPr>
              <a:t>월  중국 </a:t>
            </a:r>
            <a:r>
              <a:rPr lang="ko-KR" altLang="en-US" sz="2800" dirty="0" err="1" smtClean="0">
                <a:latin typeface="+mj-lt"/>
                <a:ea typeface="+mj-ea"/>
                <a:cs typeface="+mj-cs"/>
              </a:rPr>
              <a:t>난통시</a:t>
            </a:r>
            <a:r>
              <a:rPr lang="ko-KR" altLang="en-US" sz="2800" dirty="0" smtClean="0">
                <a:latin typeface="+mj-lt"/>
                <a:ea typeface="+mj-ea"/>
                <a:cs typeface="+mj-cs"/>
              </a:rPr>
              <a:t> 업무협약 체결</a:t>
            </a:r>
            <a:r>
              <a:rPr lang="en-US" altLang="ko-KR" sz="2800" dirty="0" smtClean="0">
                <a:latin typeface="+mj-lt"/>
                <a:ea typeface="+mj-ea"/>
                <a:cs typeface="+mj-cs"/>
              </a:rPr>
              <a:t>(</a:t>
            </a:r>
            <a:r>
              <a:rPr lang="ko-KR" altLang="en-US" sz="2800" dirty="0" err="1" smtClean="0">
                <a:latin typeface="+mj-lt"/>
                <a:ea typeface="+mj-ea"/>
                <a:cs typeface="+mj-cs"/>
              </a:rPr>
              <a:t>난통시</a:t>
            </a:r>
            <a:r>
              <a:rPr lang="ko-KR" altLang="en-US" sz="2800" dirty="0" smtClean="0">
                <a:latin typeface="+mj-lt"/>
                <a:ea typeface="+mj-ea"/>
                <a:cs typeface="+mj-cs"/>
              </a:rPr>
              <a:t> 생산시설 설치 </a:t>
            </a:r>
            <a:r>
              <a:rPr lang="en-US" altLang="ko-KR" sz="2800" dirty="0" smtClean="0">
                <a:latin typeface="+mj-lt"/>
                <a:ea typeface="+mj-ea"/>
                <a:cs typeface="+mj-cs"/>
              </a:rPr>
              <a:t>2027</a:t>
            </a:r>
            <a:r>
              <a:rPr lang="ko-KR" altLang="en-US" sz="2800" dirty="0" smtClean="0">
                <a:latin typeface="+mj-lt"/>
                <a:ea typeface="+mj-ea"/>
                <a:cs typeface="+mj-cs"/>
              </a:rPr>
              <a:t>년 목표</a:t>
            </a:r>
            <a:r>
              <a:rPr lang="en-US" altLang="ko-KR" sz="2800" dirty="0" smtClean="0">
                <a:latin typeface="+mj-lt"/>
                <a:ea typeface="+mj-ea"/>
                <a:cs typeface="+mj-cs"/>
              </a:rPr>
              <a:t>)</a:t>
            </a:r>
          </a:p>
          <a:p>
            <a:pPr marL="514350" indent="-514350">
              <a:spcBef>
                <a:spcPct val="0"/>
              </a:spcBef>
              <a:defRPr/>
            </a:pPr>
            <a:r>
              <a:rPr lang="ko-KR" altLang="en-US" sz="2800" dirty="0" smtClean="0">
                <a:latin typeface="+mj-lt"/>
                <a:ea typeface="+mj-ea"/>
                <a:cs typeface="+mj-cs"/>
              </a:rPr>
              <a:t>조선 물량 급증과 고사양화에 대응하기 위해 글로벌 조선 기자재 업체 유치</a:t>
            </a:r>
            <a:endParaRPr lang="en-US" altLang="ko-KR" sz="2800" dirty="0">
              <a:latin typeface="+mj-lt"/>
              <a:ea typeface="+mj-ea"/>
              <a:cs typeface="+mj-cs"/>
            </a:endParaRPr>
          </a:p>
        </p:txBody>
      </p:sp>
      <p:sp>
        <p:nvSpPr>
          <p:cNvPr id="10" name="제목 1"/>
          <p:cNvSpPr txBox="1">
            <a:spLocks/>
          </p:cNvSpPr>
          <p:nvPr/>
        </p:nvSpPr>
        <p:spPr>
          <a:xfrm>
            <a:off x="119336" y="3645024"/>
            <a:ext cx="11953328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>
              <a:spcBef>
                <a:spcPct val="0"/>
              </a:spcBef>
              <a:defRPr/>
            </a:pPr>
            <a:r>
              <a:rPr lang="ko-KR" altLang="en-US" sz="2800" dirty="0" smtClean="0">
                <a:solidFill>
                  <a:srgbClr val="0000CC"/>
                </a:solidFill>
                <a:latin typeface="+mj-lt"/>
                <a:ea typeface="+mj-ea"/>
                <a:cs typeface="+mj-cs"/>
              </a:rPr>
              <a:t>중국</a:t>
            </a:r>
            <a:r>
              <a:rPr lang="ko-KR" altLang="en-US" sz="2800" dirty="0" smtClean="0">
                <a:latin typeface="+mj-lt"/>
                <a:ea typeface="+mj-ea"/>
                <a:cs typeface="+mj-cs"/>
              </a:rPr>
              <a:t>의 경우 </a:t>
            </a:r>
            <a:r>
              <a:rPr lang="en-US" altLang="ko-KR" sz="2800" dirty="0" smtClean="0">
                <a:latin typeface="+mj-lt"/>
                <a:ea typeface="+mj-ea"/>
                <a:cs typeface="+mj-cs"/>
              </a:rPr>
              <a:t>2025</a:t>
            </a:r>
            <a:r>
              <a:rPr lang="ko-KR" altLang="en-US" sz="2800" dirty="0" smtClean="0">
                <a:latin typeface="+mj-lt"/>
                <a:ea typeface="+mj-ea"/>
                <a:cs typeface="+mj-cs"/>
              </a:rPr>
              <a:t>년 기준 </a:t>
            </a:r>
            <a:r>
              <a:rPr lang="ko-KR" altLang="en-US" sz="2800" dirty="0" smtClean="0">
                <a:solidFill>
                  <a:srgbClr val="0000CC"/>
                </a:solidFill>
                <a:latin typeface="+mj-lt"/>
                <a:ea typeface="+mj-ea"/>
                <a:cs typeface="+mj-cs"/>
              </a:rPr>
              <a:t>전세계</a:t>
            </a:r>
            <a:r>
              <a:rPr lang="ko-KR" altLang="en-US" sz="2800" dirty="0" smtClean="0">
                <a:latin typeface="+mj-lt"/>
                <a:ea typeface="+mj-ea"/>
                <a:cs typeface="+mj-cs"/>
              </a:rPr>
              <a:t> 신규 선박의 </a:t>
            </a:r>
            <a:r>
              <a:rPr lang="en-US" altLang="ko-KR" sz="2800" dirty="0" smtClean="0">
                <a:solidFill>
                  <a:srgbClr val="0000CC"/>
                </a:solidFill>
                <a:latin typeface="+mj-lt"/>
                <a:ea typeface="+mj-ea"/>
                <a:cs typeface="+mj-cs"/>
              </a:rPr>
              <a:t>63%</a:t>
            </a:r>
            <a:r>
              <a:rPr lang="ko-KR" altLang="en-US" sz="2800" dirty="0" smtClean="0">
                <a:latin typeface="+mj-lt"/>
                <a:ea typeface="+mj-ea"/>
                <a:cs typeface="+mj-cs"/>
              </a:rPr>
              <a:t>차지</a:t>
            </a:r>
            <a:r>
              <a:rPr lang="en-US" altLang="ko-KR" sz="2800" dirty="0" smtClean="0">
                <a:latin typeface="+mj-lt"/>
                <a:ea typeface="+mj-ea"/>
                <a:cs typeface="+mj-cs"/>
              </a:rPr>
              <a:t>, </a:t>
            </a:r>
            <a:r>
              <a:rPr lang="ko-KR" altLang="en-US" sz="2800" dirty="0" smtClean="0">
                <a:latin typeface="+mj-lt"/>
                <a:ea typeface="+mj-ea"/>
                <a:cs typeface="+mj-cs"/>
              </a:rPr>
              <a:t>이중 </a:t>
            </a:r>
            <a:r>
              <a:rPr lang="ko-KR" altLang="en-US" sz="2800" dirty="0" err="1" smtClean="0">
                <a:latin typeface="+mj-lt"/>
                <a:ea typeface="+mj-ea"/>
                <a:cs typeface="+mj-cs"/>
              </a:rPr>
              <a:t>난통은</a:t>
            </a:r>
            <a:endParaRPr lang="en-US" altLang="ko-KR" sz="2800" dirty="0" smtClean="0">
              <a:latin typeface="+mj-lt"/>
              <a:ea typeface="+mj-ea"/>
              <a:cs typeface="+mj-cs"/>
            </a:endParaRPr>
          </a:p>
          <a:p>
            <a:pPr>
              <a:spcBef>
                <a:spcPct val="0"/>
              </a:spcBef>
              <a:defRPr/>
            </a:pPr>
            <a:r>
              <a:rPr lang="ko-KR" altLang="en-US" sz="2800" dirty="0" smtClean="0">
                <a:latin typeface="+mj-lt"/>
                <a:ea typeface="+mj-ea"/>
                <a:cs typeface="+mj-cs"/>
              </a:rPr>
              <a:t>중국 내 최대규모의 조선소 주요 밀집지역</a:t>
            </a:r>
            <a:endParaRPr lang="en-US" altLang="ko-KR" sz="2800" dirty="0">
              <a:latin typeface="+mj-lt"/>
              <a:ea typeface="+mj-ea"/>
              <a:cs typeface="+mj-cs"/>
            </a:endParaRPr>
          </a:p>
        </p:txBody>
      </p:sp>
      <p:sp>
        <p:nvSpPr>
          <p:cNvPr id="11" name="제목 1"/>
          <p:cNvSpPr txBox="1">
            <a:spLocks/>
          </p:cNvSpPr>
          <p:nvPr/>
        </p:nvSpPr>
        <p:spPr>
          <a:xfrm>
            <a:off x="119336" y="4581128"/>
            <a:ext cx="12169352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>
              <a:spcBef>
                <a:spcPct val="0"/>
              </a:spcBef>
              <a:defRPr/>
            </a:pPr>
            <a:r>
              <a:rPr lang="en-US" altLang="ko-KR" sz="2800" dirty="0" smtClean="0">
                <a:latin typeface="+mj-lt"/>
                <a:ea typeface="+mj-ea"/>
                <a:cs typeface="+mj-cs"/>
              </a:rPr>
              <a:t>2026.  6</a:t>
            </a:r>
            <a:r>
              <a:rPr lang="ko-KR" altLang="en-US" sz="2800" dirty="0" smtClean="0">
                <a:latin typeface="+mj-lt"/>
                <a:ea typeface="+mj-ea"/>
                <a:cs typeface="+mj-cs"/>
              </a:rPr>
              <a:t>월  싱가포르 법인 서비스 개시 계획</a:t>
            </a:r>
            <a:r>
              <a:rPr lang="en-US" altLang="ko-KR" sz="2800" dirty="0" smtClean="0">
                <a:latin typeface="+mj-lt"/>
                <a:ea typeface="+mj-ea"/>
                <a:cs typeface="+mj-cs"/>
              </a:rPr>
              <a:t>(</a:t>
            </a:r>
            <a:r>
              <a:rPr lang="ko-KR" altLang="en-US" sz="2800" dirty="0" smtClean="0">
                <a:latin typeface="+mj-lt"/>
                <a:ea typeface="+mj-ea"/>
                <a:cs typeface="+mj-cs"/>
              </a:rPr>
              <a:t>미확인</a:t>
            </a:r>
            <a:r>
              <a:rPr lang="en-US" altLang="ko-KR" sz="2800" dirty="0" smtClean="0">
                <a:latin typeface="+mj-lt"/>
                <a:ea typeface="+mj-ea"/>
                <a:cs typeface="+mj-cs"/>
              </a:rPr>
              <a:t>)</a:t>
            </a:r>
            <a:endParaRPr lang="en-US" altLang="ko-KR" sz="2800" dirty="0">
              <a:latin typeface="+mj-lt"/>
              <a:ea typeface="+mj-ea"/>
              <a:cs typeface="+mj-cs"/>
            </a:endParaRPr>
          </a:p>
        </p:txBody>
      </p:sp>
      <p:sp>
        <p:nvSpPr>
          <p:cNvPr id="12" name="제목 1"/>
          <p:cNvSpPr txBox="1">
            <a:spLocks/>
          </p:cNvSpPr>
          <p:nvPr/>
        </p:nvSpPr>
        <p:spPr>
          <a:xfrm>
            <a:off x="119336" y="5229200"/>
            <a:ext cx="12169352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514350" indent="-514350">
              <a:spcBef>
                <a:spcPct val="0"/>
              </a:spcBef>
              <a:buAutoNum type="arabicPeriod" startAt="2026"/>
              <a:defRPr/>
            </a:pPr>
            <a:r>
              <a:rPr lang="en-US" altLang="ko-KR" sz="2800" dirty="0" smtClean="0">
                <a:latin typeface="+mj-lt"/>
                <a:ea typeface="+mj-ea"/>
                <a:cs typeface="+mj-cs"/>
              </a:rPr>
              <a:t>  6</a:t>
            </a:r>
            <a:r>
              <a:rPr lang="ko-KR" altLang="en-US" sz="2800" dirty="0" smtClean="0">
                <a:latin typeface="+mj-lt"/>
                <a:ea typeface="+mj-ea"/>
                <a:cs typeface="+mj-cs"/>
              </a:rPr>
              <a:t>월  일본 </a:t>
            </a:r>
            <a:r>
              <a:rPr lang="ko-KR" altLang="en-US" sz="2800" dirty="0" err="1" smtClean="0">
                <a:latin typeface="+mj-lt"/>
                <a:ea typeface="+mj-ea"/>
                <a:cs typeface="+mj-cs"/>
              </a:rPr>
              <a:t>다카이치</a:t>
            </a:r>
            <a:r>
              <a:rPr lang="ko-KR" altLang="en-US" sz="2800" dirty="0" smtClean="0">
                <a:latin typeface="+mj-lt"/>
                <a:ea typeface="+mj-ea"/>
                <a:cs typeface="+mj-cs"/>
              </a:rPr>
              <a:t> 정부 조선업 중점 투자</a:t>
            </a:r>
            <a:endParaRPr lang="en-US" altLang="ko-KR" sz="2800" dirty="0" smtClean="0"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8514418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0" y="0"/>
            <a:ext cx="12192000" cy="9087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제목 1"/>
          <p:cNvSpPr>
            <a:spLocks noGrp="1"/>
          </p:cNvSpPr>
          <p:nvPr>
            <p:ph type="title"/>
          </p:nvPr>
        </p:nvSpPr>
        <p:spPr>
          <a:xfrm>
            <a:off x="119336" y="209327"/>
            <a:ext cx="8229600" cy="490066"/>
          </a:xfrm>
        </p:spPr>
        <p:txBody>
          <a:bodyPr>
            <a:noAutofit/>
          </a:bodyPr>
          <a:lstStyle/>
          <a:p>
            <a:pPr algn="l"/>
            <a:r>
              <a:rPr lang="en-US" altLang="ko-KR" sz="3600" dirty="0">
                <a:solidFill>
                  <a:schemeClr val="bg1"/>
                </a:solidFill>
              </a:rPr>
              <a:t>3</a:t>
            </a:r>
            <a:r>
              <a:rPr lang="en-US" altLang="ko-KR" sz="3600" dirty="0" smtClean="0">
                <a:solidFill>
                  <a:schemeClr val="bg1"/>
                </a:solidFill>
              </a:rPr>
              <a:t>. </a:t>
            </a:r>
            <a:r>
              <a:rPr lang="ko-KR" altLang="en-US" sz="3600" dirty="0" smtClean="0">
                <a:solidFill>
                  <a:schemeClr val="bg1"/>
                </a:solidFill>
              </a:rPr>
              <a:t>투자배경</a:t>
            </a:r>
            <a:endParaRPr lang="ko-KR" altLang="en-US" sz="3600" dirty="0">
              <a:solidFill>
                <a:schemeClr val="bg1"/>
              </a:solidFill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119336" y="1111350"/>
            <a:ext cx="2016224" cy="43204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smtClean="0"/>
              <a:t>북극항로개발</a:t>
            </a:r>
            <a:endParaRPr lang="ko-KR" altLang="en-US" sz="2400" dirty="0"/>
          </a:p>
        </p:txBody>
      </p:sp>
      <p:sp>
        <p:nvSpPr>
          <p:cNvPr id="7" name="제목 1"/>
          <p:cNvSpPr txBox="1">
            <a:spLocks/>
          </p:cNvSpPr>
          <p:nvPr/>
        </p:nvSpPr>
        <p:spPr>
          <a:xfrm>
            <a:off x="119336" y="1700808"/>
            <a:ext cx="11953328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>
              <a:spcBef>
                <a:spcPct val="0"/>
              </a:spcBef>
              <a:defRPr/>
            </a:pPr>
            <a:r>
              <a:rPr lang="en-US" altLang="ko-KR" sz="2800" dirty="0" smtClean="0">
                <a:latin typeface="+mj-lt"/>
                <a:ea typeface="+mj-ea"/>
                <a:cs typeface="+mj-cs"/>
              </a:rPr>
              <a:t>2025</a:t>
            </a:r>
            <a:r>
              <a:rPr lang="ko-KR" altLang="en-US" sz="2800" dirty="0" smtClean="0">
                <a:latin typeface="+mj-lt"/>
                <a:ea typeface="+mj-ea"/>
                <a:cs typeface="+mj-cs"/>
              </a:rPr>
              <a:t>년 러시아 북극 횡단 운송회랑</a:t>
            </a:r>
            <a:r>
              <a:rPr lang="en-US" altLang="ko-KR" sz="2800" dirty="0" smtClean="0">
                <a:latin typeface="+mj-lt"/>
                <a:ea typeface="+mj-ea"/>
                <a:cs typeface="+mj-cs"/>
              </a:rPr>
              <a:t>(TATC) </a:t>
            </a:r>
            <a:r>
              <a:rPr lang="ko-KR" altLang="en-US" sz="2800" dirty="0" smtClean="0">
                <a:latin typeface="+mj-lt"/>
                <a:ea typeface="+mj-ea"/>
                <a:cs typeface="+mj-cs"/>
              </a:rPr>
              <a:t>구상 공식화</a:t>
            </a:r>
            <a:endParaRPr lang="en-US" altLang="ko-KR" sz="2800" dirty="0">
              <a:latin typeface="+mj-lt"/>
              <a:ea typeface="+mj-ea"/>
              <a:cs typeface="+mj-c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264352" y="980728"/>
            <a:ext cx="2687762" cy="29933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제목 1"/>
          <p:cNvSpPr txBox="1">
            <a:spLocks/>
          </p:cNvSpPr>
          <p:nvPr/>
        </p:nvSpPr>
        <p:spPr>
          <a:xfrm>
            <a:off x="119336" y="2492896"/>
            <a:ext cx="11953328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>
              <a:spcBef>
                <a:spcPct val="0"/>
              </a:spcBef>
              <a:defRPr/>
            </a:pPr>
            <a:r>
              <a:rPr lang="ko-KR" altLang="en-US" sz="2800" dirty="0" smtClean="0">
                <a:latin typeface="+mj-lt"/>
                <a:ea typeface="+mj-ea"/>
                <a:cs typeface="+mj-cs"/>
              </a:rPr>
              <a:t>북극해 세계 천연가스 </a:t>
            </a:r>
            <a:r>
              <a:rPr lang="en-US" altLang="ko-KR" sz="2800" dirty="0" smtClean="0">
                <a:latin typeface="+mj-lt"/>
                <a:ea typeface="+mj-ea"/>
                <a:cs typeface="+mj-cs"/>
              </a:rPr>
              <a:t>30%, </a:t>
            </a:r>
            <a:r>
              <a:rPr lang="ko-KR" altLang="en-US" sz="2800" dirty="0" smtClean="0">
                <a:latin typeface="+mj-lt"/>
                <a:ea typeface="+mj-ea"/>
                <a:cs typeface="+mj-cs"/>
              </a:rPr>
              <a:t>석유 </a:t>
            </a:r>
            <a:r>
              <a:rPr lang="en-US" altLang="ko-KR" sz="2800" dirty="0" smtClean="0">
                <a:latin typeface="+mj-lt"/>
                <a:ea typeface="+mj-ea"/>
                <a:cs typeface="+mj-cs"/>
              </a:rPr>
              <a:t>15% </a:t>
            </a:r>
            <a:r>
              <a:rPr lang="ko-KR" altLang="en-US" sz="2800" dirty="0" smtClean="0">
                <a:latin typeface="+mj-lt"/>
                <a:ea typeface="+mj-ea"/>
                <a:cs typeface="+mj-cs"/>
              </a:rPr>
              <a:t>분포</a:t>
            </a:r>
            <a:endParaRPr lang="en-US" altLang="ko-KR" sz="2800" dirty="0" smtClean="0">
              <a:latin typeface="+mj-lt"/>
              <a:ea typeface="+mj-ea"/>
              <a:cs typeface="+mj-cs"/>
            </a:endParaRPr>
          </a:p>
          <a:p>
            <a:pPr>
              <a:spcBef>
                <a:spcPct val="0"/>
              </a:spcBef>
              <a:defRPr/>
            </a:pPr>
            <a:r>
              <a:rPr lang="ko-KR" altLang="en-US" sz="2800" dirty="0" smtClean="0">
                <a:latin typeface="+mj-lt"/>
                <a:ea typeface="+mj-ea"/>
                <a:cs typeface="+mj-cs"/>
              </a:rPr>
              <a:t>니켈</a:t>
            </a:r>
            <a:r>
              <a:rPr lang="en-US" altLang="ko-KR" sz="2800" dirty="0" smtClean="0">
                <a:latin typeface="+mj-lt"/>
                <a:ea typeface="+mj-ea"/>
                <a:cs typeface="+mj-cs"/>
              </a:rPr>
              <a:t>, </a:t>
            </a:r>
            <a:r>
              <a:rPr lang="ko-KR" altLang="en-US" sz="2800" dirty="0" err="1" smtClean="0">
                <a:latin typeface="+mj-lt"/>
                <a:ea typeface="+mj-ea"/>
                <a:cs typeface="+mj-cs"/>
              </a:rPr>
              <a:t>희토류</a:t>
            </a:r>
            <a:r>
              <a:rPr lang="ko-KR" altLang="en-US" sz="2800" dirty="0" smtClean="0">
                <a:latin typeface="+mj-lt"/>
                <a:ea typeface="+mj-ea"/>
                <a:cs typeface="+mj-cs"/>
              </a:rPr>
              <a:t> 등 핵심광물 확인</a:t>
            </a:r>
            <a:endParaRPr lang="en-US" altLang="ko-KR" sz="2800" dirty="0">
              <a:latin typeface="+mj-lt"/>
              <a:ea typeface="+mj-ea"/>
              <a:cs typeface="+mj-cs"/>
            </a:endParaRPr>
          </a:p>
        </p:txBody>
      </p:sp>
      <p:sp>
        <p:nvSpPr>
          <p:cNvPr id="10" name="제목 1"/>
          <p:cNvSpPr txBox="1">
            <a:spLocks/>
          </p:cNvSpPr>
          <p:nvPr/>
        </p:nvSpPr>
        <p:spPr>
          <a:xfrm>
            <a:off x="119336" y="3356992"/>
            <a:ext cx="11953328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>
              <a:spcBef>
                <a:spcPct val="0"/>
              </a:spcBef>
              <a:defRPr/>
            </a:pPr>
            <a:r>
              <a:rPr lang="ko-KR" altLang="en-US" sz="2800" dirty="0" smtClean="0">
                <a:latin typeface="+mj-lt"/>
                <a:ea typeface="+mj-ea"/>
                <a:cs typeface="+mj-cs"/>
              </a:rPr>
              <a:t>미국이 그린란드를 통해 </a:t>
            </a:r>
            <a:r>
              <a:rPr lang="ko-KR" altLang="en-US" sz="2800" smtClean="0">
                <a:latin typeface="+mj-lt"/>
                <a:ea typeface="+mj-ea"/>
                <a:cs typeface="+mj-cs"/>
              </a:rPr>
              <a:t>지속적인 자원패권 경쟁 중 </a:t>
            </a:r>
            <a:endParaRPr lang="en-US" altLang="ko-KR" sz="2800" dirty="0">
              <a:latin typeface="+mj-lt"/>
              <a:ea typeface="+mj-ea"/>
              <a:cs typeface="+mj-cs"/>
            </a:endParaRPr>
          </a:p>
        </p:txBody>
      </p:sp>
      <p:sp>
        <p:nvSpPr>
          <p:cNvPr id="11" name="제목 1"/>
          <p:cNvSpPr txBox="1">
            <a:spLocks/>
          </p:cNvSpPr>
          <p:nvPr/>
        </p:nvSpPr>
        <p:spPr>
          <a:xfrm>
            <a:off x="119336" y="4221088"/>
            <a:ext cx="11953328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>
              <a:spcBef>
                <a:spcPct val="0"/>
              </a:spcBef>
              <a:defRPr/>
            </a:pPr>
            <a:r>
              <a:rPr lang="ko-KR" altLang="en-US" sz="2800" dirty="0" smtClean="0">
                <a:latin typeface="+mj-lt"/>
                <a:ea typeface="+mj-ea"/>
                <a:cs typeface="+mj-cs"/>
              </a:rPr>
              <a:t>북극해가 개발될수록 </a:t>
            </a:r>
            <a:r>
              <a:rPr lang="en-US" altLang="ko-KR" sz="2800" dirty="0" smtClean="0">
                <a:latin typeface="+mj-lt"/>
                <a:ea typeface="+mj-ea"/>
                <a:cs typeface="+mj-cs"/>
              </a:rPr>
              <a:t>LNG</a:t>
            </a:r>
            <a:r>
              <a:rPr lang="ko-KR" altLang="en-US" sz="2800" dirty="0" smtClean="0">
                <a:latin typeface="+mj-lt"/>
                <a:ea typeface="+mj-ea"/>
                <a:cs typeface="+mj-cs"/>
              </a:rPr>
              <a:t>선</a:t>
            </a:r>
            <a:r>
              <a:rPr lang="en-US" altLang="ko-KR" sz="2800" dirty="0" smtClean="0">
                <a:latin typeface="+mj-lt"/>
                <a:ea typeface="+mj-ea"/>
                <a:cs typeface="+mj-cs"/>
              </a:rPr>
              <a:t>, </a:t>
            </a:r>
            <a:r>
              <a:rPr lang="ko-KR" altLang="en-US" sz="2800" dirty="0" smtClean="0">
                <a:latin typeface="+mj-lt"/>
                <a:ea typeface="+mj-ea"/>
                <a:cs typeface="+mj-cs"/>
              </a:rPr>
              <a:t>쇄빙선</a:t>
            </a:r>
            <a:r>
              <a:rPr lang="en-US" altLang="ko-KR" sz="2800" dirty="0" smtClean="0">
                <a:latin typeface="+mj-lt"/>
                <a:ea typeface="+mj-ea"/>
                <a:cs typeface="+mj-cs"/>
              </a:rPr>
              <a:t> </a:t>
            </a:r>
            <a:r>
              <a:rPr lang="ko-KR" altLang="en-US" sz="2800" dirty="0" smtClean="0">
                <a:latin typeface="+mj-lt"/>
                <a:ea typeface="+mj-ea"/>
                <a:cs typeface="+mj-cs"/>
              </a:rPr>
              <a:t>및 </a:t>
            </a:r>
            <a:r>
              <a:rPr lang="en-US" altLang="ko-KR" sz="2800" dirty="0" smtClean="0">
                <a:latin typeface="+mj-lt"/>
                <a:ea typeface="+mj-ea"/>
                <a:cs typeface="+mj-cs"/>
              </a:rPr>
              <a:t>LNG </a:t>
            </a:r>
            <a:r>
              <a:rPr lang="ko-KR" altLang="en-US" sz="2800" dirty="0" smtClean="0">
                <a:latin typeface="+mj-lt"/>
                <a:ea typeface="+mj-ea"/>
                <a:cs typeface="+mj-cs"/>
              </a:rPr>
              <a:t>해양플랜트 수요 증가</a:t>
            </a:r>
            <a:endParaRPr lang="en-US" altLang="ko-KR" sz="2800" dirty="0" smtClean="0">
              <a:latin typeface="+mj-lt"/>
              <a:ea typeface="+mj-ea"/>
              <a:cs typeface="+mj-cs"/>
            </a:endParaRPr>
          </a:p>
          <a:p>
            <a:pPr>
              <a:spcBef>
                <a:spcPct val="0"/>
              </a:spcBef>
              <a:defRPr/>
            </a:pPr>
            <a:r>
              <a:rPr lang="ko-KR" altLang="en-US" sz="2800" dirty="0" smtClean="0">
                <a:latin typeface="+mj-lt"/>
                <a:ea typeface="+mj-ea"/>
                <a:cs typeface="+mj-cs"/>
              </a:rPr>
              <a:t>해당 상선 모두 국내 </a:t>
            </a:r>
            <a:r>
              <a:rPr lang="en-US" altLang="ko-KR" sz="2800" dirty="0" smtClean="0">
                <a:latin typeface="+mj-lt"/>
                <a:ea typeface="+mj-ea"/>
                <a:cs typeface="+mj-cs"/>
              </a:rPr>
              <a:t>BIG3</a:t>
            </a:r>
            <a:r>
              <a:rPr lang="ko-KR" altLang="en-US" sz="2800" dirty="0" smtClean="0">
                <a:latin typeface="+mj-lt"/>
                <a:ea typeface="+mj-ea"/>
                <a:cs typeface="+mj-cs"/>
              </a:rPr>
              <a:t>사에서 시장의 </a:t>
            </a:r>
            <a:r>
              <a:rPr lang="en-US" altLang="ko-KR" sz="2800" dirty="0" smtClean="0">
                <a:latin typeface="+mj-lt"/>
                <a:ea typeface="+mj-ea"/>
                <a:cs typeface="+mj-cs"/>
              </a:rPr>
              <a:t>70% </a:t>
            </a:r>
            <a:r>
              <a:rPr lang="ko-KR" altLang="en-US" sz="2800" dirty="0" smtClean="0">
                <a:latin typeface="+mj-lt"/>
                <a:ea typeface="+mj-ea"/>
                <a:cs typeface="+mj-cs"/>
              </a:rPr>
              <a:t>이상 점유 중</a:t>
            </a:r>
            <a:endParaRPr lang="en-US" altLang="ko-KR" sz="2800" dirty="0"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8484026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0" y="0"/>
            <a:ext cx="12192000" cy="9087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제목 1"/>
          <p:cNvSpPr>
            <a:spLocks noGrp="1"/>
          </p:cNvSpPr>
          <p:nvPr>
            <p:ph type="title"/>
          </p:nvPr>
        </p:nvSpPr>
        <p:spPr>
          <a:xfrm>
            <a:off x="119336" y="209327"/>
            <a:ext cx="8229600" cy="490066"/>
          </a:xfrm>
        </p:spPr>
        <p:txBody>
          <a:bodyPr>
            <a:noAutofit/>
          </a:bodyPr>
          <a:lstStyle/>
          <a:p>
            <a:pPr algn="l"/>
            <a:r>
              <a:rPr lang="en-US" altLang="ko-KR" sz="3600" dirty="0">
                <a:solidFill>
                  <a:schemeClr val="bg1"/>
                </a:solidFill>
              </a:rPr>
              <a:t>3</a:t>
            </a:r>
            <a:r>
              <a:rPr lang="en-US" altLang="ko-KR" sz="3600" dirty="0" smtClean="0">
                <a:solidFill>
                  <a:schemeClr val="bg1"/>
                </a:solidFill>
              </a:rPr>
              <a:t>. </a:t>
            </a:r>
            <a:r>
              <a:rPr lang="ko-KR" altLang="en-US" sz="3600" dirty="0" smtClean="0">
                <a:solidFill>
                  <a:schemeClr val="bg1"/>
                </a:solidFill>
              </a:rPr>
              <a:t>투자배경</a:t>
            </a:r>
            <a:endParaRPr lang="ko-KR" altLang="en-US" sz="3600" dirty="0">
              <a:solidFill>
                <a:schemeClr val="bg1"/>
              </a:solidFill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119336" y="1111350"/>
            <a:ext cx="2016224" cy="43204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smtClean="0"/>
              <a:t>시장전망</a:t>
            </a:r>
            <a:endParaRPr lang="ko-KR" altLang="en-US" sz="24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57834" y="1628800"/>
            <a:ext cx="3073362" cy="256220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873208" y="1481137"/>
            <a:ext cx="2921882" cy="2709863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631504" y="4165823"/>
            <a:ext cx="3419475" cy="2667000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7137102" y="1369811"/>
            <a:ext cx="4601542" cy="2845572"/>
          </a:xfrm>
          <a:prstGeom prst="rect">
            <a:avLst/>
          </a:prstGeom>
        </p:spPr>
      </p:pic>
      <p:pic>
        <p:nvPicPr>
          <p:cNvPr id="15" name="그림 14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5345187" y="4467187"/>
            <a:ext cx="5772150" cy="215265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9436269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0" y="0"/>
            <a:ext cx="12192000" cy="9087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제목 1"/>
          <p:cNvSpPr>
            <a:spLocks noGrp="1"/>
          </p:cNvSpPr>
          <p:nvPr>
            <p:ph type="title"/>
          </p:nvPr>
        </p:nvSpPr>
        <p:spPr>
          <a:xfrm>
            <a:off x="119336" y="209327"/>
            <a:ext cx="8229600" cy="490066"/>
          </a:xfrm>
        </p:spPr>
        <p:txBody>
          <a:bodyPr>
            <a:noAutofit/>
          </a:bodyPr>
          <a:lstStyle/>
          <a:p>
            <a:pPr algn="l"/>
            <a:r>
              <a:rPr lang="en-US" altLang="ko-KR" sz="3600" dirty="0">
                <a:solidFill>
                  <a:schemeClr val="bg1"/>
                </a:solidFill>
              </a:rPr>
              <a:t>4</a:t>
            </a:r>
            <a:r>
              <a:rPr lang="en-US" altLang="ko-KR" sz="3600" smtClean="0">
                <a:solidFill>
                  <a:schemeClr val="bg1"/>
                </a:solidFill>
              </a:rPr>
              <a:t>. </a:t>
            </a:r>
            <a:r>
              <a:rPr lang="ko-KR" altLang="en-US" sz="3600" dirty="0" smtClean="0">
                <a:solidFill>
                  <a:schemeClr val="bg1"/>
                </a:solidFill>
              </a:rPr>
              <a:t>투자위험</a:t>
            </a:r>
            <a:endParaRPr lang="ko-KR" altLang="en-US" sz="3600" dirty="0">
              <a:solidFill>
                <a:schemeClr val="bg1"/>
              </a:solidFill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19336" y="1111350"/>
            <a:ext cx="1728192" cy="43204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 smtClean="0"/>
              <a:t>삼성의존도</a:t>
            </a:r>
            <a:endParaRPr lang="ko-KR" altLang="en-US" sz="2400" dirty="0"/>
          </a:p>
        </p:txBody>
      </p:sp>
      <p:sp>
        <p:nvSpPr>
          <p:cNvPr id="5" name="제목 1"/>
          <p:cNvSpPr txBox="1">
            <a:spLocks/>
          </p:cNvSpPr>
          <p:nvPr/>
        </p:nvSpPr>
        <p:spPr>
          <a:xfrm>
            <a:off x="119336" y="1700808"/>
            <a:ext cx="12169352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>
              <a:spcBef>
                <a:spcPct val="0"/>
              </a:spcBef>
              <a:defRPr/>
            </a:pPr>
            <a:r>
              <a:rPr lang="ko-KR" altLang="en-US" sz="2800" dirty="0" smtClean="0">
                <a:latin typeface="+mj-lt"/>
                <a:ea typeface="+mj-ea"/>
                <a:cs typeface="+mj-cs"/>
              </a:rPr>
              <a:t>삼성중공업 외 </a:t>
            </a:r>
            <a:r>
              <a:rPr lang="ko-KR" altLang="en-US" sz="2800" dirty="0" err="1" smtClean="0">
                <a:latin typeface="+mj-lt"/>
                <a:ea typeface="+mj-ea"/>
                <a:cs typeface="+mj-cs"/>
              </a:rPr>
              <a:t>한화오션</a:t>
            </a:r>
            <a:r>
              <a:rPr lang="ko-KR" altLang="en-US" sz="2800" dirty="0" smtClean="0">
                <a:latin typeface="+mj-lt"/>
                <a:ea typeface="+mj-ea"/>
                <a:cs typeface="+mj-cs"/>
              </a:rPr>
              <a:t> 계약물량이 증가하고 있으나 전체적인 매출규모가 아직 작음</a:t>
            </a:r>
            <a:endParaRPr lang="en-US" altLang="ko-KR" sz="2800" dirty="0">
              <a:latin typeface="+mj-lt"/>
              <a:ea typeface="+mj-ea"/>
              <a:cs typeface="+mj-cs"/>
            </a:endParaRPr>
          </a:p>
        </p:txBody>
      </p:sp>
      <p:sp>
        <p:nvSpPr>
          <p:cNvPr id="7" name="제목 1"/>
          <p:cNvSpPr txBox="1">
            <a:spLocks/>
          </p:cNvSpPr>
          <p:nvPr/>
        </p:nvSpPr>
        <p:spPr>
          <a:xfrm>
            <a:off x="119336" y="2780928"/>
            <a:ext cx="12169352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>
              <a:spcBef>
                <a:spcPct val="0"/>
              </a:spcBef>
              <a:defRPr/>
            </a:pPr>
            <a:r>
              <a:rPr lang="ko-KR" altLang="en-US" sz="2800" dirty="0" smtClean="0">
                <a:latin typeface="+mj-lt"/>
                <a:ea typeface="+mj-ea"/>
                <a:cs typeface="+mj-cs"/>
              </a:rPr>
              <a:t>삼성그룹 </a:t>
            </a:r>
            <a:r>
              <a:rPr lang="ko-KR" altLang="en-US" sz="2800" dirty="0" err="1" smtClean="0">
                <a:latin typeface="+mj-lt"/>
                <a:ea typeface="+mj-ea"/>
                <a:cs typeface="+mj-cs"/>
              </a:rPr>
              <a:t>공장내</a:t>
            </a:r>
            <a:r>
              <a:rPr lang="ko-KR" altLang="en-US" sz="2800" dirty="0" smtClean="0">
                <a:latin typeface="+mj-lt"/>
                <a:ea typeface="+mj-ea"/>
                <a:cs typeface="+mj-cs"/>
              </a:rPr>
              <a:t> 초도 수주를 달성하였으나</a:t>
            </a:r>
            <a:r>
              <a:rPr lang="en-US" altLang="ko-KR" sz="2800" dirty="0" smtClean="0">
                <a:latin typeface="+mj-lt"/>
                <a:ea typeface="+mj-ea"/>
                <a:cs typeface="+mj-cs"/>
              </a:rPr>
              <a:t>, </a:t>
            </a:r>
            <a:r>
              <a:rPr lang="ko-KR" altLang="en-US" sz="2800" dirty="0" smtClean="0">
                <a:latin typeface="+mj-lt"/>
                <a:ea typeface="+mj-ea"/>
                <a:cs typeface="+mj-cs"/>
              </a:rPr>
              <a:t>향후 지속적인 계약수주가 되는지 </a:t>
            </a:r>
            <a:r>
              <a:rPr lang="ko-KR" altLang="en-US" sz="2800" dirty="0" err="1" smtClean="0">
                <a:latin typeface="+mj-lt"/>
                <a:ea typeface="+mj-ea"/>
                <a:cs typeface="+mj-cs"/>
              </a:rPr>
              <a:t>봐야하고</a:t>
            </a:r>
            <a:r>
              <a:rPr lang="ko-KR" altLang="en-US" sz="2800" dirty="0" smtClean="0">
                <a:latin typeface="+mj-lt"/>
                <a:ea typeface="+mj-ea"/>
                <a:cs typeface="+mj-cs"/>
              </a:rPr>
              <a:t> 삼성그룹 외 육상용 전력시스템 수주 실적이 없음 </a:t>
            </a:r>
            <a:endParaRPr lang="en-US" altLang="ko-KR" sz="2800" dirty="0">
              <a:latin typeface="+mj-lt"/>
              <a:ea typeface="+mj-ea"/>
              <a:cs typeface="+mj-cs"/>
            </a:endParaRPr>
          </a:p>
        </p:txBody>
      </p:sp>
      <p:sp>
        <p:nvSpPr>
          <p:cNvPr id="8" name="제목 1"/>
          <p:cNvSpPr txBox="1">
            <a:spLocks/>
          </p:cNvSpPr>
          <p:nvPr/>
        </p:nvSpPr>
        <p:spPr>
          <a:xfrm>
            <a:off x="119336" y="3933056"/>
            <a:ext cx="12169352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>
              <a:spcBef>
                <a:spcPct val="0"/>
              </a:spcBef>
              <a:defRPr/>
            </a:pPr>
            <a:r>
              <a:rPr lang="ko-KR" altLang="en-US" sz="2800" dirty="0" smtClean="0">
                <a:latin typeface="+mj-lt"/>
                <a:ea typeface="+mj-ea"/>
                <a:cs typeface="+mj-cs"/>
              </a:rPr>
              <a:t>육상용 전력시스템의 경우 현재 </a:t>
            </a:r>
            <a:r>
              <a:rPr lang="en-US" altLang="ko-KR" sz="2800" dirty="0" smtClean="0">
                <a:latin typeface="+mj-lt"/>
                <a:ea typeface="+mj-ea"/>
                <a:cs typeface="+mj-cs"/>
              </a:rPr>
              <a:t>LS ELECTRIC </a:t>
            </a:r>
            <a:r>
              <a:rPr lang="ko-KR" altLang="en-US" sz="2800" dirty="0" smtClean="0">
                <a:latin typeface="+mj-lt"/>
                <a:ea typeface="+mj-ea"/>
                <a:cs typeface="+mj-cs"/>
              </a:rPr>
              <a:t>및 </a:t>
            </a:r>
            <a:r>
              <a:rPr lang="en-US" altLang="ko-KR" sz="2800" dirty="0" smtClean="0">
                <a:latin typeface="+mj-lt"/>
                <a:ea typeface="+mj-ea"/>
                <a:cs typeface="+mj-cs"/>
              </a:rPr>
              <a:t>HD ELECTRIC </a:t>
            </a:r>
            <a:r>
              <a:rPr lang="ko-KR" altLang="en-US" sz="2800" dirty="0" smtClean="0">
                <a:latin typeface="+mj-lt"/>
                <a:ea typeface="+mj-ea"/>
                <a:cs typeface="+mj-cs"/>
              </a:rPr>
              <a:t>등 경쟁사가 매우 강력함</a:t>
            </a:r>
            <a:endParaRPr lang="en-US" altLang="ko-KR" sz="2800" dirty="0">
              <a:latin typeface="+mj-lt"/>
              <a:ea typeface="+mj-ea"/>
              <a:cs typeface="+mj-cs"/>
            </a:endParaRPr>
          </a:p>
        </p:txBody>
      </p:sp>
      <p:sp>
        <p:nvSpPr>
          <p:cNvPr id="11" name="제목 1"/>
          <p:cNvSpPr txBox="1">
            <a:spLocks/>
          </p:cNvSpPr>
          <p:nvPr/>
        </p:nvSpPr>
        <p:spPr>
          <a:xfrm>
            <a:off x="119336" y="5013176"/>
            <a:ext cx="12169352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>
              <a:spcBef>
                <a:spcPct val="0"/>
              </a:spcBef>
              <a:defRPr/>
            </a:pPr>
            <a:endParaRPr lang="en-US" altLang="ko-KR" sz="2800" dirty="0">
              <a:latin typeface="+mj-lt"/>
              <a:ea typeface="+mj-ea"/>
              <a:cs typeface="+mj-cs"/>
            </a:endParaRPr>
          </a:p>
        </p:txBody>
      </p:sp>
      <p:sp>
        <p:nvSpPr>
          <p:cNvPr id="12" name="제목 1"/>
          <p:cNvSpPr txBox="1">
            <a:spLocks/>
          </p:cNvSpPr>
          <p:nvPr/>
        </p:nvSpPr>
        <p:spPr>
          <a:xfrm>
            <a:off x="119336" y="5157192"/>
            <a:ext cx="12169352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>
              <a:spcBef>
                <a:spcPct val="0"/>
              </a:spcBef>
              <a:defRPr/>
            </a:pPr>
            <a:r>
              <a:rPr lang="ko-KR" altLang="en-US" sz="2800" dirty="0" smtClean="0">
                <a:latin typeface="+mj-lt"/>
                <a:ea typeface="+mj-ea"/>
                <a:cs typeface="+mj-cs"/>
              </a:rPr>
              <a:t>생산설비 증설이 </a:t>
            </a:r>
            <a:r>
              <a:rPr lang="en-US" altLang="ko-KR" sz="2800" dirty="0" smtClean="0">
                <a:latin typeface="+mj-lt"/>
                <a:ea typeface="+mj-ea"/>
                <a:cs typeface="+mj-cs"/>
              </a:rPr>
              <a:t>2027</a:t>
            </a:r>
            <a:r>
              <a:rPr lang="ko-KR" altLang="en-US" sz="2800" dirty="0" smtClean="0">
                <a:latin typeface="+mj-lt"/>
                <a:ea typeface="+mj-ea"/>
                <a:cs typeface="+mj-cs"/>
              </a:rPr>
              <a:t>년이 되어야 완공</a:t>
            </a:r>
            <a:r>
              <a:rPr lang="en-US" altLang="ko-KR" sz="2800" dirty="0" smtClean="0">
                <a:latin typeface="+mj-lt"/>
                <a:ea typeface="+mj-ea"/>
                <a:cs typeface="+mj-cs"/>
              </a:rPr>
              <a:t>, </a:t>
            </a:r>
            <a:r>
              <a:rPr lang="ko-KR" altLang="en-US" sz="2800" dirty="0" smtClean="0">
                <a:latin typeface="+mj-lt"/>
                <a:ea typeface="+mj-ea"/>
                <a:cs typeface="+mj-cs"/>
              </a:rPr>
              <a:t>생산하더라도 매출실적까지는</a:t>
            </a:r>
            <a:endParaRPr lang="en-US" altLang="ko-KR" sz="2800" dirty="0" smtClean="0">
              <a:latin typeface="+mj-lt"/>
              <a:ea typeface="+mj-ea"/>
              <a:cs typeface="+mj-cs"/>
            </a:endParaRPr>
          </a:p>
          <a:p>
            <a:pPr>
              <a:spcBef>
                <a:spcPct val="0"/>
              </a:spcBef>
              <a:defRPr/>
            </a:pPr>
            <a:r>
              <a:rPr lang="en-US" altLang="ko-KR" sz="2800" dirty="0" smtClean="0">
                <a:latin typeface="+mj-lt"/>
                <a:ea typeface="+mj-ea"/>
                <a:cs typeface="+mj-cs"/>
              </a:rPr>
              <a:t>1~2</a:t>
            </a:r>
            <a:r>
              <a:rPr lang="ko-KR" altLang="en-US" sz="2800" dirty="0" smtClean="0">
                <a:latin typeface="+mj-lt"/>
                <a:ea typeface="+mj-ea"/>
                <a:cs typeface="+mj-cs"/>
              </a:rPr>
              <a:t>년 소요</a:t>
            </a:r>
            <a:endParaRPr lang="en-US" altLang="ko-KR" sz="2800" dirty="0"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0" y="0"/>
            <a:ext cx="12192000" cy="9087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제목 1"/>
          <p:cNvSpPr>
            <a:spLocks noGrp="1"/>
          </p:cNvSpPr>
          <p:nvPr>
            <p:ph type="title"/>
          </p:nvPr>
        </p:nvSpPr>
        <p:spPr>
          <a:xfrm>
            <a:off x="119336" y="209327"/>
            <a:ext cx="8229600" cy="490066"/>
          </a:xfrm>
        </p:spPr>
        <p:txBody>
          <a:bodyPr>
            <a:noAutofit/>
          </a:bodyPr>
          <a:lstStyle/>
          <a:p>
            <a:pPr algn="l"/>
            <a:r>
              <a:rPr lang="en-US" altLang="ko-KR" sz="3600" dirty="0">
                <a:solidFill>
                  <a:schemeClr val="bg1"/>
                </a:solidFill>
              </a:rPr>
              <a:t>5</a:t>
            </a:r>
            <a:r>
              <a:rPr lang="en-US" altLang="ko-KR" sz="3600" smtClean="0">
                <a:solidFill>
                  <a:schemeClr val="bg1"/>
                </a:solidFill>
              </a:rPr>
              <a:t>. </a:t>
            </a:r>
            <a:r>
              <a:rPr lang="ko-KR" altLang="en-US" sz="3600" dirty="0" smtClean="0">
                <a:solidFill>
                  <a:schemeClr val="bg1"/>
                </a:solidFill>
              </a:rPr>
              <a:t>투자전략</a:t>
            </a:r>
            <a:endParaRPr lang="ko-KR" altLang="en-US" sz="3600" dirty="0">
              <a:solidFill>
                <a:schemeClr val="bg1"/>
              </a:solidFill>
            </a:endParaRPr>
          </a:p>
        </p:txBody>
      </p:sp>
      <p:sp>
        <p:nvSpPr>
          <p:cNvPr id="11" name="제목 1"/>
          <p:cNvSpPr txBox="1">
            <a:spLocks/>
          </p:cNvSpPr>
          <p:nvPr/>
        </p:nvSpPr>
        <p:spPr>
          <a:xfrm>
            <a:off x="119336" y="5013176"/>
            <a:ext cx="12169352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>
              <a:spcBef>
                <a:spcPct val="0"/>
              </a:spcBef>
              <a:defRPr/>
            </a:pPr>
            <a:endParaRPr lang="en-US" altLang="ko-KR" sz="2800" dirty="0">
              <a:latin typeface="+mj-lt"/>
              <a:ea typeface="+mj-ea"/>
              <a:cs typeface="+mj-cs"/>
            </a:endParaRPr>
          </a:p>
        </p:txBody>
      </p:sp>
      <p:sp>
        <p:nvSpPr>
          <p:cNvPr id="13" name="제목 1"/>
          <p:cNvSpPr txBox="1">
            <a:spLocks/>
          </p:cNvSpPr>
          <p:nvPr/>
        </p:nvSpPr>
        <p:spPr>
          <a:xfrm>
            <a:off x="119336" y="1628800"/>
            <a:ext cx="12169352" cy="8640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>
              <a:spcBef>
                <a:spcPct val="0"/>
              </a:spcBef>
              <a:defRPr/>
            </a:pPr>
            <a:r>
              <a:rPr lang="ko-KR" altLang="en-US" sz="2400" dirty="0" smtClean="0">
                <a:latin typeface="+mj-lt"/>
                <a:ea typeface="+mj-ea"/>
                <a:cs typeface="+mj-cs"/>
              </a:rPr>
              <a:t>현재 주가</a:t>
            </a:r>
            <a:r>
              <a:rPr lang="en-US" altLang="ko-KR" sz="2400" dirty="0">
                <a:latin typeface="+mj-lt"/>
                <a:ea typeface="+mj-ea"/>
                <a:cs typeface="+mj-cs"/>
              </a:rPr>
              <a:t> </a:t>
            </a:r>
            <a:r>
              <a:rPr lang="en-US" altLang="ko-KR" sz="2400" dirty="0" smtClean="0">
                <a:latin typeface="+mj-lt"/>
                <a:ea typeface="+mj-ea"/>
                <a:cs typeface="+mj-cs"/>
              </a:rPr>
              <a:t>23,000</a:t>
            </a:r>
            <a:r>
              <a:rPr lang="ko-KR" altLang="en-US" sz="2400" dirty="0" smtClean="0">
                <a:latin typeface="+mj-lt"/>
                <a:ea typeface="+mj-ea"/>
                <a:cs typeface="+mj-cs"/>
              </a:rPr>
              <a:t>원대는 상장</a:t>
            </a:r>
            <a:r>
              <a:rPr lang="en-US" altLang="ko-KR" sz="2400" dirty="0" smtClean="0">
                <a:latin typeface="+mj-lt"/>
                <a:ea typeface="+mj-ea"/>
                <a:cs typeface="+mj-cs"/>
              </a:rPr>
              <a:t>(25. 8)</a:t>
            </a:r>
            <a:r>
              <a:rPr lang="ko-KR" altLang="en-US" sz="2400" dirty="0" smtClean="0">
                <a:latin typeface="+mj-lt"/>
                <a:ea typeface="+mj-ea"/>
                <a:cs typeface="+mj-cs"/>
              </a:rPr>
              <a:t>이후 최저치이기는 하나 </a:t>
            </a:r>
            <a:r>
              <a:rPr lang="en-US" altLang="ko-KR" sz="2400" dirty="0" smtClean="0">
                <a:latin typeface="+mj-lt"/>
                <a:ea typeface="+mj-ea"/>
                <a:cs typeface="+mj-cs"/>
              </a:rPr>
              <a:t>26. 8</a:t>
            </a:r>
            <a:r>
              <a:rPr lang="ko-KR" altLang="en-US" sz="2400" dirty="0" smtClean="0">
                <a:latin typeface="+mj-lt"/>
                <a:ea typeface="+mj-ea"/>
                <a:cs typeface="+mj-cs"/>
              </a:rPr>
              <a:t>월 </a:t>
            </a:r>
            <a:r>
              <a:rPr lang="en-US" altLang="ko-KR" sz="2400" dirty="0" smtClean="0">
                <a:latin typeface="+mj-lt"/>
                <a:ea typeface="+mj-ea"/>
                <a:cs typeface="+mj-cs"/>
              </a:rPr>
              <a:t>1</a:t>
            </a:r>
            <a:r>
              <a:rPr lang="ko-KR" altLang="en-US" sz="2400" dirty="0" smtClean="0">
                <a:latin typeface="+mj-lt"/>
                <a:ea typeface="+mj-ea"/>
                <a:cs typeface="+mj-cs"/>
              </a:rPr>
              <a:t>년 보호예수 물량 </a:t>
            </a:r>
            <a:r>
              <a:rPr lang="en-US" altLang="ko-KR" sz="2400" dirty="0" smtClean="0">
                <a:latin typeface="+mj-lt"/>
                <a:ea typeface="+mj-ea"/>
                <a:cs typeface="+mj-cs"/>
              </a:rPr>
              <a:t>80</a:t>
            </a:r>
            <a:r>
              <a:rPr lang="ko-KR" altLang="en-US" sz="2400" dirty="0" smtClean="0">
                <a:latin typeface="+mj-lt"/>
                <a:ea typeface="+mj-ea"/>
                <a:cs typeface="+mj-cs"/>
              </a:rPr>
              <a:t>만주가 있으며</a:t>
            </a:r>
            <a:r>
              <a:rPr lang="en-US" altLang="ko-KR" sz="2400" dirty="0" smtClean="0">
                <a:latin typeface="+mj-lt"/>
                <a:ea typeface="+mj-ea"/>
                <a:cs typeface="+mj-cs"/>
              </a:rPr>
              <a:t>, </a:t>
            </a:r>
            <a:r>
              <a:rPr lang="ko-KR" altLang="en-US" sz="2400" dirty="0" smtClean="0">
                <a:latin typeface="+mj-lt"/>
                <a:ea typeface="+mj-ea"/>
                <a:cs typeface="+mj-cs"/>
              </a:rPr>
              <a:t>현재 금리인상 우려로 인한 반도체 외 하락추세</a:t>
            </a:r>
            <a:r>
              <a:rPr lang="en-US" altLang="ko-KR" sz="2400" dirty="0" smtClean="0">
                <a:latin typeface="+mj-lt"/>
                <a:ea typeface="+mj-ea"/>
                <a:cs typeface="+mj-cs"/>
              </a:rPr>
              <a:t>(</a:t>
            </a:r>
            <a:r>
              <a:rPr lang="ko-KR" altLang="en-US" sz="2400" dirty="0" smtClean="0">
                <a:latin typeface="+mj-lt"/>
                <a:ea typeface="+mj-ea"/>
                <a:cs typeface="+mj-cs"/>
              </a:rPr>
              <a:t>특히 코스닥</a:t>
            </a:r>
            <a:r>
              <a:rPr lang="en-US" altLang="ko-KR" sz="2400" dirty="0" smtClean="0">
                <a:latin typeface="+mj-lt"/>
                <a:ea typeface="+mj-ea"/>
                <a:cs typeface="+mj-cs"/>
              </a:rPr>
              <a:t>)</a:t>
            </a:r>
            <a:r>
              <a:rPr lang="ko-KR" altLang="en-US" sz="2400" dirty="0" smtClean="0">
                <a:latin typeface="+mj-lt"/>
                <a:ea typeface="+mj-ea"/>
                <a:cs typeface="+mj-cs"/>
              </a:rPr>
              <a:t> </a:t>
            </a:r>
            <a:endParaRPr lang="en-US" altLang="ko-KR" sz="2400" dirty="0">
              <a:latin typeface="+mj-lt"/>
              <a:ea typeface="+mj-ea"/>
              <a:cs typeface="+mj-cs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119336" y="1111350"/>
            <a:ext cx="2664296" cy="43204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 smtClean="0"/>
              <a:t>현재</a:t>
            </a:r>
            <a:r>
              <a:rPr lang="en-US" altLang="ko-KR" sz="2400" dirty="0" smtClean="0"/>
              <a:t>~26.</a:t>
            </a:r>
            <a:r>
              <a:rPr lang="ko-KR" altLang="en-US" sz="2400" dirty="0" smtClean="0"/>
              <a:t>하반기</a:t>
            </a:r>
            <a:endParaRPr lang="ko-KR" altLang="en-US" sz="2400" dirty="0"/>
          </a:p>
        </p:txBody>
      </p:sp>
      <p:sp>
        <p:nvSpPr>
          <p:cNvPr id="16" name="직사각형 15"/>
          <p:cNvSpPr/>
          <p:nvPr/>
        </p:nvSpPr>
        <p:spPr>
          <a:xfrm>
            <a:off x="119336" y="2636912"/>
            <a:ext cx="2664296" cy="43204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 smtClean="0"/>
              <a:t>26.</a:t>
            </a:r>
            <a:r>
              <a:rPr lang="ko-KR" altLang="en-US" sz="2400" dirty="0" smtClean="0"/>
              <a:t>하반기</a:t>
            </a:r>
            <a:r>
              <a:rPr lang="en-US" altLang="ko-KR" sz="2400" dirty="0" smtClean="0"/>
              <a:t>~27</a:t>
            </a:r>
            <a:endParaRPr lang="ko-KR" altLang="en-US" sz="2400" dirty="0"/>
          </a:p>
        </p:txBody>
      </p:sp>
      <p:sp>
        <p:nvSpPr>
          <p:cNvPr id="18" name="제목 1"/>
          <p:cNvSpPr txBox="1">
            <a:spLocks/>
          </p:cNvSpPr>
          <p:nvPr/>
        </p:nvSpPr>
        <p:spPr>
          <a:xfrm>
            <a:off x="119336" y="2996952"/>
            <a:ext cx="12169352" cy="8640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>
              <a:spcBef>
                <a:spcPct val="0"/>
              </a:spcBef>
              <a:defRPr/>
            </a:pPr>
            <a:r>
              <a:rPr lang="en-US" altLang="ko-KR" sz="2400" dirty="0" smtClean="0">
                <a:latin typeface="+mj-lt"/>
                <a:ea typeface="+mj-ea"/>
                <a:cs typeface="+mj-cs"/>
              </a:rPr>
              <a:t>2027</a:t>
            </a:r>
            <a:r>
              <a:rPr lang="ko-KR" altLang="en-US" sz="2400" dirty="0" smtClean="0">
                <a:latin typeface="+mj-lt"/>
                <a:ea typeface="+mj-ea"/>
                <a:cs typeface="+mj-cs"/>
              </a:rPr>
              <a:t>년 공장 증설이 예정됨</a:t>
            </a:r>
            <a:r>
              <a:rPr lang="en-US" altLang="ko-KR" sz="2400" dirty="0" smtClean="0">
                <a:latin typeface="+mj-lt"/>
                <a:ea typeface="+mj-ea"/>
                <a:cs typeface="+mj-cs"/>
              </a:rPr>
              <a:t>(</a:t>
            </a:r>
            <a:r>
              <a:rPr lang="ko-KR" altLang="en-US" sz="2400" dirty="0" smtClean="0">
                <a:latin typeface="+mj-lt"/>
                <a:ea typeface="+mj-ea"/>
                <a:cs typeface="+mj-cs"/>
              </a:rPr>
              <a:t>중국</a:t>
            </a:r>
            <a:r>
              <a:rPr lang="en-US" altLang="ko-KR" sz="2400" dirty="0" smtClean="0">
                <a:latin typeface="+mj-lt"/>
                <a:ea typeface="+mj-ea"/>
                <a:cs typeface="+mj-cs"/>
              </a:rPr>
              <a:t>/</a:t>
            </a:r>
            <a:r>
              <a:rPr lang="ko-KR" altLang="en-US" sz="2400" dirty="0" smtClean="0">
                <a:latin typeface="+mj-lt"/>
                <a:ea typeface="+mj-ea"/>
                <a:cs typeface="+mj-cs"/>
              </a:rPr>
              <a:t>시장 진출</a:t>
            </a:r>
            <a:r>
              <a:rPr lang="en-US" altLang="ko-KR" sz="2400" dirty="0" smtClean="0">
                <a:latin typeface="+mj-lt"/>
                <a:ea typeface="+mj-ea"/>
                <a:cs typeface="+mj-cs"/>
              </a:rPr>
              <a:t>, </a:t>
            </a:r>
            <a:r>
              <a:rPr lang="ko-KR" altLang="en-US" sz="2400" dirty="0" smtClean="0">
                <a:latin typeface="+mj-lt"/>
                <a:ea typeface="+mj-ea"/>
                <a:cs typeface="+mj-cs"/>
              </a:rPr>
              <a:t>부산</a:t>
            </a:r>
            <a:r>
              <a:rPr lang="en-US" altLang="ko-KR" sz="2400" dirty="0" smtClean="0">
                <a:latin typeface="+mj-lt"/>
                <a:ea typeface="+mj-ea"/>
                <a:cs typeface="+mj-cs"/>
              </a:rPr>
              <a:t>/ABB</a:t>
            </a:r>
            <a:r>
              <a:rPr lang="ko-KR" altLang="en-US" sz="2400" dirty="0" smtClean="0">
                <a:latin typeface="+mj-lt"/>
                <a:ea typeface="+mj-ea"/>
                <a:cs typeface="+mj-cs"/>
              </a:rPr>
              <a:t>사 육상용 납품</a:t>
            </a:r>
            <a:r>
              <a:rPr lang="en-US" altLang="ko-KR" sz="2400" dirty="0" smtClean="0">
                <a:latin typeface="+mj-lt"/>
                <a:ea typeface="+mj-ea"/>
                <a:cs typeface="+mj-cs"/>
              </a:rPr>
              <a:t>)</a:t>
            </a:r>
            <a:endParaRPr lang="en-US" altLang="ko-KR" sz="2400" dirty="0">
              <a:latin typeface="+mj-lt"/>
              <a:ea typeface="+mj-ea"/>
              <a:cs typeface="+mj-cs"/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2232120744"/>
              </p:ext>
            </p:extLst>
          </p:nvPr>
        </p:nvGraphicFramePr>
        <p:xfrm>
          <a:off x="263352" y="5010869"/>
          <a:ext cx="5328285" cy="1677924"/>
        </p:xfrm>
        <a:graphic>
          <a:graphicData uri="http://schemas.openxmlformats.org/drawingml/2006/table">
            <a:tbl>
              <a:tblPr/>
              <a:tblGrid>
                <a:gridCol w="1065657"/>
                <a:gridCol w="1065657"/>
                <a:gridCol w="1065657"/>
                <a:gridCol w="1065657"/>
                <a:gridCol w="1065657"/>
              </a:tblGrid>
              <a:tr h="16281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구분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8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2025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년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8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2026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년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(</a:t>
                      </a: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E)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8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2027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년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(</a:t>
                      </a: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E)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8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2028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년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(</a:t>
                      </a: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E)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8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</a:tr>
              <a:tr h="16281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매출액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8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1,444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8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1,605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8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1,876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8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2,010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8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281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영업이익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8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177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8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205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8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256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8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270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8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281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당기순이익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8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180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8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200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8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230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8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8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281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EPS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8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2,169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8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2,119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8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2,437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8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2,543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8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281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PBR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8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13.74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8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11.42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8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9.93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8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8"/>
                          <a:ea typeface="함초롬바탕" panose="02030604000101010101" pitchFamily="18" charset="-128"/>
                        </a:rPr>
                        <a:t>9.52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8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제목 1"/>
          <p:cNvSpPr txBox="1">
            <a:spLocks/>
          </p:cNvSpPr>
          <p:nvPr/>
        </p:nvSpPr>
        <p:spPr>
          <a:xfrm>
            <a:off x="119336" y="3501008"/>
            <a:ext cx="12169352" cy="8640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>
              <a:spcBef>
                <a:spcPct val="0"/>
              </a:spcBef>
              <a:defRPr/>
            </a:pPr>
            <a:r>
              <a:rPr lang="ko-KR" altLang="en-US" sz="2400" dirty="0" smtClean="0">
                <a:latin typeface="+mj-lt"/>
                <a:ea typeface="+mj-ea"/>
                <a:cs typeface="+mj-cs"/>
              </a:rPr>
              <a:t>삼성전자 광주공장 증설</a:t>
            </a:r>
            <a:r>
              <a:rPr lang="en-US" altLang="ko-KR" sz="2400" dirty="0" smtClean="0">
                <a:latin typeface="+mj-lt"/>
                <a:ea typeface="+mj-ea"/>
                <a:cs typeface="+mj-cs"/>
              </a:rPr>
              <a:t>, </a:t>
            </a:r>
            <a:r>
              <a:rPr lang="ko-KR" altLang="en-US" sz="2400" dirty="0" smtClean="0">
                <a:latin typeface="+mj-lt"/>
                <a:ea typeface="+mj-ea"/>
                <a:cs typeface="+mj-cs"/>
              </a:rPr>
              <a:t>삼성전기 베트남 및</a:t>
            </a:r>
            <a:r>
              <a:rPr lang="en-US" altLang="ko-KR" sz="2400" dirty="0" smtClean="0">
                <a:latin typeface="+mj-lt"/>
                <a:ea typeface="+mj-ea"/>
                <a:cs typeface="+mj-cs"/>
              </a:rPr>
              <a:t> </a:t>
            </a:r>
            <a:r>
              <a:rPr lang="ko-KR" altLang="en-US" sz="2400" dirty="0" smtClean="0">
                <a:latin typeface="+mj-lt"/>
                <a:ea typeface="+mj-ea"/>
                <a:cs typeface="+mj-cs"/>
              </a:rPr>
              <a:t>세종 공장 </a:t>
            </a:r>
            <a:r>
              <a:rPr lang="ko-KR" altLang="en-US" sz="2400" dirty="0" err="1" smtClean="0">
                <a:latin typeface="+mj-lt"/>
                <a:ea typeface="+mj-ea"/>
                <a:cs typeface="+mj-cs"/>
              </a:rPr>
              <a:t>증설시</a:t>
            </a:r>
            <a:r>
              <a:rPr lang="ko-KR" altLang="en-US" sz="2400" dirty="0" smtClean="0">
                <a:latin typeface="+mj-lt"/>
                <a:ea typeface="+mj-ea"/>
                <a:cs typeface="+mj-cs"/>
              </a:rPr>
              <a:t> 참여여부</a:t>
            </a:r>
            <a:r>
              <a:rPr lang="en-US" altLang="ko-KR" sz="2400" dirty="0" smtClean="0">
                <a:latin typeface="+mj-lt"/>
                <a:ea typeface="+mj-ea"/>
                <a:cs typeface="+mj-cs"/>
              </a:rPr>
              <a:t>(</a:t>
            </a:r>
            <a:r>
              <a:rPr lang="ko-KR" altLang="en-US" sz="2400" dirty="0" smtClean="0">
                <a:latin typeface="+mj-lt"/>
                <a:ea typeface="+mj-ea"/>
                <a:cs typeface="+mj-cs"/>
              </a:rPr>
              <a:t>삼성벤더 확인</a:t>
            </a:r>
            <a:r>
              <a:rPr lang="en-US" altLang="ko-KR" sz="2400" dirty="0" smtClean="0">
                <a:latin typeface="+mj-lt"/>
                <a:ea typeface="+mj-ea"/>
                <a:cs typeface="+mj-cs"/>
              </a:rPr>
              <a:t>)</a:t>
            </a:r>
            <a:endParaRPr lang="en-US" altLang="ko-KR" sz="2400" dirty="0">
              <a:latin typeface="+mj-lt"/>
              <a:ea typeface="+mj-ea"/>
              <a:cs typeface="+mj-cs"/>
            </a:endParaRPr>
          </a:p>
        </p:txBody>
      </p:sp>
      <p:sp>
        <p:nvSpPr>
          <p:cNvPr id="20" name="제목 1"/>
          <p:cNvSpPr txBox="1">
            <a:spLocks/>
          </p:cNvSpPr>
          <p:nvPr/>
        </p:nvSpPr>
        <p:spPr>
          <a:xfrm>
            <a:off x="119336" y="4005064"/>
            <a:ext cx="12169352" cy="8640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>
              <a:spcBef>
                <a:spcPct val="0"/>
              </a:spcBef>
              <a:defRPr/>
            </a:pPr>
            <a:r>
              <a:rPr lang="ko-KR" altLang="en-US" sz="2400" dirty="0" err="1" smtClean="0">
                <a:latin typeface="+mj-lt"/>
                <a:ea typeface="+mj-ea"/>
                <a:cs typeface="+mj-cs"/>
              </a:rPr>
              <a:t>한화오션</a:t>
            </a:r>
            <a:r>
              <a:rPr lang="ko-KR" altLang="en-US" sz="2400" dirty="0" smtClean="0">
                <a:latin typeface="+mj-lt"/>
                <a:ea typeface="+mj-ea"/>
                <a:cs typeface="+mj-cs"/>
              </a:rPr>
              <a:t> 잠수함 수주 여부 확인</a:t>
            </a:r>
            <a:r>
              <a:rPr lang="en-US" altLang="ko-KR" sz="2400" dirty="0" smtClean="0">
                <a:latin typeface="+mj-lt"/>
                <a:ea typeface="+mj-ea"/>
                <a:cs typeface="+mj-cs"/>
              </a:rPr>
              <a:t>, </a:t>
            </a:r>
            <a:r>
              <a:rPr lang="ko-KR" altLang="en-US" sz="2400" dirty="0" smtClean="0">
                <a:latin typeface="+mj-lt"/>
                <a:ea typeface="+mj-ea"/>
                <a:cs typeface="+mj-cs"/>
              </a:rPr>
              <a:t>국내 핵잠수함 추진현황 확인</a:t>
            </a:r>
            <a:r>
              <a:rPr lang="en-US" altLang="ko-KR" sz="2400" dirty="0" smtClean="0">
                <a:latin typeface="+mj-lt"/>
                <a:ea typeface="+mj-ea"/>
                <a:cs typeface="+mj-cs"/>
              </a:rPr>
              <a:t>(</a:t>
            </a:r>
            <a:r>
              <a:rPr lang="ko-KR" altLang="en-US" sz="2400" dirty="0" err="1" smtClean="0">
                <a:latin typeface="+mj-lt"/>
                <a:ea typeface="+mj-ea"/>
                <a:cs typeface="+mj-cs"/>
              </a:rPr>
              <a:t>한화향</a:t>
            </a:r>
            <a:r>
              <a:rPr lang="ko-KR" altLang="en-US" sz="2400" dirty="0" smtClean="0">
                <a:latin typeface="+mj-lt"/>
                <a:ea typeface="+mj-ea"/>
                <a:cs typeface="+mj-cs"/>
              </a:rPr>
              <a:t> 방위사업 확인</a:t>
            </a:r>
            <a:r>
              <a:rPr lang="en-US" altLang="ko-KR" sz="2400" dirty="0" smtClean="0">
                <a:latin typeface="+mj-lt"/>
                <a:ea typeface="+mj-ea"/>
                <a:cs typeface="+mj-cs"/>
              </a:rPr>
              <a:t>)</a:t>
            </a:r>
            <a:endParaRPr lang="en-US" altLang="ko-KR" sz="2400" dirty="0">
              <a:latin typeface="+mj-lt"/>
              <a:ea typeface="+mj-ea"/>
              <a:cs typeface="+mj-cs"/>
            </a:endParaRPr>
          </a:p>
        </p:txBody>
      </p:sp>
      <p:sp>
        <p:nvSpPr>
          <p:cNvPr id="21" name="제목 1"/>
          <p:cNvSpPr txBox="1">
            <a:spLocks/>
          </p:cNvSpPr>
          <p:nvPr/>
        </p:nvSpPr>
        <p:spPr>
          <a:xfrm>
            <a:off x="5663952" y="5085184"/>
            <a:ext cx="6624736" cy="15841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>
              <a:spcBef>
                <a:spcPct val="0"/>
              </a:spcBef>
              <a:defRPr/>
            </a:pPr>
            <a:r>
              <a:rPr lang="ko-KR" altLang="en-US" dirty="0" smtClean="0">
                <a:latin typeface="+mj-lt"/>
                <a:ea typeface="+mj-ea"/>
                <a:cs typeface="+mj-cs"/>
              </a:rPr>
              <a:t>현재까지는 본업인 상선용 조선기자재 매출이 지배적이며</a:t>
            </a:r>
            <a:r>
              <a:rPr lang="en-US" altLang="ko-KR" dirty="0" smtClean="0">
                <a:latin typeface="+mj-lt"/>
                <a:ea typeface="+mj-ea"/>
                <a:cs typeface="+mj-cs"/>
              </a:rPr>
              <a:t>,</a:t>
            </a:r>
          </a:p>
          <a:p>
            <a:pPr>
              <a:spcBef>
                <a:spcPct val="0"/>
              </a:spcBef>
              <a:defRPr/>
            </a:pPr>
            <a:r>
              <a:rPr lang="ko-KR" altLang="en-US" dirty="0" smtClean="0">
                <a:latin typeface="+mj-lt"/>
                <a:ea typeface="+mj-ea"/>
                <a:cs typeface="+mj-cs"/>
              </a:rPr>
              <a:t>중국시장 진출</a:t>
            </a:r>
            <a:r>
              <a:rPr lang="en-US" altLang="ko-KR" dirty="0" smtClean="0">
                <a:latin typeface="+mj-lt"/>
                <a:ea typeface="+mj-ea"/>
                <a:cs typeface="+mj-cs"/>
              </a:rPr>
              <a:t>, </a:t>
            </a:r>
            <a:r>
              <a:rPr lang="ko-KR" altLang="en-US" dirty="0" smtClean="0">
                <a:latin typeface="+mj-lt"/>
                <a:ea typeface="+mj-ea"/>
                <a:cs typeface="+mj-cs"/>
              </a:rPr>
              <a:t>데이터센터 진출</a:t>
            </a:r>
            <a:r>
              <a:rPr lang="en-US" altLang="ko-KR" dirty="0">
                <a:latin typeface="+mj-lt"/>
                <a:ea typeface="+mj-ea"/>
                <a:cs typeface="+mj-cs"/>
              </a:rPr>
              <a:t> </a:t>
            </a:r>
            <a:r>
              <a:rPr lang="ko-KR" altLang="en-US" dirty="0" smtClean="0">
                <a:latin typeface="+mj-lt"/>
                <a:ea typeface="+mj-ea"/>
                <a:cs typeface="+mj-cs"/>
              </a:rPr>
              <a:t>등 확정된 사항이 없이 </a:t>
            </a:r>
            <a:r>
              <a:rPr lang="ko-KR" altLang="en-US" dirty="0" err="1" smtClean="0">
                <a:latin typeface="+mj-lt"/>
                <a:ea typeface="+mj-ea"/>
                <a:cs typeface="+mj-cs"/>
              </a:rPr>
              <a:t>뜬구름잡는</a:t>
            </a:r>
            <a:r>
              <a:rPr lang="ko-KR" altLang="en-US" dirty="0" smtClean="0">
                <a:latin typeface="+mj-lt"/>
                <a:ea typeface="+mj-ea"/>
                <a:cs typeface="+mj-cs"/>
              </a:rPr>
              <a:t> 이야기임</a:t>
            </a:r>
            <a:r>
              <a:rPr lang="en-US" altLang="ko-KR" dirty="0" smtClean="0">
                <a:latin typeface="+mj-lt"/>
                <a:ea typeface="+mj-ea"/>
                <a:cs typeface="+mj-cs"/>
              </a:rPr>
              <a:t>.</a:t>
            </a:r>
          </a:p>
          <a:p>
            <a:pPr>
              <a:spcBef>
                <a:spcPct val="0"/>
              </a:spcBef>
              <a:defRPr/>
            </a:pPr>
            <a:r>
              <a:rPr lang="en-US" altLang="ko-KR" dirty="0" smtClean="0">
                <a:latin typeface="+mj-lt"/>
                <a:ea typeface="+mj-ea"/>
                <a:cs typeface="+mj-cs"/>
              </a:rPr>
              <a:t>27</a:t>
            </a:r>
            <a:r>
              <a:rPr lang="ko-KR" altLang="en-US" dirty="0" smtClean="0">
                <a:latin typeface="+mj-lt"/>
                <a:ea typeface="+mj-ea"/>
                <a:cs typeface="+mj-cs"/>
              </a:rPr>
              <a:t>년 생산시설 증설이 예정된 만큼 지속적인 실적확인이 필요</a:t>
            </a:r>
            <a:endParaRPr lang="en-US" altLang="ko-KR" dirty="0" smtClean="0"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>
          <a:xfrm>
            <a:off x="1524000" y="0"/>
            <a:ext cx="9144000" cy="9087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490066"/>
          </a:xfrm>
        </p:spPr>
        <p:txBody>
          <a:bodyPr>
            <a:noAutofit/>
          </a:bodyPr>
          <a:lstStyle/>
          <a:p>
            <a:pPr algn="l"/>
            <a:r>
              <a:rPr lang="en-US" altLang="ko-KR" sz="3600" dirty="0">
                <a:solidFill>
                  <a:schemeClr val="bg1"/>
                </a:solidFill>
              </a:rPr>
              <a:t>5. </a:t>
            </a:r>
            <a:r>
              <a:rPr lang="ko-KR" altLang="en-US" sz="3600" dirty="0">
                <a:solidFill>
                  <a:schemeClr val="bg1"/>
                </a:solidFill>
              </a:rPr>
              <a:t>질의</a:t>
            </a:r>
          </a:p>
        </p:txBody>
      </p:sp>
      <p:sp>
        <p:nvSpPr>
          <p:cNvPr id="8" name="제목 1"/>
          <p:cNvSpPr txBox="1">
            <a:spLocks/>
          </p:cNvSpPr>
          <p:nvPr/>
        </p:nvSpPr>
        <p:spPr>
          <a:xfrm>
            <a:off x="191344" y="908720"/>
            <a:ext cx="11809312" cy="59492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514350" indent="-514350">
              <a:spcBef>
                <a:spcPct val="0"/>
              </a:spcBef>
              <a:buFontTx/>
              <a:buAutoNum type="arabicPeriod"/>
              <a:defRPr/>
            </a:pPr>
            <a:r>
              <a:rPr lang="ko-KR" altLang="en-US" dirty="0"/>
              <a:t>수주잔고에 대한 현황을 </a:t>
            </a:r>
            <a:r>
              <a:rPr lang="ko-KR" altLang="en-US" dirty="0" err="1"/>
              <a:t>알려줄수있는지</a:t>
            </a:r>
            <a:r>
              <a:rPr lang="en-US" altLang="ko-KR" dirty="0"/>
              <a:t>?(</a:t>
            </a:r>
            <a:r>
              <a:rPr lang="ko-KR" altLang="en-US" dirty="0" err="1"/>
              <a:t>계약건</a:t>
            </a:r>
            <a:r>
              <a:rPr lang="ko-KR" altLang="en-US" dirty="0"/>
              <a:t> 별로</a:t>
            </a:r>
            <a:r>
              <a:rPr lang="en-US" altLang="ko-KR" dirty="0" smtClean="0"/>
              <a:t>)</a:t>
            </a:r>
          </a:p>
          <a:p>
            <a:r>
              <a:rPr lang="en-US" altLang="ko-KR" dirty="0" smtClean="0"/>
              <a:t> </a:t>
            </a:r>
            <a:r>
              <a:rPr lang="ko-KR" altLang="en-US" dirty="0" smtClean="0">
                <a:solidFill>
                  <a:srgbClr val="0000CC"/>
                </a:solidFill>
              </a:rPr>
              <a:t>당사의 수주잔고는 정기보고서 및 공시자료를 통해 공개 가능한 범위 내에서 </a:t>
            </a:r>
            <a:r>
              <a:rPr lang="ko-KR" altLang="en-US" dirty="0" err="1" smtClean="0">
                <a:solidFill>
                  <a:srgbClr val="0000CC"/>
                </a:solidFill>
              </a:rPr>
              <a:t>안내드리며</a:t>
            </a:r>
            <a:r>
              <a:rPr lang="en-US" altLang="ko-KR" dirty="0" smtClean="0">
                <a:solidFill>
                  <a:srgbClr val="0000CC"/>
                </a:solidFill>
              </a:rPr>
              <a:t>, </a:t>
            </a:r>
            <a:r>
              <a:rPr lang="ko-KR" altLang="en-US" dirty="0" smtClean="0">
                <a:solidFill>
                  <a:srgbClr val="0000CC"/>
                </a:solidFill>
              </a:rPr>
              <a:t>거래처와의 계약상 비밀유지 의무 및 영업전략상 사유로 개별 제공이 어려움</a:t>
            </a:r>
          </a:p>
          <a:p>
            <a:r>
              <a:rPr lang="ko-KR" altLang="en-US" dirty="0" smtClean="0">
                <a:solidFill>
                  <a:srgbClr val="0000CC"/>
                </a:solidFill>
              </a:rPr>
              <a:t>당사는 </a:t>
            </a:r>
            <a:r>
              <a:rPr lang="en-US" altLang="ko-KR" dirty="0" smtClean="0">
                <a:solidFill>
                  <a:srgbClr val="0000CC"/>
                </a:solidFill>
              </a:rPr>
              <a:t>2025</a:t>
            </a:r>
            <a:r>
              <a:rPr lang="ko-KR" altLang="en-US" dirty="0" smtClean="0">
                <a:solidFill>
                  <a:srgbClr val="0000CC"/>
                </a:solidFill>
              </a:rPr>
              <a:t>년 말 기준 약 </a:t>
            </a:r>
            <a:r>
              <a:rPr lang="en-US" altLang="ko-KR" dirty="0" smtClean="0">
                <a:solidFill>
                  <a:srgbClr val="0000CC"/>
                </a:solidFill>
              </a:rPr>
              <a:t>2,434</a:t>
            </a:r>
            <a:r>
              <a:rPr lang="ko-KR" altLang="en-US" dirty="0" err="1" smtClean="0">
                <a:solidFill>
                  <a:srgbClr val="0000CC"/>
                </a:solidFill>
              </a:rPr>
              <a:t>억원의</a:t>
            </a:r>
            <a:r>
              <a:rPr lang="ko-KR" altLang="en-US" dirty="0" smtClean="0">
                <a:solidFill>
                  <a:srgbClr val="0000CC"/>
                </a:solidFill>
              </a:rPr>
              <a:t> 수주잔고를 보유하고 있으며</a:t>
            </a:r>
            <a:r>
              <a:rPr lang="en-US" altLang="ko-KR" dirty="0" smtClean="0">
                <a:solidFill>
                  <a:srgbClr val="0000CC"/>
                </a:solidFill>
              </a:rPr>
              <a:t>, 2026</a:t>
            </a:r>
            <a:r>
              <a:rPr lang="ko-KR" altLang="en-US" dirty="0" smtClean="0">
                <a:solidFill>
                  <a:srgbClr val="0000CC"/>
                </a:solidFill>
              </a:rPr>
              <a:t>년 </a:t>
            </a:r>
            <a:r>
              <a:rPr lang="en-US" altLang="ko-KR" dirty="0" smtClean="0">
                <a:solidFill>
                  <a:srgbClr val="0000CC"/>
                </a:solidFill>
              </a:rPr>
              <a:t>1</a:t>
            </a:r>
            <a:r>
              <a:rPr lang="ko-KR" altLang="en-US" dirty="0" smtClean="0">
                <a:solidFill>
                  <a:srgbClr val="0000CC"/>
                </a:solidFill>
              </a:rPr>
              <a:t>분기 말 기준으로는 약 </a:t>
            </a:r>
            <a:r>
              <a:rPr lang="en-US" altLang="ko-KR" dirty="0" smtClean="0">
                <a:solidFill>
                  <a:srgbClr val="0000CC"/>
                </a:solidFill>
              </a:rPr>
              <a:t>2,642</a:t>
            </a:r>
            <a:r>
              <a:rPr lang="ko-KR" altLang="en-US" dirty="0" err="1" smtClean="0">
                <a:solidFill>
                  <a:srgbClr val="0000CC"/>
                </a:solidFill>
              </a:rPr>
              <a:t>억원</a:t>
            </a:r>
            <a:r>
              <a:rPr lang="ko-KR" altLang="en-US" dirty="0" smtClean="0">
                <a:solidFill>
                  <a:srgbClr val="0000CC"/>
                </a:solidFill>
              </a:rPr>
              <a:t> 수준까지 증가함</a:t>
            </a:r>
            <a:r>
              <a:rPr lang="en-US" altLang="ko-KR" dirty="0" smtClean="0">
                <a:solidFill>
                  <a:srgbClr val="0000CC"/>
                </a:solidFill>
              </a:rPr>
              <a:t>.</a:t>
            </a:r>
            <a:endParaRPr lang="ko-KR" altLang="en-US" dirty="0" smtClean="0">
              <a:solidFill>
                <a:srgbClr val="0000CC"/>
              </a:solidFill>
            </a:endParaRPr>
          </a:p>
          <a:p>
            <a:r>
              <a:rPr lang="ko-KR" altLang="en-US" dirty="0" smtClean="0">
                <a:solidFill>
                  <a:srgbClr val="0000CC"/>
                </a:solidFill>
              </a:rPr>
              <a:t>조선</a:t>
            </a:r>
            <a:r>
              <a:rPr lang="en-US" altLang="ko-KR" dirty="0" smtClean="0">
                <a:solidFill>
                  <a:srgbClr val="0000CC"/>
                </a:solidFill>
              </a:rPr>
              <a:t>·</a:t>
            </a:r>
            <a:r>
              <a:rPr lang="ko-KR" altLang="en-US" dirty="0" smtClean="0">
                <a:solidFill>
                  <a:srgbClr val="0000CC"/>
                </a:solidFill>
              </a:rPr>
              <a:t>해양 분야의 고부가 선종 발주 확대와 주요 조선사 내 공급 품목 확대에 따라 안정적인 잔고 흐름을 유지 중</a:t>
            </a:r>
          </a:p>
          <a:p>
            <a:pPr marL="514350" indent="-514350">
              <a:spcBef>
                <a:spcPct val="0"/>
              </a:spcBef>
              <a:defRPr/>
            </a:pPr>
            <a:endParaRPr lang="en-US" altLang="ko-KR" dirty="0" smtClean="0"/>
          </a:p>
          <a:p>
            <a:pPr marL="514350" indent="-514350">
              <a:spcBef>
                <a:spcPct val="0"/>
              </a:spcBef>
              <a:buAutoNum type="arabicPeriod" startAt="2"/>
              <a:defRPr/>
            </a:pPr>
            <a:r>
              <a:rPr lang="ko-KR" altLang="en-US" dirty="0" smtClean="0"/>
              <a:t>파워솔루션</a:t>
            </a:r>
            <a:r>
              <a:rPr lang="en-US" altLang="ko-KR" dirty="0"/>
              <a:t>, </a:t>
            </a:r>
            <a:r>
              <a:rPr lang="ko-KR" altLang="en-US" dirty="0"/>
              <a:t>에코솔루션</a:t>
            </a:r>
            <a:r>
              <a:rPr lang="en-US" altLang="ko-KR" dirty="0"/>
              <a:t>, </a:t>
            </a:r>
            <a:r>
              <a:rPr lang="ko-KR" altLang="en-US" dirty="0"/>
              <a:t>운항제어솔루션</a:t>
            </a:r>
            <a:r>
              <a:rPr lang="en-US" altLang="ko-KR" dirty="0"/>
              <a:t>, MRO </a:t>
            </a:r>
            <a:r>
              <a:rPr lang="ko-KR" altLang="en-US" dirty="0"/>
              <a:t>사업별로 매출과 영업이익은</a:t>
            </a:r>
            <a:r>
              <a:rPr lang="en-US" altLang="ko-KR" dirty="0"/>
              <a:t>?(</a:t>
            </a:r>
            <a:r>
              <a:rPr lang="ko-KR" altLang="en-US" dirty="0"/>
              <a:t>아니면 </a:t>
            </a:r>
            <a:r>
              <a:rPr lang="ko-KR" altLang="en-US" dirty="0" err="1"/>
              <a:t>배전반</a:t>
            </a:r>
            <a:r>
              <a:rPr lang="en-US" altLang="ko-KR" dirty="0"/>
              <a:t>, </a:t>
            </a:r>
            <a:r>
              <a:rPr lang="ko-KR" altLang="en-US" dirty="0"/>
              <a:t>제어시스템</a:t>
            </a:r>
            <a:r>
              <a:rPr lang="en-US" altLang="ko-KR" dirty="0"/>
              <a:t>, </a:t>
            </a:r>
            <a:r>
              <a:rPr lang="ko-KR" altLang="en-US" dirty="0" err="1"/>
              <a:t>평형수</a:t>
            </a:r>
            <a:r>
              <a:rPr lang="ko-KR" altLang="en-US" dirty="0"/>
              <a:t> 등 제품별로</a:t>
            </a:r>
            <a:r>
              <a:rPr lang="en-US" altLang="ko-KR" dirty="0" smtClean="0"/>
              <a:t>)</a:t>
            </a:r>
          </a:p>
          <a:p>
            <a:r>
              <a:rPr lang="ko-KR" altLang="en-US" dirty="0" smtClean="0">
                <a:solidFill>
                  <a:srgbClr val="0000CC"/>
                </a:solidFill>
              </a:rPr>
              <a:t>당사는 파워솔루션</a:t>
            </a:r>
            <a:r>
              <a:rPr lang="en-US" altLang="ko-KR" dirty="0" smtClean="0">
                <a:solidFill>
                  <a:srgbClr val="0000CC"/>
                </a:solidFill>
              </a:rPr>
              <a:t>, </a:t>
            </a:r>
            <a:r>
              <a:rPr lang="ko-KR" altLang="en-US" dirty="0" smtClean="0">
                <a:solidFill>
                  <a:srgbClr val="0000CC"/>
                </a:solidFill>
              </a:rPr>
              <a:t>에코솔루션</a:t>
            </a:r>
            <a:r>
              <a:rPr lang="en-US" altLang="ko-KR" dirty="0" smtClean="0">
                <a:solidFill>
                  <a:srgbClr val="0000CC"/>
                </a:solidFill>
              </a:rPr>
              <a:t>, </a:t>
            </a:r>
            <a:r>
              <a:rPr lang="ko-KR" altLang="en-US" dirty="0" smtClean="0">
                <a:solidFill>
                  <a:srgbClr val="0000CC"/>
                </a:solidFill>
              </a:rPr>
              <a:t>운항제어솔루션</a:t>
            </a:r>
            <a:r>
              <a:rPr lang="en-US" altLang="ko-KR" dirty="0" smtClean="0">
                <a:solidFill>
                  <a:srgbClr val="0000CC"/>
                </a:solidFill>
              </a:rPr>
              <a:t>, MRO</a:t>
            </a:r>
            <a:r>
              <a:rPr lang="ko-KR" altLang="en-US" dirty="0" smtClean="0">
                <a:solidFill>
                  <a:srgbClr val="0000CC"/>
                </a:solidFill>
              </a:rPr>
              <a:t>솔루션 등으로 사업을 구분하고 있으나</a:t>
            </a:r>
            <a:r>
              <a:rPr lang="en-US" altLang="ko-KR" dirty="0" smtClean="0">
                <a:solidFill>
                  <a:srgbClr val="0000CC"/>
                </a:solidFill>
              </a:rPr>
              <a:t>, </a:t>
            </a:r>
            <a:r>
              <a:rPr lang="ko-KR" altLang="en-US" dirty="0" smtClean="0">
                <a:solidFill>
                  <a:srgbClr val="0000CC"/>
                </a:solidFill>
              </a:rPr>
              <a:t>사업부문별 영업이익은 별도로 공시하고 있지 않음</a:t>
            </a:r>
            <a:r>
              <a:rPr lang="en-US" altLang="ko-KR" dirty="0" smtClean="0">
                <a:solidFill>
                  <a:srgbClr val="0000CC"/>
                </a:solidFill>
              </a:rPr>
              <a:t>.(</a:t>
            </a:r>
            <a:r>
              <a:rPr lang="ko-KR" altLang="en-US" dirty="0" smtClean="0">
                <a:solidFill>
                  <a:srgbClr val="0000CC"/>
                </a:solidFill>
              </a:rPr>
              <a:t>제품별 원가</a:t>
            </a:r>
            <a:r>
              <a:rPr lang="en-US" altLang="ko-KR" dirty="0" smtClean="0">
                <a:solidFill>
                  <a:srgbClr val="0000CC"/>
                </a:solidFill>
              </a:rPr>
              <a:t>, </a:t>
            </a:r>
            <a:r>
              <a:rPr lang="ko-KR" altLang="en-US" dirty="0" err="1" smtClean="0">
                <a:solidFill>
                  <a:srgbClr val="0000CC"/>
                </a:solidFill>
              </a:rPr>
              <a:t>프로젝트별</a:t>
            </a:r>
            <a:r>
              <a:rPr lang="ko-KR" altLang="en-US" dirty="0" smtClean="0">
                <a:solidFill>
                  <a:srgbClr val="0000CC"/>
                </a:solidFill>
              </a:rPr>
              <a:t> 마진</a:t>
            </a:r>
            <a:r>
              <a:rPr lang="en-US" altLang="ko-KR" dirty="0" smtClean="0">
                <a:solidFill>
                  <a:srgbClr val="0000CC"/>
                </a:solidFill>
              </a:rPr>
              <a:t>, </a:t>
            </a:r>
            <a:r>
              <a:rPr lang="ko-KR" altLang="en-US" dirty="0" smtClean="0">
                <a:solidFill>
                  <a:srgbClr val="0000CC"/>
                </a:solidFill>
              </a:rPr>
              <a:t>고객사별 수익성은 경쟁사 및 거래처에 민감한 정보에 해당하기 때문</a:t>
            </a:r>
            <a:r>
              <a:rPr lang="en-US" altLang="ko-KR" dirty="0" smtClean="0">
                <a:solidFill>
                  <a:srgbClr val="0000CC"/>
                </a:solidFill>
              </a:rPr>
              <a:t>)</a:t>
            </a:r>
            <a:endParaRPr lang="ko-KR" altLang="en-US" dirty="0" smtClean="0">
              <a:solidFill>
                <a:srgbClr val="0000CC"/>
              </a:solidFill>
            </a:endParaRPr>
          </a:p>
          <a:p>
            <a:r>
              <a:rPr lang="ko-KR" altLang="en-US" dirty="0" smtClean="0">
                <a:solidFill>
                  <a:srgbClr val="0000CC"/>
                </a:solidFill>
              </a:rPr>
              <a:t>다만 공개 가능한 범위 내에서 </a:t>
            </a:r>
            <a:r>
              <a:rPr lang="ko-KR" altLang="en-US" dirty="0" err="1" smtClean="0">
                <a:solidFill>
                  <a:srgbClr val="0000CC"/>
                </a:solidFill>
              </a:rPr>
              <a:t>말씀드리면</a:t>
            </a:r>
            <a:r>
              <a:rPr lang="en-US" altLang="ko-KR" dirty="0" smtClean="0">
                <a:solidFill>
                  <a:srgbClr val="0000CC"/>
                </a:solidFill>
              </a:rPr>
              <a:t>, </a:t>
            </a:r>
            <a:r>
              <a:rPr lang="ko-KR" altLang="en-US" dirty="0" smtClean="0">
                <a:solidFill>
                  <a:srgbClr val="0000CC"/>
                </a:solidFill>
              </a:rPr>
              <a:t>현재 사업부문별 수익성은 일반적으로 </a:t>
            </a:r>
            <a:r>
              <a:rPr lang="en-US" altLang="ko-KR" dirty="0" smtClean="0">
                <a:solidFill>
                  <a:srgbClr val="0000CC"/>
                </a:solidFill>
              </a:rPr>
              <a:t>MRO</a:t>
            </a:r>
            <a:r>
              <a:rPr lang="ko-KR" altLang="en-US" dirty="0" smtClean="0">
                <a:solidFill>
                  <a:srgbClr val="0000CC"/>
                </a:solidFill>
              </a:rPr>
              <a:t>솔루션 </a:t>
            </a:r>
            <a:r>
              <a:rPr lang="en-US" altLang="ko-KR" dirty="0" smtClean="0">
                <a:solidFill>
                  <a:srgbClr val="0000CC"/>
                </a:solidFill>
              </a:rPr>
              <a:t>&gt; </a:t>
            </a:r>
            <a:r>
              <a:rPr lang="ko-KR" altLang="en-US" dirty="0" smtClean="0">
                <a:solidFill>
                  <a:srgbClr val="0000CC"/>
                </a:solidFill>
              </a:rPr>
              <a:t>운항제어솔루션 </a:t>
            </a:r>
            <a:r>
              <a:rPr lang="en-US" altLang="ko-KR" dirty="0" smtClean="0">
                <a:solidFill>
                  <a:srgbClr val="0000CC"/>
                </a:solidFill>
              </a:rPr>
              <a:t>&gt; </a:t>
            </a:r>
            <a:r>
              <a:rPr lang="ko-KR" altLang="en-US" dirty="0" smtClean="0">
                <a:solidFill>
                  <a:srgbClr val="0000CC"/>
                </a:solidFill>
              </a:rPr>
              <a:t>에코솔루션 </a:t>
            </a:r>
            <a:r>
              <a:rPr lang="en-US" altLang="ko-KR" dirty="0" smtClean="0">
                <a:solidFill>
                  <a:srgbClr val="0000CC"/>
                </a:solidFill>
              </a:rPr>
              <a:t>&gt; </a:t>
            </a:r>
            <a:r>
              <a:rPr lang="ko-KR" altLang="en-US" dirty="0" smtClean="0">
                <a:solidFill>
                  <a:srgbClr val="0000CC"/>
                </a:solidFill>
              </a:rPr>
              <a:t>파워솔루션 순으로 파악하고 있으며</a:t>
            </a:r>
            <a:r>
              <a:rPr lang="en-US" altLang="ko-KR" dirty="0" smtClean="0">
                <a:solidFill>
                  <a:srgbClr val="0000CC"/>
                </a:solidFill>
              </a:rPr>
              <a:t>,</a:t>
            </a:r>
            <a:r>
              <a:rPr lang="ko-KR" altLang="en-US" dirty="0" smtClean="0">
                <a:solidFill>
                  <a:srgbClr val="0000CC"/>
                </a:solidFill>
              </a:rPr>
              <a:t> 특히 </a:t>
            </a:r>
            <a:r>
              <a:rPr lang="en-US" altLang="ko-KR" dirty="0" smtClean="0">
                <a:solidFill>
                  <a:srgbClr val="0000CC"/>
                </a:solidFill>
              </a:rPr>
              <a:t>MRO </a:t>
            </a:r>
            <a:r>
              <a:rPr lang="ko-KR" altLang="en-US" dirty="0" smtClean="0">
                <a:solidFill>
                  <a:srgbClr val="0000CC"/>
                </a:solidFill>
              </a:rPr>
              <a:t>사업은 기존 설치 선박을 기반으로 한 유지보수</a:t>
            </a:r>
            <a:r>
              <a:rPr lang="en-US" altLang="ko-KR" dirty="0" smtClean="0">
                <a:solidFill>
                  <a:srgbClr val="0000CC"/>
                </a:solidFill>
              </a:rPr>
              <a:t>·</a:t>
            </a:r>
            <a:r>
              <a:rPr lang="ko-KR" altLang="en-US" dirty="0" smtClean="0">
                <a:solidFill>
                  <a:srgbClr val="0000CC"/>
                </a:solidFill>
              </a:rPr>
              <a:t>개조 수요가 지속적으로 발생하는 특성상 상대적으로 높은 수익성을 확보</a:t>
            </a:r>
            <a:r>
              <a:rPr lang="en-US" altLang="ko-KR" dirty="0" smtClean="0">
                <a:solidFill>
                  <a:srgbClr val="0000CC"/>
                </a:solidFill>
              </a:rPr>
              <a:t>.</a:t>
            </a:r>
            <a:endParaRPr lang="ko-KR" altLang="en-US" dirty="0" smtClean="0">
              <a:solidFill>
                <a:srgbClr val="0000CC"/>
              </a:solidFill>
            </a:endParaRPr>
          </a:p>
          <a:p>
            <a:r>
              <a:rPr lang="ko-KR" altLang="en-US" dirty="0" smtClean="0">
                <a:solidFill>
                  <a:srgbClr val="0000CC"/>
                </a:solidFill>
              </a:rPr>
              <a:t>또한</a:t>
            </a:r>
            <a:r>
              <a:rPr lang="en-US" altLang="ko-KR" dirty="0" smtClean="0">
                <a:solidFill>
                  <a:srgbClr val="0000CC"/>
                </a:solidFill>
              </a:rPr>
              <a:t>,</a:t>
            </a:r>
            <a:r>
              <a:rPr lang="ko-KR" altLang="en-US" dirty="0" smtClean="0">
                <a:solidFill>
                  <a:srgbClr val="0000CC"/>
                </a:solidFill>
              </a:rPr>
              <a:t> 운항제어솔루션 역시 소프트웨어 및 엔지니어링 역량이 반영되는 고부가가치 사업으로 양호한 수익성을 유지</a:t>
            </a:r>
            <a:r>
              <a:rPr lang="en-US" altLang="ko-KR" dirty="0" smtClean="0">
                <a:solidFill>
                  <a:srgbClr val="0000CC"/>
                </a:solidFill>
              </a:rPr>
              <a:t>, </a:t>
            </a:r>
            <a:r>
              <a:rPr lang="ko-KR" altLang="en-US" dirty="0" smtClean="0">
                <a:solidFill>
                  <a:srgbClr val="0000CC"/>
                </a:solidFill>
              </a:rPr>
              <a:t>파워솔루션은 회사의 핵심 매출 기반 역할을 담당</a:t>
            </a:r>
          </a:p>
          <a:p>
            <a:pPr marL="514350" indent="-514350">
              <a:spcBef>
                <a:spcPct val="0"/>
              </a:spcBef>
              <a:defRPr/>
            </a:pPr>
            <a:endParaRPr lang="en-US" altLang="ko-KR" dirty="0" smtClean="0">
              <a:solidFill>
                <a:srgbClr val="0000CC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>
          <a:xfrm>
            <a:off x="1524000" y="0"/>
            <a:ext cx="9144000" cy="9087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490066"/>
          </a:xfrm>
        </p:spPr>
        <p:txBody>
          <a:bodyPr>
            <a:noAutofit/>
          </a:bodyPr>
          <a:lstStyle/>
          <a:p>
            <a:pPr algn="l"/>
            <a:r>
              <a:rPr lang="en-US" altLang="ko-KR" sz="3600" dirty="0">
                <a:solidFill>
                  <a:schemeClr val="bg1"/>
                </a:solidFill>
              </a:rPr>
              <a:t>5. </a:t>
            </a:r>
            <a:r>
              <a:rPr lang="ko-KR" altLang="en-US" sz="3600" dirty="0">
                <a:solidFill>
                  <a:schemeClr val="bg1"/>
                </a:solidFill>
              </a:rPr>
              <a:t>질의</a:t>
            </a:r>
          </a:p>
        </p:txBody>
      </p:sp>
      <p:sp>
        <p:nvSpPr>
          <p:cNvPr id="8" name="제목 1"/>
          <p:cNvSpPr txBox="1">
            <a:spLocks/>
          </p:cNvSpPr>
          <p:nvPr/>
        </p:nvSpPr>
        <p:spPr>
          <a:xfrm>
            <a:off x="629072" y="908720"/>
            <a:ext cx="10939536" cy="59492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514350" indent="-514350">
              <a:spcBef>
                <a:spcPct val="0"/>
              </a:spcBef>
              <a:defRPr/>
            </a:pPr>
            <a:endParaRPr lang="en-US" altLang="ko-KR" dirty="0" smtClean="0">
              <a:latin typeface="+mj-lt"/>
              <a:ea typeface="+mj-ea"/>
              <a:cs typeface="+mj-cs"/>
            </a:endParaRPr>
          </a:p>
          <a:p>
            <a:pPr marL="514350" indent="-514350">
              <a:spcBef>
                <a:spcPct val="0"/>
              </a:spcBef>
              <a:buAutoNum type="arabicPeriod" startAt="3"/>
              <a:defRPr/>
            </a:pPr>
            <a:r>
              <a:rPr lang="ko-KR" altLang="en-US" dirty="0" smtClean="0"/>
              <a:t>최근</a:t>
            </a:r>
            <a:r>
              <a:rPr lang="ko-KR" altLang="en-US" dirty="0"/>
              <a:t> </a:t>
            </a:r>
            <a:r>
              <a:rPr lang="ko-KR" altLang="en-US" dirty="0" err="1"/>
              <a:t>한화오션</a:t>
            </a:r>
            <a:r>
              <a:rPr lang="ko-KR" altLang="en-US" dirty="0"/>
              <a:t> 관련 수주실적이 나오면서 삼성중공업 의존도가 점차 개선될 것으로 보이는데</a:t>
            </a:r>
            <a:r>
              <a:rPr lang="en-US" altLang="ko-KR" dirty="0"/>
              <a:t>, </a:t>
            </a:r>
            <a:r>
              <a:rPr lang="ko-KR" altLang="en-US" dirty="0"/>
              <a:t>당사에서 계획하고 있는 목표치가 </a:t>
            </a:r>
            <a:r>
              <a:rPr lang="ko-KR" altLang="en-US" dirty="0" err="1"/>
              <a:t>있는건지</a:t>
            </a:r>
            <a:r>
              <a:rPr lang="en-US" altLang="ko-KR" dirty="0"/>
              <a:t>? </a:t>
            </a:r>
            <a:r>
              <a:rPr lang="ko-KR" altLang="en-US" dirty="0"/>
              <a:t>혹은 전체 시장 규모대비 목표치가 있는지</a:t>
            </a:r>
            <a:r>
              <a:rPr lang="en-US" altLang="ko-KR" dirty="0" smtClean="0"/>
              <a:t>?</a:t>
            </a:r>
          </a:p>
          <a:p>
            <a:pPr marL="514350" indent="-514350">
              <a:spcBef>
                <a:spcPct val="0"/>
              </a:spcBef>
              <a:defRPr/>
            </a:pPr>
            <a:endParaRPr lang="en-US" altLang="ko-KR" dirty="0" smtClean="0"/>
          </a:p>
          <a:p>
            <a:r>
              <a:rPr lang="ko-KR" altLang="en-US" dirty="0" smtClean="0">
                <a:solidFill>
                  <a:srgbClr val="0000CC"/>
                </a:solidFill>
              </a:rPr>
              <a:t>당사는 과거 </a:t>
            </a:r>
            <a:r>
              <a:rPr lang="ko-KR" altLang="en-US" dirty="0" err="1" smtClean="0">
                <a:solidFill>
                  <a:srgbClr val="0000CC"/>
                </a:solidFill>
              </a:rPr>
              <a:t>삼성중공업향</a:t>
            </a:r>
            <a:r>
              <a:rPr lang="ko-KR" altLang="en-US" dirty="0" smtClean="0">
                <a:solidFill>
                  <a:srgbClr val="0000CC"/>
                </a:solidFill>
              </a:rPr>
              <a:t> 매출 비중이 높았으나</a:t>
            </a:r>
            <a:r>
              <a:rPr lang="en-US" altLang="ko-KR" dirty="0" smtClean="0">
                <a:solidFill>
                  <a:srgbClr val="0000CC"/>
                </a:solidFill>
              </a:rPr>
              <a:t>, </a:t>
            </a:r>
            <a:r>
              <a:rPr lang="ko-KR" altLang="en-US" dirty="0" smtClean="0">
                <a:solidFill>
                  <a:srgbClr val="0000CC"/>
                </a:solidFill>
              </a:rPr>
              <a:t>최근 </a:t>
            </a:r>
            <a:r>
              <a:rPr lang="ko-KR" altLang="en-US" dirty="0" err="1" smtClean="0">
                <a:solidFill>
                  <a:srgbClr val="0000CC"/>
                </a:solidFill>
              </a:rPr>
              <a:t>한화오션</a:t>
            </a:r>
            <a:r>
              <a:rPr lang="en-US" altLang="ko-KR" dirty="0" smtClean="0">
                <a:solidFill>
                  <a:srgbClr val="0000CC"/>
                </a:solidFill>
              </a:rPr>
              <a:t>, HJ</a:t>
            </a:r>
            <a:r>
              <a:rPr lang="ko-KR" altLang="en-US" dirty="0" smtClean="0">
                <a:solidFill>
                  <a:srgbClr val="0000CC"/>
                </a:solidFill>
              </a:rPr>
              <a:t>중공업 등으로 국내 고객 기반을 확대 중임</a:t>
            </a:r>
          </a:p>
          <a:p>
            <a:r>
              <a:rPr lang="ko-KR" altLang="en-US" dirty="0" smtClean="0">
                <a:solidFill>
                  <a:srgbClr val="0000CC"/>
                </a:solidFill>
              </a:rPr>
              <a:t>특히 </a:t>
            </a:r>
            <a:r>
              <a:rPr lang="ko-KR" altLang="en-US" dirty="0" err="1" smtClean="0">
                <a:solidFill>
                  <a:srgbClr val="0000CC"/>
                </a:solidFill>
              </a:rPr>
              <a:t>한화오션의</a:t>
            </a:r>
            <a:r>
              <a:rPr lang="ko-KR" altLang="en-US" dirty="0" smtClean="0">
                <a:solidFill>
                  <a:srgbClr val="0000CC"/>
                </a:solidFill>
              </a:rPr>
              <a:t> 경우 </a:t>
            </a:r>
            <a:r>
              <a:rPr lang="en-US" altLang="ko-KR" dirty="0" smtClean="0">
                <a:solidFill>
                  <a:srgbClr val="0000CC"/>
                </a:solidFill>
              </a:rPr>
              <a:t>24</a:t>
            </a:r>
            <a:r>
              <a:rPr lang="ko-KR" altLang="en-US" dirty="0" err="1" smtClean="0">
                <a:solidFill>
                  <a:srgbClr val="0000CC"/>
                </a:solidFill>
              </a:rPr>
              <a:t>년말부터</a:t>
            </a:r>
            <a:r>
              <a:rPr lang="ko-KR" altLang="en-US" dirty="0" smtClean="0">
                <a:solidFill>
                  <a:srgbClr val="0000CC"/>
                </a:solidFill>
              </a:rPr>
              <a:t> 본격적인 수주가 시작되었으며</a:t>
            </a:r>
            <a:r>
              <a:rPr lang="en-US" altLang="ko-KR" dirty="0" smtClean="0">
                <a:solidFill>
                  <a:srgbClr val="0000CC"/>
                </a:solidFill>
              </a:rPr>
              <a:t>, (</a:t>
            </a:r>
            <a:r>
              <a:rPr lang="ko-KR" altLang="en-US" dirty="0" smtClean="0">
                <a:solidFill>
                  <a:srgbClr val="0000CC"/>
                </a:solidFill>
              </a:rPr>
              <a:t>과거 대우조선해양 시절에는 삼성분사의 경쟁사 회사라는 인식이 강해 수주 진행이 안되었음</a:t>
            </a:r>
            <a:r>
              <a:rPr lang="en-US" altLang="ko-KR" dirty="0" smtClean="0">
                <a:solidFill>
                  <a:srgbClr val="0000CC"/>
                </a:solidFill>
              </a:rPr>
              <a:t>)</a:t>
            </a:r>
            <a:endParaRPr lang="ko-KR" altLang="en-US" dirty="0" smtClean="0">
              <a:solidFill>
                <a:srgbClr val="0000CC"/>
              </a:solidFill>
            </a:endParaRPr>
          </a:p>
          <a:p>
            <a:r>
              <a:rPr lang="en-US" altLang="ko-KR" dirty="0" smtClean="0">
                <a:solidFill>
                  <a:srgbClr val="0000CC"/>
                </a:solidFill>
              </a:rPr>
              <a:t>25</a:t>
            </a:r>
            <a:r>
              <a:rPr lang="ko-KR" altLang="en-US" dirty="0" smtClean="0">
                <a:solidFill>
                  <a:srgbClr val="0000CC"/>
                </a:solidFill>
              </a:rPr>
              <a:t>년부터 주요 신조 선종으로 공급 범위가 확대되면서 점유율을 확대해 나가고 있음</a:t>
            </a:r>
          </a:p>
          <a:p>
            <a:r>
              <a:rPr lang="ko-KR" altLang="en-US" dirty="0" smtClean="0">
                <a:solidFill>
                  <a:srgbClr val="0000CC"/>
                </a:solidFill>
              </a:rPr>
              <a:t/>
            </a:r>
            <a:br>
              <a:rPr lang="ko-KR" altLang="en-US" dirty="0" smtClean="0">
                <a:solidFill>
                  <a:srgbClr val="0000CC"/>
                </a:solidFill>
              </a:rPr>
            </a:br>
            <a:r>
              <a:rPr lang="ko-KR" altLang="en-US" dirty="0" smtClean="0">
                <a:solidFill>
                  <a:srgbClr val="0000CC"/>
                </a:solidFill>
              </a:rPr>
              <a:t>구체적인 고객사별 비중 목표를 수치로 제시하기는 어려우나</a:t>
            </a:r>
            <a:r>
              <a:rPr lang="en-US" altLang="ko-KR" dirty="0" smtClean="0">
                <a:solidFill>
                  <a:srgbClr val="0000CC"/>
                </a:solidFill>
              </a:rPr>
              <a:t> </a:t>
            </a:r>
            <a:r>
              <a:rPr lang="ko-KR" altLang="en-US" dirty="0" smtClean="0">
                <a:solidFill>
                  <a:srgbClr val="0000CC"/>
                </a:solidFill>
              </a:rPr>
              <a:t>특정 </a:t>
            </a:r>
            <a:r>
              <a:rPr lang="ko-KR" altLang="en-US" dirty="0" err="1" smtClean="0">
                <a:solidFill>
                  <a:srgbClr val="0000CC"/>
                </a:solidFill>
              </a:rPr>
              <a:t>고객사</a:t>
            </a:r>
            <a:r>
              <a:rPr lang="ko-KR" altLang="en-US" dirty="0" smtClean="0">
                <a:solidFill>
                  <a:srgbClr val="0000CC"/>
                </a:solidFill>
              </a:rPr>
              <a:t> 의존도를 낮추고 국내외 조선사 및 육상 전력 시장으로 매출 기반을 확대하는 방향으로 사업을 추진 중임</a:t>
            </a:r>
          </a:p>
          <a:p>
            <a:r>
              <a:rPr lang="ko-KR" altLang="en-US" dirty="0" smtClean="0">
                <a:solidFill>
                  <a:srgbClr val="0000CC"/>
                </a:solidFill>
              </a:rPr>
              <a:t>​</a:t>
            </a:r>
          </a:p>
          <a:p>
            <a:r>
              <a:rPr lang="ko-KR" altLang="en-US" dirty="0" smtClean="0">
                <a:solidFill>
                  <a:srgbClr val="0000CC"/>
                </a:solidFill>
              </a:rPr>
              <a:t>특히 국내에서는 </a:t>
            </a:r>
            <a:r>
              <a:rPr lang="en-US" altLang="ko-KR" dirty="0" smtClean="0">
                <a:solidFill>
                  <a:srgbClr val="0000CC"/>
                </a:solidFill>
              </a:rPr>
              <a:t>HD</a:t>
            </a:r>
            <a:r>
              <a:rPr lang="ko-KR" altLang="en-US" dirty="0" smtClean="0">
                <a:solidFill>
                  <a:srgbClr val="0000CC"/>
                </a:solidFill>
              </a:rPr>
              <a:t>현대중공업을 제외한 주요 조선사들과 거래 관계를 유지하고 있으며</a:t>
            </a:r>
            <a:r>
              <a:rPr lang="en-US" altLang="ko-KR" dirty="0" smtClean="0">
                <a:solidFill>
                  <a:srgbClr val="0000CC"/>
                </a:solidFill>
              </a:rPr>
              <a:t>, </a:t>
            </a:r>
            <a:r>
              <a:rPr lang="ko-KR" altLang="en-US" dirty="0" smtClean="0">
                <a:solidFill>
                  <a:srgbClr val="0000CC"/>
                </a:solidFill>
              </a:rPr>
              <a:t>삼성중공업</a:t>
            </a:r>
            <a:r>
              <a:rPr lang="en-US" altLang="ko-KR" dirty="0" smtClean="0">
                <a:solidFill>
                  <a:srgbClr val="0000CC"/>
                </a:solidFill>
              </a:rPr>
              <a:t>, </a:t>
            </a:r>
            <a:r>
              <a:rPr lang="ko-KR" altLang="en-US" dirty="0" err="1" smtClean="0">
                <a:solidFill>
                  <a:srgbClr val="0000CC"/>
                </a:solidFill>
              </a:rPr>
              <a:t>한화오션</a:t>
            </a:r>
            <a:r>
              <a:rPr lang="en-US" altLang="ko-KR" dirty="0" smtClean="0">
                <a:solidFill>
                  <a:srgbClr val="0000CC"/>
                </a:solidFill>
              </a:rPr>
              <a:t>, HJ</a:t>
            </a:r>
            <a:r>
              <a:rPr lang="ko-KR" altLang="en-US" dirty="0" smtClean="0">
                <a:solidFill>
                  <a:srgbClr val="0000CC"/>
                </a:solidFill>
              </a:rPr>
              <a:t>중공업 등을 중심으로 공급 실적을 확대 중</a:t>
            </a:r>
          </a:p>
          <a:p>
            <a:r>
              <a:rPr lang="ko-KR" altLang="en-US" dirty="0" smtClean="0">
                <a:solidFill>
                  <a:srgbClr val="0000CC"/>
                </a:solidFill>
              </a:rPr>
              <a:t>또한 최근에는 중국 </a:t>
            </a:r>
            <a:r>
              <a:rPr lang="ko-KR" altLang="en-US" dirty="0" err="1" smtClean="0">
                <a:solidFill>
                  <a:srgbClr val="0000CC"/>
                </a:solidFill>
              </a:rPr>
              <a:t>난통</a:t>
            </a:r>
            <a:r>
              <a:rPr lang="ko-KR" altLang="en-US" dirty="0" smtClean="0">
                <a:solidFill>
                  <a:srgbClr val="0000CC"/>
                </a:solidFill>
              </a:rPr>
              <a:t> 생산법인 설립과 싱가포르 </a:t>
            </a:r>
            <a:r>
              <a:rPr lang="en-US" altLang="ko-KR" dirty="0" smtClean="0">
                <a:solidFill>
                  <a:srgbClr val="0000CC"/>
                </a:solidFill>
              </a:rPr>
              <a:t>MRO </a:t>
            </a:r>
            <a:r>
              <a:rPr lang="ko-KR" altLang="en-US" dirty="0" smtClean="0">
                <a:solidFill>
                  <a:srgbClr val="0000CC"/>
                </a:solidFill>
              </a:rPr>
              <a:t>거점 구축을 통해 해외 시장 대응 역량을 강화하고 있으며</a:t>
            </a:r>
            <a:r>
              <a:rPr lang="en-US" altLang="ko-KR" dirty="0" smtClean="0">
                <a:solidFill>
                  <a:srgbClr val="0000CC"/>
                </a:solidFill>
              </a:rPr>
              <a:t>, </a:t>
            </a:r>
            <a:r>
              <a:rPr lang="ko-KR" altLang="en-US" dirty="0" smtClean="0">
                <a:solidFill>
                  <a:srgbClr val="0000CC"/>
                </a:solidFill>
              </a:rPr>
              <a:t>중국 조선시장 공략과 글로벌 유지보수</a:t>
            </a:r>
            <a:r>
              <a:rPr lang="en-US" altLang="ko-KR" dirty="0" smtClean="0">
                <a:solidFill>
                  <a:srgbClr val="0000CC"/>
                </a:solidFill>
              </a:rPr>
              <a:t>(MRO) </a:t>
            </a:r>
            <a:r>
              <a:rPr lang="ko-KR" altLang="en-US" dirty="0" smtClean="0">
                <a:solidFill>
                  <a:srgbClr val="0000CC"/>
                </a:solidFill>
              </a:rPr>
              <a:t>사업 확대를 통해 해외 매출 비중을 점진적으로 확대해 나갈 계획임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>
          <a:xfrm>
            <a:off x="1524000" y="0"/>
            <a:ext cx="9144000" cy="9087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490066"/>
          </a:xfrm>
        </p:spPr>
        <p:txBody>
          <a:bodyPr>
            <a:noAutofit/>
          </a:bodyPr>
          <a:lstStyle/>
          <a:p>
            <a:pPr algn="l"/>
            <a:r>
              <a:rPr lang="en-US" altLang="ko-KR" sz="3600" dirty="0">
                <a:solidFill>
                  <a:schemeClr val="bg1"/>
                </a:solidFill>
              </a:rPr>
              <a:t>5. </a:t>
            </a:r>
            <a:r>
              <a:rPr lang="ko-KR" altLang="en-US" sz="3600" dirty="0">
                <a:solidFill>
                  <a:schemeClr val="bg1"/>
                </a:solidFill>
              </a:rPr>
              <a:t>질의</a:t>
            </a:r>
          </a:p>
        </p:txBody>
      </p:sp>
      <p:sp>
        <p:nvSpPr>
          <p:cNvPr id="8" name="제목 1"/>
          <p:cNvSpPr txBox="1">
            <a:spLocks/>
          </p:cNvSpPr>
          <p:nvPr/>
        </p:nvSpPr>
        <p:spPr>
          <a:xfrm>
            <a:off x="629072" y="908720"/>
            <a:ext cx="10939536" cy="59492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514350" indent="-514350">
              <a:spcBef>
                <a:spcPct val="0"/>
              </a:spcBef>
              <a:buAutoNum type="arabicPeriod" startAt="4"/>
              <a:defRPr/>
            </a:pPr>
            <a:r>
              <a:rPr lang="ko-KR" altLang="en-US" dirty="0" smtClean="0"/>
              <a:t>선박 전력 배전과 제어 시스템을 </a:t>
            </a:r>
            <a:r>
              <a:rPr lang="ko-KR" altLang="en-US" dirty="0" err="1" smtClean="0"/>
              <a:t>패키징하여</a:t>
            </a:r>
            <a:r>
              <a:rPr lang="ko-KR" altLang="en-US" dirty="0" smtClean="0"/>
              <a:t> 공급하는 것이 현재 강점으로 파악되는데 추후 신규로 공급계약을 목표하고 있는 조선사가 있는지</a:t>
            </a:r>
            <a:r>
              <a:rPr lang="en-US" altLang="ko-KR" dirty="0" smtClean="0"/>
              <a:t>?</a:t>
            </a:r>
          </a:p>
          <a:p>
            <a:pPr marL="514350" indent="-514350">
              <a:spcBef>
                <a:spcPct val="0"/>
              </a:spcBef>
              <a:buAutoNum type="arabicPeriod" startAt="4"/>
              <a:defRPr/>
            </a:pPr>
            <a:endParaRPr lang="en-US" altLang="ko-KR" dirty="0" smtClean="0">
              <a:latin typeface="+mj-lt"/>
              <a:ea typeface="+mj-ea"/>
              <a:cs typeface="+mj-cs"/>
            </a:endParaRPr>
          </a:p>
          <a:p>
            <a:r>
              <a:rPr lang="ko-KR" altLang="en-US" dirty="0" smtClean="0">
                <a:solidFill>
                  <a:srgbClr val="0000CC"/>
                </a:solidFill>
              </a:rPr>
              <a:t>당사의 강점은 선박 전력 배전</a:t>
            </a:r>
            <a:r>
              <a:rPr lang="en-US" altLang="ko-KR" dirty="0" smtClean="0">
                <a:solidFill>
                  <a:srgbClr val="0000CC"/>
                </a:solidFill>
              </a:rPr>
              <a:t>, </a:t>
            </a:r>
            <a:r>
              <a:rPr lang="ko-KR" altLang="en-US" dirty="0" smtClean="0">
                <a:solidFill>
                  <a:srgbClr val="0000CC"/>
                </a:solidFill>
              </a:rPr>
              <a:t>운항제어</a:t>
            </a:r>
            <a:r>
              <a:rPr lang="en-US" altLang="ko-KR" dirty="0" smtClean="0">
                <a:solidFill>
                  <a:srgbClr val="0000CC"/>
                </a:solidFill>
              </a:rPr>
              <a:t>, </a:t>
            </a:r>
            <a:r>
              <a:rPr lang="ko-KR" altLang="en-US" dirty="0" smtClean="0">
                <a:solidFill>
                  <a:srgbClr val="0000CC"/>
                </a:solidFill>
              </a:rPr>
              <a:t>친환경 설비를 패키지 형태로 공급할 수 있다는 점임</a:t>
            </a:r>
            <a:r>
              <a:rPr lang="en-US" altLang="ko-KR" dirty="0" smtClean="0">
                <a:solidFill>
                  <a:srgbClr val="0000CC"/>
                </a:solidFill>
              </a:rPr>
              <a:t>. </a:t>
            </a:r>
            <a:r>
              <a:rPr lang="ko-KR" altLang="en-US" dirty="0" smtClean="0">
                <a:solidFill>
                  <a:srgbClr val="0000CC"/>
                </a:solidFill>
              </a:rPr>
              <a:t>이를 기반으로 국내 주요 조선사뿐 아니라 중국</a:t>
            </a:r>
            <a:r>
              <a:rPr lang="en-US" altLang="ko-KR" dirty="0" smtClean="0">
                <a:solidFill>
                  <a:srgbClr val="0000CC"/>
                </a:solidFill>
              </a:rPr>
              <a:t>, </a:t>
            </a:r>
            <a:r>
              <a:rPr lang="ko-KR" altLang="en-US" dirty="0" smtClean="0">
                <a:solidFill>
                  <a:srgbClr val="0000CC"/>
                </a:solidFill>
              </a:rPr>
              <a:t>동남아</a:t>
            </a:r>
            <a:r>
              <a:rPr lang="en-US" altLang="ko-KR" dirty="0" smtClean="0">
                <a:solidFill>
                  <a:srgbClr val="0000CC"/>
                </a:solidFill>
              </a:rPr>
              <a:t>, </a:t>
            </a:r>
            <a:r>
              <a:rPr lang="ko-KR" altLang="en-US" dirty="0" smtClean="0">
                <a:solidFill>
                  <a:srgbClr val="0000CC"/>
                </a:solidFill>
              </a:rPr>
              <a:t>미국 등 해외 조선소와의 협력 기회를 검토 중</a:t>
            </a:r>
            <a:r>
              <a:rPr lang="en-US" altLang="ko-KR" dirty="0" smtClean="0">
                <a:solidFill>
                  <a:srgbClr val="0000CC"/>
                </a:solidFill>
              </a:rPr>
              <a:t>.</a:t>
            </a:r>
            <a:endParaRPr lang="ko-KR" altLang="en-US" dirty="0" smtClean="0">
              <a:solidFill>
                <a:srgbClr val="0000CC"/>
              </a:solidFill>
            </a:endParaRPr>
          </a:p>
          <a:p>
            <a:r>
              <a:rPr lang="ko-KR" altLang="en-US" dirty="0" smtClean="0">
                <a:solidFill>
                  <a:srgbClr val="0000CC"/>
                </a:solidFill>
              </a:rPr>
              <a:t>다만 현재 협의 중인 조선사명이나 </a:t>
            </a:r>
            <a:r>
              <a:rPr lang="ko-KR" altLang="en-US" dirty="0" err="1" smtClean="0">
                <a:solidFill>
                  <a:srgbClr val="0000CC"/>
                </a:solidFill>
              </a:rPr>
              <a:t>프로젝트명은</a:t>
            </a:r>
            <a:r>
              <a:rPr lang="ko-KR" altLang="en-US" dirty="0" smtClean="0">
                <a:solidFill>
                  <a:srgbClr val="0000CC"/>
                </a:solidFill>
              </a:rPr>
              <a:t> 계약 체결 전까지 공개하기 어려움</a:t>
            </a:r>
            <a:endParaRPr lang="en-US" altLang="ko-KR" dirty="0" smtClean="0">
              <a:solidFill>
                <a:srgbClr val="0000CC"/>
              </a:solidFill>
            </a:endParaRPr>
          </a:p>
          <a:p>
            <a:endParaRPr lang="en-US" altLang="ko-KR" dirty="0" smtClean="0">
              <a:solidFill>
                <a:srgbClr val="0000CC"/>
              </a:solidFill>
            </a:endParaRPr>
          </a:p>
          <a:p>
            <a:endParaRPr lang="ko-KR" altLang="en-US" dirty="0" smtClean="0">
              <a:solidFill>
                <a:srgbClr val="0000CC"/>
              </a:solidFill>
            </a:endParaRPr>
          </a:p>
          <a:p>
            <a:pPr marL="514350" indent="-514350">
              <a:spcBef>
                <a:spcPct val="0"/>
              </a:spcBef>
              <a:buAutoNum type="arabicPeriod" startAt="5"/>
              <a:defRPr/>
            </a:pPr>
            <a:r>
              <a:rPr lang="ko-KR" altLang="en-US" dirty="0" smtClean="0"/>
              <a:t>삼성중공업에서 최근 수주공시가 계속 나오고 있는데 삼성중공업의 </a:t>
            </a:r>
            <a:r>
              <a:rPr lang="ko-KR" altLang="en-US" dirty="0" err="1" smtClean="0"/>
              <a:t>계약건은</a:t>
            </a:r>
            <a:r>
              <a:rPr lang="ko-KR" altLang="en-US" dirty="0" smtClean="0"/>
              <a:t> </a:t>
            </a:r>
            <a:r>
              <a:rPr lang="en-US" altLang="ko-KR" dirty="0" smtClean="0"/>
              <a:t>100% </a:t>
            </a:r>
            <a:r>
              <a:rPr lang="ko-KR" altLang="en-US" dirty="0" smtClean="0"/>
              <a:t>당사에서 전력시스템을 공급하는지</a:t>
            </a:r>
            <a:r>
              <a:rPr lang="en-US" altLang="ko-KR" dirty="0" smtClean="0"/>
              <a:t>? </a:t>
            </a:r>
            <a:r>
              <a:rPr lang="ko-KR" altLang="en-US" dirty="0" smtClean="0"/>
              <a:t>당사와 </a:t>
            </a:r>
            <a:r>
              <a:rPr lang="ko-KR" altLang="en-US" dirty="0" err="1" smtClean="0"/>
              <a:t>한화오션과의</a:t>
            </a:r>
            <a:r>
              <a:rPr lang="ko-KR" altLang="en-US" dirty="0" smtClean="0"/>
              <a:t> 계약도 늘고 있는데 향후에도 지속적으로 수주가 가능한지</a:t>
            </a:r>
            <a:r>
              <a:rPr lang="en-US" altLang="ko-KR" dirty="0" smtClean="0"/>
              <a:t>?</a:t>
            </a:r>
          </a:p>
          <a:p>
            <a:pPr marL="514350" indent="-514350">
              <a:spcBef>
                <a:spcPct val="0"/>
              </a:spcBef>
              <a:buAutoNum type="arabicPeriod" startAt="5"/>
              <a:defRPr/>
            </a:pPr>
            <a:endParaRPr lang="en-US" altLang="ko-KR" dirty="0" smtClean="0"/>
          </a:p>
          <a:p>
            <a:r>
              <a:rPr lang="ko-KR" altLang="en-US" dirty="0" smtClean="0">
                <a:solidFill>
                  <a:srgbClr val="0000CC"/>
                </a:solidFill>
              </a:rPr>
              <a:t>삼성중공업이 수주하는 모든 선박의 전력시스템을 당사가 </a:t>
            </a:r>
            <a:r>
              <a:rPr lang="en-US" altLang="ko-KR" dirty="0" smtClean="0">
                <a:solidFill>
                  <a:srgbClr val="0000CC"/>
                </a:solidFill>
              </a:rPr>
              <a:t>100% </a:t>
            </a:r>
            <a:r>
              <a:rPr lang="ko-KR" altLang="en-US" dirty="0" smtClean="0">
                <a:solidFill>
                  <a:srgbClr val="0000CC"/>
                </a:solidFill>
              </a:rPr>
              <a:t>공급하는 구조는 아님</a:t>
            </a:r>
            <a:r>
              <a:rPr lang="en-US" altLang="ko-KR" dirty="0" smtClean="0">
                <a:solidFill>
                  <a:srgbClr val="0000CC"/>
                </a:solidFill>
              </a:rPr>
              <a:t>. </a:t>
            </a:r>
            <a:r>
              <a:rPr lang="ko-KR" altLang="en-US" dirty="0" smtClean="0">
                <a:solidFill>
                  <a:srgbClr val="0000CC"/>
                </a:solidFill>
              </a:rPr>
              <a:t>선종</a:t>
            </a:r>
            <a:r>
              <a:rPr lang="en-US" altLang="ko-KR" dirty="0" smtClean="0">
                <a:solidFill>
                  <a:srgbClr val="0000CC"/>
                </a:solidFill>
              </a:rPr>
              <a:t>, </a:t>
            </a:r>
            <a:r>
              <a:rPr lang="ko-KR" altLang="en-US" dirty="0" smtClean="0">
                <a:solidFill>
                  <a:srgbClr val="0000CC"/>
                </a:solidFill>
              </a:rPr>
              <a:t>선주 요구사항</a:t>
            </a:r>
            <a:r>
              <a:rPr lang="en-US" altLang="ko-KR" dirty="0" smtClean="0">
                <a:solidFill>
                  <a:srgbClr val="0000CC"/>
                </a:solidFill>
              </a:rPr>
              <a:t>, </a:t>
            </a:r>
            <a:r>
              <a:rPr lang="ko-KR" altLang="en-US" dirty="0" smtClean="0">
                <a:solidFill>
                  <a:srgbClr val="0000CC"/>
                </a:solidFill>
              </a:rPr>
              <a:t>프로젝트 사양</a:t>
            </a:r>
            <a:r>
              <a:rPr lang="en-US" altLang="ko-KR" dirty="0" smtClean="0">
                <a:solidFill>
                  <a:srgbClr val="0000CC"/>
                </a:solidFill>
              </a:rPr>
              <a:t>, </a:t>
            </a:r>
            <a:r>
              <a:rPr lang="ko-KR" altLang="en-US" dirty="0" smtClean="0">
                <a:solidFill>
                  <a:srgbClr val="0000CC"/>
                </a:solidFill>
              </a:rPr>
              <a:t>조선소의 구매 전략에 따라 공급 범위는 달라질 수 있음</a:t>
            </a:r>
            <a:r>
              <a:rPr lang="en-US" altLang="ko-KR" dirty="0" smtClean="0">
                <a:solidFill>
                  <a:srgbClr val="0000CC"/>
                </a:solidFill>
              </a:rPr>
              <a:t>.</a:t>
            </a:r>
            <a:endParaRPr lang="ko-KR" altLang="en-US" dirty="0" smtClean="0">
              <a:solidFill>
                <a:srgbClr val="0000CC"/>
              </a:solidFill>
            </a:endParaRPr>
          </a:p>
          <a:p>
            <a:r>
              <a:rPr lang="ko-KR" altLang="en-US" dirty="0" smtClean="0">
                <a:solidFill>
                  <a:srgbClr val="0000CC"/>
                </a:solidFill>
              </a:rPr>
              <a:t>다만 당사는 삼성중공업과 오랜 기간 협력관계를 유지해왔으며</a:t>
            </a:r>
            <a:r>
              <a:rPr lang="en-US" altLang="ko-KR" dirty="0" smtClean="0">
                <a:solidFill>
                  <a:srgbClr val="0000CC"/>
                </a:solidFill>
              </a:rPr>
              <a:t>, LNG</a:t>
            </a:r>
            <a:r>
              <a:rPr lang="ko-KR" altLang="en-US" dirty="0" smtClean="0">
                <a:solidFill>
                  <a:srgbClr val="0000CC"/>
                </a:solidFill>
              </a:rPr>
              <a:t>운반선</a:t>
            </a:r>
            <a:r>
              <a:rPr lang="en-US" altLang="ko-KR" dirty="0" smtClean="0">
                <a:solidFill>
                  <a:srgbClr val="0000CC"/>
                </a:solidFill>
              </a:rPr>
              <a:t>, </a:t>
            </a:r>
            <a:r>
              <a:rPr lang="ko-KR" altLang="en-US" dirty="0" smtClean="0">
                <a:solidFill>
                  <a:srgbClr val="0000CC"/>
                </a:solidFill>
              </a:rPr>
              <a:t>컨테이너선 등 고부가 선종에서 공급 경험을 축적해왔으며</a:t>
            </a:r>
            <a:r>
              <a:rPr lang="en-US" altLang="ko-KR" dirty="0" smtClean="0">
                <a:solidFill>
                  <a:srgbClr val="0000CC"/>
                </a:solidFill>
              </a:rPr>
              <a:t>,</a:t>
            </a:r>
            <a:r>
              <a:rPr lang="ko-KR" altLang="en-US" dirty="0" smtClean="0">
                <a:solidFill>
                  <a:srgbClr val="0000CC"/>
                </a:solidFill>
              </a:rPr>
              <a:t> </a:t>
            </a:r>
            <a:r>
              <a:rPr lang="ko-KR" altLang="en-US" dirty="0" err="1" smtClean="0">
                <a:solidFill>
                  <a:srgbClr val="0000CC"/>
                </a:solidFill>
              </a:rPr>
              <a:t>한화오션과도</a:t>
            </a:r>
            <a:r>
              <a:rPr lang="ko-KR" altLang="en-US" dirty="0" smtClean="0">
                <a:solidFill>
                  <a:srgbClr val="0000CC"/>
                </a:solidFill>
              </a:rPr>
              <a:t> 최근 신조 선종을 중심으로 공급 실적이 확대되고 있어</a:t>
            </a:r>
            <a:r>
              <a:rPr lang="en-US" altLang="ko-KR" dirty="0" smtClean="0">
                <a:solidFill>
                  <a:srgbClr val="0000CC"/>
                </a:solidFill>
              </a:rPr>
              <a:t>, </a:t>
            </a:r>
            <a:r>
              <a:rPr lang="ko-KR" altLang="en-US" dirty="0" smtClean="0">
                <a:solidFill>
                  <a:srgbClr val="0000CC"/>
                </a:solidFill>
              </a:rPr>
              <a:t>향후에도 </a:t>
            </a:r>
            <a:r>
              <a:rPr lang="ko-KR" altLang="en-US" dirty="0" err="1" smtClean="0">
                <a:solidFill>
                  <a:srgbClr val="0000CC"/>
                </a:solidFill>
              </a:rPr>
              <a:t>리피트</a:t>
            </a:r>
            <a:r>
              <a:rPr lang="ko-KR" altLang="en-US" dirty="0" smtClean="0">
                <a:solidFill>
                  <a:srgbClr val="0000CC"/>
                </a:solidFill>
              </a:rPr>
              <a:t> 호선의 지속적인 수주도 기대하고 있으며 추가적인 수주 기회를 확보하기 위해 노력 중임</a:t>
            </a:r>
          </a:p>
          <a:p>
            <a:r>
              <a:rPr lang="ko-KR" altLang="en-US" dirty="0" smtClean="0">
                <a:solidFill>
                  <a:srgbClr val="0000CC"/>
                </a:solidFill>
              </a:rPr>
              <a:t/>
            </a:r>
            <a:br>
              <a:rPr lang="ko-KR" altLang="en-US" dirty="0" smtClean="0">
                <a:solidFill>
                  <a:srgbClr val="0000CC"/>
                </a:solidFill>
              </a:rPr>
            </a:br>
            <a:endParaRPr lang="en-US" altLang="ko-KR" dirty="0" smtClean="0">
              <a:solidFill>
                <a:srgbClr val="0000CC"/>
              </a:solidFill>
            </a:endParaRPr>
          </a:p>
          <a:p>
            <a:pPr marL="514350" indent="-514350">
              <a:spcBef>
                <a:spcPct val="0"/>
              </a:spcBef>
              <a:defRPr/>
            </a:pPr>
            <a:endParaRPr lang="en-US" altLang="ko-KR" dirty="0"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>
          <a:xfrm>
            <a:off x="1524000" y="0"/>
            <a:ext cx="9144000" cy="9087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490066"/>
          </a:xfrm>
        </p:spPr>
        <p:txBody>
          <a:bodyPr>
            <a:noAutofit/>
          </a:bodyPr>
          <a:lstStyle/>
          <a:p>
            <a:pPr algn="l"/>
            <a:r>
              <a:rPr lang="en-US" altLang="ko-KR" sz="3600" dirty="0">
                <a:solidFill>
                  <a:schemeClr val="bg1"/>
                </a:solidFill>
              </a:rPr>
              <a:t>5. </a:t>
            </a:r>
            <a:r>
              <a:rPr lang="ko-KR" altLang="en-US" sz="3600" dirty="0">
                <a:solidFill>
                  <a:schemeClr val="bg1"/>
                </a:solidFill>
              </a:rPr>
              <a:t>질의</a:t>
            </a:r>
          </a:p>
        </p:txBody>
      </p:sp>
      <p:sp>
        <p:nvSpPr>
          <p:cNvPr id="8" name="제목 1"/>
          <p:cNvSpPr txBox="1">
            <a:spLocks/>
          </p:cNvSpPr>
          <p:nvPr/>
        </p:nvSpPr>
        <p:spPr>
          <a:xfrm>
            <a:off x="629072" y="908720"/>
            <a:ext cx="10939536" cy="59492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514350" indent="-514350">
              <a:spcBef>
                <a:spcPct val="0"/>
              </a:spcBef>
              <a:buAutoNum type="arabicPeriod" startAt="6"/>
              <a:defRPr/>
            </a:pPr>
            <a:r>
              <a:rPr lang="ko-KR" altLang="en-US" dirty="0" err="1" smtClean="0"/>
              <a:t>삼성벤더사가</a:t>
            </a:r>
            <a:r>
              <a:rPr lang="ko-KR" altLang="en-US" dirty="0" smtClean="0"/>
              <a:t> 되어 삼성 반도체 공장</a:t>
            </a:r>
            <a:r>
              <a:rPr lang="en-US" altLang="ko-KR" dirty="0" smtClean="0"/>
              <a:t>, </a:t>
            </a:r>
            <a:r>
              <a:rPr lang="ko-KR" altLang="en-US" dirty="0" smtClean="0"/>
              <a:t>육상용 </a:t>
            </a:r>
            <a:r>
              <a:rPr lang="ko-KR" altLang="en-US" dirty="0" err="1" smtClean="0"/>
              <a:t>배전반</a:t>
            </a:r>
            <a:r>
              <a:rPr lang="en-US" altLang="ko-KR" dirty="0" smtClean="0"/>
              <a:t>, MLCC </a:t>
            </a:r>
            <a:r>
              <a:rPr lang="ko-KR" altLang="en-US" dirty="0" smtClean="0"/>
              <a:t>배전반의 물량을 수주하고 있는데 향후 삼성관련 물량은 전부 </a:t>
            </a:r>
            <a:r>
              <a:rPr lang="ko-KR" altLang="en-US" dirty="0" err="1" smtClean="0"/>
              <a:t>에스엔시스에서</a:t>
            </a:r>
            <a:r>
              <a:rPr lang="ko-KR" altLang="en-US" dirty="0" smtClean="0"/>
              <a:t> 진행할 수 있는지</a:t>
            </a:r>
            <a:r>
              <a:rPr lang="en-US" altLang="ko-KR" dirty="0" smtClean="0"/>
              <a:t>?(</a:t>
            </a:r>
            <a:r>
              <a:rPr lang="ko-KR" altLang="en-US" dirty="0" smtClean="0"/>
              <a:t>기술보안을 위해 </a:t>
            </a:r>
            <a:r>
              <a:rPr lang="ko-KR" altLang="en-US" dirty="0" err="1" smtClean="0"/>
              <a:t>벤더사에게만</a:t>
            </a:r>
            <a:r>
              <a:rPr lang="ko-KR" altLang="en-US" dirty="0" smtClean="0"/>
              <a:t> 물량을 </a:t>
            </a:r>
            <a:r>
              <a:rPr lang="ko-KR" altLang="en-US" dirty="0" err="1" smtClean="0"/>
              <a:t>넘기는건지</a:t>
            </a:r>
            <a:r>
              <a:rPr lang="en-US" altLang="ko-KR" dirty="0" smtClean="0"/>
              <a:t>?) </a:t>
            </a:r>
            <a:r>
              <a:rPr lang="ko-KR" altLang="en-US" dirty="0" smtClean="0"/>
              <a:t>삼성 외 물량을 수주하기 위한 계획이 있는지</a:t>
            </a:r>
            <a:r>
              <a:rPr lang="en-US" altLang="ko-KR" dirty="0" smtClean="0"/>
              <a:t>?</a:t>
            </a:r>
          </a:p>
          <a:p>
            <a:pPr marL="514350" indent="-514350">
              <a:spcBef>
                <a:spcPct val="0"/>
              </a:spcBef>
              <a:buAutoNum type="arabicPeriod" startAt="6"/>
              <a:defRPr/>
            </a:pPr>
            <a:endParaRPr lang="en-US" altLang="ko-KR" dirty="0" smtClean="0"/>
          </a:p>
          <a:p>
            <a:r>
              <a:rPr lang="ko-KR" altLang="en-US" dirty="0" smtClean="0">
                <a:solidFill>
                  <a:srgbClr val="0000CC"/>
                </a:solidFill>
              </a:rPr>
              <a:t>삼성전자 평택 반도체 공장 및 삼성전기 필리핀 </a:t>
            </a:r>
            <a:r>
              <a:rPr lang="en-US" altLang="ko-KR" dirty="0" smtClean="0">
                <a:solidFill>
                  <a:srgbClr val="0000CC"/>
                </a:solidFill>
              </a:rPr>
              <a:t>MLCC </a:t>
            </a:r>
            <a:r>
              <a:rPr lang="ko-KR" altLang="en-US" dirty="0" smtClean="0">
                <a:solidFill>
                  <a:srgbClr val="0000CC"/>
                </a:solidFill>
              </a:rPr>
              <a:t>공장 관련 수주를 통해 당사는 육상용 </a:t>
            </a:r>
            <a:r>
              <a:rPr lang="ko-KR" altLang="en-US" dirty="0" err="1" smtClean="0">
                <a:solidFill>
                  <a:srgbClr val="0000CC"/>
                </a:solidFill>
              </a:rPr>
              <a:t>배전반</a:t>
            </a:r>
            <a:r>
              <a:rPr lang="ko-KR" altLang="en-US" dirty="0" smtClean="0">
                <a:solidFill>
                  <a:srgbClr val="0000CC"/>
                </a:solidFill>
              </a:rPr>
              <a:t> 시장에서도 </a:t>
            </a:r>
            <a:r>
              <a:rPr lang="ko-KR" altLang="en-US" dirty="0" err="1" smtClean="0">
                <a:solidFill>
                  <a:srgbClr val="0000CC"/>
                </a:solidFill>
              </a:rPr>
              <a:t>레퍼런스를</a:t>
            </a:r>
            <a:r>
              <a:rPr lang="ko-KR" altLang="en-US" dirty="0" smtClean="0">
                <a:solidFill>
                  <a:srgbClr val="0000CC"/>
                </a:solidFill>
              </a:rPr>
              <a:t> 확보 중</a:t>
            </a:r>
            <a:r>
              <a:rPr lang="en-US" altLang="ko-KR" dirty="0" smtClean="0">
                <a:solidFill>
                  <a:srgbClr val="0000CC"/>
                </a:solidFill>
              </a:rPr>
              <a:t>, </a:t>
            </a:r>
            <a:r>
              <a:rPr lang="ko-KR" altLang="en-US" dirty="0" smtClean="0">
                <a:solidFill>
                  <a:srgbClr val="0000CC"/>
                </a:solidFill>
              </a:rPr>
              <a:t>다만 삼성 관련 물량 전체를 당사가 독점적으로 진행하는 구조는 아님</a:t>
            </a:r>
          </a:p>
          <a:p>
            <a:r>
              <a:rPr lang="ko-KR" altLang="en-US" dirty="0" smtClean="0">
                <a:solidFill>
                  <a:srgbClr val="0000CC"/>
                </a:solidFill>
              </a:rPr>
              <a:t>육상 전력 시장은 </a:t>
            </a:r>
            <a:r>
              <a:rPr lang="ko-KR" altLang="en-US" dirty="0" err="1" smtClean="0">
                <a:solidFill>
                  <a:srgbClr val="0000CC"/>
                </a:solidFill>
              </a:rPr>
              <a:t>프로젝트별</a:t>
            </a:r>
            <a:r>
              <a:rPr lang="ko-KR" altLang="en-US" dirty="0" smtClean="0">
                <a:solidFill>
                  <a:srgbClr val="0000CC"/>
                </a:solidFill>
              </a:rPr>
              <a:t> 사양</a:t>
            </a:r>
            <a:r>
              <a:rPr lang="en-US" altLang="ko-KR" dirty="0" smtClean="0">
                <a:solidFill>
                  <a:srgbClr val="0000CC"/>
                </a:solidFill>
              </a:rPr>
              <a:t>, </a:t>
            </a:r>
            <a:r>
              <a:rPr lang="ko-KR" altLang="en-US" dirty="0" smtClean="0">
                <a:solidFill>
                  <a:srgbClr val="0000CC"/>
                </a:solidFill>
              </a:rPr>
              <a:t>납기</a:t>
            </a:r>
            <a:r>
              <a:rPr lang="en-US" altLang="ko-KR" dirty="0" smtClean="0">
                <a:solidFill>
                  <a:srgbClr val="0000CC"/>
                </a:solidFill>
              </a:rPr>
              <a:t>, </a:t>
            </a:r>
            <a:r>
              <a:rPr lang="ko-KR" altLang="en-US" dirty="0" smtClean="0">
                <a:solidFill>
                  <a:srgbClr val="0000CC"/>
                </a:solidFill>
              </a:rPr>
              <a:t>인증</a:t>
            </a:r>
            <a:r>
              <a:rPr lang="en-US" altLang="ko-KR" dirty="0" smtClean="0">
                <a:solidFill>
                  <a:srgbClr val="0000CC"/>
                </a:solidFill>
              </a:rPr>
              <a:t>, </a:t>
            </a:r>
            <a:r>
              <a:rPr lang="ko-KR" altLang="en-US" dirty="0" smtClean="0">
                <a:solidFill>
                  <a:srgbClr val="0000CC"/>
                </a:solidFill>
              </a:rPr>
              <a:t>가격 경쟁력 등에 따라 </a:t>
            </a:r>
            <a:r>
              <a:rPr lang="ko-KR" altLang="en-US" dirty="0" err="1" smtClean="0">
                <a:solidFill>
                  <a:srgbClr val="0000CC"/>
                </a:solidFill>
              </a:rPr>
              <a:t>공급사가</a:t>
            </a:r>
            <a:r>
              <a:rPr lang="ko-KR" altLang="en-US" dirty="0" smtClean="0">
                <a:solidFill>
                  <a:srgbClr val="0000CC"/>
                </a:solidFill>
              </a:rPr>
              <a:t> 결정됩니다</a:t>
            </a:r>
            <a:r>
              <a:rPr lang="en-US" altLang="ko-KR" dirty="0" smtClean="0">
                <a:solidFill>
                  <a:srgbClr val="0000CC"/>
                </a:solidFill>
              </a:rPr>
              <a:t>. </a:t>
            </a:r>
            <a:r>
              <a:rPr lang="ko-KR" altLang="en-US" dirty="0" smtClean="0">
                <a:solidFill>
                  <a:srgbClr val="0000CC"/>
                </a:solidFill>
              </a:rPr>
              <a:t>당사는 조선</a:t>
            </a:r>
            <a:r>
              <a:rPr lang="en-US" altLang="ko-KR" dirty="0" smtClean="0">
                <a:solidFill>
                  <a:srgbClr val="0000CC"/>
                </a:solidFill>
              </a:rPr>
              <a:t>·</a:t>
            </a:r>
            <a:r>
              <a:rPr lang="ko-KR" altLang="en-US" dirty="0" smtClean="0">
                <a:solidFill>
                  <a:srgbClr val="0000CC"/>
                </a:solidFill>
              </a:rPr>
              <a:t>해양 분야에서 축적한 전력시스템 설계</a:t>
            </a:r>
            <a:r>
              <a:rPr lang="en-US" altLang="ko-KR" dirty="0" smtClean="0">
                <a:solidFill>
                  <a:srgbClr val="0000CC"/>
                </a:solidFill>
              </a:rPr>
              <a:t>·</a:t>
            </a:r>
            <a:r>
              <a:rPr lang="ko-KR" altLang="en-US" dirty="0" smtClean="0">
                <a:solidFill>
                  <a:srgbClr val="0000CC"/>
                </a:solidFill>
              </a:rPr>
              <a:t>제작 역량을 기반으로 삼성 외 반도체</a:t>
            </a:r>
            <a:r>
              <a:rPr lang="en-US" altLang="ko-KR" dirty="0" smtClean="0">
                <a:solidFill>
                  <a:srgbClr val="0000CC"/>
                </a:solidFill>
              </a:rPr>
              <a:t>, </a:t>
            </a:r>
            <a:r>
              <a:rPr lang="ko-KR" altLang="en-US" dirty="0" smtClean="0">
                <a:solidFill>
                  <a:srgbClr val="0000CC"/>
                </a:solidFill>
              </a:rPr>
              <a:t>데이터센터</a:t>
            </a:r>
            <a:r>
              <a:rPr lang="en-US" altLang="ko-KR" dirty="0" smtClean="0">
                <a:solidFill>
                  <a:srgbClr val="0000CC"/>
                </a:solidFill>
              </a:rPr>
              <a:t>, </a:t>
            </a:r>
            <a:r>
              <a:rPr lang="ko-KR" altLang="en-US" dirty="0" smtClean="0">
                <a:solidFill>
                  <a:srgbClr val="0000CC"/>
                </a:solidFill>
              </a:rPr>
              <a:t>산업플랜트 등으로 시장 확대를 추진하고 있습니다</a:t>
            </a:r>
            <a:r>
              <a:rPr lang="en-US" altLang="ko-KR" dirty="0" smtClean="0">
                <a:solidFill>
                  <a:srgbClr val="0000CC"/>
                </a:solidFill>
              </a:rPr>
              <a:t>.</a:t>
            </a:r>
          </a:p>
          <a:p>
            <a:endParaRPr lang="en-US" altLang="ko-KR" dirty="0" smtClean="0">
              <a:solidFill>
                <a:srgbClr val="0000CC"/>
              </a:solidFill>
            </a:endParaRPr>
          </a:p>
          <a:p>
            <a:pPr marL="342900" indent="-342900">
              <a:buAutoNum type="arabicPeriod" startAt="7"/>
            </a:pPr>
            <a:r>
              <a:rPr lang="en-US" altLang="ko-KR" dirty="0" smtClean="0"/>
              <a:t>   ABB</a:t>
            </a:r>
            <a:r>
              <a:rPr lang="ko-KR" altLang="en-US" dirty="0" smtClean="0"/>
              <a:t>사와의 라이선스 계약은 유효기간이 </a:t>
            </a:r>
            <a:r>
              <a:rPr lang="ko-KR" altLang="en-US" dirty="0" err="1" smtClean="0"/>
              <a:t>있는건지</a:t>
            </a:r>
            <a:r>
              <a:rPr lang="en-US" altLang="ko-KR" dirty="0" smtClean="0"/>
              <a:t>? </a:t>
            </a:r>
            <a:r>
              <a:rPr lang="ko-KR" altLang="en-US" dirty="0" smtClean="0"/>
              <a:t>생산은 </a:t>
            </a:r>
            <a:r>
              <a:rPr lang="ko-KR" altLang="en-US" dirty="0" err="1" smtClean="0"/>
              <a:t>독점인건지</a:t>
            </a:r>
            <a:r>
              <a:rPr lang="en-US" altLang="ko-KR" dirty="0" smtClean="0"/>
              <a:t>? </a:t>
            </a:r>
            <a:r>
              <a:rPr lang="ko-KR" altLang="en-US" dirty="0" smtClean="0"/>
              <a:t>데이터센터 등 지상 전력과</a:t>
            </a:r>
            <a:endParaRPr lang="en-US" altLang="ko-KR" dirty="0" smtClean="0"/>
          </a:p>
          <a:p>
            <a:pPr marL="342900" indent="-342900"/>
            <a:r>
              <a:rPr lang="en-US" altLang="ko-KR" dirty="0" smtClean="0"/>
              <a:t>       </a:t>
            </a:r>
            <a:r>
              <a:rPr lang="ko-KR" altLang="en-US" dirty="0" smtClean="0"/>
              <a:t>관련하여 추진되고 있는 것이 있는지</a:t>
            </a:r>
            <a:r>
              <a:rPr lang="en-US" altLang="ko-KR" dirty="0" smtClean="0"/>
              <a:t>?</a:t>
            </a:r>
          </a:p>
          <a:p>
            <a:pPr marL="342900" indent="-342900"/>
            <a:endParaRPr lang="en-US" altLang="ko-KR" dirty="0" smtClean="0"/>
          </a:p>
          <a:p>
            <a:r>
              <a:rPr lang="en-US" altLang="ko-KR" dirty="0" smtClean="0">
                <a:solidFill>
                  <a:srgbClr val="0000CC"/>
                </a:solidFill>
              </a:rPr>
              <a:t>ABB</a:t>
            </a:r>
            <a:r>
              <a:rPr lang="ko-KR" altLang="en-US" dirty="0" smtClean="0">
                <a:solidFill>
                  <a:srgbClr val="0000CC"/>
                </a:solidFill>
              </a:rPr>
              <a:t>와의 라이선스 계약은 당사가 </a:t>
            </a:r>
            <a:r>
              <a:rPr lang="ko-KR" altLang="en-US" dirty="0" err="1" smtClean="0">
                <a:solidFill>
                  <a:srgbClr val="0000CC"/>
                </a:solidFill>
              </a:rPr>
              <a:t>고신뢰성</a:t>
            </a:r>
            <a:r>
              <a:rPr lang="ko-KR" altLang="en-US" dirty="0" smtClean="0">
                <a:solidFill>
                  <a:srgbClr val="0000CC"/>
                </a:solidFill>
              </a:rPr>
              <a:t> 글로벌 전력기기 및 </a:t>
            </a:r>
            <a:r>
              <a:rPr lang="ko-KR" altLang="en-US" dirty="0" err="1" smtClean="0">
                <a:solidFill>
                  <a:srgbClr val="0000CC"/>
                </a:solidFill>
              </a:rPr>
              <a:t>배전반</a:t>
            </a:r>
            <a:r>
              <a:rPr lang="ko-KR" altLang="en-US" dirty="0" smtClean="0">
                <a:solidFill>
                  <a:srgbClr val="0000CC"/>
                </a:solidFill>
              </a:rPr>
              <a:t> 제조 역량을 강화하는 데 중요한 기반입니다</a:t>
            </a:r>
            <a:r>
              <a:rPr lang="en-US" altLang="ko-KR" dirty="0" smtClean="0">
                <a:solidFill>
                  <a:srgbClr val="0000CC"/>
                </a:solidFill>
              </a:rPr>
              <a:t>. </a:t>
            </a:r>
            <a:r>
              <a:rPr lang="ko-KR" altLang="en-US" dirty="0" smtClean="0">
                <a:solidFill>
                  <a:srgbClr val="0000CC"/>
                </a:solidFill>
              </a:rPr>
              <a:t>다만 계약기간</a:t>
            </a:r>
            <a:r>
              <a:rPr lang="en-US" altLang="ko-KR" dirty="0" smtClean="0">
                <a:solidFill>
                  <a:srgbClr val="0000CC"/>
                </a:solidFill>
              </a:rPr>
              <a:t>, </a:t>
            </a:r>
            <a:r>
              <a:rPr lang="ko-KR" altLang="en-US" dirty="0" smtClean="0">
                <a:solidFill>
                  <a:srgbClr val="0000CC"/>
                </a:solidFill>
              </a:rPr>
              <a:t>독점 여부</a:t>
            </a:r>
            <a:r>
              <a:rPr lang="en-US" altLang="ko-KR" dirty="0" smtClean="0">
                <a:solidFill>
                  <a:srgbClr val="0000CC"/>
                </a:solidFill>
              </a:rPr>
              <a:t>, </a:t>
            </a:r>
            <a:r>
              <a:rPr lang="ko-KR" altLang="en-US" dirty="0" smtClean="0">
                <a:solidFill>
                  <a:srgbClr val="0000CC"/>
                </a:solidFill>
              </a:rPr>
              <a:t>세부 조건 등은 계약상 비밀유지 조항에 따라 비공개임</a:t>
            </a:r>
            <a:r>
              <a:rPr lang="en-US" altLang="ko-KR" dirty="0" smtClean="0">
                <a:solidFill>
                  <a:srgbClr val="0000CC"/>
                </a:solidFill>
              </a:rPr>
              <a:t>.</a:t>
            </a:r>
            <a:endParaRPr lang="ko-KR" altLang="en-US" dirty="0" smtClean="0">
              <a:solidFill>
                <a:srgbClr val="0000CC"/>
              </a:solidFill>
            </a:endParaRPr>
          </a:p>
          <a:p>
            <a:r>
              <a:rPr lang="ko-KR" altLang="en-US" dirty="0" smtClean="0">
                <a:solidFill>
                  <a:srgbClr val="0000CC"/>
                </a:solidFill>
              </a:rPr>
              <a:t>당사는 해당 기술 협력을 기반으로 선박뿐 아니라 데이터센터</a:t>
            </a:r>
            <a:r>
              <a:rPr lang="en-US" altLang="ko-KR" dirty="0" smtClean="0">
                <a:solidFill>
                  <a:srgbClr val="0000CC"/>
                </a:solidFill>
              </a:rPr>
              <a:t>, </a:t>
            </a:r>
            <a:r>
              <a:rPr lang="ko-KR" altLang="en-US" dirty="0" smtClean="0">
                <a:solidFill>
                  <a:srgbClr val="0000CC"/>
                </a:solidFill>
              </a:rPr>
              <a:t>해양플랜트 등 지상 전력 시장 진출 가능성을 검토하고 있습니다</a:t>
            </a:r>
            <a:r>
              <a:rPr lang="en-US" altLang="ko-KR" dirty="0" smtClean="0">
                <a:solidFill>
                  <a:srgbClr val="0000CC"/>
                </a:solidFill>
              </a:rPr>
              <a:t>. </a:t>
            </a:r>
            <a:r>
              <a:rPr lang="ko-KR" altLang="en-US" dirty="0" smtClean="0">
                <a:solidFill>
                  <a:srgbClr val="0000CC"/>
                </a:solidFill>
              </a:rPr>
              <a:t>특히 전력 안정성과 신뢰성이 중요한 분야에서 당사의 파워솔루션 경쟁력을 활용할 수 있을 것으로 보고 있습니다</a:t>
            </a:r>
            <a:r>
              <a:rPr lang="en-US" altLang="ko-KR" dirty="0" smtClean="0">
                <a:solidFill>
                  <a:srgbClr val="0000CC"/>
                </a:solidFill>
              </a:rPr>
              <a:t>.</a:t>
            </a:r>
            <a:endParaRPr lang="ko-KR" altLang="en-US" dirty="0" smtClean="0">
              <a:solidFill>
                <a:srgbClr val="0000CC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>
          <a:xfrm>
            <a:off x="1524000" y="0"/>
            <a:ext cx="9144000" cy="9087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490066"/>
          </a:xfrm>
        </p:spPr>
        <p:txBody>
          <a:bodyPr>
            <a:noAutofit/>
          </a:bodyPr>
          <a:lstStyle/>
          <a:p>
            <a:pPr algn="l"/>
            <a:r>
              <a:rPr lang="en-US" altLang="ko-KR" sz="3600" dirty="0">
                <a:solidFill>
                  <a:schemeClr val="bg1"/>
                </a:solidFill>
              </a:rPr>
              <a:t>5. </a:t>
            </a:r>
            <a:r>
              <a:rPr lang="ko-KR" altLang="en-US" sz="3600" dirty="0">
                <a:solidFill>
                  <a:schemeClr val="bg1"/>
                </a:solidFill>
              </a:rPr>
              <a:t>질의</a:t>
            </a:r>
          </a:p>
        </p:txBody>
      </p:sp>
      <p:sp>
        <p:nvSpPr>
          <p:cNvPr id="8" name="제목 1"/>
          <p:cNvSpPr txBox="1">
            <a:spLocks/>
          </p:cNvSpPr>
          <p:nvPr/>
        </p:nvSpPr>
        <p:spPr>
          <a:xfrm>
            <a:off x="629072" y="908720"/>
            <a:ext cx="10939536" cy="59492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514350" indent="-514350">
              <a:spcBef>
                <a:spcPct val="0"/>
              </a:spcBef>
              <a:buAutoNum type="arabicPeriod" startAt="8"/>
              <a:defRPr/>
            </a:pPr>
            <a:r>
              <a:rPr lang="ko-KR" altLang="en-US" dirty="0" smtClean="0"/>
              <a:t>부산</a:t>
            </a:r>
            <a:r>
              <a:rPr lang="en-US" altLang="ko-KR" dirty="0" smtClean="0"/>
              <a:t>2</a:t>
            </a:r>
            <a:r>
              <a:rPr lang="ko-KR" altLang="en-US" dirty="0" smtClean="0"/>
              <a:t>공장</a:t>
            </a:r>
            <a:r>
              <a:rPr lang="en-US" altLang="ko-KR" dirty="0" smtClean="0"/>
              <a:t>, </a:t>
            </a:r>
            <a:r>
              <a:rPr lang="ko-KR" altLang="en-US" dirty="0" smtClean="0"/>
              <a:t>거제공장</a:t>
            </a:r>
            <a:r>
              <a:rPr lang="en-US" altLang="ko-KR" dirty="0" smtClean="0"/>
              <a:t>, </a:t>
            </a:r>
            <a:r>
              <a:rPr lang="ko-KR" altLang="en-US" dirty="0" smtClean="0"/>
              <a:t>중국 </a:t>
            </a:r>
            <a:r>
              <a:rPr lang="ko-KR" altLang="en-US" dirty="0" err="1" smtClean="0"/>
              <a:t>난통공장은</a:t>
            </a:r>
            <a:r>
              <a:rPr lang="ko-KR" altLang="en-US" dirty="0" smtClean="0"/>
              <a:t> 언제 준공되는지</a:t>
            </a:r>
            <a:r>
              <a:rPr lang="en-US" altLang="ko-KR" dirty="0" smtClean="0"/>
              <a:t>? </a:t>
            </a:r>
            <a:r>
              <a:rPr lang="ko-KR" altLang="en-US" dirty="0" smtClean="0"/>
              <a:t>본격적인 생산가능 시점은</a:t>
            </a:r>
            <a:r>
              <a:rPr lang="en-US" altLang="ko-KR" dirty="0" smtClean="0"/>
              <a:t>? </a:t>
            </a:r>
            <a:r>
              <a:rPr lang="ko-KR" altLang="en-US" dirty="0" smtClean="0"/>
              <a:t>현재까지 설비투자금액과 향후 잔여 금액은</a:t>
            </a:r>
            <a:r>
              <a:rPr lang="en-US" altLang="ko-KR" dirty="0" smtClean="0"/>
              <a:t>?</a:t>
            </a:r>
          </a:p>
          <a:p>
            <a:pPr marL="514350" indent="-514350">
              <a:spcBef>
                <a:spcPct val="0"/>
              </a:spcBef>
              <a:defRPr/>
            </a:pPr>
            <a:endParaRPr lang="en-US" altLang="ko-KR" dirty="0" smtClean="0"/>
          </a:p>
          <a:p>
            <a:r>
              <a:rPr lang="ko-KR" altLang="en-US" dirty="0" smtClean="0">
                <a:solidFill>
                  <a:srgbClr val="0000CC"/>
                </a:solidFill>
              </a:rPr>
              <a:t>부산 에코</a:t>
            </a:r>
            <a:r>
              <a:rPr lang="en-US" altLang="ko-KR" dirty="0" smtClean="0">
                <a:solidFill>
                  <a:srgbClr val="0000CC"/>
                </a:solidFill>
              </a:rPr>
              <a:t>2</a:t>
            </a:r>
            <a:r>
              <a:rPr lang="ko-KR" altLang="en-US" dirty="0" smtClean="0">
                <a:solidFill>
                  <a:srgbClr val="0000CC"/>
                </a:solidFill>
              </a:rPr>
              <a:t>공장</a:t>
            </a:r>
            <a:r>
              <a:rPr lang="en-US" altLang="ko-KR" dirty="0" smtClean="0">
                <a:solidFill>
                  <a:srgbClr val="0000CC"/>
                </a:solidFill>
              </a:rPr>
              <a:t>, </a:t>
            </a:r>
            <a:r>
              <a:rPr lang="ko-KR" altLang="en-US" dirty="0" smtClean="0">
                <a:solidFill>
                  <a:srgbClr val="0000CC"/>
                </a:solidFill>
              </a:rPr>
              <a:t>거제 </a:t>
            </a:r>
            <a:r>
              <a:rPr lang="ko-KR" altLang="en-US" dirty="0" err="1" smtClean="0">
                <a:solidFill>
                  <a:srgbClr val="0000CC"/>
                </a:solidFill>
              </a:rPr>
              <a:t>마린센터</a:t>
            </a:r>
            <a:r>
              <a:rPr lang="en-US" altLang="ko-KR" dirty="0" smtClean="0">
                <a:solidFill>
                  <a:srgbClr val="0000CC"/>
                </a:solidFill>
              </a:rPr>
              <a:t>, </a:t>
            </a:r>
            <a:r>
              <a:rPr lang="ko-KR" altLang="en-US" dirty="0" smtClean="0">
                <a:solidFill>
                  <a:srgbClr val="0000CC"/>
                </a:solidFill>
              </a:rPr>
              <a:t>중국 </a:t>
            </a:r>
            <a:r>
              <a:rPr lang="ko-KR" altLang="en-US" dirty="0" err="1" smtClean="0">
                <a:solidFill>
                  <a:srgbClr val="0000CC"/>
                </a:solidFill>
              </a:rPr>
              <a:t>난통</a:t>
            </a:r>
            <a:r>
              <a:rPr lang="ko-KR" altLang="en-US" dirty="0" smtClean="0">
                <a:solidFill>
                  <a:srgbClr val="0000CC"/>
                </a:solidFill>
              </a:rPr>
              <a:t> 생산법인은 당사의 중장기 생산능력 확대와 해외시장 대응을 위한 주요 거점입니다</a:t>
            </a:r>
            <a:r>
              <a:rPr lang="en-US" altLang="ko-KR" dirty="0" smtClean="0">
                <a:solidFill>
                  <a:srgbClr val="0000CC"/>
                </a:solidFill>
              </a:rPr>
              <a:t>.</a:t>
            </a:r>
            <a:endParaRPr lang="ko-KR" altLang="en-US" dirty="0" smtClean="0">
              <a:solidFill>
                <a:srgbClr val="0000CC"/>
              </a:solidFill>
            </a:endParaRPr>
          </a:p>
          <a:p>
            <a:r>
              <a:rPr lang="ko-KR" altLang="en-US" dirty="0" smtClean="0">
                <a:solidFill>
                  <a:srgbClr val="0000CC"/>
                </a:solidFill>
              </a:rPr>
              <a:t>부산 에코</a:t>
            </a:r>
            <a:r>
              <a:rPr lang="en-US" altLang="ko-KR" dirty="0" smtClean="0">
                <a:solidFill>
                  <a:srgbClr val="0000CC"/>
                </a:solidFill>
              </a:rPr>
              <a:t>2</a:t>
            </a:r>
            <a:r>
              <a:rPr lang="ko-KR" altLang="en-US" dirty="0" smtClean="0">
                <a:solidFill>
                  <a:srgbClr val="0000CC"/>
                </a:solidFill>
              </a:rPr>
              <a:t>공장은 내년 하반기부터 생산가능 하도록 준공 </a:t>
            </a:r>
            <a:r>
              <a:rPr lang="ko-KR" altLang="en-US" dirty="0" err="1" smtClean="0">
                <a:solidFill>
                  <a:srgbClr val="0000CC"/>
                </a:solidFill>
              </a:rPr>
              <a:t>계획중에</a:t>
            </a:r>
            <a:r>
              <a:rPr lang="ko-KR" altLang="en-US" dirty="0" smtClean="0">
                <a:solidFill>
                  <a:srgbClr val="0000CC"/>
                </a:solidFill>
              </a:rPr>
              <a:t> 있으며</a:t>
            </a:r>
            <a:r>
              <a:rPr lang="en-US" altLang="ko-KR" dirty="0" smtClean="0">
                <a:solidFill>
                  <a:srgbClr val="0000CC"/>
                </a:solidFill>
              </a:rPr>
              <a:t>, </a:t>
            </a:r>
            <a:r>
              <a:rPr lang="ko-KR" altLang="en-US" dirty="0" smtClean="0">
                <a:solidFill>
                  <a:srgbClr val="0000CC"/>
                </a:solidFill>
              </a:rPr>
              <a:t>거제 </a:t>
            </a:r>
            <a:r>
              <a:rPr lang="ko-KR" altLang="en-US" dirty="0" err="1" smtClean="0">
                <a:solidFill>
                  <a:srgbClr val="0000CC"/>
                </a:solidFill>
              </a:rPr>
              <a:t>마린센터는</a:t>
            </a:r>
            <a:r>
              <a:rPr lang="ko-KR" altLang="en-US" dirty="0" smtClean="0">
                <a:solidFill>
                  <a:srgbClr val="0000CC"/>
                </a:solidFill>
              </a:rPr>
              <a:t> 내년 하반기 준공 예정입니다</a:t>
            </a:r>
            <a:r>
              <a:rPr lang="en-US" altLang="ko-KR" dirty="0" smtClean="0">
                <a:solidFill>
                  <a:srgbClr val="0000CC"/>
                </a:solidFill>
              </a:rPr>
              <a:t>.</a:t>
            </a:r>
            <a:endParaRPr lang="ko-KR" altLang="en-US" dirty="0" smtClean="0">
              <a:solidFill>
                <a:srgbClr val="0000CC"/>
              </a:solidFill>
            </a:endParaRPr>
          </a:p>
          <a:p>
            <a:r>
              <a:rPr lang="ko-KR" altLang="en-US" dirty="0" smtClean="0">
                <a:solidFill>
                  <a:srgbClr val="0000CC"/>
                </a:solidFill>
              </a:rPr>
              <a:t>중국 </a:t>
            </a:r>
            <a:r>
              <a:rPr lang="ko-KR" altLang="en-US" dirty="0" err="1" smtClean="0">
                <a:solidFill>
                  <a:srgbClr val="0000CC"/>
                </a:solidFill>
              </a:rPr>
              <a:t>난통</a:t>
            </a:r>
            <a:r>
              <a:rPr lang="ko-KR" altLang="en-US" dirty="0" smtClean="0">
                <a:solidFill>
                  <a:srgbClr val="0000CC"/>
                </a:solidFill>
              </a:rPr>
              <a:t> 생산법인은 중국 조선소 대응 및 현지 생산 기반 확보를 목적으로 추진 중이며</a:t>
            </a:r>
            <a:r>
              <a:rPr lang="en-US" altLang="ko-KR" dirty="0" smtClean="0">
                <a:solidFill>
                  <a:srgbClr val="0000CC"/>
                </a:solidFill>
              </a:rPr>
              <a:t>, 2026</a:t>
            </a:r>
            <a:r>
              <a:rPr lang="ko-KR" altLang="en-US" dirty="0" smtClean="0">
                <a:solidFill>
                  <a:srgbClr val="0000CC"/>
                </a:solidFill>
              </a:rPr>
              <a:t>년 말 생산 개시를 목표로 하고 있습니다</a:t>
            </a:r>
            <a:r>
              <a:rPr lang="en-US" altLang="ko-KR" dirty="0" smtClean="0">
                <a:solidFill>
                  <a:srgbClr val="0000CC"/>
                </a:solidFill>
              </a:rPr>
              <a:t>.</a:t>
            </a:r>
            <a:endParaRPr lang="ko-KR" altLang="en-US" dirty="0" smtClean="0">
              <a:solidFill>
                <a:srgbClr val="0000CC"/>
              </a:solidFill>
            </a:endParaRPr>
          </a:p>
          <a:p>
            <a:r>
              <a:rPr lang="ko-KR" altLang="en-US" dirty="0" smtClean="0">
                <a:solidFill>
                  <a:srgbClr val="0000CC"/>
                </a:solidFill>
              </a:rPr>
              <a:t>현재까지 설비투자금액과 향후 잔여금액은 사업보고서 공시를 통해 확인 </a:t>
            </a:r>
            <a:r>
              <a:rPr lang="ko-KR" altLang="en-US" dirty="0" err="1" smtClean="0">
                <a:solidFill>
                  <a:srgbClr val="0000CC"/>
                </a:solidFill>
              </a:rPr>
              <a:t>부탁드립니다</a:t>
            </a:r>
            <a:r>
              <a:rPr lang="en-US" altLang="ko-KR" dirty="0" smtClean="0">
                <a:solidFill>
                  <a:srgbClr val="0000CC"/>
                </a:solidFill>
              </a:rPr>
              <a:t>.</a:t>
            </a:r>
            <a:endParaRPr lang="en-US" altLang="ko-KR" dirty="0" smtClean="0"/>
          </a:p>
          <a:p>
            <a:endParaRPr lang="en-US" altLang="ko-KR" dirty="0" smtClean="0"/>
          </a:p>
          <a:p>
            <a:pPr marL="342900" indent="-342900">
              <a:buAutoNum type="arabicPeriod" startAt="9"/>
            </a:pPr>
            <a:r>
              <a:rPr lang="ko-KR" altLang="en-US" dirty="0" smtClean="0"/>
              <a:t>중국 </a:t>
            </a:r>
            <a:r>
              <a:rPr lang="ko-KR" altLang="en-US" dirty="0" err="1" smtClean="0"/>
              <a:t>난통시와</a:t>
            </a:r>
            <a:r>
              <a:rPr lang="ko-KR" altLang="en-US" dirty="0" smtClean="0"/>
              <a:t> </a:t>
            </a:r>
            <a:r>
              <a:rPr lang="en-US" altLang="ko-KR" dirty="0" smtClean="0"/>
              <a:t>MOU</a:t>
            </a:r>
            <a:r>
              <a:rPr lang="ko-KR" altLang="en-US" dirty="0" smtClean="0"/>
              <a:t>를 맺은 것으로 파악하였는데 현재 확보된 </a:t>
            </a:r>
            <a:r>
              <a:rPr lang="ko-KR" altLang="en-US" dirty="0" err="1" smtClean="0"/>
              <a:t>중국쪽</a:t>
            </a:r>
            <a:r>
              <a:rPr lang="ko-KR" altLang="en-US" dirty="0" smtClean="0"/>
              <a:t> 물량이 있는지</a:t>
            </a:r>
            <a:r>
              <a:rPr lang="en-US" altLang="ko-KR" dirty="0" smtClean="0"/>
              <a:t>?</a:t>
            </a:r>
          </a:p>
          <a:p>
            <a:pPr marL="342900" indent="-342900"/>
            <a:endParaRPr lang="en-US" altLang="ko-KR" dirty="0" smtClean="0"/>
          </a:p>
          <a:p>
            <a:r>
              <a:rPr lang="ko-KR" altLang="en-US" dirty="0" smtClean="0">
                <a:solidFill>
                  <a:srgbClr val="0000CC"/>
                </a:solidFill>
              </a:rPr>
              <a:t>중국 </a:t>
            </a:r>
            <a:r>
              <a:rPr lang="ko-KR" altLang="en-US" dirty="0" err="1" smtClean="0">
                <a:solidFill>
                  <a:srgbClr val="0000CC"/>
                </a:solidFill>
              </a:rPr>
              <a:t>난통</a:t>
            </a:r>
            <a:r>
              <a:rPr lang="ko-KR" altLang="en-US" dirty="0" smtClean="0">
                <a:solidFill>
                  <a:srgbClr val="0000CC"/>
                </a:solidFill>
              </a:rPr>
              <a:t> 생산법인은 중국 조선시장 대응을 위한 전략적 거점입니다</a:t>
            </a:r>
            <a:r>
              <a:rPr lang="en-US" altLang="ko-KR" dirty="0" smtClean="0">
                <a:solidFill>
                  <a:srgbClr val="0000CC"/>
                </a:solidFill>
              </a:rPr>
              <a:t>. </a:t>
            </a:r>
            <a:r>
              <a:rPr lang="ko-KR" altLang="en-US" dirty="0" smtClean="0">
                <a:solidFill>
                  <a:srgbClr val="0000CC"/>
                </a:solidFill>
              </a:rPr>
              <a:t>중국 조선소를 대상으로 파워솔루션과 운항제어솔루션 패키지 공급 기회를 확대하고 있으며</a:t>
            </a:r>
            <a:r>
              <a:rPr lang="en-US" altLang="ko-KR" dirty="0" smtClean="0">
                <a:solidFill>
                  <a:srgbClr val="0000CC"/>
                </a:solidFill>
              </a:rPr>
              <a:t>, </a:t>
            </a:r>
            <a:r>
              <a:rPr lang="ko-KR" altLang="en-US" dirty="0" smtClean="0">
                <a:solidFill>
                  <a:srgbClr val="0000CC"/>
                </a:solidFill>
              </a:rPr>
              <a:t>일부 프로젝트에 대한 협의 및 수주 활동을 진행하고 있습니다</a:t>
            </a:r>
            <a:r>
              <a:rPr lang="en-US" altLang="ko-KR" dirty="0" smtClean="0">
                <a:solidFill>
                  <a:srgbClr val="0000CC"/>
                </a:solidFill>
              </a:rPr>
              <a:t>.</a:t>
            </a:r>
            <a:endParaRPr lang="ko-KR" altLang="en-US" dirty="0" smtClean="0">
              <a:solidFill>
                <a:srgbClr val="0000CC"/>
              </a:solidFill>
            </a:endParaRPr>
          </a:p>
          <a:p>
            <a:r>
              <a:rPr lang="ko-KR" altLang="en-US" dirty="0" smtClean="0">
                <a:solidFill>
                  <a:srgbClr val="0000CC"/>
                </a:solidFill>
              </a:rPr>
              <a:t>다만 구체적인 고객사명</a:t>
            </a:r>
            <a:r>
              <a:rPr lang="en-US" altLang="ko-KR" dirty="0" smtClean="0">
                <a:solidFill>
                  <a:srgbClr val="0000CC"/>
                </a:solidFill>
              </a:rPr>
              <a:t>, </a:t>
            </a:r>
            <a:r>
              <a:rPr lang="ko-KR" altLang="en-US" dirty="0" err="1" smtClean="0">
                <a:solidFill>
                  <a:srgbClr val="0000CC"/>
                </a:solidFill>
              </a:rPr>
              <a:t>프로젝트명</a:t>
            </a:r>
            <a:r>
              <a:rPr lang="en-US" altLang="ko-KR" dirty="0" smtClean="0">
                <a:solidFill>
                  <a:srgbClr val="0000CC"/>
                </a:solidFill>
              </a:rPr>
              <a:t>, </a:t>
            </a:r>
            <a:r>
              <a:rPr lang="ko-KR" altLang="en-US" dirty="0" smtClean="0">
                <a:solidFill>
                  <a:srgbClr val="0000CC"/>
                </a:solidFill>
              </a:rPr>
              <a:t>금액 등은 확정 및 공시 전까지 공개하기 어렵습니다</a:t>
            </a:r>
            <a:r>
              <a:rPr lang="en-US" altLang="ko-KR" dirty="0" smtClean="0">
                <a:solidFill>
                  <a:srgbClr val="0000CC"/>
                </a:solidFill>
              </a:rPr>
              <a:t>.</a:t>
            </a:r>
            <a:endParaRPr lang="ko-KR" altLang="en-US" dirty="0" smtClean="0">
              <a:solidFill>
                <a:srgbClr val="0000CC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>
          <a:xfrm>
            <a:off x="1524000" y="0"/>
            <a:ext cx="9144000" cy="9087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490066"/>
          </a:xfrm>
        </p:spPr>
        <p:txBody>
          <a:bodyPr>
            <a:noAutofit/>
          </a:bodyPr>
          <a:lstStyle/>
          <a:p>
            <a:pPr algn="l"/>
            <a:r>
              <a:rPr lang="en-US" altLang="ko-KR" sz="3600" dirty="0">
                <a:solidFill>
                  <a:schemeClr val="bg1"/>
                </a:solidFill>
              </a:rPr>
              <a:t>5. </a:t>
            </a:r>
            <a:r>
              <a:rPr lang="ko-KR" altLang="en-US" sz="3600" dirty="0">
                <a:solidFill>
                  <a:schemeClr val="bg1"/>
                </a:solidFill>
              </a:rPr>
              <a:t>질의</a:t>
            </a:r>
          </a:p>
        </p:txBody>
      </p:sp>
      <p:sp>
        <p:nvSpPr>
          <p:cNvPr id="8" name="제목 1"/>
          <p:cNvSpPr txBox="1">
            <a:spLocks/>
          </p:cNvSpPr>
          <p:nvPr/>
        </p:nvSpPr>
        <p:spPr>
          <a:xfrm>
            <a:off x="629072" y="908720"/>
            <a:ext cx="10939536" cy="59492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514350" indent="-514350">
              <a:spcBef>
                <a:spcPct val="0"/>
              </a:spcBef>
              <a:defRPr/>
            </a:pPr>
            <a:r>
              <a:rPr lang="en-US" altLang="ko-KR" dirty="0" smtClean="0"/>
              <a:t>10.  </a:t>
            </a:r>
            <a:r>
              <a:rPr lang="ko-KR" altLang="en-US" dirty="0" smtClean="0"/>
              <a:t>  현재까지 제품을 납품한 배가 </a:t>
            </a:r>
            <a:r>
              <a:rPr lang="en-US" altLang="ko-KR" dirty="0" smtClean="0"/>
              <a:t>6,200</a:t>
            </a:r>
            <a:r>
              <a:rPr lang="ko-KR" altLang="en-US" dirty="0" err="1" smtClean="0"/>
              <a:t>여척이라는</a:t>
            </a:r>
            <a:r>
              <a:rPr lang="ko-KR" altLang="en-US" dirty="0" smtClean="0"/>
              <a:t> 기사를 보았는데 현재 유지관리 중인 물량과 향후 예상되는 물량은 어떻게 되는지</a:t>
            </a:r>
            <a:r>
              <a:rPr lang="en-US" altLang="ko-KR" dirty="0" smtClean="0"/>
              <a:t>? </a:t>
            </a:r>
            <a:r>
              <a:rPr lang="ko-KR" altLang="en-US" dirty="0" err="1" smtClean="0"/>
              <a:t>년도별</a:t>
            </a:r>
            <a:r>
              <a:rPr lang="en-US" altLang="ko-KR" dirty="0" smtClean="0"/>
              <a:t>, </a:t>
            </a:r>
            <a:r>
              <a:rPr lang="ko-KR" altLang="en-US" dirty="0" smtClean="0"/>
              <a:t>나라별로</a:t>
            </a:r>
            <a:endParaRPr lang="en-US" altLang="ko-KR" dirty="0" smtClean="0"/>
          </a:p>
          <a:p>
            <a:pPr marL="514350" indent="-514350">
              <a:spcBef>
                <a:spcPct val="0"/>
              </a:spcBef>
              <a:defRPr/>
            </a:pPr>
            <a:endParaRPr lang="en-US" altLang="ko-KR" dirty="0" smtClean="0"/>
          </a:p>
          <a:p>
            <a:r>
              <a:rPr lang="ko-KR" altLang="en-US" dirty="0" smtClean="0">
                <a:solidFill>
                  <a:srgbClr val="0000CC"/>
                </a:solidFill>
              </a:rPr>
              <a:t>당사는 현재까지 약 </a:t>
            </a:r>
            <a:r>
              <a:rPr lang="en-US" altLang="ko-KR" dirty="0" smtClean="0">
                <a:solidFill>
                  <a:srgbClr val="0000CC"/>
                </a:solidFill>
              </a:rPr>
              <a:t>6,200</a:t>
            </a:r>
            <a:r>
              <a:rPr lang="ko-KR" altLang="en-US" dirty="0" err="1" smtClean="0">
                <a:solidFill>
                  <a:srgbClr val="0000CC"/>
                </a:solidFill>
              </a:rPr>
              <a:t>여척의</a:t>
            </a:r>
            <a:r>
              <a:rPr lang="ko-KR" altLang="en-US" dirty="0" smtClean="0">
                <a:solidFill>
                  <a:srgbClr val="0000CC"/>
                </a:solidFill>
              </a:rPr>
              <a:t> 선박에 제품을 납품한 실적을 보유하고 있습니다</a:t>
            </a:r>
            <a:r>
              <a:rPr lang="en-US" altLang="ko-KR" dirty="0" smtClean="0">
                <a:solidFill>
                  <a:srgbClr val="0000CC"/>
                </a:solidFill>
              </a:rPr>
              <a:t>. </a:t>
            </a:r>
            <a:r>
              <a:rPr lang="ko-KR" altLang="en-US" dirty="0" smtClean="0">
                <a:solidFill>
                  <a:srgbClr val="0000CC"/>
                </a:solidFill>
              </a:rPr>
              <a:t>이는 향후 </a:t>
            </a:r>
            <a:r>
              <a:rPr lang="en-US" altLang="ko-KR" dirty="0" smtClean="0">
                <a:solidFill>
                  <a:srgbClr val="0000CC"/>
                </a:solidFill>
              </a:rPr>
              <a:t>MRO </a:t>
            </a:r>
            <a:r>
              <a:rPr lang="ko-KR" altLang="en-US" dirty="0" smtClean="0">
                <a:solidFill>
                  <a:srgbClr val="0000CC"/>
                </a:solidFill>
              </a:rPr>
              <a:t>사업 확대의 중요한 기반입니다</a:t>
            </a:r>
            <a:r>
              <a:rPr lang="en-US" altLang="ko-KR" dirty="0" smtClean="0">
                <a:solidFill>
                  <a:srgbClr val="0000CC"/>
                </a:solidFill>
              </a:rPr>
              <a:t>.</a:t>
            </a:r>
            <a:r>
              <a:rPr lang="ko-KR" altLang="en-US" dirty="0" smtClean="0">
                <a:solidFill>
                  <a:srgbClr val="0000CC"/>
                </a:solidFill>
              </a:rPr>
              <a:t> 다만 현재 유지관리 중인 선박 수량을 연도별</a:t>
            </a:r>
            <a:r>
              <a:rPr lang="en-US" altLang="ko-KR" dirty="0" smtClean="0">
                <a:solidFill>
                  <a:srgbClr val="0000CC"/>
                </a:solidFill>
              </a:rPr>
              <a:t>·</a:t>
            </a:r>
            <a:r>
              <a:rPr lang="ko-KR" altLang="en-US" dirty="0" smtClean="0">
                <a:solidFill>
                  <a:srgbClr val="0000CC"/>
                </a:solidFill>
              </a:rPr>
              <a:t>국가별로 세분화한 자료는 별도로 공시하고 있지 않습니다</a:t>
            </a:r>
            <a:r>
              <a:rPr lang="en-US" altLang="ko-KR" dirty="0" smtClean="0">
                <a:solidFill>
                  <a:srgbClr val="0000CC"/>
                </a:solidFill>
              </a:rPr>
              <a:t>.</a:t>
            </a:r>
            <a:r>
              <a:rPr lang="ko-KR" altLang="en-US" dirty="0" smtClean="0">
                <a:solidFill>
                  <a:srgbClr val="0000CC"/>
                </a:solidFill>
              </a:rPr>
              <a:t> 회사는 글로벌 서비스 네트워크를 기반으로 운항 선박의 유지보수</a:t>
            </a:r>
            <a:r>
              <a:rPr lang="en-US" altLang="ko-KR" dirty="0" smtClean="0">
                <a:solidFill>
                  <a:srgbClr val="0000CC"/>
                </a:solidFill>
              </a:rPr>
              <a:t>, </a:t>
            </a:r>
            <a:r>
              <a:rPr lang="ko-KR" altLang="en-US" dirty="0" smtClean="0">
                <a:solidFill>
                  <a:srgbClr val="0000CC"/>
                </a:solidFill>
              </a:rPr>
              <a:t>부품 교체</a:t>
            </a:r>
            <a:r>
              <a:rPr lang="en-US" altLang="ko-KR" dirty="0" smtClean="0">
                <a:solidFill>
                  <a:srgbClr val="0000CC"/>
                </a:solidFill>
              </a:rPr>
              <a:t>, </a:t>
            </a:r>
            <a:r>
              <a:rPr lang="ko-KR" altLang="en-US" dirty="0" smtClean="0">
                <a:solidFill>
                  <a:srgbClr val="0000CC"/>
                </a:solidFill>
              </a:rPr>
              <a:t>친환경 장치 업그레이드 수요에 대응하고 있으며</a:t>
            </a:r>
            <a:r>
              <a:rPr lang="en-US" altLang="ko-KR" dirty="0" smtClean="0">
                <a:solidFill>
                  <a:srgbClr val="0000CC"/>
                </a:solidFill>
              </a:rPr>
              <a:t>, BWMS, FGSS, LFSS </a:t>
            </a:r>
            <a:r>
              <a:rPr lang="ko-KR" altLang="en-US" dirty="0" smtClean="0">
                <a:solidFill>
                  <a:srgbClr val="0000CC"/>
                </a:solidFill>
              </a:rPr>
              <a:t>등 친환경 설비 관련 </a:t>
            </a:r>
            <a:r>
              <a:rPr lang="en-US" altLang="ko-KR" dirty="0" smtClean="0">
                <a:solidFill>
                  <a:srgbClr val="0000CC"/>
                </a:solidFill>
              </a:rPr>
              <a:t>MRO </a:t>
            </a:r>
            <a:r>
              <a:rPr lang="ko-KR" altLang="en-US" dirty="0" smtClean="0">
                <a:solidFill>
                  <a:srgbClr val="0000CC"/>
                </a:solidFill>
              </a:rPr>
              <a:t>기회가 확대될 것으로 보고 있습니다</a:t>
            </a:r>
            <a:r>
              <a:rPr lang="en-US" altLang="ko-KR" dirty="0" smtClean="0">
                <a:solidFill>
                  <a:srgbClr val="0000CC"/>
                </a:solidFill>
              </a:rPr>
              <a:t>.</a:t>
            </a:r>
            <a:endParaRPr lang="ko-KR" altLang="en-US" dirty="0" smtClean="0">
              <a:solidFill>
                <a:srgbClr val="0000CC"/>
              </a:solidFill>
            </a:endParaRPr>
          </a:p>
          <a:p>
            <a:endParaRPr lang="en-US" altLang="ko-KR" dirty="0" smtClean="0"/>
          </a:p>
          <a:p>
            <a:pPr marL="342900" indent="-342900">
              <a:buAutoNum type="arabicPeriod" startAt="11"/>
            </a:pPr>
            <a:r>
              <a:rPr lang="en-US" altLang="ko-KR" dirty="0" smtClean="0"/>
              <a:t>IMO </a:t>
            </a:r>
            <a:r>
              <a:rPr lang="ko-KR" altLang="en-US" dirty="0" smtClean="0"/>
              <a:t>규제 등으로 친환경을 위한 </a:t>
            </a:r>
            <a:r>
              <a:rPr lang="en-US" altLang="ko-KR" dirty="0" smtClean="0"/>
              <a:t>LNG</a:t>
            </a:r>
            <a:r>
              <a:rPr lang="ko-KR" altLang="en-US" dirty="0" smtClean="0"/>
              <a:t>선 수요가 지속적으로 증가하고 있는데 당사의 평형수처리시스템</a:t>
            </a:r>
            <a:r>
              <a:rPr lang="en-US" altLang="ko-KR" dirty="0" smtClean="0"/>
              <a:t>, </a:t>
            </a:r>
            <a:r>
              <a:rPr lang="ko-KR" altLang="en-US" dirty="0" smtClean="0"/>
              <a:t>전력시스템</a:t>
            </a:r>
            <a:r>
              <a:rPr lang="en-US" altLang="ko-KR" dirty="0" smtClean="0"/>
              <a:t>, </a:t>
            </a:r>
            <a:r>
              <a:rPr lang="ko-KR" altLang="en-US" dirty="0" smtClean="0"/>
              <a:t>제어시스템이 이러한 고부가선에 특화된 장점이 있는지</a:t>
            </a:r>
            <a:r>
              <a:rPr lang="en-US" altLang="ko-KR" dirty="0" smtClean="0"/>
              <a:t>?(</a:t>
            </a:r>
            <a:r>
              <a:rPr lang="ko-KR" altLang="en-US" dirty="0" smtClean="0"/>
              <a:t>제품 카탈로그 등 정보 중 볼 수 있는 정보가 부족하여 요청</a:t>
            </a:r>
            <a:r>
              <a:rPr lang="en-US" altLang="ko-KR" dirty="0" smtClean="0"/>
              <a:t>)</a:t>
            </a:r>
          </a:p>
          <a:p>
            <a:pPr marL="342900" indent="-342900"/>
            <a:endParaRPr lang="en-US" altLang="ko-KR" dirty="0" smtClean="0"/>
          </a:p>
          <a:p>
            <a:r>
              <a:rPr lang="en-US" altLang="ko-KR" dirty="0" smtClean="0">
                <a:solidFill>
                  <a:srgbClr val="0000CC"/>
                </a:solidFill>
              </a:rPr>
              <a:t>LNG</a:t>
            </a:r>
            <a:r>
              <a:rPr lang="ko-KR" altLang="en-US" dirty="0" smtClean="0">
                <a:solidFill>
                  <a:srgbClr val="0000CC"/>
                </a:solidFill>
              </a:rPr>
              <a:t>운반선</a:t>
            </a:r>
            <a:r>
              <a:rPr lang="en-US" altLang="ko-KR" dirty="0" smtClean="0">
                <a:solidFill>
                  <a:srgbClr val="0000CC"/>
                </a:solidFill>
              </a:rPr>
              <a:t>, FSRU, VLAC, VLGC, </a:t>
            </a:r>
            <a:r>
              <a:rPr lang="ko-KR" altLang="en-US" dirty="0" smtClean="0">
                <a:solidFill>
                  <a:srgbClr val="0000CC"/>
                </a:solidFill>
              </a:rPr>
              <a:t>초대형 컨테이너선 등 고부가 선종은 전력 안정성</a:t>
            </a:r>
            <a:r>
              <a:rPr lang="en-US" altLang="ko-KR" dirty="0" smtClean="0">
                <a:solidFill>
                  <a:srgbClr val="0000CC"/>
                </a:solidFill>
              </a:rPr>
              <a:t>, </a:t>
            </a:r>
            <a:r>
              <a:rPr lang="ko-KR" altLang="en-US" dirty="0" smtClean="0">
                <a:solidFill>
                  <a:srgbClr val="0000CC"/>
                </a:solidFill>
              </a:rPr>
              <a:t>제어 신뢰성</a:t>
            </a:r>
            <a:r>
              <a:rPr lang="en-US" altLang="ko-KR" dirty="0" smtClean="0">
                <a:solidFill>
                  <a:srgbClr val="0000CC"/>
                </a:solidFill>
              </a:rPr>
              <a:t>, </a:t>
            </a:r>
            <a:r>
              <a:rPr lang="ko-KR" altLang="en-US" dirty="0" smtClean="0">
                <a:solidFill>
                  <a:srgbClr val="0000CC"/>
                </a:solidFill>
              </a:rPr>
              <a:t>친환경 설비 대응력이 매우 중요합니다</a:t>
            </a:r>
            <a:r>
              <a:rPr lang="en-US" altLang="ko-KR" dirty="0" smtClean="0">
                <a:solidFill>
                  <a:srgbClr val="0000CC"/>
                </a:solidFill>
              </a:rPr>
              <a:t>.</a:t>
            </a:r>
            <a:endParaRPr lang="ko-KR" altLang="en-US" dirty="0" smtClean="0">
              <a:solidFill>
                <a:srgbClr val="0000CC"/>
              </a:solidFill>
            </a:endParaRPr>
          </a:p>
          <a:p>
            <a:r>
              <a:rPr lang="ko-KR" altLang="en-US" dirty="0" smtClean="0">
                <a:solidFill>
                  <a:srgbClr val="0000CC"/>
                </a:solidFill>
              </a:rPr>
              <a:t>당사는 선박용 파워솔루션</a:t>
            </a:r>
            <a:r>
              <a:rPr lang="en-US" altLang="ko-KR" dirty="0" smtClean="0">
                <a:solidFill>
                  <a:srgbClr val="0000CC"/>
                </a:solidFill>
              </a:rPr>
              <a:t>, </a:t>
            </a:r>
            <a:r>
              <a:rPr lang="ko-KR" altLang="en-US" dirty="0" smtClean="0">
                <a:solidFill>
                  <a:srgbClr val="0000CC"/>
                </a:solidFill>
              </a:rPr>
              <a:t>운항제어솔루션</a:t>
            </a:r>
            <a:r>
              <a:rPr lang="en-US" altLang="ko-KR" dirty="0" smtClean="0">
                <a:solidFill>
                  <a:srgbClr val="0000CC"/>
                </a:solidFill>
              </a:rPr>
              <a:t>, </a:t>
            </a:r>
            <a:r>
              <a:rPr lang="ko-KR" altLang="en-US" dirty="0" smtClean="0">
                <a:solidFill>
                  <a:srgbClr val="0000CC"/>
                </a:solidFill>
              </a:rPr>
              <a:t>에코솔루션을 통합적으로 공급할 수 있는 역량을 보유하고 있어 고부가 선종에 적합한 경쟁력을 갖추고 있습니다</a:t>
            </a:r>
            <a:r>
              <a:rPr lang="en-US" altLang="ko-KR" dirty="0" smtClean="0">
                <a:solidFill>
                  <a:srgbClr val="0000CC"/>
                </a:solidFill>
              </a:rPr>
              <a:t>.</a:t>
            </a:r>
            <a:endParaRPr lang="ko-KR" altLang="en-US" dirty="0" smtClean="0">
              <a:solidFill>
                <a:srgbClr val="0000CC"/>
              </a:solidFill>
            </a:endParaRPr>
          </a:p>
          <a:p>
            <a:r>
              <a:rPr lang="ko-KR" altLang="en-US" dirty="0" smtClean="0">
                <a:solidFill>
                  <a:srgbClr val="0000CC"/>
                </a:solidFill>
              </a:rPr>
              <a:t>특히 </a:t>
            </a:r>
            <a:r>
              <a:rPr lang="en-US" altLang="ko-KR" dirty="0" smtClean="0">
                <a:solidFill>
                  <a:srgbClr val="0000CC"/>
                </a:solidFill>
              </a:rPr>
              <a:t>LNG, </a:t>
            </a:r>
            <a:r>
              <a:rPr lang="ko-KR" altLang="en-US" dirty="0" smtClean="0">
                <a:solidFill>
                  <a:srgbClr val="0000CC"/>
                </a:solidFill>
              </a:rPr>
              <a:t>메탄올</a:t>
            </a:r>
            <a:r>
              <a:rPr lang="en-US" altLang="ko-KR" dirty="0" smtClean="0">
                <a:solidFill>
                  <a:srgbClr val="0000CC"/>
                </a:solidFill>
              </a:rPr>
              <a:t>, LPG </a:t>
            </a:r>
            <a:r>
              <a:rPr lang="ko-KR" altLang="en-US" dirty="0" smtClean="0">
                <a:solidFill>
                  <a:srgbClr val="0000CC"/>
                </a:solidFill>
              </a:rPr>
              <a:t>등 대체연료 추진 선박과 관련된 제어</a:t>
            </a:r>
            <a:r>
              <a:rPr lang="en-US" altLang="ko-KR" dirty="0" smtClean="0">
                <a:solidFill>
                  <a:srgbClr val="0000CC"/>
                </a:solidFill>
              </a:rPr>
              <a:t>·</a:t>
            </a:r>
            <a:r>
              <a:rPr lang="ko-KR" altLang="en-US" dirty="0" smtClean="0">
                <a:solidFill>
                  <a:srgbClr val="0000CC"/>
                </a:solidFill>
              </a:rPr>
              <a:t>전력</a:t>
            </a:r>
            <a:r>
              <a:rPr lang="en-US" altLang="ko-KR" dirty="0" smtClean="0">
                <a:solidFill>
                  <a:srgbClr val="0000CC"/>
                </a:solidFill>
              </a:rPr>
              <a:t>·</a:t>
            </a:r>
            <a:r>
              <a:rPr lang="ko-KR" altLang="en-US" dirty="0" smtClean="0">
                <a:solidFill>
                  <a:srgbClr val="0000CC"/>
                </a:solidFill>
              </a:rPr>
              <a:t>친환경 시스템 수요 증가에 대응하고 있습니다</a:t>
            </a:r>
            <a:r>
              <a:rPr lang="en-US" altLang="ko-KR" dirty="0" smtClean="0">
                <a:solidFill>
                  <a:srgbClr val="0000CC"/>
                </a:solidFill>
              </a:rPr>
              <a:t>.</a:t>
            </a:r>
            <a:endParaRPr lang="ko-KR" altLang="en-US" dirty="0" smtClean="0">
              <a:solidFill>
                <a:srgbClr val="0000CC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>
          <a:xfrm>
            <a:off x="1524000" y="0"/>
            <a:ext cx="9144000" cy="9087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490066"/>
          </a:xfrm>
        </p:spPr>
        <p:txBody>
          <a:bodyPr>
            <a:noAutofit/>
          </a:bodyPr>
          <a:lstStyle/>
          <a:p>
            <a:pPr algn="l"/>
            <a:r>
              <a:rPr lang="en-US" altLang="ko-KR" sz="3600" dirty="0">
                <a:solidFill>
                  <a:schemeClr val="bg1"/>
                </a:solidFill>
              </a:rPr>
              <a:t>5. </a:t>
            </a:r>
            <a:r>
              <a:rPr lang="ko-KR" altLang="en-US" sz="3600" dirty="0">
                <a:solidFill>
                  <a:schemeClr val="bg1"/>
                </a:solidFill>
              </a:rPr>
              <a:t>질의</a:t>
            </a:r>
          </a:p>
        </p:txBody>
      </p:sp>
      <p:sp>
        <p:nvSpPr>
          <p:cNvPr id="8" name="제목 1"/>
          <p:cNvSpPr txBox="1">
            <a:spLocks/>
          </p:cNvSpPr>
          <p:nvPr/>
        </p:nvSpPr>
        <p:spPr>
          <a:xfrm>
            <a:off x="629072" y="908720"/>
            <a:ext cx="10939536" cy="59492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342900" indent="-342900">
              <a:spcBef>
                <a:spcPct val="0"/>
              </a:spcBef>
              <a:defRPr/>
            </a:pPr>
            <a:r>
              <a:rPr lang="en-US" altLang="ko-KR" dirty="0" smtClean="0"/>
              <a:t>12.   </a:t>
            </a:r>
            <a:r>
              <a:rPr lang="ko-KR" altLang="en-US" dirty="0" smtClean="0"/>
              <a:t>한미조선업 협력 등과 관련하여 계획하거나 검토하고 있는 것이 있는지</a:t>
            </a:r>
            <a:r>
              <a:rPr lang="en-US" altLang="ko-KR" dirty="0" smtClean="0"/>
              <a:t>?(</a:t>
            </a:r>
            <a:r>
              <a:rPr lang="ko-KR" altLang="en-US" dirty="0" smtClean="0"/>
              <a:t>미국 법인</a:t>
            </a:r>
            <a:r>
              <a:rPr lang="en-US" altLang="ko-KR" dirty="0" smtClean="0"/>
              <a:t>, </a:t>
            </a:r>
            <a:r>
              <a:rPr lang="ko-KR" altLang="en-US" dirty="0" smtClean="0"/>
              <a:t>공장증설 등등</a:t>
            </a:r>
            <a:r>
              <a:rPr lang="en-US" altLang="ko-KR" dirty="0" smtClean="0"/>
              <a:t>)</a:t>
            </a:r>
          </a:p>
          <a:p>
            <a:pPr marL="342900" indent="-342900">
              <a:spcBef>
                <a:spcPct val="0"/>
              </a:spcBef>
              <a:defRPr/>
            </a:pPr>
            <a:endParaRPr lang="en-US" altLang="ko-KR" dirty="0" smtClean="0"/>
          </a:p>
          <a:p>
            <a:r>
              <a:rPr lang="ko-KR" altLang="en-US" dirty="0" smtClean="0">
                <a:solidFill>
                  <a:srgbClr val="0000CC"/>
                </a:solidFill>
              </a:rPr>
              <a:t>최근 한미 조선업 협력</a:t>
            </a:r>
            <a:r>
              <a:rPr lang="en-US" altLang="ko-KR" dirty="0" smtClean="0">
                <a:solidFill>
                  <a:srgbClr val="0000CC"/>
                </a:solidFill>
              </a:rPr>
              <a:t>, </a:t>
            </a:r>
            <a:r>
              <a:rPr lang="ko-KR" altLang="en-US" dirty="0" smtClean="0">
                <a:solidFill>
                  <a:srgbClr val="0000CC"/>
                </a:solidFill>
              </a:rPr>
              <a:t>미국 </a:t>
            </a:r>
            <a:r>
              <a:rPr lang="en-US" altLang="ko-KR" dirty="0" smtClean="0">
                <a:solidFill>
                  <a:srgbClr val="0000CC"/>
                </a:solidFill>
              </a:rPr>
              <a:t>LNG </a:t>
            </a:r>
            <a:r>
              <a:rPr lang="ko-KR" altLang="en-US" dirty="0" smtClean="0">
                <a:solidFill>
                  <a:srgbClr val="0000CC"/>
                </a:solidFill>
              </a:rPr>
              <a:t>인프라 확대</a:t>
            </a:r>
            <a:r>
              <a:rPr lang="en-US" altLang="ko-KR" dirty="0" smtClean="0">
                <a:solidFill>
                  <a:srgbClr val="0000CC"/>
                </a:solidFill>
              </a:rPr>
              <a:t>, LNG </a:t>
            </a:r>
            <a:r>
              <a:rPr lang="ko-KR" altLang="en-US" dirty="0" err="1" smtClean="0">
                <a:solidFill>
                  <a:srgbClr val="0000CC"/>
                </a:solidFill>
              </a:rPr>
              <a:t>벙커링</a:t>
            </a:r>
            <a:r>
              <a:rPr lang="ko-KR" altLang="en-US" dirty="0" smtClean="0">
                <a:solidFill>
                  <a:srgbClr val="0000CC"/>
                </a:solidFill>
              </a:rPr>
              <a:t> 시장 성장 등은 당사에도 중장기적인 기회 요인으로 보고 있습니다</a:t>
            </a:r>
            <a:r>
              <a:rPr lang="en-US" altLang="ko-KR" dirty="0" smtClean="0">
                <a:solidFill>
                  <a:srgbClr val="0000CC"/>
                </a:solidFill>
              </a:rPr>
              <a:t>.</a:t>
            </a:r>
            <a:endParaRPr lang="ko-KR" altLang="en-US" dirty="0" smtClean="0">
              <a:solidFill>
                <a:srgbClr val="0000CC"/>
              </a:solidFill>
            </a:endParaRPr>
          </a:p>
          <a:p>
            <a:r>
              <a:rPr lang="ko-KR" altLang="en-US" dirty="0" smtClean="0">
                <a:solidFill>
                  <a:srgbClr val="0000CC"/>
                </a:solidFill>
              </a:rPr>
              <a:t>당사는 미국 조선소 및 관련 시장 진출 가능성을 검토하고 있으며</a:t>
            </a:r>
            <a:r>
              <a:rPr lang="en-US" altLang="ko-KR" dirty="0" smtClean="0">
                <a:solidFill>
                  <a:srgbClr val="0000CC"/>
                </a:solidFill>
              </a:rPr>
              <a:t>, </a:t>
            </a:r>
            <a:r>
              <a:rPr lang="ko-KR" altLang="en-US" dirty="0" smtClean="0">
                <a:solidFill>
                  <a:srgbClr val="0000CC"/>
                </a:solidFill>
              </a:rPr>
              <a:t>친환경 선박</a:t>
            </a:r>
            <a:r>
              <a:rPr lang="en-US" altLang="ko-KR" dirty="0" smtClean="0">
                <a:solidFill>
                  <a:srgbClr val="0000CC"/>
                </a:solidFill>
              </a:rPr>
              <a:t>, </a:t>
            </a:r>
            <a:r>
              <a:rPr lang="ko-KR" altLang="en-US" dirty="0" smtClean="0">
                <a:solidFill>
                  <a:srgbClr val="0000CC"/>
                </a:solidFill>
              </a:rPr>
              <a:t>전력</a:t>
            </a:r>
            <a:r>
              <a:rPr lang="en-US" altLang="ko-KR" dirty="0" smtClean="0">
                <a:solidFill>
                  <a:srgbClr val="0000CC"/>
                </a:solidFill>
              </a:rPr>
              <a:t>·</a:t>
            </a:r>
            <a:r>
              <a:rPr lang="ko-KR" altLang="en-US" dirty="0" smtClean="0">
                <a:solidFill>
                  <a:srgbClr val="0000CC"/>
                </a:solidFill>
              </a:rPr>
              <a:t>제어 시스템 분야에서 사업 기회 발굴을 추진하고 있습니다</a:t>
            </a:r>
            <a:r>
              <a:rPr lang="en-US" altLang="ko-KR" dirty="0" smtClean="0">
                <a:solidFill>
                  <a:srgbClr val="0000CC"/>
                </a:solidFill>
              </a:rPr>
              <a:t>.</a:t>
            </a:r>
            <a:endParaRPr lang="ko-KR" altLang="en-US" dirty="0" smtClean="0">
              <a:solidFill>
                <a:srgbClr val="0000CC"/>
              </a:solidFill>
            </a:endParaRPr>
          </a:p>
          <a:p>
            <a:r>
              <a:rPr lang="ko-KR" altLang="en-US" dirty="0" smtClean="0">
                <a:solidFill>
                  <a:srgbClr val="0000CC"/>
                </a:solidFill>
              </a:rPr>
              <a:t>다만 미국 법인 설립</a:t>
            </a:r>
            <a:r>
              <a:rPr lang="en-US" altLang="ko-KR" dirty="0" smtClean="0">
                <a:solidFill>
                  <a:srgbClr val="0000CC"/>
                </a:solidFill>
              </a:rPr>
              <a:t>, </a:t>
            </a:r>
            <a:r>
              <a:rPr lang="ko-KR" altLang="en-US" dirty="0" smtClean="0">
                <a:solidFill>
                  <a:srgbClr val="0000CC"/>
                </a:solidFill>
              </a:rPr>
              <a:t>공장 증설 등 구체적인 투자 계획은 확정된 바가 있을 경우 공시 또는 보도자료를 통해 안내드릴 예정입니다</a:t>
            </a:r>
            <a:r>
              <a:rPr lang="en-US" altLang="ko-KR" dirty="0" smtClean="0">
                <a:solidFill>
                  <a:srgbClr val="0000CC"/>
                </a:solidFill>
              </a:rPr>
              <a:t>.</a:t>
            </a:r>
          </a:p>
          <a:p>
            <a:endParaRPr lang="en-US" altLang="ko-KR" dirty="0" smtClean="0">
              <a:solidFill>
                <a:srgbClr val="0000CC"/>
              </a:solidFill>
            </a:endParaRPr>
          </a:p>
          <a:p>
            <a:pPr marL="342900" indent="-342900">
              <a:buAutoNum type="arabicPeriod" startAt="13"/>
            </a:pPr>
            <a:r>
              <a:rPr lang="ko-KR" altLang="en-US" dirty="0" smtClean="0"/>
              <a:t> 사업보고서 상의 </a:t>
            </a:r>
            <a:r>
              <a:rPr lang="ko-KR" altLang="en-US" dirty="0" err="1" smtClean="0"/>
              <a:t>소송건에</a:t>
            </a:r>
            <a:r>
              <a:rPr lang="ko-KR" altLang="en-US" dirty="0" smtClean="0"/>
              <a:t> 대한 진행사항은</a:t>
            </a:r>
            <a:r>
              <a:rPr lang="en-US" altLang="ko-KR" dirty="0" smtClean="0"/>
              <a:t>? </a:t>
            </a:r>
            <a:r>
              <a:rPr lang="ko-KR" altLang="en-US" dirty="0" smtClean="0"/>
              <a:t>삼성중공업 </a:t>
            </a:r>
            <a:r>
              <a:rPr lang="ko-KR" altLang="en-US" dirty="0" err="1" smtClean="0"/>
              <a:t>분사전</a:t>
            </a:r>
            <a:r>
              <a:rPr lang="ko-KR" altLang="en-US" dirty="0" smtClean="0"/>
              <a:t> 사항으로 파악되는데 향후 악영향이 있는지</a:t>
            </a:r>
            <a:r>
              <a:rPr lang="en-US" altLang="ko-KR" dirty="0" smtClean="0"/>
              <a:t>? </a:t>
            </a:r>
            <a:r>
              <a:rPr lang="ko-KR" altLang="en-US" dirty="0" smtClean="0"/>
              <a:t>작년 기자간담회에서 대표님이 패소할 경우 하자관리로 피해는 제한적이라고 하셨는데 지금도 동일한지</a:t>
            </a:r>
            <a:r>
              <a:rPr lang="en-US" altLang="ko-KR" dirty="0" smtClean="0"/>
              <a:t>?</a:t>
            </a:r>
          </a:p>
          <a:p>
            <a:pPr marL="342900" indent="-342900">
              <a:buAutoNum type="arabicPeriod" startAt="13"/>
            </a:pPr>
            <a:endParaRPr lang="en-US" altLang="ko-KR" dirty="0" smtClean="0"/>
          </a:p>
          <a:p>
            <a:pPr marL="342900" indent="-342900"/>
            <a:r>
              <a:rPr lang="ko-KR" altLang="en-US" dirty="0" smtClean="0">
                <a:solidFill>
                  <a:srgbClr val="0000CC"/>
                </a:solidFill>
              </a:rPr>
              <a:t>    현재 계류중인 소송사건은 반기보고서상 기재되어있는 </a:t>
            </a:r>
            <a:r>
              <a:rPr lang="ko-KR" altLang="en-US" dirty="0" err="1" smtClean="0">
                <a:solidFill>
                  <a:srgbClr val="0000CC"/>
                </a:solidFill>
              </a:rPr>
              <a:t>바와같이</a:t>
            </a:r>
            <a:r>
              <a:rPr lang="ko-KR" altLang="en-US" dirty="0" smtClean="0">
                <a:solidFill>
                  <a:srgbClr val="0000CC"/>
                </a:solidFill>
              </a:rPr>
              <a:t> 전체 각하 판결 선고 되어 계류 중인 소송사건은 없습니다</a:t>
            </a:r>
            <a:r>
              <a:rPr lang="en-US" altLang="ko-KR" dirty="0" smtClean="0">
                <a:solidFill>
                  <a:srgbClr val="0000CC"/>
                </a:solidFill>
              </a:rPr>
              <a:t>. </a:t>
            </a:r>
          </a:p>
          <a:p>
            <a:endParaRPr lang="ko-KR" altLang="en-US" dirty="0" smtClean="0">
              <a:solidFill>
                <a:srgbClr val="0000CC"/>
              </a:solidFill>
            </a:endParaRPr>
          </a:p>
          <a:p>
            <a:r>
              <a:rPr lang="ko-KR" altLang="en-US" dirty="0" smtClean="0"/>
              <a:t/>
            </a:r>
            <a:br>
              <a:rPr lang="ko-KR" altLang="en-US" dirty="0" smtClean="0"/>
            </a:br>
            <a:endParaRPr lang="en-US" altLang="ko-KR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4114</TotalTime>
  <Words>1387</Words>
  <Application>Microsoft Office PowerPoint</Application>
  <PresentationFormat>사용자 지정</PresentationFormat>
  <Paragraphs>353</Paragraphs>
  <Slides>25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26" baseType="lpstr">
      <vt:lpstr>Office 테마</vt:lpstr>
      <vt:lpstr>슬라이드 1</vt:lpstr>
      <vt:lpstr>1. 기업개요</vt:lpstr>
      <vt:lpstr>1. 기업개요</vt:lpstr>
      <vt:lpstr>슬라이드 4</vt:lpstr>
      <vt:lpstr>슬라이드 5</vt:lpstr>
      <vt:lpstr>슬라이드 6</vt:lpstr>
      <vt:lpstr>슬라이드 7</vt:lpstr>
      <vt:lpstr>2. 주요사업</vt:lpstr>
      <vt:lpstr>2. 주요사업</vt:lpstr>
      <vt:lpstr>2. 주요사업</vt:lpstr>
      <vt:lpstr>2. 주요사업</vt:lpstr>
      <vt:lpstr>3. 투자배경</vt:lpstr>
      <vt:lpstr>3. 투자배경</vt:lpstr>
      <vt:lpstr>3. 투자배경</vt:lpstr>
      <vt:lpstr>3. 투자배경</vt:lpstr>
      <vt:lpstr>3. 투자배경</vt:lpstr>
      <vt:lpstr>4. 투자위험</vt:lpstr>
      <vt:lpstr>5. 투자전략</vt:lpstr>
      <vt:lpstr>5. 질의</vt:lpstr>
      <vt:lpstr>5. 질의</vt:lpstr>
      <vt:lpstr>5. 질의</vt:lpstr>
      <vt:lpstr>5. 질의</vt:lpstr>
      <vt:lpstr>5. 질의</vt:lpstr>
      <vt:lpstr>5. 질의</vt:lpstr>
      <vt:lpstr>5. 질의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User</dc:creator>
  <cp:lastModifiedBy>User</cp:lastModifiedBy>
  <cp:revision>256</cp:revision>
  <dcterms:created xsi:type="dcterms:W3CDTF">2026-06-12T11:45:34Z</dcterms:created>
  <dcterms:modified xsi:type="dcterms:W3CDTF">2026-06-27T06:07:31Z</dcterms:modified>
</cp:coreProperties>
</file>