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5" r:id="rId5"/>
    <p:sldId id="282" r:id="rId6"/>
    <p:sldId id="266" r:id="rId7"/>
    <p:sldId id="260" r:id="rId8"/>
    <p:sldId id="267" r:id="rId9"/>
    <p:sldId id="268" r:id="rId10"/>
    <p:sldId id="270" r:id="rId11"/>
    <p:sldId id="271" r:id="rId12"/>
    <p:sldId id="273" r:id="rId13"/>
    <p:sldId id="276" r:id="rId14"/>
    <p:sldId id="277" r:id="rId15"/>
    <p:sldId id="274" r:id="rId16"/>
    <p:sldId id="275" r:id="rId17"/>
    <p:sldId id="278" r:id="rId18"/>
    <p:sldId id="279" r:id="rId19"/>
    <p:sldId id="280" r:id="rId20"/>
    <p:sldId id="281" r:id="rId21"/>
    <p:sldId id="286" r:id="rId22"/>
    <p:sldId id="287" r:id="rId23"/>
    <p:sldId id="284" r:id="rId24"/>
    <p:sldId id="263" r:id="rId25"/>
    <p:sldId id="283" r:id="rId26"/>
    <p:sldId id="262" r:id="rId27"/>
    <p:sldId id="290" r:id="rId28"/>
    <p:sldId id="288" r:id="rId29"/>
    <p:sldId id="291" r:id="rId30"/>
    <p:sldId id="289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3C8CE-7AAA-4580-B541-B7971357A536}" v="720" dt="2026-05-30T17:47:13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BC5D0D-3960-07B7-4A35-662B522C93F5}"/>
              </a:ext>
            </a:extLst>
          </p:cNvPr>
          <p:cNvSpPr txBox="1"/>
          <p:nvPr/>
        </p:nvSpPr>
        <p:spPr>
          <a:xfrm>
            <a:off x="1" y="4327128"/>
            <a:ext cx="1219199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i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Global #1 Medical Aesthetic Platform </a:t>
            </a:r>
            <a:r>
              <a:rPr lang="en-US" sz="32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Company</a:t>
            </a:r>
            <a:endParaRPr lang="en-US" altLang="ko-KR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9EE10-1F5F-3ADB-5091-9651A6408814}"/>
              </a:ext>
            </a:extLst>
          </p:cNvPr>
          <p:cNvSpPr txBox="1"/>
          <p:nvPr/>
        </p:nvSpPr>
        <p:spPr>
          <a:xfrm>
            <a:off x="-3541" y="1821675"/>
            <a:ext cx="1219220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6600" b="1">
                <a:ea typeface="맑은 고딕"/>
              </a:rPr>
              <a:t>주식회사 클래시스</a:t>
            </a:r>
            <a:endParaRPr lang="ko-KR" altLang="en-US" sz="66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FB45A8-2F67-0BA8-8463-286317851014}"/>
              </a:ext>
            </a:extLst>
          </p:cNvPr>
          <p:cNvSpPr txBox="1"/>
          <p:nvPr/>
        </p:nvSpPr>
        <p:spPr>
          <a:xfrm>
            <a:off x="0" y="6390966"/>
            <a:ext cx="1219199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400" b="1">
                <a:solidFill>
                  <a:srgbClr val="222222"/>
                </a:solidFill>
                <a:latin typeface="Pretendard"/>
              </a:rPr>
              <a:t>2026.05.31. </a:t>
            </a:r>
            <a:r>
              <a:rPr lang="ko-KR" altLang="en-US" sz="2400" b="1">
                <a:solidFill>
                  <a:srgbClr val="222222"/>
                </a:solidFill>
                <a:latin typeface="Pretendard"/>
                <a:ea typeface="맑은 고딕"/>
              </a:rPr>
              <a:t>문정현</a:t>
            </a:r>
            <a:endParaRPr lang="en-US" altLang="ko-KR" sz="2400" b="1">
              <a:solidFill>
                <a:srgbClr val="222222"/>
              </a:solidFill>
              <a:latin typeface="Pretendard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A6A8E8E-3A2E-89BE-4268-B72F57C8A1DE}"/>
              </a:ext>
            </a:extLst>
          </p:cNvPr>
          <p:cNvSpPr txBox="1"/>
          <p:nvPr/>
        </p:nvSpPr>
        <p:spPr>
          <a:xfrm>
            <a:off x="-815" y="661000"/>
            <a:ext cx="12153254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ko-KR" altLang="en-US" sz="2000" dirty="0">
              <a:ea typeface="맑은 고딕"/>
            </a:endParaRPr>
          </a:p>
          <a:p>
            <a:pPr algn="ctr"/>
            <a:r>
              <a:rPr lang="ko-KR" altLang="en-US" sz="4000">
                <a:ea typeface="맑은 고딕"/>
              </a:rPr>
              <a:t>&lt;목차&gt;</a:t>
            </a:r>
            <a:endParaRPr lang="ko-KR" altLang="en-US" sz="4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기업개요</a:t>
            </a:r>
            <a:endParaRPr lang="ko-KR"/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투자 아이디어</a:t>
            </a:r>
            <a:endParaRPr lang="ko-KR" altLang="en-US" sz="4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투자 리스크</a:t>
            </a:r>
            <a:endParaRPr lang="ko-KR" altLang="en-US" sz="4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투자 로드맵</a:t>
            </a:r>
          </a:p>
          <a:p>
            <a:pPr marL="285750" indent="-285750" algn="ctr">
              <a:buFont typeface="Calibri"/>
              <a:buChar char="-"/>
            </a:pPr>
            <a:endParaRPr lang="ko-KR" altLang="en-US" sz="2000" dirty="0">
              <a:ea typeface="맑은 고딕"/>
            </a:endParaRPr>
          </a:p>
          <a:p>
            <a:pPr marL="285750" indent="-285750" algn="ctr">
              <a:buFont typeface="Calibri"/>
              <a:buChar char="-"/>
            </a:pPr>
            <a:r>
              <a:rPr lang="ko-KR" altLang="en-US" sz="4000">
                <a:ea typeface="맑은 고딕"/>
              </a:rPr>
              <a:t>주담 통화</a:t>
            </a:r>
            <a:endParaRPr lang="ko-KR" altLang="en-US" sz="40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524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00DC77-0C17-2307-1100-4AE095FB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9" name="내용 개체 틀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F0DEA1-34A1-8FE4-6CF9-0C401553C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438" y="1192778"/>
            <a:ext cx="11822969" cy="546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FC29B-9836-DB76-4E66-CAC07525A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93467-05CB-9A24-7A04-05F98A03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5" name="내용 개체 틀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E33C1-5131-7ADE-1C45-8A62FBEF3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171" y="1328510"/>
            <a:ext cx="11514148" cy="534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013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B5FB6-022B-891A-4229-D51AF4C83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0BA8C0-5503-3D74-0E03-EE81C73A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6" name="그림 5" descr="텍스트, 하늘, 스크린샷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8D2504-D242-D11B-FDA0-97C15EC6C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76" y="1475488"/>
            <a:ext cx="5403731" cy="4866291"/>
          </a:xfrm>
          <a:prstGeom prst="rect">
            <a:avLst/>
          </a:prstGeom>
        </p:spPr>
      </p:pic>
      <p:pic>
        <p:nvPicPr>
          <p:cNvPr id="7" name="그림 6" descr="텍스트, 스크린샷, 평행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B72325-0C90-9A8E-DEA5-DBA84D583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625" y="1477771"/>
            <a:ext cx="5393845" cy="497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31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865C-B2EB-F59A-177A-698A37EF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04660-152A-C90A-D761-72D670ED1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기업개요</a:t>
            </a:r>
            <a:endParaRPr lang="ko-KR" altLang="en-US"/>
          </a:p>
        </p:txBody>
      </p:sp>
      <p:pic>
        <p:nvPicPr>
          <p:cNvPr id="9" name="내용 개체 틀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0D3623-8FC9-C969-B943-4C34E48FA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394" y="1494946"/>
            <a:ext cx="11361965" cy="485933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11AD017-7213-3A73-A20A-84D8A6114C4B}"/>
              </a:ext>
            </a:extLst>
          </p:cNvPr>
          <p:cNvSpPr/>
          <p:nvPr/>
        </p:nvSpPr>
        <p:spPr>
          <a:xfrm>
            <a:off x="5471881" y="4736903"/>
            <a:ext cx="4579448" cy="16707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73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A33FE-EF40-28DA-18A9-574BE087D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544AD3-29E0-6E65-59D5-A6F888580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9" y="1717729"/>
            <a:ext cx="11883736" cy="4960189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FCEB59A0-3CD3-DFC9-297E-4D882BFF7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CC2E46-75C4-846E-82A4-701584FD2006}"/>
              </a:ext>
            </a:extLst>
          </p:cNvPr>
          <p:cNvSpPr/>
          <p:nvPr/>
        </p:nvSpPr>
        <p:spPr>
          <a:xfrm>
            <a:off x="268314" y="2588200"/>
            <a:ext cx="8128583" cy="400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5337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DA0B7-202A-C068-FC36-031410DBF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33359B-961C-7EA9-7F41-2D9273B6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39" y="1717729"/>
            <a:ext cx="11883736" cy="4960189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1ACD285D-96DB-082E-8AA4-D38C3E51F8FE}"/>
              </a:ext>
            </a:extLst>
          </p:cNvPr>
          <p:cNvSpPr/>
          <p:nvPr/>
        </p:nvSpPr>
        <p:spPr>
          <a:xfrm>
            <a:off x="-6336" y="2988477"/>
            <a:ext cx="12073811" cy="3489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&lt;재무적 성과&gt;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매출액의 꾸준한 성장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</a:t>
            </a:r>
            <a:r>
              <a:rPr lang="ko-KR" dirty="0">
                <a:solidFill>
                  <a:schemeClr val="tx1"/>
                </a:solidFill>
                <a:latin typeface="Malgun Gothic"/>
                <a:ea typeface="Malgun Gothic"/>
              </a:rPr>
              <a:t>'21~'25</a:t>
            </a:r>
            <a:r>
              <a:rPr lang="ko-KR" altLang="en-US">
                <a:solidFill>
                  <a:schemeClr val="tx1"/>
                </a:solidFill>
                <a:latin typeface="Malgun Gothic"/>
                <a:ea typeface="Malgun Gothic"/>
              </a:rPr>
              <a:t>년 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연평균 성장률(CAGR) 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35%</a:t>
            </a: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'25년 전년 대비 성장률(YoY) :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39%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제조업 최상위 수준의 영업이익률</a:t>
            </a:r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'21~'25년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40~50%</a:t>
            </a: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제조업 평균 영업이익률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6% 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('25.3Q 7.1%, 출처 : 한국은행)</a:t>
            </a:r>
            <a:endParaRPr lang="ko-KR" altLang="en-US" b="1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204A95-C1F2-47B3-BFDC-BA85E4573FC6}"/>
              </a:ext>
            </a:extLst>
          </p:cNvPr>
          <p:cNvSpPr/>
          <p:nvPr/>
        </p:nvSpPr>
        <p:spPr>
          <a:xfrm>
            <a:off x="268314" y="2588200"/>
            <a:ext cx="8128583" cy="400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509E39B-36D4-ED10-D66E-560A56EC1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</p:spTree>
    <p:extLst>
      <p:ext uri="{BB962C8B-B14F-4D97-AF65-F5344CB8AC3E}">
        <p14:creationId xmlns:p14="http://schemas.microsoft.com/office/powerpoint/2010/main" val="360106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93E8-572F-8409-4E59-B97CE91AF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3EB1BA-2F3A-A2A6-A3CD-1AEDDB24C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51" y="1516751"/>
            <a:ext cx="5789583" cy="34956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4B2C3F-3137-1927-132D-4642B67BA30C}"/>
              </a:ext>
            </a:extLst>
          </p:cNvPr>
          <p:cNvSpPr txBox="1"/>
          <p:nvPr/>
        </p:nvSpPr>
        <p:spPr>
          <a:xfrm>
            <a:off x="-6336" y="5346915"/>
            <a:ext cx="12202964" cy="1506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ㅇ 슈링크, 볼뉴머 등 누적 장비 판매 '26년 1분기 기준 </a:t>
            </a:r>
            <a:r>
              <a:rPr lang="ko-KR" altLang="en-US" b="1">
                <a:ea typeface="맑은 고딕"/>
              </a:rPr>
              <a:t>45,000대</a:t>
            </a:r>
            <a:endParaRPr lang="ko-KR" b="1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ㅇ 장비 설치 후, 낮은 원가율(20%대)의 소모품 판매가 지속되는 수익 구조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 b="1">
                <a:ea typeface="맑은 고딕"/>
              </a:rPr>
              <a:t>  → 강한 Lock-in 효과에 따른 현금 창출능력은 우수한 수준</a:t>
            </a:r>
            <a:endParaRPr lang="ko-KR" b="1">
              <a:ea typeface="맑은 고딕"/>
            </a:endParaRPr>
          </a:p>
        </p:txBody>
      </p:sp>
      <p:pic>
        <p:nvPicPr>
          <p:cNvPr id="3" name="그림 2" descr="텍스트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8D2C5E-EA2C-BC1D-2B4E-2DFEB823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6" b="373"/>
          <a:stretch>
            <a:fillRect/>
          </a:stretch>
        </p:blipFill>
        <p:spPr>
          <a:xfrm>
            <a:off x="6377976" y="1509802"/>
            <a:ext cx="5503266" cy="3493287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D4F803DD-F0F8-226E-A7A3-7030A04A9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A06E09C-CA55-648C-DCF2-656D0DD6BC18}"/>
              </a:ext>
            </a:extLst>
          </p:cNvPr>
          <p:cNvSpPr/>
          <p:nvPr/>
        </p:nvSpPr>
        <p:spPr>
          <a:xfrm>
            <a:off x="6439827" y="2320470"/>
            <a:ext cx="2602368" cy="25906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53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3EBC-1105-CA87-E05D-99988740A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3F7B54-00E1-4FE4-22CA-13296F430F45}"/>
              </a:ext>
            </a:extLst>
          </p:cNvPr>
          <p:cNvSpPr txBox="1"/>
          <p:nvPr/>
        </p:nvSpPr>
        <p:spPr>
          <a:xfrm>
            <a:off x="285406" y="1580591"/>
            <a:ext cx="119001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ㅁ EBD(</a:t>
            </a:r>
            <a:r>
              <a:rPr lang="en-US" altLang="ko-KR" dirty="0">
                <a:latin typeface="Malgun Gothic"/>
                <a:ea typeface="Malgun Gothic"/>
              </a:rPr>
              <a:t>Energy-Based</a:t>
            </a:r>
            <a:r>
              <a:rPr lang="ko-KR" dirty="0">
                <a:latin typeface="Malgun Gothic"/>
                <a:ea typeface="Malgun Gothic"/>
              </a:rPr>
              <a:t> Device)</a:t>
            </a:r>
            <a:r>
              <a:rPr lang="ko-KR" altLang="en-US">
                <a:ea typeface="맑은 고딕"/>
              </a:rPr>
              <a:t> : 외과적 수술 없이 에너지 자극을 통해 피부재생 및 탄력 등을 유도하는 기기</a:t>
            </a:r>
            <a:endParaRPr lang="ko-KR"/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고령 인구 증가로 인한 피부 노화 관리 수요 확대 + 2030세대의 미용 수요 증가등으로 시술 건수가 꾸준히 </a:t>
            </a:r>
            <a:br>
              <a:rPr lang="ko-KR" altLang="en-US" dirty="0">
                <a:ea typeface="맑은 고딕"/>
              </a:rPr>
            </a:br>
            <a:r>
              <a:rPr lang="ko-KR" altLang="en-US">
                <a:ea typeface="맑은 고딕"/>
              </a:rPr>
              <a:t>     증가하고 있으며, </a:t>
            </a:r>
            <a:r>
              <a:rPr lang="ko-KR">
                <a:latin typeface="Malgun Gothic"/>
                <a:ea typeface="Malgun Gothic"/>
              </a:rPr>
              <a:t>국내를 포함한 글로벌 Aesthetic EBD 시장 또한 꾸준히 증가할 것으로 예상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 * 글로벌 미용의료시술 건수 : '22년 1,880만건 → '24년 2,050만건 (출처 : 국제미용성형수술협회)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** 글로벌 시장 규모 : '23년 약 63.6억 달러 → '30년 약 159.3억 달러 (연 14% 성장 </a:t>
            </a:r>
            <a:r>
              <a:rPr lang="ko-KR" altLang="en-US" dirty="0">
                <a:ea typeface="맑은 고딕"/>
              </a:rPr>
              <a:t>전망)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*** 국내 시장 규모 : '22년 2억 달러 → '30년 7.1억 달러 (연 17.1% 성장 전망) (출처 : 한국산업은행)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대표적으로 레이저, RF, HIFU가 있으며 각각 빛, 고주파, 초음파로 다양한 피부문제 및 노화 증상 개선</a:t>
            </a:r>
          </a:p>
          <a:p>
            <a:r>
              <a:rPr lang="ko-KR" altLang="en-US" dirty="0">
                <a:ea typeface="맑은 고딕"/>
              </a:rPr>
              <a:t>  </a:t>
            </a:r>
          </a:p>
          <a:p>
            <a:r>
              <a:rPr lang="ko-KR" altLang="en-US">
                <a:ea typeface="맑은 고딕"/>
              </a:rPr>
              <a:t>  - (</a:t>
            </a:r>
            <a:r>
              <a:rPr lang="ko-KR" altLang="en-US" b="1">
                <a:ea typeface="맑은 고딕"/>
              </a:rPr>
              <a:t>RF</a:t>
            </a:r>
            <a:r>
              <a:rPr lang="ko-KR" altLang="en-US">
                <a:ea typeface="맑은 고딕"/>
              </a:rPr>
              <a:t>) 고주파를 이용해 수분 입자를 진동시켜 발생한 마찰열으로 콜라겐 수축 및 재생 유도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- (</a:t>
            </a:r>
            <a:r>
              <a:rPr lang="ko-KR" altLang="en-US" b="1">
                <a:ea typeface="맑은 고딕"/>
              </a:rPr>
              <a:t>HIFU</a:t>
            </a:r>
            <a:r>
              <a:rPr lang="ko-KR" altLang="en-US">
                <a:ea typeface="맑은 고딕"/>
              </a:rPr>
              <a:t>) 고강도 초음파를 이용해 특정 부위에 열 응고점을 형성함으로써 국소적으로 열 손상을 유발하여 콜라겐</a:t>
            </a:r>
            <a:endParaRPr lang="ko-KR">
              <a:ea typeface="맑은 고딕"/>
            </a:endParaRPr>
          </a:p>
          <a:p>
            <a:r>
              <a:rPr lang="ko-KR" altLang="en-US">
                <a:ea typeface="맑은 고딕"/>
              </a:rPr>
              <a:t>     수축·재생 및 근막 수축 유도</a:t>
            </a:r>
            <a:endParaRPr lang="ko-KR">
              <a:ea typeface="맑은 고딕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471DBED6-A5B2-6359-12D4-53713027E0E8}"/>
              </a:ext>
            </a:extLst>
          </p:cNvPr>
          <p:cNvSpPr txBox="1">
            <a:spLocks/>
          </p:cNvSpPr>
          <p:nvPr/>
        </p:nvSpPr>
        <p:spPr>
          <a:xfrm>
            <a:off x="2459" y="500527"/>
            <a:ext cx="12187082" cy="698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</p:spTree>
    <p:extLst>
      <p:ext uri="{BB962C8B-B14F-4D97-AF65-F5344CB8AC3E}">
        <p14:creationId xmlns:p14="http://schemas.microsoft.com/office/powerpoint/2010/main" val="256675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C2C1E-3426-E9DD-7544-F0990ACE8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BCF1D7-857E-8DF1-B538-B9F3BA78BDD8}"/>
              </a:ext>
            </a:extLst>
          </p:cNvPr>
          <p:cNvSpPr txBox="1"/>
          <p:nvPr/>
        </p:nvSpPr>
        <p:spPr>
          <a:xfrm>
            <a:off x="285406" y="1580591"/>
            <a:ext cx="1190016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ea typeface="맑은 고딕"/>
              </a:rPr>
              <a:t>ㅁ EBD(</a:t>
            </a:r>
            <a:r>
              <a:rPr lang="en-US" altLang="ko-KR" dirty="0">
                <a:latin typeface="Malgun Gothic"/>
                <a:ea typeface="Malgun Gothic"/>
              </a:rPr>
              <a:t>Energy-Based</a:t>
            </a:r>
            <a:r>
              <a:rPr lang="ko-KR" dirty="0">
                <a:latin typeface="Malgun Gothic"/>
                <a:ea typeface="Malgun Gothic"/>
              </a:rPr>
              <a:t> Device)</a:t>
            </a:r>
            <a:r>
              <a:rPr lang="ko-KR" altLang="en-US">
                <a:ea typeface="맑은 고딕"/>
              </a:rPr>
              <a:t> : 외과적 수술 없이 에너지 자극을 통해 피부재생 및 탄력 등을 유도하는 기기</a:t>
            </a:r>
            <a:endParaRPr lang="ko-KR"/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고령 인구 증가로 인한 피부 노화 관리 수요 확대 + 2030세대의 미용 수요 증가등으로 시술 건수가 꾸준히 </a:t>
            </a:r>
            <a:br>
              <a:rPr lang="ko-KR" altLang="en-US" dirty="0">
                <a:ea typeface="맑은 고딕"/>
              </a:rPr>
            </a:br>
            <a:r>
              <a:rPr lang="ko-KR" altLang="en-US">
                <a:ea typeface="맑은 고딕"/>
              </a:rPr>
              <a:t>     증가하고 있으며, </a:t>
            </a:r>
            <a:r>
              <a:rPr lang="ko-KR">
                <a:latin typeface="Malgun Gothic"/>
                <a:ea typeface="Malgun Gothic"/>
              </a:rPr>
              <a:t>국내를 포함한 글로벌 Aesthetic EBD 시장 또한 꾸준히 증가할 것으로 예상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 * 글로벌 미용의료시술 건수 : '22년 1,880만건 → '24년 2,050만건 (출처 : 국제미용성형수술협회)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** 시장 규모 : '24년 약 50~60억 달러 → '30년 약 100억 달러 → '34년 약 250억 달러 (연 15~20% 성장 전망)</a:t>
            </a:r>
          </a:p>
          <a:p>
            <a:r>
              <a:rPr lang="ko-KR" altLang="en-US">
                <a:ea typeface="맑은 고딕"/>
              </a:rPr>
              <a:t>     (출처 : 클래시스 사업보고서, IR자료, 증권사 리포트 등 참고)</a:t>
            </a:r>
          </a:p>
        </p:txBody>
      </p:sp>
      <p:pic>
        <p:nvPicPr>
          <p:cNvPr id="4" name="그림 3" descr="텍스트, 스크린샷, 도표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8A6063-1868-D76F-DD98-8FE5840D7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48" y="1575309"/>
            <a:ext cx="11645482" cy="513074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C061CC2-7336-3F5D-95D5-E9AE883377D4}"/>
              </a:ext>
            </a:extLst>
          </p:cNvPr>
          <p:cNvSpPr/>
          <p:nvPr/>
        </p:nvSpPr>
        <p:spPr>
          <a:xfrm>
            <a:off x="4620638" y="3631659"/>
            <a:ext cx="2334638" cy="599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53C355-A179-D365-250F-F9DC0A3F0635}"/>
              </a:ext>
            </a:extLst>
          </p:cNvPr>
          <p:cNvSpPr/>
          <p:nvPr/>
        </p:nvSpPr>
        <p:spPr>
          <a:xfrm>
            <a:off x="9293279" y="3646035"/>
            <a:ext cx="2593430" cy="556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779808F5-394E-F405-3C0A-B0F6EC63F791}"/>
              </a:ext>
            </a:extLst>
          </p:cNvPr>
          <p:cNvSpPr txBox="1">
            <a:spLocks/>
          </p:cNvSpPr>
          <p:nvPr/>
        </p:nvSpPr>
        <p:spPr>
          <a:xfrm>
            <a:off x="2459" y="500527"/>
            <a:ext cx="12187082" cy="6987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미용 의료기기 절대 강자 : 장비 판매 후 소모품 수요 연결에 따른 압도적 마</a:t>
            </a:r>
            <a:r>
              <a:rPr lang="ko-KR" altLang="en-US" sz="2200" dirty="0">
                <a:ea typeface="맑은 고딕"/>
              </a:rPr>
              <a:t>진 확보</a:t>
            </a:r>
          </a:p>
        </p:txBody>
      </p:sp>
    </p:spTree>
    <p:extLst>
      <p:ext uri="{BB962C8B-B14F-4D97-AF65-F5344CB8AC3E}">
        <p14:creationId xmlns:p14="http://schemas.microsoft.com/office/powerpoint/2010/main" val="2710484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A791-E57A-1694-5B8E-306001958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A8DBA-315D-DD0F-D27E-D5B3C9D7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17" name="그림 16" descr="텍스트, 스크린샷, 의료 장비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F8E744-CA61-2340-7153-936A9008C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3638"/>
            <a:ext cx="12192000" cy="498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6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FCBA8-D535-A2C3-A849-57D375C7F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2EEA6-29F1-76DF-584B-40B88C1E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E8BAE4-C156-6414-EE6F-01AD6EBCC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304"/>
            <a:ext cx="12192000" cy="511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700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318F-4A1F-8334-493D-68FF0AD61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3A554E-C118-5E00-D226-7417EA6B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11B45E-C40F-3529-8512-441C1BCE2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304"/>
            <a:ext cx="12192000" cy="511475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30504F6-87D2-E40E-8B73-4C681CB587F7}"/>
              </a:ext>
            </a:extLst>
          </p:cNvPr>
          <p:cNvSpPr/>
          <p:nvPr/>
        </p:nvSpPr>
        <p:spPr>
          <a:xfrm>
            <a:off x="1047" y="1392460"/>
            <a:ext cx="12189090" cy="2399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'24년 10월 이루다와의 합병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마이크로니들 RF와 레이저 분야의 탁월한 기술력을 확보하여 시너지 패키지 판매를 통해 시장 지배력 강화, 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주 공략시장이 아니었던 미국·유럽 시장 공략이 가능해짐에 따라 해외 시장 진출을 기대</a:t>
            </a:r>
            <a:endParaRPr lang="ko-KR">
              <a:solidFill>
                <a:schemeClr val="tx1"/>
              </a:solidFill>
              <a:ea typeface="맑은 고딕" panose="020B0503020000020004" pitchFamily="34" charset="-127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</p:txBody>
      </p:sp>
      <p:pic>
        <p:nvPicPr>
          <p:cNvPr id="6" name="그림 5" descr="텍스트, 스크린샷, 폰트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329935-7902-6BF7-FF45-A8BA32AAA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3" y="3724186"/>
            <a:ext cx="12193766" cy="31309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BB8229A-491A-086C-42EA-65E5ADCDBCC2}"/>
              </a:ext>
            </a:extLst>
          </p:cNvPr>
          <p:cNvSpPr/>
          <p:nvPr/>
        </p:nvSpPr>
        <p:spPr>
          <a:xfrm>
            <a:off x="2252259" y="4139660"/>
            <a:ext cx="1764855" cy="14442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424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EC6F4-6496-D692-84D2-039AF573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0BAA53-66B3-37B9-7402-FDB93E929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B353BA-9B5F-A3E3-C420-E096ECB0D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093"/>
            <a:ext cx="12192000" cy="516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17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D360-4808-EE88-B36F-3137DFFCA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28460C-346A-E469-90E0-773F86955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80ABC-2242-5FB1-347C-203D11B0C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837"/>
            <a:ext cx="12192000" cy="509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520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8E3D-6450-3364-B672-A5C87ACA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3E72A-E857-A311-304D-D667E65A0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5" name="그림 4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B066F-5A38-5428-2794-FD083A8CB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06" y="1719442"/>
            <a:ext cx="5840982" cy="1952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79F6A-A9F7-8851-2E94-613C8B4A2692}"/>
              </a:ext>
            </a:extLst>
          </p:cNvPr>
          <p:cNvSpPr txBox="1"/>
          <p:nvPr/>
        </p:nvSpPr>
        <p:spPr>
          <a:xfrm>
            <a:off x="-3168" y="5606034"/>
            <a:ext cx="61080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 ㅇ '25년 매출액 기준 내 33%, 해외 66%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해외 매출은 대부분 대리점 계약을 통해 진행</a:t>
            </a:r>
          </a:p>
          <a:p>
            <a:r>
              <a:rPr lang="ko-KR" altLang="en-US">
                <a:ea typeface="맑은 고딕"/>
              </a:rPr>
              <a:t>  → 직영법인 설립 등을 통해 유통 관련 비용 축소 필요</a:t>
            </a:r>
          </a:p>
        </p:txBody>
      </p:sp>
      <p:pic>
        <p:nvPicPr>
          <p:cNvPr id="7" name="그림 6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EBD603-D0AA-C614-DFAD-EBC672CF9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516" y="1723037"/>
            <a:ext cx="4772025" cy="4619625"/>
          </a:xfrm>
          <a:prstGeom prst="rect">
            <a:avLst/>
          </a:prstGeom>
        </p:spPr>
      </p:pic>
      <p:pic>
        <p:nvPicPr>
          <p:cNvPr id="8" name="그림 7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746CCD-F6D6-A332-4320-BDD23918D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86" y="3767587"/>
            <a:ext cx="5811330" cy="170946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A1233280-36F0-BCFD-DFE8-BC426FBF28E7}"/>
              </a:ext>
            </a:extLst>
          </p:cNvPr>
          <p:cNvSpPr/>
          <p:nvPr/>
        </p:nvSpPr>
        <p:spPr>
          <a:xfrm>
            <a:off x="282043" y="3041280"/>
            <a:ext cx="2904421" cy="2703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9E4910-5658-5066-3BAA-A368CFDDA49C}"/>
              </a:ext>
            </a:extLst>
          </p:cNvPr>
          <p:cNvSpPr/>
          <p:nvPr/>
        </p:nvSpPr>
        <p:spPr>
          <a:xfrm>
            <a:off x="385016" y="5025225"/>
            <a:ext cx="5602312" cy="2154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AF144B-5704-3826-FC3E-481E4EA9D8D9}"/>
              </a:ext>
            </a:extLst>
          </p:cNvPr>
          <p:cNvSpPr/>
          <p:nvPr/>
        </p:nvSpPr>
        <p:spPr>
          <a:xfrm>
            <a:off x="7751016" y="4407389"/>
            <a:ext cx="755720" cy="1622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0166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4443-3316-BD0D-6C4D-2672CDFFD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1514C-8D66-DC9C-4383-9637B967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아이디어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이루다 합병 및 브라질 유통법인 인수 : EBD 기술 영역 통합 및 수출 중심의 구조적 성장</a:t>
            </a:r>
            <a:endParaRPr lang="ko-KR" altLang="en-US" sz="2700">
              <a:ea typeface="맑은 고딕"/>
            </a:endParaRPr>
          </a:p>
        </p:txBody>
      </p:sp>
      <p:pic>
        <p:nvPicPr>
          <p:cNvPr id="4" name="그림 3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2C3EF5-5103-898D-F3D7-1F5E7ADD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7" y="1511825"/>
            <a:ext cx="5734264" cy="36374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2832BA-E5B3-3DC9-B2E0-274CADB1D2BF}"/>
              </a:ext>
            </a:extLst>
          </p:cNvPr>
          <p:cNvSpPr txBox="1"/>
          <p:nvPr/>
        </p:nvSpPr>
        <p:spPr>
          <a:xfrm>
            <a:off x="1106" y="5297432"/>
            <a:ext cx="586977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ㅇ '25년 10월 JL Health Participacoes S.A. 지분 인수</a:t>
            </a:r>
            <a:endParaRPr lang="ko-KR"/>
          </a:p>
          <a:p>
            <a:r>
              <a:rPr lang="ko-KR" altLang="en-US">
                <a:ea typeface="맑은 고딕"/>
              </a:rPr>
              <a:t>    계약 체결 → '26년 3월 인수 완료 후 직영 판매 시작</a:t>
            </a:r>
            <a:endParaRPr lang="ko-KR"/>
          </a:p>
          <a:p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ㅇ 동일 시점에 콜롬비아 및 아르헨티나 소재 법인도 </a:t>
            </a:r>
            <a:endParaRPr lang="ko-KR" altLang="en-US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    함께 인수하여 직영 체제로 운영 중</a:t>
            </a:r>
            <a:endParaRPr lang="ko-KR" altLang="en-US">
              <a:ea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39E1C8-7F2B-818B-B14C-CA850D326482}"/>
              </a:ext>
            </a:extLst>
          </p:cNvPr>
          <p:cNvSpPr txBox="1"/>
          <p:nvPr/>
        </p:nvSpPr>
        <p:spPr>
          <a:xfrm>
            <a:off x="6097105" y="5302612"/>
            <a:ext cx="609010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ㅇ (미국) 쿼드세이 2분기 런칭 예정</a:t>
            </a:r>
            <a:endParaRPr lang="ko-KR" altLang="en-US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ㅇ (일본) 대형 클리닉 네트워크 강화 등 실적 가시</a:t>
            </a:r>
            <a:r>
              <a:rPr lang="ko-KR" altLang="en-US" dirty="0">
                <a:ea typeface="맑은 고딕"/>
              </a:rPr>
              <a:t>화 기대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ㅇ (태국) 리팟, 쿼드세이 런칭 예정</a:t>
            </a:r>
            <a:endParaRPr lang="ko-KR" altLang="en-US" dirty="0">
              <a:ea typeface="맑은 고딕" panose="020B0503020000020004" pitchFamily="34" charset="-127"/>
            </a:endParaRPr>
          </a:p>
        </p:txBody>
      </p:sp>
      <p:pic>
        <p:nvPicPr>
          <p:cNvPr id="7" name="그림 6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E79849-7290-D432-D664-8F4934681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162" y="1510270"/>
            <a:ext cx="5870000" cy="363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39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BDECC-DDC1-0642-7087-720200BF4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0DE99-4A94-F381-4363-A12DE0FD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1. 최대 주주 오버행 이슈 </a:t>
            </a:r>
            <a:endParaRPr lang="ko-KR" altLang="en-US" sz="270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8A7AFE-D2B5-1E9D-4136-AFF7B85A0EB7}"/>
              </a:ext>
            </a:extLst>
          </p:cNvPr>
          <p:cNvSpPr txBox="1"/>
          <p:nvPr/>
        </p:nvSpPr>
        <p:spPr>
          <a:xfrm>
            <a:off x="285406" y="1600537"/>
            <a:ext cx="1190016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'22년 4월 베인캐피탈 클래시스 지분 60.84% 인수 후 최대주주로 변경</a:t>
            </a:r>
            <a:endParaRPr lang="ko-KR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'24년 10월, 지분 매각 추진 언론 보도 → 매도세 작용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(1차) '25년 5월, 베인캐피탈 보유 지분 약 6% 블록딜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- 전일 종가 대비 약 10% 할인된 가격으로, 주가 크게 하락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(2차) '26년 2월, 베인캐피탈 보유 지분 약 8% 블록딜 (해당 거래로 투자금 대부분 회수 완료)</a:t>
            </a:r>
          </a:p>
          <a:p>
            <a:endParaRPr lang="ko-KR" altLang="en-US" dirty="0">
              <a:ea typeface="맑은 고딕"/>
            </a:endParaRPr>
          </a:p>
          <a:p>
            <a:r>
              <a:rPr lang="ko-KR">
                <a:latin typeface="Malgun Gothic"/>
                <a:ea typeface="Malgun Gothic"/>
              </a:rPr>
              <a:t>  - 전일 종가 대비 약 </a:t>
            </a:r>
            <a:r>
              <a:rPr lang="en-US" altLang="ko-KR">
                <a:latin typeface="Malgun Gothic"/>
                <a:ea typeface="Malgun Gothic"/>
              </a:rPr>
              <a:t>11</a:t>
            </a:r>
            <a:r>
              <a:rPr lang="ko-KR">
                <a:latin typeface="Malgun Gothic"/>
                <a:ea typeface="Malgun Gothic"/>
              </a:rPr>
              <a:t>% 할인된 가격으로, 주가 크게 하락</a:t>
            </a:r>
          </a:p>
          <a:p>
            <a:endParaRPr lang="ko-KR" dirty="0">
              <a:latin typeface="Malgun Gothic"/>
              <a:ea typeface="Malgun Gothic"/>
            </a:endParaRPr>
          </a:p>
          <a:p>
            <a:r>
              <a:rPr lang="ko-KR" altLang="en-US">
                <a:latin typeface="Malgun Gothic"/>
                <a:ea typeface="Malgun Gothic"/>
              </a:rPr>
              <a:t> ㅇ '26년 3월, 언론 보도를 통해 추가 블록딜은 없다고 발표하였으나, 여전히 불확실성은 존재하는 상황</a:t>
            </a:r>
            <a:endParaRPr lang="ko-KR" dirty="0">
              <a:latin typeface="Malgun Gothic"/>
              <a:ea typeface="Malgun Gothic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ㅇ 일반적으로 사모펀드는 약 5~7년의 투자회수기간을 설정한 후, 지분 매각 등을 통해 자금을 회수</a:t>
            </a:r>
            <a:endParaRPr lang="ko-KR" altLang="en-US" dirty="0">
              <a:ea typeface="맑은 고딕"/>
            </a:endParaRPr>
          </a:p>
          <a:p>
            <a:endParaRPr lang="ko-KR" altLang="en-US" dirty="0">
              <a:ea typeface="맑은 고딕"/>
            </a:endParaRPr>
          </a:p>
          <a:p>
            <a:r>
              <a:rPr lang="ko-KR" altLang="en-US">
                <a:ea typeface="맑은 고딕"/>
              </a:rPr>
              <a:t>  → 지분 처분 시점, 방식에 대한 </a:t>
            </a:r>
            <a:r>
              <a:rPr lang="ko-KR" altLang="en-US" b="1">
                <a:ea typeface="맑은 고딕"/>
              </a:rPr>
              <a:t>불확실성 존재</a:t>
            </a:r>
            <a:r>
              <a:rPr lang="ko-KR" altLang="en-US">
                <a:ea typeface="맑은 고딕"/>
              </a:rPr>
              <a:t> → 향후 경영전략 및 지배구조에 영향을 미칠 우려</a:t>
            </a:r>
          </a:p>
        </p:txBody>
      </p:sp>
    </p:spTree>
    <p:extLst>
      <p:ext uri="{BB962C8B-B14F-4D97-AF65-F5344CB8AC3E}">
        <p14:creationId xmlns:p14="http://schemas.microsoft.com/office/powerpoint/2010/main" val="1456970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4BBEC-E0CD-65EF-5401-F177C2AE3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CC413-3C51-9118-C76C-A3C0D843B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40D278E-CC05-F6EC-F22C-B3583C1C8D25}"/>
              </a:ext>
            </a:extLst>
          </p:cNvPr>
          <p:cNvGrpSpPr/>
          <p:nvPr/>
        </p:nvGrpSpPr>
        <p:grpSpPr>
          <a:xfrm>
            <a:off x="178639" y="1534064"/>
            <a:ext cx="11834722" cy="5126967"/>
            <a:chOff x="178639" y="1534064"/>
            <a:chExt cx="11834722" cy="5126967"/>
          </a:xfrm>
        </p:grpSpPr>
        <p:pic>
          <p:nvPicPr>
            <p:cNvPr id="5" name="그림 4" descr="텍스트, 스크린샷, 번호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0EECCC4-42E5-4A34-E068-8E383C850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8639" y="1534064"/>
              <a:ext cx="11834722" cy="512696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DDE8F93-6A45-EE7F-6251-3DCB69ECF67F}"/>
                </a:ext>
              </a:extLst>
            </p:cNvPr>
            <p:cNvSpPr/>
            <p:nvPr/>
          </p:nvSpPr>
          <p:spPr>
            <a:xfrm>
              <a:off x="1051034" y="2469933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85.2</a:t>
              </a:r>
              <a:endParaRPr lang="ko-KR" sz="1050" b="1">
                <a:solidFill>
                  <a:schemeClr val="tx1"/>
                </a:solidFill>
                <a:ea typeface="맑은 고딕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860FAD5-80ED-7177-7025-61C9049F4282}"/>
                </a:ext>
              </a:extLst>
            </p:cNvPr>
            <p:cNvSpPr/>
            <p:nvPr/>
          </p:nvSpPr>
          <p:spPr>
            <a:xfrm>
              <a:off x="1051034" y="2680140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(19.7)</a:t>
              </a:r>
              <a:endParaRPr lang="ko-KR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08B4600-E3BC-3CB4-6F5A-0C5D98C17662}"/>
                </a:ext>
              </a:extLst>
            </p:cNvPr>
            <p:cNvSpPr/>
            <p:nvPr/>
          </p:nvSpPr>
          <p:spPr>
            <a:xfrm>
              <a:off x="1051033" y="2890347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23.1%</a:t>
              </a:r>
              <a:endParaRPr lang="ko-KR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245463F-B565-24F8-DFF3-BE92B61ADDB3}"/>
                </a:ext>
              </a:extLst>
            </p:cNvPr>
            <p:cNvSpPr/>
            <p:nvPr/>
          </p:nvSpPr>
          <p:spPr>
            <a:xfrm>
              <a:off x="1051033" y="3100554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65.6</a:t>
              </a:r>
              <a:endParaRPr lang="ko-KR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AE27787-1359-6476-4068-895F1A8646AF}"/>
                </a:ext>
              </a:extLst>
            </p:cNvPr>
            <p:cNvSpPr/>
            <p:nvPr/>
          </p:nvSpPr>
          <p:spPr>
            <a:xfrm>
              <a:off x="1051033" y="3323899"/>
              <a:ext cx="722586" cy="2102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ko-KR" altLang="en-US" sz="1050" b="1">
                  <a:solidFill>
                    <a:schemeClr val="tx1"/>
                  </a:solidFill>
                  <a:ea typeface="맑은 고딕"/>
                </a:rPr>
                <a:t>76.9%</a:t>
              </a:r>
              <a:endParaRPr lang="ko-KR"/>
            </a:p>
          </p:txBody>
        </p:sp>
      </p:grpSp>
    </p:spTree>
    <p:extLst>
      <p:ext uri="{BB962C8B-B14F-4D97-AF65-F5344CB8AC3E}">
        <p14:creationId xmlns:p14="http://schemas.microsoft.com/office/powerpoint/2010/main" val="3071866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7D613-9EC1-9688-272A-05644F3B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ADF52-B567-35C1-D6BF-0EA8E50CF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879AC9-12E8-3661-61F9-10C84C8AA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6" y="1506208"/>
            <a:ext cx="11978316" cy="519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33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A9E5F-7E16-3FB4-A36B-1563CBFF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8B5FB-42F6-E7C5-D928-948B733F6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D7B9CD-7CB0-6531-D3C7-019689DA1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36" y="1510521"/>
            <a:ext cx="11633619" cy="511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63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EA612-4412-82FA-02B5-67EA8CD4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1F57A-8CDC-34C5-0553-F9D34882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ea typeface="맑은 고딕"/>
              </a:rPr>
              <a:t>   투자 리스크</a:t>
            </a:r>
            <a:br>
              <a:rPr lang="ko-KR" altLang="en-US" dirty="0">
                <a:ea typeface="맑은 고딕"/>
              </a:rPr>
            </a:br>
            <a:r>
              <a:rPr lang="ko-KR" altLang="en-US" dirty="0">
                <a:ea typeface="맑은 고딕"/>
              </a:rPr>
              <a:t>    </a:t>
            </a:r>
            <a:r>
              <a:rPr lang="ko-KR" altLang="en-US" sz="2200">
                <a:ea typeface="맑은 고딕"/>
              </a:rPr>
              <a:t>2. 견고했던 영업이익률 훼손 우려 이슈</a:t>
            </a:r>
            <a:endParaRPr lang="ko-KR" altLang="en-US" sz="2700"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B2DD5-0847-18CA-622F-54489889AAFD}"/>
              </a:ext>
            </a:extLst>
          </p:cNvPr>
          <p:cNvSpPr txBox="1"/>
          <p:nvPr/>
        </p:nvSpPr>
        <p:spPr>
          <a:xfrm>
            <a:off x="285406" y="1580591"/>
            <a:ext cx="1190016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국내 EBD 경쟁사들의 소모품 확대 전략</a:t>
            </a:r>
            <a:endParaRPr lang="ko-KR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 ㅇ 소모품 원가율이 상대적으로 낮은 미용의료기기 산업 특성상, 국내 소모품 매출액 역시 큰 폭으로 상승</a:t>
            </a:r>
            <a:endParaRPr lang="ko-KR" altLang="en-US" dirty="0">
              <a:ea typeface="맑은 고딕" panose="020B0503020000020004" pitchFamily="34" charset="-127"/>
            </a:endParaRPr>
          </a:p>
          <a:p>
            <a:endParaRPr lang="ko-KR" altLang="en-US" dirty="0">
              <a:ea typeface="맑은 고딕" panose="020B0503020000020004" pitchFamily="34" charset="-127"/>
            </a:endParaRPr>
          </a:p>
          <a:p>
            <a:r>
              <a:rPr lang="ko-KR" altLang="en-US">
                <a:ea typeface="맑은 고딕"/>
              </a:rPr>
              <a:t>  → 고마진 소모품 수익 모델을 독점하던 시장 지위가 약화될 우려</a:t>
            </a:r>
          </a:p>
        </p:txBody>
      </p:sp>
      <p:pic>
        <p:nvPicPr>
          <p:cNvPr id="3" name="그림 2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9AAF25-DDA1-0597-D665-6A44E88AC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79" y="3200221"/>
            <a:ext cx="5520367" cy="3534314"/>
          </a:xfrm>
          <a:prstGeom prst="rect">
            <a:avLst/>
          </a:prstGeom>
        </p:spPr>
      </p:pic>
      <p:pic>
        <p:nvPicPr>
          <p:cNvPr id="4" name="그림 3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77F8F1-A11A-77EA-DF1D-35B48C148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41" y="3190695"/>
            <a:ext cx="5722009" cy="35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80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36EA-9862-3787-AE28-FBB3A171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843DCD-2382-E51B-2C41-39A556E36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투자 로드맵</a:t>
            </a:r>
            <a:endParaRPr lang="ko-KR" altLang="en-US"/>
          </a:p>
        </p:txBody>
      </p:sp>
      <p:pic>
        <p:nvPicPr>
          <p:cNvPr id="6" name="그림 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0C37A4-475C-A22D-DECC-B3810CF3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39" y="1795137"/>
            <a:ext cx="11576324" cy="4886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2B9EF2-BBC0-87A9-6A9C-DCE142046B55}"/>
              </a:ext>
            </a:extLst>
          </p:cNvPr>
          <p:cNvSpPr txBox="1"/>
          <p:nvPr/>
        </p:nvSpPr>
        <p:spPr>
          <a:xfrm>
            <a:off x="285406" y="1307420"/>
            <a:ext cx="119001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'26년 목표 매출액 : 4,900억원 (클래시스 단독 4,400억원 + 브라질 유통법인 연결 500억원, YoY 45%)</a:t>
            </a:r>
            <a:endParaRPr lang="ko-KR"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233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A9114-13FA-6515-542B-0CBD4BA7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D9D35-FECE-8DD5-E025-373FE7E2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투자 로드맵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616195-AFBD-E53B-A519-ED473F384886}"/>
              </a:ext>
            </a:extLst>
          </p:cNvPr>
          <p:cNvSpPr txBox="1"/>
          <p:nvPr/>
        </p:nvSpPr>
        <p:spPr>
          <a:xfrm>
            <a:off x="285406" y="1307420"/>
            <a:ext cx="119001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</a:rPr>
              <a:t>ㅁ '26년 목표 매출액 : 4,900억원 (클래시스 단독 4,400억원 + 브라질 유통법인 연결 500억원, YoY 45%)</a:t>
            </a:r>
            <a:endParaRPr lang="ko-KR">
              <a:ea typeface="맑은 고딕" panose="020B0503020000020004" pitchFamily="34" charset="-127"/>
            </a:endParaRPr>
          </a:p>
        </p:txBody>
      </p:sp>
      <p:pic>
        <p:nvPicPr>
          <p:cNvPr id="6" name="그림 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C9055B-16C4-D2C3-2484-92E716E7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03" y="2117785"/>
            <a:ext cx="11569460" cy="456337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C878-662D-84FB-9B30-24FE3495ACD6}"/>
              </a:ext>
            </a:extLst>
          </p:cNvPr>
          <p:cNvSpPr/>
          <p:nvPr/>
        </p:nvSpPr>
        <p:spPr>
          <a:xfrm>
            <a:off x="281210" y="1311509"/>
            <a:ext cx="11599360" cy="5367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투자 의견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 : 확고한 수익 모델 가치 훼손 리스크 발생 가능성 낮음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'25년 매출액 3,368억원 x 최근 5년간 YoY 35% 설정 시 '26년 클래시스 매출액 : 4,546억원으로 추정, '25년</a:t>
            </a:r>
            <a:endParaRPr lang="ko-KR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     3월 브라질 법인 매출액(내부거래에 따른 미실현매출 제거) 약 18억 x 10 = 180억원</a:t>
            </a:r>
            <a:endParaRPr lang="ko-KR">
              <a:solidFill>
                <a:schemeClr val="tx1"/>
              </a:solidFill>
              <a:ea typeface="맑은 고딕"/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'26년 예상매출액 4,726억원 x '25년 순이익률 39.18% ÷ 발행주식수 65,235,659 x '25년 PER 27.06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   → '26년 예상 주가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76,807원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ㅁ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중국 진출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이 본격화될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'27년 이후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 성장 모멘텀 강화에 따른 </a:t>
            </a:r>
            <a:r>
              <a:rPr lang="ko-KR" altLang="en-US" b="1">
                <a:solidFill>
                  <a:schemeClr val="tx1"/>
                </a:solidFill>
                <a:ea typeface="맑은 고딕"/>
              </a:rPr>
              <a:t>추가 상승 여력 존재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올해 말 볼뉴머, 내년 초 슈링크 승인을 목표로 하고 있으며, 이 결과에 따라 기업 가치 변동이 예상됨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ㅁ 최근 주가 하락은 1분기 영업이익률 감소에 따른 것으로 판단되나, </a:t>
            </a: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>
                <a:solidFill>
                  <a:schemeClr val="tx1"/>
                </a:solidFill>
                <a:ea typeface="맑은 고딕"/>
              </a:rPr>
              <a:t> ㅇ 이는 브라질 직영 판매 시작 후 내부거래에 따른 미실현매출 제거 및 연초에 집중되는 경향이 있는 판관비</a:t>
            </a:r>
          </a:p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    (광고선전비 등)의 일시적 증가에 따른 결과로,  </a:t>
            </a:r>
            <a:r>
              <a:rPr lang="ko-KR" altLang="en-US">
                <a:solidFill>
                  <a:schemeClr val="tx1"/>
                </a:solidFill>
                <a:ea typeface="맑은 고딕"/>
              </a:rPr>
              <a:t>2~3분기 시술 증가 등을 고려했을 때, 실적지표 개선이 유</a:t>
            </a:r>
            <a:r>
              <a:rPr lang="ko-KR" altLang="en-US" dirty="0">
                <a:solidFill>
                  <a:schemeClr val="tx1"/>
                </a:solidFill>
                <a:ea typeface="맑은 고딕"/>
              </a:rPr>
              <a:t>력</a:t>
            </a:r>
            <a:endParaRPr 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  <a:ea typeface="맑은 고딕"/>
            </a:endParaRPr>
          </a:p>
          <a:p>
            <a:r>
              <a:rPr lang="ko-KR" altLang="en-US" dirty="0">
                <a:solidFill>
                  <a:schemeClr val="tx1"/>
                </a:solidFill>
                <a:ea typeface="맑은 고딕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1152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72DE9-762C-D72E-51C7-682A620ED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EE34E-6253-9D95-08A6-3FE4DBE4E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주담 통화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28897-DC1E-9919-1288-A4A6DFC980C9}"/>
              </a:ext>
            </a:extLst>
          </p:cNvPr>
          <p:cNvSpPr txBox="1"/>
          <p:nvPr/>
        </p:nvSpPr>
        <p:spPr>
          <a:xfrm>
            <a:off x="115019" y="1199862"/>
            <a:ext cx="12076981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&lt;</a:t>
            </a:r>
            <a:r>
              <a:rPr lang="en-US" b="1" dirty="0" err="1"/>
              <a:t>제품</a:t>
            </a:r>
            <a:r>
              <a:rPr lang="en-US" b="1" dirty="0"/>
              <a:t>&gt; </a:t>
            </a:r>
            <a:endParaRPr lang="en-US" altLang="ko-KR" b="1">
              <a:ea typeface="맑은 고딕" panose="020B0503020000020004" pitchFamily="34" charset="-127"/>
            </a:endParaRPr>
          </a:p>
          <a:p>
            <a:endParaRPr lang="en-US" dirty="0"/>
          </a:p>
          <a:p>
            <a:r>
              <a:rPr lang="en-US" sz="1600" dirty="0">
                <a:latin typeface="Malgun Gothic"/>
                <a:ea typeface="Malgun Gothic"/>
              </a:rPr>
              <a:t>1. </a:t>
            </a:r>
            <a:r>
              <a:rPr lang="en-US" sz="1600" dirty="0" err="1"/>
              <a:t>기존</a:t>
            </a:r>
            <a:r>
              <a:rPr lang="en-US" sz="1600" dirty="0"/>
              <a:t> </a:t>
            </a:r>
            <a:r>
              <a:rPr lang="en-US" sz="1600" dirty="0" err="1"/>
              <a:t>슈링크에서</a:t>
            </a:r>
            <a:r>
              <a:rPr lang="en-US" sz="1600" dirty="0"/>
              <a:t> </a:t>
            </a:r>
            <a:r>
              <a:rPr lang="en-US" sz="1600" dirty="0" err="1"/>
              <a:t>슈링크</a:t>
            </a:r>
            <a:r>
              <a:rPr lang="en-US" sz="1600" dirty="0"/>
              <a:t> </a:t>
            </a:r>
            <a:r>
              <a:rPr lang="en-US" sz="1600" dirty="0" err="1"/>
              <a:t>유니버스로</a:t>
            </a:r>
            <a:r>
              <a:rPr lang="en-US" sz="1600" dirty="0"/>
              <a:t> </a:t>
            </a:r>
            <a:r>
              <a:rPr lang="en-US" sz="1600" dirty="0" err="1"/>
              <a:t>교체하는</a:t>
            </a:r>
            <a:r>
              <a:rPr lang="en-US" sz="1600" dirty="0"/>
              <a:t> </a:t>
            </a:r>
            <a:r>
              <a:rPr lang="en-US" sz="1600" dirty="0" err="1"/>
              <a:t>수요가</a:t>
            </a:r>
            <a:r>
              <a:rPr lang="en-US" sz="1600" dirty="0"/>
              <a:t> </a:t>
            </a:r>
            <a:r>
              <a:rPr lang="en-US" sz="1600" dirty="0" err="1"/>
              <a:t>어느</a:t>
            </a:r>
            <a:r>
              <a:rPr lang="en-US" sz="1600" dirty="0"/>
              <a:t> </a:t>
            </a:r>
            <a:r>
              <a:rPr lang="en-US" sz="1600" dirty="0" err="1"/>
              <a:t>수준인지</a:t>
            </a:r>
            <a:r>
              <a:rPr lang="en-US" sz="1600" dirty="0"/>
              <a:t>? </a:t>
            </a:r>
            <a:r>
              <a:rPr lang="en-US" sz="1600" dirty="0" err="1"/>
              <a:t>해당</a:t>
            </a:r>
            <a:r>
              <a:rPr lang="en-US" sz="1600" dirty="0"/>
              <a:t> </a:t>
            </a:r>
            <a:r>
              <a:rPr lang="en-US" sz="1600" dirty="0" err="1"/>
              <a:t>내용이</a:t>
            </a:r>
            <a:r>
              <a:rPr lang="en-US" sz="1600" dirty="0"/>
              <a:t> </a:t>
            </a:r>
            <a:r>
              <a:rPr lang="en-US" sz="1600" dirty="0" err="1"/>
              <a:t>올해</a:t>
            </a:r>
            <a:r>
              <a:rPr lang="en-US" sz="1600" dirty="0"/>
              <a:t> </a:t>
            </a:r>
            <a:r>
              <a:rPr lang="en-US" sz="1600" dirty="0" err="1"/>
              <a:t>연매출</a:t>
            </a:r>
            <a:r>
              <a:rPr lang="en-US" sz="1600" dirty="0"/>
              <a:t> </a:t>
            </a:r>
            <a:r>
              <a:rPr lang="en-US" sz="1600" dirty="0" err="1"/>
              <a:t>예측치에</a:t>
            </a:r>
            <a:r>
              <a:rPr lang="en-US" sz="1600" dirty="0"/>
              <a:t> </a:t>
            </a:r>
            <a:r>
              <a:rPr lang="en-US" sz="1600" dirty="0" err="1"/>
              <a:t>포함되어</a:t>
            </a:r>
            <a:r>
              <a:rPr lang="en-US" sz="1600" dirty="0"/>
              <a:t> </a:t>
            </a:r>
            <a:r>
              <a:rPr lang="en-US" sz="1600" dirty="0" err="1"/>
              <a:t>있는지</a:t>
            </a:r>
            <a:r>
              <a:rPr lang="en-US" sz="1600" dirty="0"/>
              <a:t>? </a:t>
            </a:r>
            <a:endParaRPr lang="en-US" altLang="ko-KR" sz="1600">
              <a:ea typeface="맑은 고딕"/>
            </a:endParaRPr>
          </a:p>
          <a:p>
            <a:pPr marL="342900" indent="-342900">
              <a:buFont typeface="Calibri"/>
              <a:buChar char="-"/>
            </a:pPr>
            <a:endParaRPr lang="en-US" sz="160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구체적인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교체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수치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(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가이던스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r>
              <a:rPr lang="ko-KR" alt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는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미공개이나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신규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고객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확보는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물론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기존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슈링크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고객의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업그레이드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수요가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지속해서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발생하고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있습니다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. (25</a:t>
            </a:r>
            <a:r>
              <a:rPr lang="ko-KR" alt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년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말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기준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국내</a:t>
            </a:r>
            <a:r>
              <a:rPr 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6,400</a:t>
            </a:r>
            <a:r>
              <a:rPr lang="ko-KR" altLang="en-US" sz="160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대</a:t>
            </a:r>
            <a:r>
              <a:rPr lang="en-US" altLang="ko-KR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돌파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ea typeface="+mn-lt"/>
                <a:cs typeface="+mn-lt"/>
              </a:rPr>
              <a:t>)</a:t>
            </a:r>
            <a:endParaRPr lang="en-US" sz="1600">
              <a:solidFill>
                <a:srgbClr val="0000FF"/>
              </a:solidFill>
              <a:highlight>
                <a:srgbClr val="FFFFFF"/>
              </a:highlight>
              <a:latin typeface="Malgun Gothic"/>
              <a:ea typeface="Malgun Gothic"/>
            </a:endParaRPr>
          </a:p>
          <a:p>
            <a:pPr>
              <a:buFont typeface="Calibri"/>
              <a:buChar char="-"/>
            </a:pPr>
            <a:endParaRPr lang="en-US" sz="1600" dirty="0">
              <a:solidFill>
                <a:srgbClr val="0000FF"/>
              </a:solidFill>
              <a:highlight>
                <a:srgbClr val="FFFFFF"/>
              </a:highlight>
              <a:ea typeface="맑은 고딕" panose="020F0502020204030204"/>
            </a:endParaRPr>
          </a:p>
          <a:p>
            <a:r>
              <a:rPr lang="en-US" sz="1600" dirty="0"/>
              <a:t>2. </a:t>
            </a:r>
            <a:r>
              <a:rPr lang="en-US" sz="1600" dirty="0" err="1"/>
              <a:t>쿼드세이</a:t>
            </a:r>
            <a:r>
              <a:rPr lang="en-US" sz="1600" dirty="0"/>
              <a:t> </a:t>
            </a:r>
            <a:r>
              <a:rPr lang="en-US" sz="1600" dirty="0" err="1"/>
              <a:t>런칭</a:t>
            </a:r>
            <a:r>
              <a:rPr lang="en-US" sz="1600" dirty="0"/>
              <a:t> </a:t>
            </a:r>
            <a:r>
              <a:rPr lang="en-US" sz="1600" dirty="0" err="1"/>
              <a:t>이후</a:t>
            </a:r>
            <a:r>
              <a:rPr lang="en-US" sz="1600" dirty="0"/>
              <a:t> </a:t>
            </a:r>
            <a:r>
              <a:rPr lang="en-US" sz="1600" dirty="0" err="1"/>
              <a:t>판매</a:t>
            </a:r>
            <a:r>
              <a:rPr lang="en-US" sz="1600" dirty="0"/>
              <a:t> </a:t>
            </a:r>
            <a:r>
              <a:rPr lang="en-US" sz="1600" dirty="0" err="1"/>
              <a:t>속도가</a:t>
            </a:r>
            <a:r>
              <a:rPr lang="en-US" sz="1600" dirty="0"/>
              <a:t> </a:t>
            </a:r>
            <a:r>
              <a:rPr lang="en-US" sz="1600" dirty="0" err="1"/>
              <a:t>기존</a:t>
            </a:r>
            <a:r>
              <a:rPr lang="en-US" sz="1600" dirty="0"/>
              <a:t> </a:t>
            </a:r>
            <a:r>
              <a:rPr lang="en-US" sz="1600" dirty="0" err="1"/>
              <a:t>슈링크</a:t>
            </a:r>
            <a:r>
              <a:rPr lang="en-US" sz="1600" dirty="0"/>
              <a:t> </a:t>
            </a:r>
            <a:r>
              <a:rPr lang="en-US" sz="1600" dirty="0" err="1"/>
              <a:t>사례와</a:t>
            </a:r>
            <a:r>
              <a:rPr lang="en-US" sz="1600" dirty="0"/>
              <a:t> </a:t>
            </a:r>
            <a:r>
              <a:rPr lang="en-US" sz="1600" dirty="0" err="1"/>
              <a:t>비교했을</a:t>
            </a:r>
            <a:r>
              <a:rPr lang="en-US" sz="1600" dirty="0"/>
              <a:t> 때 </a:t>
            </a:r>
            <a:r>
              <a:rPr lang="en-US" sz="1600" dirty="0" err="1"/>
              <a:t>어느</a:t>
            </a:r>
            <a:r>
              <a:rPr lang="en-US" sz="1600" dirty="0"/>
              <a:t> </a:t>
            </a:r>
            <a:r>
              <a:rPr lang="en-US" sz="1600" dirty="0" err="1"/>
              <a:t>정도</a:t>
            </a:r>
            <a:r>
              <a:rPr lang="en-US" sz="1600" dirty="0"/>
              <a:t> </a:t>
            </a:r>
            <a:r>
              <a:rPr lang="en-US" sz="1600" dirty="0" err="1"/>
              <a:t>수준인지</a:t>
            </a:r>
            <a:r>
              <a:rPr lang="en-US" sz="1600" dirty="0"/>
              <a:t>? </a:t>
            </a:r>
            <a:endParaRPr lang="en-US" altLang="ko-KR" sz="1600">
              <a:ea typeface="맑은 고딕"/>
            </a:endParaRPr>
          </a:p>
          <a:p>
            <a:endParaRPr lang="ko-KR" altLang="en-US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출시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초기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시장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반응은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내부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기대치에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부합하며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 2026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연간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1,000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이상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판매를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목표로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핵심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성장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동력으로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육성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중입니다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/>
              <a:t>3. </a:t>
            </a:r>
            <a:r>
              <a:rPr lang="en-US" sz="1600" dirty="0" err="1"/>
              <a:t>기존</a:t>
            </a:r>
            <a:r>
              <a:rPr lang="en-US" sz="1600" dirty="0"/>
              <a:t> </a:t>
            </a:r>
            <a:r>
              <a:rPr lang="en-US" sz="1600" dirty="0" err="1"/>
              <a:t>클래시스</a:t>
            </a:r>
            <a:r>
              <a:rPr lang="en-US" sz="1600" dirty="0"/>
              <a:t> </a:t>
            </a:r>
            <a:r>
              <a:rPr lang="en-US" sz="1600" dirty="0" err="1"/>
              <a:t>거래처</a:t>
            </a:r>
            <a:r>
              <a:rPr lang="en-US" sz="1600" dirty="0"/>
              <a:t>(</a:t>
            </a:r>
            <a:r>
              <a:rPr lang="en-US" sz="1600" dirty="0" err="1"/>
              <a:t>슈링크</a:t>
            </a:r>
            <a:r>
              <a:rPr lang="en-US" sz="1600" dirty="0"/>
              <a:t> </a:t>
            </a:r>
            <a:r>
              <a:rPr lang="en-US" sz="1600" dirty="0" err="1"/>
              <a:t>보유</a:t>
            </a:r>
            <a:r>
              <a:rPr lang="en-US" sz="1600" dirty="0"/>
              <a:t> </a:t>
            </a:r>
            <a:r>
              <a:rPr lang="en-US" sz="1600" dirty="0" err="1"/>
              <a:t>병·의원</a:t>
            </a:r>
            <a:r>
              <a:rPr lang="en-US" sz="1600" dirty="0"/>
              <a:t>)에 </a:t>
            </a:r>
            <a:r>
              <a:rPr lang="en-US" sz="1600" dirty="0" err="1"/>
              <a:t>이루다</a:t>
            </a:r>
            <a:r>
              <a:rPr lang="en-US" sz="1600" dirty="0"/>
              <a:t> </a:t>
            </a:r>
            <a:r>
              <a:rPr lang="en-US" sz="1600" dirty="0" err="1"/>
              <a:t>장비</a:t>
            </a:r>
            <a:r>
              <a:rPr lang="en-US" sz="1600" dirty="0"/>
              <a:t>(</a:t>
            </a:r>
            <a:r>
              <a:rPr lang="en-US" sz="1600" dirty="0" err="1"/>
              <a:t>쿼드세이</a:t>
            </a:r>
            <a:r>
              <a:rPr lang="en-US" sz="1600" dirty="0"/>
              <a:t>, </a:t>
            </a:r>
            <a:r>
              <a:rPr lang="en-US" sz="1600" dirty="0" err="1"/>
              <a:t>리팟</a:t>
            </a:r>
            <a:r>
              <a:rPr lang="en-US" sz="1600" dirty="0"/>
              <a:t>)가 </a:t>
            </a:r>
            <a:r>
              <a:rPr lang="en-US" sz="1600" dirty="0" err="1"/>
              <a:t>판매된</a:t>
            </a:r>
            <a:r>
              <a:rPr lang="en-US" sz="1600" dirty="0"/>
              <a:t> </a:t>
            </a:r>
            <a:r>
              <a:rPr lang="en-US" sz="1600" dirty="0" err="1"/>
              <a:t>실적이</a:t>
            </a:r>
            <a:r>
              <a:rPr lang="en-US" sz="1600" dirty="0"/>
              <a:t> </a:t>
            </a:r>
            <a:r>
              <a:rPr lang="en-US" sz="1600" dirty="0" err="1"/>
              <a:t>뚜렷하게</a:t>
            </a:r>
            <a:r>
              <a:rPr lang="en-US" sz="1600" dirty="0"/>
              <a:t> </a:t>
            </a:r>
            <a:r>
              <a:rPr lang="en-US" sz="1600" dirty="0" err="1"/>
              <a:t>확인되는지</a:t>
            </a:r>
            <a:r>
              <a:rPr lang="en-US" sz="1600" dirty="0"/>
              <a:t>? </a:t>
            </a:r>
            <a:endParaRPr lang="en-US" altLang="ko-KR" sz="1600">
              <a:ea typeface="맑은 고딕"/>
            </a:endParaRPr>
          </a:p>
          <a:p>
            <a:endParaRPr lang="ko-KR" altLang="en-US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개별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교차판매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수치는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미공개이나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,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합병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이후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ea typeface="+mn-lt"/>
                <a:cs typeface="+mn-lt"/>
              </a:rPr>
              <a:t>구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ea typeface="+mn-lt"/>
                <a:cs typeface="+mn-lt"/>
              </a:rPr>
              <a:t>舊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)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이루다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품목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매출이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과거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최대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실적을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상회하며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패키지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판매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시너지가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빠르게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나타나고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있습니다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0000FF"/>
              </a:solidFill>
              <a:ea typeface="맑은 고딕" panose="020F0502020204030204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latin typeface="Malgun Gothic"/>
                <a:ea typeface="Malgun Gothic"/>
              </a:rPr>
              <a:t>4. </a:t>
            </a:r>
            <a:r>
              <a:rPr lang="ko-KR" alt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쿼드세이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소모품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판매가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본격화되는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하반기에도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슈링크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수준의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초고마진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달성이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 </a:t>
            </a:r>
            <a:r>
              <a:rPr lang="en-US" sz="1600" dirty="0" err="1">
                <a:highlight>
                  <a:srgbClr val="FFFFFF"/>
                </a:highlight>
                <a:latin typeface="Malgun Gothic"/>
                <a:ea typeface="Malgun Gothic"/>
              </a:rPr>
              <a:t>가능한지</a:t>
            </a:r>
            <a:r>
              <a:rPr lang="en-US" sz="1600" dirty="0">
                <a:highlight>
                  <a:srgbClr val="FFFFFF"/>
                </a:highlight>
                <a:latin typeface="Malgun Gothic"/>
                <a:ea typeface="Malgun Gothic"/>
              </a:rPr>
              <a:t>?</a:t>
            </a:r>
            <a:endParaRPr lang="en-US" altLang="ko-KR" sz="1600">
              <a:highlight>
                <a:srgbClr val="FFFFFF"/>
              </a:highlight>
              <a:latin typeface="Malgun Gothic"/>
              <a:ea typeface="Malgun Gothic"/>
            </a:endParaRPr>
          </a:p>
          <a:p>
            <a:endParaRPr lang="en-US" altLang="ko-KR" sz="1600" dirty="0">
              <a:solidFill>
                <a:srgbClr val="000000"/>
              </a:solidFill>
              <a:highlight>
                <a:srgbClr val="FFFFFF"/>
              </a:highlight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특정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제품의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사전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원가율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제시는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어려우나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전사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소모품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평균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GPM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은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90%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수준으로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견조하게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방어될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것으로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이해하시면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됩니다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. (2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5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소모품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비중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46%)</a:t>
            </a:r>
            <a:endParaRPr lang="en-US">
              <a:solidFill>
                <a:srgbClr val="0000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1764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9722E-BB46-80F7-0501-5A33FB513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9C508-BCC9-4AFB-86F0-F81A0B526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주담 통화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F4C27-D940-F81A-6B99-641656CF5807}"/>
              </a:ext>
            </a:extLst>
          </p:cNvPr>
          <p:cNvSpPr txBox="1"/>
          <p:nvPr/>
        </p:nvSpPr>
        <p:spPr>
          <a:xfrm>
            <a:off x="115019" y="1199862"/>
            <a:ext cx="12076981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5. </a:t>
            </a:r>
            <a:r>
              <a:rPr lang="ko-KR" altLang="en-US" sz="1600">
                <a:latin typeface="맑은 고딕"/>
                <a:ea typeface="맑은 고딕"/>
              </a:rPr>
              <a:t>해외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경쟁사가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소모품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단가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인하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전략을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사용할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경우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대응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계획은</a:t>
            </a:r>
            <a:r>
              <a:rPr lang="en-US" sz="1600">
                <a:latin typeface="맑은 고딕"/>
                <a:ea typeface="맑은 고딕"/>
              </a:rPr>
              <a:t>?</a:t>
            </a:r>
            <a:endParaRPr lang="en-US" sz="1600" dirty="0">
              <a:latin typeface="맑은 고딕"/>
              <a:ea typeface="맑은 고딕"/>
            </a:endParaRPr>
          </a:p>
          <a:p>
            <a:endParaRPr lang="en-US" altLang="ko-KR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일률적인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소모품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가격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인하는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검토하지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않으며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임상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근거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및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브랜드력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중심의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프리미엄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차별화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전략에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집중할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계획입니</a:t>
            </a:r>
            <a:r>
              <a:rPr lang="ko-KR" altLang="en-US" sz="1600" dirty="0">
                <a:solidFill>
                  <a:srgbClr val="0000FF"/>
                </a:solidFill>
                <a:ea typeface="+mn-lt"/>
                <a:cs typeface="+mn-lt"/>
              </a:rPr>
              <a:t>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</a:p>
          <a:p>
            <a:endParaRPr lang="en-US" sz="1600" dirty="0">
              <a:solidFill>
                <a:srgbClr val="0000FF"/>
              </a:solidFill>
              <a:ea typeface="맑은 고딕"/>
            </a:endParaRPr>
          </a:p>
          <a:p>
            <a:r>
              <a:rPr lang="en-US" b="1">
                <a:solidFill>
                  <a:srgbClr val="000000"/>
                </a:solidFill>
                <a:latin typeface="Malgun Gothic"/>
                <a:ea typeface="Malgun Gothic"/>
              </a:rPr>
              <a:t>&lt;</a:t>
            </a:r>
            <a:r>
              <a:rPr lang="ko-KR" altLang="en-US" b="1">
                <a:solidFill>
                  <a:srgbClr val="000000"/>
                </a:solidFill>
                <a:latin typeface="Malgun Gothic"/>
                <a:ea typeface="Malgun Gothic"/>
              </a:rPr>
              <a:t>해외시장</a:t>
            </a:r>
            <a:r>
              <a:rPr lang="en-US" b="1">
                <a:solidFill>
                  <a:srgbClr val="000000"/>
                </a:solidFill>
                <a:latin typeface="Malgun Gothic"/>
                <a:ea typeface="Malgun Gothic"/>
              </a:rPr>
              <a:t>&gt; </a:t>
            </a:r>
            <a:endParaRPr lang="en-US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en-US" b="1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sz="1600" dirty="0">
                <a:solidFill>
                  <a:srgbClr val="000000"/>
                </a:solidFill>
                <a:latin typeface="Malgun Gothic"/>
                <a:ea typeface="Malgun Gothic"/>
              </a:rPr>
              <a:t>6.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중국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볼뉴머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승인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진행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상황과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대리점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선정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현황은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?</a:t>
            </a:r>
            <a:endParaRPr lang="en-US" sz="16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endParaRPr lang="en-US" sz="16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pPr marL="285750" indent="-285750">
              <a:buFont typeface="Calibri"/>
              <a:buChar char="-"/>
            </a:pP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</a:rPr>
              <a:t>2026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말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인허가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획득을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목표로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당국과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소통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중이며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승인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직후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즉각적인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론칭을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위해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현지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파트너십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구축과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대리점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선정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작업을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병행하고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</a:rPr>
              <a:t>있습니다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.</a:t>
            </a:r>
          </a:p>
          <a:p>
            <a:endParaRPr lang="en-US" sz="1600" dirty="0">
              <a:solidFill>
                <a:srgbClr val="000000"/>
              </a:solidFill>
              <a:latin typeface="Malgun Gothic"/>
              <a:ea typeface="Malgun Gothic"/>
            </a:endParaRPr>
          </a:p>
          <a:p>
            <a:r>
              <a:rPr lang="en-US" sz="1600" dirty="0">
                <a:solidFill>
                  <a:srgbClr val="000000"/>
                </a:solidFill>
                <a:latin typeface="Malgun Gothic"/>
                <a:ea typeface="Malgun Gothic"/>
              </a:rPr>
              <a:t>7.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미국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시장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관련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추가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투자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</a:rPr>
              <a:t>계획은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</a:rPr>
              <a:t>?</a:t>
            </a:r>
          </a:p>
          <a:p>
            <a:endParaRPr lang="ko-KR" altLang="en-US" sz="1600" dirty="0">
              <a:solidFill>
                <a:srgbClr val="0000FF"/>
              </a:solidFill>
              <a:latin typeface="Malgun Gothic"/>
              <a:ea typeface="Malgun Gothic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파트너사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카르테사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)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의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유통망을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활용하므로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별도의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추가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투자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구조는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없으며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, 2026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볼뉴머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미국명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en-US" sz="1600" dirty="0" err="1">
                <a:solidFill>
                  <a:srgbClr val="0000FF"/>
                </a:solidFill>
                <a:latin typeface="Malgun Gothic"/>
                <a:ea typeface="Malgun Gothic"/>
              </a:rPr>
              <a:t>Everesse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)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와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쿼드세이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론칭을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통한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입지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강화에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주력합니다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</a:rPr>
              <a:t>.</a:t>
            </a:r>
            <a:endParaRPr lang="en-US">
              <a:solidFill>
                <a:srgbClr val="0000FF"/>
              </a:solidFill>
              <a:ea typeface="맑은 고딕" panose="020F0502020204030204"/>
            </a:endParaRPr>
          </a:p>
          <a:p>
            <a:pPr marL="285750" indent="-285750">
              <a:buFont typeface="Calibri"/>
              <a:buChar char="-"/>
            </a:pPr>
            <a:endParaRPr lang="en-US" sz="1600" dirty="0">
              <a:solidFill>
                <a:srgbClr val="0000FF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60605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0C49-FE1D-1C5E-0F65-7CD5B6A2E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5CB97-617F-C5AF-6782-B4D9263B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주담 통화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4D2DC-8903-D095-6A4A-164E34AE1F1D}"/>
              </a:ext>
            </a:extLst>
          </p:cNvPr>
          <p:cNvSpPr txBox="1"/>
          <p:nvPr/>
        </p:nvSpPr>
        <p:spPr>
          <a:xfrm>
            <a:off x="115019" y="1199862"/>
            <a:ext cx="12076981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8. </a:t>
            </a:r>
            <a:r>
              <a:rPr lang="en-US" sz="1600" err="1">
                <a:latin typeface="맑은 고딕"/>
                <a:ea typeface="맑은 고딕"/>
              </a:rPr>
              <a:t>남미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en-US" sz="1600" err="1">
                <a:latin typeface="맑은 고딕"/>
                <a:ea typeface="맑은 고딕"/>
              </a:rPr>
              <a:t>총괄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en-US" sz="1600" err="1">
                <a:latin typeface="맑은 고딕"/>
                <a:ea typeface="맑은 고딕"/>
              </a:rPr>
              <a:t>인수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이후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추가투자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en-US" sz="1600" err="1">
                <a:latin typeface="맑은 고딕"/>
                <a:ea typeface="맑은 고딕"/>
              </a:rPr>
              <a:t>규모는</a:t>
            </a:r>
            <a:r>
              <a:rPr lang="en-US" sz="1600">
                <a:latin typeface="맑은 고딕"/>
                <a:ea typeface="맑은 고딕"/>
              </a:rPr>
              <a:t>?</a:t>
            </a:r>
            <a:endParaRPr lang="en-US" altLang="ko-KR" sz="1600">
              <a:latin typeface="맑은 고딕"/>
              <a:ea typeface="맑은 고딕"/>
            </a:endParaRPr>
          </a:p>
          <a:p>
            <a:endParaRPr lang="en-US" altLang="ko-KR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남미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지역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직영화를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위한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전략적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인수는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완료되었으며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국가별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대규모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추가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자본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투입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계획은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없습니다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. (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현지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영업력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강화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등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통상적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투자만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지속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)</a:t>
            </a:r>
            <a:endParaRPr lang="en-US" sz="1600">
              <a:solidFill>
                <a:srgbClr val="0000FF"/>
              </a:solidFill>
              <a:ea typeface="맑은 고딕" panose="020F0502020204030204"/>
            </a:endParaRPr>
          </a:p>
          <a:p>
            <a:endParaRPr lang="en-US" sz="1600" dirty="0"/>
          </a:p>
          <a:p>
            <a:r>
              <a:rPr lang="en-US" sz="1600"/>
              <a:t>9. </a:t>
            </a:r>
            <a:r>
              <a:rPr lang="en-US" sz="1600">
                <a:latin typeface="맑은 고딕"/>
                <a:ea typeface="맑은 고딕"/>
              </a:rPr>
              <a:t>2026년 1분기 </a:t>
            </a:r>
            <a:r>
              <a:rPr lang="ko-KR" altLang="en-US" sz="1600" err="1">
                <a:latin typeface="맑은 고딕"/>
                <a:ea typeface="맑은 고딕"/>
              </a:rPr>
              <a:t>이익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감소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원인이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en-US" sz="1600" err="1">
                <a:latin typeface="맑은 고딕"/>
                <a:ea typeface="맑은 고딕"/>
              </a:rPr>
              <a:t>브라질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en-US" sz="1600" err="1">
                <a:latin typeface="맑은 고딕"/>
                <a:ea typeface="맑은 고딕"/>
              </a:rPr>
              <a:t>인수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영향인지</a:t>
            </a:r>
            <a:r>
              <a:rPr lang="en-US" sz="1600">
                <a:latin typeface="맑은 고딕"/>
                <a:ea typeface="맑은 고딕"/>
              </a:rPr>
              <a:t>? </a:t>
            </a:r>
            <a:r>
              <a:rPr lang="ko-KR" altLang="en-US" sz="1600" err="1">
                <a:latin typeface="맑은 고딕"/>
                <a:ea typeface="맑은 고딕"/>
              </a:rPr>
              <a:t>향후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해소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가능한지</a:t>
            </a:r>
            <a:r>
              <a:rPr lang="en-US" sz="1600">
                <a:latin typeface="맑은 고딕"/>
                <a:ea typeface="맑은 고딕"/>
              </a:rPr>
              <a:t>?</a:t>
            </a:r>
            <a:endParaRPr lang="en-US" altLang="ko-KR" sz="1600">
              <a:latin typeface="맑은 고딕"/>
              <a:ea typeface="맑은 고딕"/>
            </a:endParaRPr>
          </a:p>
          <a:p>
            <a:endParaRPr lang="en-US" sz="1600" dirty="0"/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브라질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법인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연결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편입에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따른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'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내부거래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이익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제거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(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미실현이익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)'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인한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일시적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회계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현상이며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 2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분기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이후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매출이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온기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반영되면서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점진적으로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정상화될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것입니다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 sz="1600" dirty="0">
              <a:solidFill>
                <a:srgbClr val="0000FF"/>
              </a:solidFill>
              <a:ea typeface="맑은 고딕" panose="020F0502020204030204"/>
            </a:endParaRPr>
          </a:p>
          <a:p>
            <a:endParaRPr lang="en-US" sz="1600" dirty="0"/>
          </a:p>
          <a:p>
            <a:r>
              <a:rPr lang="en-US" sz="1600"/>
              <a:t>10. </a:t>
            </a:r>
            <a:r>
              <a:rPr lang="ko-KR" altLang="en-US" sz="1600" err="1">
                <a:latin typeface="맑은 고딕"/>
                <a:ea typeface="맑은 고딕"/>
              </a:rPr>
              <a:t>판관비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증가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추세에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대한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관리</a:t>
            </a:r>
            <a:r>
              <a:rPr lang="en-US" sz="1600" dirty="0">
                <a:latin typeface="맑은 고딕"/>
                <a:ea typeface="맑은 고딕"/>
              </a:rPr>
              <a:t> </a:t>
            </a:r>
            <a:r>
              <a:rPr lang="ko-KR" altLang="en-US" sz="1600" err="1">
                <a:latin typeface="맑은 고딕"/>
                <a:ea typeface="맑은 고딕"/>
              </a:rPr>
              <a:t>계획은</a:t>
            </a:r>
            <a:r>
              <a:rPr lang="en-US" sz="1600">
                <a:latin typeface="맑은 고딕"/>
                <a:ea typeface="맑은 고딕"/>
              </a:rPr>
              <a:t>?</a:t>
            </a:r>
            <a:endParaRPr lang="en-US" altLang="ko-KR" sz="1600">
              <a:latin typeface="맑은 고딕"/>
              <a:ea typeface="맑은 고딕"/>
            </a:endParaRPr>
          </a:p>
          <a:p>
            <a:endParaRPr lang="en-US" sz="1600" dirty="0"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1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분기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판관비율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상승은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브라질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인수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관련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일회성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비용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(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약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19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억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)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및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짧은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연결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기간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(1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개월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)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에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따른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고정비율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일시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상승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탓이며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 2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분기부터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현지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매출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확대로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안정화가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예상됩니다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0000FF"/>
              </a:solidFill>
              <a:ea typeface="+mn-lt"/>
              <a:cs typeface="+mn-lt"/>
            </a:endParaRPr>
          </a:p>
          <a:p>
            <a:endParaRPr lang="en-US" altLang="ko-KR" sz="1600">
              <a:ea typeface="맑은 고딕" panose="020B0503020000020004" pitchFamily="34" charset="-127"/>
            </a:endParaRPr>
          </a:p>
          <a:p>
            <a:r>
              <a:rPr lang="en-US" sz="1600"/>
              <a:t>11. </a:t>
            </a:r>
            <a:r>
              <a:rPr lang="en-US" sz="1600">
                <a:latin typeface="맑은 고딕"/>
                <a:ea typeface="맑은 고딕"/>
              </a:rPr>
              <a:t>상품 재고 </a:t>
            </a:r>
            <a:r>
              <a:rPr lang="ko-KR" altLang="en-US" sz="1600">
                <a:latin typeface="맑은 고딕"/>
                <a:ea typeface="맑은 고딕"/>
              </a:rPr>
              <a:t>증가에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따른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재고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손상</a:t>
            </a:r>
            <a:r>
              <a:rPr lang="en-US" sz="1600">
                <a:latin typeface="맑은 고딕"/>
                <a:ea typeface="맑은 고딕"/>
              </a:rPr>
              <a:t> </a:t>
            </a:r>
            <a:r>
              <a:rPr lang="ko-KR" altLang="en-US" sz="1600">
                <a:latin typeface="맑은 고딕"/>
                <a:ea typeface="맑은 고딕"/>
              </a:rPr>
              <a:t>리스크는</a:t>
            </a:r>
            <a:r>
              <a:rPr lang="en-US" sz="1600">
                <a:latin typeface="맑은 고딕"/>
                <a:ea typeface="맑은 고딕"/>
              </a:rPr>
              <a:t>?</a:t>
            </a:r>
            <a:endParaRPr lang="en-US" altLang="ko-KR" sz="1600">
              <a:latin typeface="맑은 고딕"/>
              <a:ea typeface="맑은 고딕"/>
            </a:endParaRPr>
          </a:p>
          <a:p>
            <a:endParaRPr lang="en-US" sz="1600" dirty="0">
              <a:ea typeface="맑은 고딕"/>
            </a:endParaRPr>
          </a:p>
          <a:p>
            <a:pPr marL="285750" indent="-285750">
              <a:buFont typeface="Calibri"/>
              <a:buChar char="-"/>
            </a:pP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1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분기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상품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재고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증가는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브라질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법인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연결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초기에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발생한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회계적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착시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현상일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뿐이며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재고자산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손상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등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일시적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비용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인식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리스크는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전혀</a:t>
            </a:r>
            <a:r>
              <a:rPr lang="en-US" altLang="ko-KR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없습니다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0000FF"/>
              </a:solidFill>
              <a:ea typeface="맑은 고딕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92149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23A4-8D12-610F-43F7-6C0F2F98A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88410-3CCE-C78C-87CD-113497C8F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주담 통화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1A927-47DD-F0D9-E2BD-E394BFC0B3D3}"/>
              </a:ext>
            </a:extLst>
          </p:cNvPr>
          <p:cNvSpPr txBox="1"/>
          <p:nvPr/>
        </p:nvSpPr>
        <p:spPr>
          <a:xfrm>
            <a:off x="115019" y="1199862"/>
            <a:ext cx="12076981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12. '</a:t>
            </a:r>
            <a:r>
              <a:rPr lang="en-US" sz="1600" dirty="0" err="1"/>
              <a:t>슈링크홈'의</a:t>
            </a:r>
            <a:r>
              <a:rPr lang="en-US" sz="1600" dirty="0"/>
              <a:t> </a:t>
            </a:r>
            <a:r>
              <a:rPr lang="en-US" sz="1600" dirty="0" err="1"/>
              <a:t>초기</a:t>
            </a:r>
            <a:r>
              <a:rPr lang="en-US" sz="1600" dirty="0"/>
              <a:t> </a:t>
            </a:r>
            <a:r>
              <a:rPr lang="en-US" sz="1600" dirty="0" err="1"/>
              <a:t>마케팅</a:t>
            </a:r>
            <a:r>
              <a:rPr lang="en-US" sz="1600" dirty="0"/>
              <a:t> </a:t>
            </a:r>
            <a:r>
              <a:rPr lang="en-US" sz="1600" dirty="0" err="1"/>
              <a:t>비용</a:t>
            </a:r>
            <a:r>
              <a:rPr lang="en-US" sz="1600" dirty="0"/>
              <a:t> </a:t>
            </a:r>
            <a:r>
              <a:rPr lang="en-US" sz="1600" dirty="0" err="1"/>
              <a:t>대비</a:t>
            </a:r>
            <a:r>
              <a:rPr lang="en-US" sz="1600" dirty="0"/>
              <a:t> </a:t>
            </a:r>
            <a:r>
              <a:rPr lang="en-US" sz="1600" dirty="0" err="1"/>
              <a:t>매출</a:t>
            </a:r>
            <a:r>
              <a:rPr lang="en-US" sz="1600" dirty="0"/>
              <a:t> </a:t>
            </a:r>
            <a:r>
              <a:rPr lang="ko-KR" altLang="en-US" sz="1600" dirty="0" err="1">
                <a:ea typeface="맑은 고딕"/>
              </a:rPr>
              <a:t>효율</a:t>
            </a:r>
            <a:r>
              <a:rPr lang="ko-KR" altLang="en-US" sz="1600" dirty="0">
                <a:ea typeface="맑은 고딕"/>
              </a:rPr>
              <a:t>은</a:t>
            </a:r>
            <a:r>
              <a:rPr lang="en-US" sz="1600" dirty="0"/>
              <a:t> </a:t>
            </a:r>
            <a:r>
              <a:rPr lang="en-US" sz="1600" dirty="0" err="1"/>
              <a:t>어느</a:t>
            </a:r>
            <a:r>
              <a:rPr lang="en-US" sz="1600" dirty="0"/>
              <a:t> </a:t>
            </a:r>
            <a:r>
              <a:rPr lang="en-US" sz="1600" dirty="0" err="1"/>
              <a:t>정도이며</a:t>
            </a:r>
            <a:r>
              <a:rPr lang="en-US" sz="1600" dirty="0"/>
              <a:t>, B2C </a:t>
            </a:r>
            <a:r>
              <a:rPr lang="en-US" sz="1600" dirty="0" err="1"/>
              <a:t>비중을</a:t>
            </a:r>
            <a:r>
              <a:rPr lang="en-US" sz="1600" dirty="0"/>
              <a:t> </a:t>
            </a:r>
            <a:r>
              <a:rPr lang="en-US" sz="1600" dirty="0" err="1"/>
              <a:t>끌어올릴</a:t>
            </a:r>
            <a:r>
              <a:rPr lang="en-US" sz="1600" dirty="0"/>
              <a:t> </a:t>
            </a:r>
            <a:r>
              <a:rPr lang="en-US" sz="1600" dirty="0" err="1"/>
              <a:t>목표나</a:t>
            </a:r>
            <a:r>
              <a:rPr lang="en-US" sz="1600" dirty="0"/>
              <a:t> </a:t>
            </a:r>
            <a:r>
              <a:rPr lang="en-US" sz="1600" dirty="0" err="1"/>
              <a:t>계획이</a:t>
            </a:r>
            <a:r>
              <a:rPr lang="en-US" sz="1600" dirty="0"/>
              <a:t> </a:t>
            </a:r>
            <a:r>
              <a:rPr lang="en-US" sz="1600" dirty="0" err="1"/>
              <a:t>있는지</a:t>
            </a:r>
            <a:r>
              <a:rPr lang="en-US" sz="1600" dirty="0"/>
              <a:t>? </a:t>
            </a:r>
            <a:endParaRPr lang="en-US" sz="1600" dirty="0">
              <a:ea typeface="맑은 고딕"/>
            </a:endParaRPr>
          </a:p>
          <a:p>
            <a:endParaRPr lang="en-US" altLang="ko-KR" sz="1600" dirty="0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신제품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(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리프트글로우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)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초도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물량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1,000</a:t>
            </a:r>
            <a:r>
              <a:rPr lang="ko-KR" altLang="en-US" sz="1600" dirty="0">
                <a:solidFill>
                  <a:srgbClr val="0000FF"/>
                </a:solidFill>
                <a:ea typeface="+mn-lt"/>
                <a:cs typeface="+mn-lt"/>
              </a:rPr>
              <a:t>대가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완판되었으며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,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유통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채널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확대와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후속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제품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출시를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통해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B2C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사업을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중장기적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핵심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성장축으로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육성할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 err="1">
                <a:solidFill>
                  <a:srgbClr val="0000FF"/>
                </a:solidFill>
                <a:ea typeface="+mn-lt"/>
                <a:cs typeface="+mn-lt"/>
              </a:rPr>
              <a:t>계획입니다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en-US" dirty="0">
              <a:solidFill>
                <a:srgbClr val="0000FF"/>
              </a:solidFill>
              <a:ea typeface="+mn-lt"/>
              <a:cs typeface="+mn-lt"/>
            </a:endParaRPr>
          </a:p>
          <a:p>
            <a:r>
              <a:rPr lang="en-US" b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&lt;</a:t>
            </a:r>
            <a:r>
              <a:rPr lang="ko-KR" altLang="en-US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기타</a:t>
            </a:r>
            <a:r>
              <a:rPr lang="en-US" b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&gt; </a:t>
            </a:r>
            <a:endParaRPr lang="en-US" dirty="0">
              <a:solidFill>
                <a:srgbClr val="000000"/>
              </a:solidFill>
              <a:latin typeface="Malgun Gothic"/>
              <a:ea typeface="Malgun Gothic"/>
              <a:cs typeface="+mn-lt"/>
            </a:endParaRPr>
          </a:p>
          <a:p>
            <a:endParaRPr lang="en-US" dirty="0">
              <a:solidFill>
                <a:srgbClr val="000000"/>
              </a:solidFill>
              <a:latin typeface="Malgun Gothic"/>
              <a:ea typeface="Malgun Gothic"/>
              <a:cs typeface="+mn-lt"/>
            </a:endParaRPr>
          </a:p>
          <a:p>
            <a:r>
              <a:rPr lang="en-US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13.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 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군포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지식산업센터와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생산능력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확대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연관성은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?</a:t>
            </a:r>
          </a:p>
          <a:p>
            <a:endParaRPr lang="ko-KR" altLang="en-US" sz="1600" dirty="0">
              <a:solidFill>
                <a:srgbClr val="000000"/>
              </a:solidFill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올해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약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300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억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원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(CAPEX)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투자해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연내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완공할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예정이며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구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(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舊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)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이루다의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MNRF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제품군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라인을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안양에서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군포로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통합하여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운영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효율성을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극대화할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것입니다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.</a:t>
            </a:r>
          </a:p>
          <a:p>
            <a:endParaRPr lang="en-US" sz="1600" dirty="0">
              <a:solidFill>
                <a:srgbClr val="0000FF"/>
              </a:solidFill>
              <a:latin typeface="Malgun Gothic"/>
              <a:ea typeface="Malgun Gothic"/>
              <a:cs typeface="+mn-lt"/>
            </a:endParaRPr>
          </a:p>
          <a:p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14.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사업목적에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추가된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'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부속의원</a:t>
            </a:r>
            <a:r>
              <a:rPr lang="en-US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'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관련</a:t>
            </a:r>
            <a:r>
              <a:rPr lang="en-US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,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수치화된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실적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확인이</a:t>
            </a:r>
            <a:r>
              <a:rPr lang="en-US" altLang="ko-KR" sz="1600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가능한지</a:t>
            </a:r>
            <a:r>
              <a:rPr lang="en-US" sz="160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? </a:t>
            </a:r>
            <a:endParaRPr lang="en-US" altLang="ko-KR" sz="1600" dirty="0">
              <a:solidFill>
                <a:srgbClr val="000000"/>
              </a:solidFill>
              <a:latin typeface="Malgun Gothic"/>
              <a:ea typeface="Malgun Gothic"/>
              <a:cs typeface="+mn-lt"/>
            </a:endParaRPr>
          </a:p>
          <a:p>
            <a:endParaRPr lang="ko-KR" altLang="en-US" sz="1600" dirty="0">
              <a:solidFill>
                <a:srgbClr val="000000"/>
              </a:solidFill>
              <a:latin typeface="Malgun Gothic"/>
              <a:ea typeface="Malgun Gothic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영리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목적이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아닌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의료진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대상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임상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연구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학술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세미나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,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전문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콘텐츠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강화를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목적으로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설립된</a:t>
            </a:r>
            <a:r>
              <a:rPr 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B2B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마케팅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시너지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창출</a:t>
            </a:r>
            <a:r>
              <a:rPr lang="en-US" altLang="ko-KR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인프라입니</a:t>
            </a:r>
            <a:r>
              <a:rPr lang="ko-KR" altLang="en-US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다</a:t>
            </a:r>
            <a:r>
              <a:rPr lang="en-US" sz="1600" dirty="0">
                <a:solidFill>
                  <a:srgbClr val="0000FF"/>
                </a:solidFill>
                <a:latin typeface="Malgun Gothic"/>
                <a:ea typeface="Malgun Gothic"/>
                <a:cs typeface="+mn-lt"/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en-US" dirty="0">
              <a:solidFill>
                <a:srgbClr val="0000F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1879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5DC5-29E5-B9A0-6E00-5162C0F27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1F3CFF-6D17-D60F-113F-0A19B6FDC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" y="500527"/>
            <a:ext cx="12187082" cy="698757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   주담 통화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23B626-AF74-C37F-29C5-7D917CC4534A}"/>
              </a:ext>
            </a:extLst>
          </p:cNvPr>
          <p:cNvSpPr txBox="1"/>
          <p:nvPr/>
        </p:nvSpPr>
        <p:spPr>
          <a:xfrm>
            <a:off x="115019" y="1199862"/>
            <a:ext cx="1207698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15. </a:t>
            </a:r>
            <a:r>
              <a:rPr lang="ko-KR" altLang="en-US" sz="1600">
                <a:ea typeface="+mn-lt"/>
                <a:cs typeface="+mn-lt"/>
              </a:rPr>
              <a:t>신제품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개발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진행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ko-KR" altLang="en-US" sz="1600">
                <a:ea typeface="+mn-lt"/>
                <a:cs typeface="+mn-lt"/>
              </a:rPr>
              <a:t>상황은</a:t>
            </a:r>
            <a:r>
              <a:rPr lang="en-US" sz="1600">
                <a:ea typeface="+mn-lt"/>
                <a:cs typeface="+mn-lt"/>
              </a:rPr>
              <a:t>?</a:t>
            </a:r>
            <a:endParaRPr lang="ko-KR"/>
          </a:p>
          <a:p>
            <a:endParaRPr lang="ko-KR" altLang="en-US" sz="16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차세대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기기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개발이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순조롭게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진행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중이며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, 2027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년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'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볼뉴머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Next-Gen(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차세대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RF)', 2028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년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'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슈링크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Next-Gen(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차세대</a:t>
            </a:r>
            <a:r>
              <a:rPr lang="en-US" sz="1600">
                <a:solidFill>
                  <a:srgbClr val="0000FF"/>
                </a:solidFill>
                <a:ea typeface="+mn-lt"/>
                <a:cs typeface="+mn-lt"/>
              </a:rPr>
              <a:t> HIFU)'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출시를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목표로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하고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ko-KR" altLang="en-US" sz="1600">
                <a:solidFill>
                  <a:srgbClr val="0000FF"/>
                </a:solidFill>
                <a:ea typeface="+mn-lt"/>
                <a:cs typeface="+mn-lt"/>
              </a:rPr>
              <a:t>있습니다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>
              <a:solidFill>
                <a:srgbClr val="0000FF"/>
              </a:solidFill>
              <a:ea typeface="맑은 고딕"/>
            </a:endParaRPr>
          </a:p>
          <a:p>
            <a:endParaRPr lang="en-US" sz="1600" dirty="0"/>
          </a:p>
          <a:p>
            <a:r>
              <a:rPr lang="en-US" sz="1600" dirty="0"/>
              <a:t>16. </a:t>
            </a:r>
            <a:r>
              <a:rPr lang="en-US" sz="1600" dirty="0" err="1"/>
              <a:t>투자</a:t>
            </a:r>
            <a:r>
              <a:rPr lang="en-US" sz="1600" dirty="0"/>
              <a:t> </a:t>
            </a:r>
            <a:r>
              <a:rPr lang="en-US" sz="1600" dirty="0" err="1"/>
              <a:t>검토</a:t>
            </a:r>
            <a:r>
              <a:rPr lang="en-US" sz="1600" dirty="0"/>
              <a:t> 시 </a:t>
            </a:r>
            <a:r>
              <a:rPr lang="en-US" sz="1600" dirty="0" err="1"/>
              <a:t>아무래도</a:t>
            </a:r>
            <a:r>
              <a:rPr lang="en-US" sz="1600" dirty="0"/>
              <a:t> </a:t>
            </a:r>
            <a:r>
              <a:rPr lang="en-US" sz="1600" dirty="0" err="1"/>
              <a:t>제일</a:t>
            </a:r>
            <a:r>
              <a:rPr lang="en-US" sz="1600" dirty="0"/>
              <a:t> </a:t>
            </a:r>
            <a:r>
              <a:rPr lang="en-US" sz="1600" dirty="0" err="1"/>
              <a:t>우려되는</a:t>
            </a:r>
            <a:r>
              <a:rPr lang="en-US" sz="1600" dirty="0"/>
              <a:t> </a:t>
            </a:r>
            <a:r>
              <a:rPr lang="en-US" sz="1600" dirty="0" err="1"/>
              <a:t>부분인</a:t>
            </a:r>
            <a:r>
              <a:rPr lang="en-US" sz="1600" dirty="0"/>
              <a:t> </a:t>
            </a:r>
            <a:r>
              <a:rPr lang="en-US" sz="1600" dirty="0" err="1"/>
              <a:t>블록딜</a:t>
            </a:r>
            <a:r>
              <a:rPr lang="en-US" sz="1600" dirty="0"/>
              <a:t> </a:t>
            </a:r>
            <a:r>
              <a:rPr lang="en-US" sz="1600" dirty="0" err="1"/>
              <a:t>또는</a:t>
            </a:r>
            <a:r>
              <a:rPr lang="en-US" sz="1600" dirty="0"/>
              <a:t> </a:t>
            </a:r>
            <a:r>
              <a:rPr lang="en-US" sz="1600" dirty="0" err="1"/>
              <a:t>경영권</a:t>
            </a:r>
            <a:r>
              <a:rPr lang="en-US" sz="1600" dirty="0"/>
              <a:t> </a:t>
            </a:r>
            <a:r>
              <a:rPr lang="en-US" sz="1600" dirty="0" err="1"/>
              <a:t>매각</a:t>
            </a:r>
            <a:r>
              <a:rPr lang="en-US" sz="1600" dirty="0"/>
              <a:t> </a:t>
            </a:r>
            <a:r>
              <a:rPr lang="en-US" sz="1600" dirty="0" err="1"/>
              <a:t>관련하여</a:t>
            </a:r>
            <a:r>
              <a:rPr lang="en-US" sz="1600" dirty="0"/>
              <a:t> </a:t>
            </a:r>
            <a:r>
              <a:rPr lang="en-US" sz="1600" dirty="0" err="1"/>
              <a:t>추진되거나</a:t>
            </a:r>
            <a:r>
              <a:rPr lang="en-US" sz="1600" dirty="0"/>
              <a:t> </a:t>
            </a:r>
            <a:r>
              <a:rPr lang="en-US" sz="1600" dirty="0" err="1"/>
              <a:t>검토</a:t>
            </a:r>
            <a:r>
              <a:rPr lang="en-US" sz="1600" dirty="0"/>
              <a:t> </a:t>
            </a:r>
            <a:r>
              <a:rPr lang="en-US" sz="1600" dirty="0" err="1"/>
              <a:t>중인</a:t>
            </a:r>
            <a:r>
              <a:rPr lang="en-US" sz="1600" dirty="0"/>
              <a:t> </a:t>
            </a:r>
            <a:r>
              <a:rPr lang="en-US" sz="1600" dirty="0" err="1"/>
              <a:t>부분이</a:t>
            </a:r>
            <a:r>
              <a:rPr lang="en-US" sz="1600" dirty="0"/>
              <a:t> </a:t>
            </a:r>
            <a:r>
              <a:rPr lang="en-US" sz="1600" dirty="0" err="1"/>
              <a:t>있는지</a:t>
            </a:r>
            <a:r>
              <a:rPr lang="en-US" sz="1600" dirty="0"/>
              <a:t>?</a:t>
            </a:r>
            <a:endParaRPr lang="en-US" altLang="ko-KR" sz="1600">
              <a:ea typeface="맑은 고딕"/>
            </a:endParaRPr>
          </a:p>
          <a:p>
            <a:endParaRPr lang="en-US" sz="1600" dirty="0">
              <a:solidFill>
                <a:srgbClr val="0000FF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최대주주로부터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공유받은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단기적인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블록딜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/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경영권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매각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확정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사실은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없으며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경영진은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매각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이슈와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무관하게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글로벌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펀더멘털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성장에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전념하고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있습니다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 sz="1600" dirty="0">
              <a:solidFill>
                <a:srgbClr val="0000FF"/>
              </a:solidFill>
              <a:ea typeface="맑은 고딕"/>
            </a:endParaRPr>
          </a:p>
          <a:p>
            <a:endParaRPr lang="en-US" sz="1600" dirty="0"/>
          </a:p>
          <a:p>
            <a:r>
              <a:rPr lang="en-US" sz="1600" dirty="0"/>
              <a:t>17. </a:t>
            </a:r>
            <a:r>
              <a:rPr lang="en-US" sz="1600" dirty="0" err="1"/>
              <a:t>추가적인</a:t>
            </a:r>
            <a:r>
              <a:rPr lang="en-US" sz="1600" dirty="0"/>
              <a:t> </a:t>
            </a:r>
            <a:r>
              <a:rPr lang="en-US" sz="1600" dirty="0" err="1"/>
              <a:t>주주환원</a:t>
            </a:r>
            <a:r>
              <a:rPr lang="en-US" sz="1600" dirty="0"/>
              <a:t> </a:t>
            </a:r>
            <a:r>
              <a:rPr lang="en-US" sz="1600" dirty="0" err="1"/>
              <a:t>정책으로</a:t>
            </a:r>
            <a:r>
              <a:rPr lang="en-US" sz="1600" dirty="0"/>
              <a:t> </a:t>
            </a:r>
            <a:r>
              <a:rPr lang="en-US" sz="1600" dirty="0" err="1"/>
              <a:t>검토</a:t>
            </a:r>
            <a:r>
              <a:rPr lang="en-US" sz="1600" dirty="0"/>
              <a:t> </a:t>
            </a:r>
            <a:r>
              <a:rPr lang="en-US" sz="1600" dirty="0" err="1"/>
              <a:t>중이신</a:t>
            </a:r>
            <a:r>
              <a:rPr lang="en-US" sz="1600" dirty="0"/>
              <a:t> </a:t>
            </a:r>
            <a:r>
              <a:rPr lang="en-US" sz="1600" dirty="0" err="1"/>
              <a:t>내용이</a:t>
            </a:r>
            <a:r>
              <a:rPr lang="en-US" sz="1600" dirty="0"/>
              <a:t> </a:t>
            </a:r>
            <a:r>
              <a:rPr lang="en-US" sz="1600" dirty="0" err="1"/>
              <a:t>있는지</a:t>
            </a:r>
            <a:r>
              <a:rPr lang="en-US" sz="1600" dirty="0"/>
              <a:t>?</a:t>
            </a:r>
            <a:endParaRPr lang="en-US" altLang="ko-KR" sz="1600">
              <a:ea typeface="맑은 고딕"/>
            </a:endParaRPr>
          </a:p>
          <a:p>
            <a:endParaRPr lang="en-US" sz="1600" dirty="0">
              <a:solidFill>
                <a:srgbClr val="0000FF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현재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확정된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사항은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없으나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기존의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배당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확대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및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자사주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매입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/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소각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기조를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유지하며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투자와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주주환원의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밸런스를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맞추는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자본배분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정책을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지속할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0000FF"/>
                </a:solidFill>
                <a:ea typeface="+mn-lt"/>
                <a:cs typeface="+mn-lt"/>
              </a:rPr>
              <a:t>것입니다</a:t>
            </a:r>
            <a:r>
              <a:rPr lang="en-US" sz="1600" dirty="0">
                <a:solidFill>
                  <a:srgbClr val="0000FF"/>
                </a:solidFill>
                <a:ea typeface="+mn-lt"/>
                <a:cs typeface="+mn-lt"/>
              </a:rPr>
              <a:t>.</a:t>
            </a:r>
            <a:endParaRPr lang="en-US" sz="1600" dirty="0">
              <a:solidFill>
                <a:srgbClr val="0000FF"/>
              </a:solidFill>
              <a:ea typeface="맑은 고딕"/>
            </a:endParaRPr>
          </a:p>
          <a:p>
            <a:pPr algn="ctr"/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37379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1" baseType="lpstr">
      <vt:lpstr>Office 테마</vt:lpstr>
      <vt:lpstr>PowerPoint 프레젠테이션</vt:lpstr>
      <vt:lpstr>PowerPoint 프레젠테이션</vt:lpstr>
      <vt:lpstr>   기업개요</vt:lpstr>
      <vt:lpstr>   기업개요</vt:lpstr>
      <vt:lpstr>   기업개요</vt:lpstr>
      <vt:lpstr>   기업개요</vt:lpstr>
      <vt:lpstr>   투자 아이디어     1. 미용 의료기기 절대 강자 : 장비 판매 후 소모품 수요 연결에 따른 압도적 마진 확보</vt:lpstr>
      <vt:lpstr>   투자 아이디어     1. 미용 의료기기 절대 강자 : 장비 판매 후 소모품 수요 연결에 따른 압도적 마진 확보</vt:lpstr>
      <vt:lpstr>   투자 아이디어     1. 미용 의료기기 절대 강자 : 장비 판매 후 소모품 수요 연결에 따른 압도적 마진 확보</vt:lpstr>
      <vt:lpstr>PowerPoint 프레젠테이션</vt:lpstr>
      <vt:lpstr>PowerPoint 프레젠테이션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아이디어     2. 이루다 합병 및 브라질 유통법인 인수 : EBD 기술 영역 통합 및 수출 중심의 구조적 성장</vt:lpstr>
      <vt:lpstr>   투자 리스크     1. 최대 주주 오버행 이슈 </vt:lpstr>
      <vt:lpstr>   투자 리스크     2. 견고했던 영업이익률 훼손 우려 이슈</vt:lpstr>
      <vt:lpstr>   투자 리스크     2. 견고했던 영업이익률 훼손 우려 이슈</vt:lpstr>
      <vt:lpstr>   투자 리스크     2. 견고했던 영업이익률 훼손 우려 이슈</vt:lpstr>
      <vt:lpstr>   투자 리스크     2. 견고했던 영업이익률 훼손 우려 이슈</vt:lpstr>
      <vt:lpstr>   투자 로드맵</vt:lpstr>
      <vt:lpstr>   투자 로드맵</vt:lpstr>
      <vt:lpstr>   주담 통화</vt:lpstr>
      <vt:lpstr>   주담 통화</vt:lpstr>
      <vt:lpstr>   주담 통화</vt:lpstr>
      <vt:lpstr>   주담 통화</vt:lpstr>
      <vt:lpstr>   주담 통화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1191</cp:revision>
  <dcterms:created xsi:type="dcterms:W3CDTF">2026-05-27T13:02:09Z</dcterms:created>
  <dcterms:modified xsi:type="dcterms:W3CDTF">2026-05-30T17:47:35Z</dcterms:modified>
</cp:coreProperties>
</file>