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84" r:id="rId1"/>
  </p:sldMasterIdLst>
  <p:sldIdLst>
    <p:sldId id="256" r:id="rId2"/>
    <p:sldId id="318" r:id="rId3"/>
    <p:sldId id="268" r:id="rId4"/>
    <p:sldId id="257" r:id="rId5"/>
    <p:sldId id="258" r:id="rId6"/>
    <p:sldId id="260" r:id="rId7"/>
    <p:sldId id="261" r:id="rId8"/>
    <p:sldId id="263" r:id="rId9"/>
    <p:sldId id="286" r:id="rId10"/>
    <p:sldId id="298" r:id="rId11"/>
    <p:sldId id="301" r:id="rId12"/>
    <p:sldId id="269" r:id="rId13"/>
    <p:sldId id="262" r:id="rId14"/>
    <p:sldId id="282" r:id="rId15"/>
    <p:sldId id="274" r:id="rId16"/>
    <p:sldId id="275" r:id="rId17"/>
    <p:sldId id="277" r:id="rId18"/>
    <p:sldId id="278" r:id="rId19"/>
    <p:sldId id="279" r:id="rId20"/>
    <p:sldId id="280" r:id="rId21"/>
    <p:sldId id="266" r:id="rId22"/>
    <p:sldId id="287" r:id="rId23"/>
    <p:sldId id="296" r:id="rId24"/>
    <p:sldId id="297" r:id="rId25"/>
    <p:sldId id="295" r:id="rId26"/>
    <p:sldId id="288" r:id="rId27"/>
    <p:sldId id="281" r:id="rId28"/>
    <p:sldId id="305" r:id="rId29"/>
    <p:sldId id="303" r:id="rId30"/>
    <p:sldId id="285" r:id="rId31"/>
    <p:sldId id="319" r:id="rId32"/>
    <p:sldId id="271" r:id="rId33"/>
    <p:sldId id="273" r:id="rId34"/>
    <p:sldId id="314" r:id="rId35"/>
    <p:sldId id="315" r:id="rId36"/>
    <p:sldId id="272" r:id="rId37"/>
    <p:sldId id="276" r:id="rId38"/>
    <p:sldId id="289" r:id="rId39"/>
    <p:sldId id="290" r:id="rId40"/>
    <p:sldId id="299" r:id="rId41"/>
    <p:sldId id="308" r:id="rId42"/>
    <p:sldId id="291" r:id="rId43"/>
    <p:sldId id="304" r:id="rId44"/>
    <p:sldId id="309" r:id="rId45"/>
    <p:sldId id="270" r:id="rId46"/>
    <p:sldId id="293" r:id="rId47"/>
    <p:sldId id="292" r:id="rId48"/>
    <p:sldId id="294" r:id="rId49"/>
    <p:sldId id="307" r:id="rId50"/>
    <p:sldId id="300" r:id="rId51"/>
    <p:sldId id="316" r:id="rId52"/>
    <p:sldId id="284" r:id="rId53"/>
    <p:sldId id="264" r:id="rId54"/>
    <p:sldId id="265" r:id="rId55"/>
    <p:sldId id="310" r:id="rId56"/>
    <p:sldId id="311" r:id="rId57"/>
    <p:sldId id="312" r:id="rId58"/>
    <p:sldId id="313" r:id="rId5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6DE63-B718-1E4A-C848-1CA350713004}" v="572" dt="2026-06-15T08:26:05.965"/>
    <p1510:client id="{5B637A0E-3502-4024-FCD0-6B2BFFC058A2}" v="177" dt="2026-06-14T03:25:49.559"/>
    <p1510:client id="{EF0E69EC-58D6-CB97-5A16-66F58E08E65C}" v="228" dt="2026-06-13T13:57:55.1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851" autoAdjust="0"/>
  </p:normalViewPr>
  <p:slideViewPr>
    <p:cSldViewPr>
      <p:cViewPr>
        <p:scale>
          <a:sx n="110" d="100"/>
          <a:sy n="110" d="100"/>
        </p:scale>
        <p:origin x="-164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122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원일 김" userId="de319178d62d76de" providerId="Windows Live" clId="Web-{845B9884-859B-AE10-02C5-80C151C2D16D}"/>
    <pc:docChg chg="modSld">
      <pc:chgData name="원일 김" userId="de319178d62d76de" providerId="Windows Live" clId="Web-{845B9884-859B-AE10-02C5-80C151C2D16D}" dt="2026-06-07T14:38:02.511" v="164" actId="20577"/>
      <pc:docMkLst>
        <pc:docMk/>
      </pc:docMkLst>
      <pc:sldChg chg="modSp">
        <pc:chgData name="원일 김" userId="de319178d62d76de" providerId="Windows Live" clId="Web-{845B9884-859B-AE10-02C5-80C151C2D16D}" dt="2026-06-07T14:30:57.903" v="123" actId="20577"/>
        <pc:sldMkLst>
          <pc:docMk/>
          <pc:sldMk cId="47732838" sldId="267"/>
        </pc:sldMkLst>
        <pc:spChg chg="mod">
          <ac:chgData name="원일 김" userId="de319178d62d76de" providerId="Windows Live" clId="Web-{845B9884-859B-AE10-02C5-80C151C2D16D}" dt="2026-06-07T14:30:57.903" v="123" actId="20577"/>
          <ac:spMkLst>
            <pc:docMk/>
            <pc:sldMk cId="47732838" sldId="267"/>
            <ac:spMk id="3" creationId="{00000000-0000-0000-0000-000000000000}"/>
          </ac:spMkLst>
        </pc:spChg>
      </pc:sldChg>
      <pc:sldChg chg="modSp">
        <pc:chgData name="원일 김" userId="de319178d62d76de" providerId="Windows Live" clId="Web-{845B9884-859B-AE10-02C5-80C151C2D16D}" dt="2026-06-07T14:38:02.511" v="164" actId="20577"/>
        <pc:sldMkLst>
          <pc:docMk/>
          <pc:sldMk cId="2878348766" sldId="291"/>
        </pc:sldMkLst>
        <pc:spChg chg="mod">
          <ac:chgData name="원일 김" userId="de319178d62d76de" providerId="Windows Live" clId="Web-{845B9884-859B-AE10-02C5-80C151C2D16D}" dt="2026-06-07T14:22:22.089" v="78" actId="14100"/>
          <ac:spMkLst>
            <pc:docMk/>
            <pc:sldMk cId="2878348766" sldId="291"/>
            <ac:spMk id="2" creationId="{00000000-0000-0000-0000-000000000000}"/>
          </ac:spMkLst>
        </pc:spChg>
        <pc:spChg chg="mod">
          <ac:chgData name="원일 김" userId="de319178d62d76de" providerId="Windows Live" clId="Web-{845B9884-859B-AE10-02C5-80C151C2D16D}" dt="2026-06-07T14:38:02.511" v="164" actId="20577"/>
          <ac:spMkLst>
            <pc:docMk/>
            <pc:sldMk cId="2878348766" sldId="291"/>
            <ac:spMk id="3" creationId="{00000000-0000-0000-0000-000000000000}"/>
          </ac:spMkLst>
        </pc:spChg>
      </pc:sldChg>
    </pc:docChg>
  </pc:docChgLst>
  <pc:docChgLst>
    <pc:chgData name="원일 김" userId="de319178d62d76de" providerId="Windows Live" clId="Web-{5F85A9EF-0415-F345-32C3-0B129A0385D4}"/>
    <pc:docChg chg="addSld delSld modSld sldOrd">
      <pc:chgData name="원일 김" userId="de319178d62d76de" providerId="Windows Live" clId="Web-{5F85A9EF-0415-F345-32C3-0B129A0385D4}" dt="2026-06-08T14:03:41.490" v="407" actId="20577"/>
      <pc:docMkLst>
        <pc:docMk/>
      </pc:docMkLst>
      <pc:sldChg chg="modSp">
        <pc:chgData name="원일 김" userId="de319178d62d76de" providerId="Windows Live" clId="Web-{5F85A9EF-0415-F345-32C3-0B129A0385D4}" dt="2026-06-08T13:03:49.496" v="103" actId="20577"/>
        <pc:sldMkLst>
          <pc:docMk/>
          <pc:sldMk cId="1695580408" sldId="257"/>
        </pc:sldMkLst>
        <pc:spChg chg="mod">
          <ac:chgData name="원일 김" userId="de319178d62d76de" providerId="Windows Live" clId="Web-{5F85A9EF-0415-F345-32C3-0B129A0385D4}" dt="2026-06-08T13:03:49.496" v="103" actId="20577"/>
          <ac:spMkLst>
            <pc:docMk/>
            <pc:sldMk cId="1695580408" sldId="257"/>
            <ac:spMk id="3" creationId="{00000000-0000-0000-0000-000000000000}"/>
          </ac:spMkLst>
        </pc:spChg>
      </pc:sldChg>
      <pc:sldChg chg="addSp delSp modSp">
        <pc:chgData name="원일 김" userId="de319178d62d76de" providerId="Windows Live" clId="Web-{5F85A9EF-0415-F345-32C3-0B129A0385D4}" dt="2026-06-08T11:52:29.821" v="5" actId="1076"/>
        <pc:sldMkLst>
          <pc:docMk/>
          <pc:sldMk cId="2880505169" sldId="263"/>
        </pc:sldMkLst>
        <pc:picChg chg="add mod">
          <ac:chgData name="원일 김" userId="de319178d62d76de" providerId="Windows Live" clId="Web-{5F85A9EF-0415-F345-32C3-0B129A0385D4}" dt="2026-06-08T11:52:29.821" v="5" actId="1076"/>
          <ac:picMkLst>
            <pc:docMk/>
            <pc:sldMk cId="2880505169" sldId="263"/>
            <ac:picMk id="2" creationId="{B78DED62-8662-E0CE-3979-49C710C98B64}"/>
          </ac:picMkLst>
        </pc:picChg>
      </pc:sldChg>
      <pc:sldChg chg="modSp">
        <pc:chgData name="원일 김" userId="de319178d62d76de" providerId="Windows Live" clId="Web-{5F85A9EF-0415-F345-32C3-0B129A0385D4}" dt="2026-06-08T12:59:55.894" v="79" actId="20577"/>
        <pc:sldMkLst>
          <pc:docMk/>
          <pc:sldMk cId="4159317372" sldId="266"/>
        </pc:sldMkLst>
        <pc:spChg chg="mod">
          <ac:chgData name="원일 김" userId="de319178d62d76de" providerId="Windows Live" clId="Web-{5F85A9EF-0415-F345-32C3-0B129A0385D4}" dt="2026-06-08T12:59:55.894" v="79" actId="20577"/>
          <ac:spMkLst>
            <pc:docMk/>
            <pc:sldMk cId="4159317372" sldId="266"/>
            <ac:spMk id="3" creationId="{00000000-0000-0000-0000-000000000000}"/>
          </ac:spMkLst>
        </pc:spChg>
      </pc:sldChg>
      <pc:sldChg chg="modSp">
        <pc:chgData name="원일 김" userId="de319178d62d76de" providerId="Windows Live" clId="Web-{5F85A9EF-0415-F345-32C3-0B129A0385D4}" dt="2026-06-08T14:03:41.490" v="407" actId="20577"/>
        <pc:sldMkLst>
          <pc:docMk/>
          <pc:sldMk cId="47732838" sldId="267"/>
        </pc:sldMkLst>
        <pc:spChg chg="mod">
          <ac:chgData name="원일 김" userId="de319178d62d76de" providerId="Windows Live" clId="Web-{5F85A9EF-0415-F345-32C3-0B129A0385D4}" dt="2026-06-08T14:03:41.490" v="407" actId="20577"/>
          <ac:spMkLst>
            <pc:docMk/>
            <pc:sldMk cId="47732838" sldId="267"/>
            <ac:spMk id="3" creationId="{00000000-0000-0000-0000-000000000000}"/>
          </ac:spMkLst>
        </pc:spChg>
      </pc:sldChg>
      <pc:sldChg chg="modSp">
        <pc:chgData name="원일 김" userId="de319178d62d76de" providerId="Windows Live" clId="Web-{5F85A9EF-0415-F345-32C3-0B129A0385D4}" dt="2026-06-08T13:56:40.365" v="360" actId="20577"/>
        <pc:sldMkLst>
          <pc:docMk/>
          <pc:sldMk cId="118910465" sldId="282"/>
        </pc:sldMkLst>
        <pc:spChg chg="mod">
          <ac:chgData name="원일 김" userId="de319178d62d76de" providerId="Windows Live" clId="Web-{5F85A9EF-0415-F345-32C3-0B129A0385D4}" dt="2026-06-08T13:56:40.365" v="360" actId="20577"/>
          <ac:spMkLst>
            <pc:docMk/>
            <pc:sldMk cId="118910465" sldId="282"/>
            <ac:spMk id="3" creationId="{00000000-0000-0000-0000-000000000000}"/>
          </ac:spMkLst>
        </pc:spChg>
      </pc:sldChg>
      <pc:sldChg chg="modSp ord">
        <pc:chgData name="원일 김" userId="de319178d62d76de" providerId="Windows Live" clId="Web-{5F85A9EF-0415-F345-32C3-0B129A0385D4}" dt="2026-06-08T13:52:59.667" v="343" actId="20577"/>
        <pc:sldMkLst>
          <pc:docMk/>
          <pc:sldMk cId="3511962029" sldId="287"/>
        </pc:sldMkLst>
        <pc:spChg chg="mod">
          <ac:chgData name="원일 김" userId="de319178d62d76de" providerId="Windows Live" clId="Web-{5F85A9EF-0415-F345-32C3-0B129A0385D4}" dt="2026-06-08T13:52:59.667" v="343" actId="20577"/>
          <ac:spMkLst>
            <pc:docMk/>
            <pc:sldMk cId="3511962029" sldId="287"/>
            <ac:spMk id="4" creationId="{00000000-0000-0000-0000-000000000000}"/>
          </ac:spMkLst>
        </pc:spChg>
      </pc:sldChg>
      <pc:sldChg chg="modSp ord">
        <pc:chgData name="원일 김" userId="de319178d62d76de" providerId="Windows Live" clId="Web-{5F85A9EF-0415-F345-32C3-0B129A0385D4}" dt="2026-06-08T13:59:49.637" v="397" actId="14100"/>
        <pc:sldMkLst>
          <pc:docMk/>
          <pc:sldMk cId="365831436" sldId="288"/>
        </pc:sldMkLst>
        <pc:spChg chg="mod">
          <ac:chgData name="원일 김" userId="de319178d62d76de" providerId="Windows Live" clId="Web-{5F85A9EF-0415-F345-32C3-0B129A0385D4}" dt="2026-06-08T13:59:46.653" v="396" actId="1076"/>
          <ac:spMkLst>
            <pc:docMk/>
            <pc:sldMk cId="365831436" sldId="288"/>
            <ac:spMk id="2" creationId="{00000000-0000-0000-0000-000000000000}"/>
          </ac:spMkLst>
        </pc:spChg>
        <pc:spChg chg="mod">
          <ac:chgData name="원일 김" userId="de319178d62d76de" providerId="Windows Live" clId="Web-{5F85A9EF-0415-F345-32C3-0B129A0385D4}" dt="2026-06-08T13:59:49.637" v="397" actId="14100"/>
          <ac:spMkLst>
            <pc:docMk/>
            <pc:sldMk cId="365831436" sldId="288"/>
            <ac:spMk id="3" creationId="{00000000-0000-0000-0000-000000000000}"/>
          </ac:spMkLst>
        </pc:spChg>
      </pc:sldChg>
      <pc:sldChg chg="modSp">
        <pc:chgData name="원일 김" userId="de319178d62d76de" providerId="Windows Live" clId="Web-{5F85A9EF-0415-F345-32C3-0B129A0385D4}" dt="2026-06-08T12:18:37.099" v="32" actId="20577"/>
        <pc:sldMkLst>
          <pc:docMk/>
          <pc:sldMk cId="2878348766" sldId="291"/>
        </pc:sldMkLst>
        <pc:spChg chg="mod">
          <ac:chgData name="원일 김" userId="de319178d62d76de" providerId="Windows Live" clId="Web-{5F85A9EF-0415-F345-32C3-0B129A0385D4}" dt="2026-06-08T12:07:03.978" v="21" actId="20577"/>
          <ac:spMkLst>
            <pc:docMk/>
            <pc:sldMk cId="2878348766" sldId="291"/>
            <ac:spMk id="2" creationId="{00000000-0000-0000-0000-000000000000}"/>
          </ac:spMkLst>
        </pc:spChg>
        <pc:spChg chg="mod">
          <ac:chgData name="원일 김" userId="de319178d62d76de" providerId="Windows Live" clId="Web-{5F85A9EF-0415-F345-32C3-0B129A0385D4}" dt="2026-06-08T12:18:37.099" v="32" actId="20577"/>
          <ac:spMkLst>
            <pc:docMk/>
            <pc:sldMk cId="2878348766" sldId="291"/>
            <ac:spMk id="3" creationId="{00000000-0000-0000-0000-000000000000}"/>
          </ac:spMkLst>
        </pc:spChg>
      </pc:sldChg>
      <pc:sldChg chg="modSp">
        <pc:chgData name="원일 김" userId="de319178d62d76de" providerId="Windows Live" clId="Web-{5F85A9EF-0415-F345-32C3-0B129A0385D4}" dt="2026-06-08T12:31:40.362" v="43" actId="20577"/>
        <pc:sldMkLst>
          <pc:docMk/>
          <pc:sldMk cId="3417028493" sldId="294"/>
        </pc:sldMkLst>
        <pc:spChg chg="mod">
          <ac:chgData name="원일 김" userId="de319178d62d76de" providerId="Windows Live" clId="Web-{5F85A9EF-0415-F345-32C3-0B129A0385D4}" dt="2026-06-08T12:31:40.362" v="43" actId="20577"/>
          <ac:spMkLst>
            <pc:docMk/>
            <pc:sldMk cId="3417028493" sldId="294"/>
            <ac:spMk id="3" creationId="{00000000-0000-0000-0000-000000000000}"/>
          </ac:spMkLst>
        </pc:spChg>
      </pc:sldChg>
      <pc:sldChg chg="addSp delSp modSp new">
        <pc:chgData name="원일 김" userId="de319178d62d76de" providerId="Windows Live" clId="Web-{5F85A9EF-0415-F345-32C3-0B129A0385D4}" dt="2026-06-08T13:42:10.284" v="282" actId="14100"/>
        <pc:sldMkLst>
          <pc:docMk/>
          <pc:sldMk cId="2694334898" sldId="295"/>
        </pc:sldMkLst>
        <pc:spChg chg="mod">
          <ac:chgData name="원일 김" userId="de319178d62d76de" providerId="Windows Live" clId="Web-{5F85A9EF-0415-F345-32C3-0B129A0385D4}" dt="2026-06-08T13:40:34.749" v="254" actId="20577"/>
          <ac:spMkLst>
            <pc:docMk/>
            <pc:sldMk cId="2694334898" sldId="295"/>
            <ac:spMk id="2" creationId="{60632D62-5529-7EC4-2778-1D33D67DD850}"/>
          </ac:spMkLst>
        </pc:spChg>
        <pc:spChg chg="add mod">
          <ac:chgData name="원일 김" userId="de319178d62d76de" providerId="Windows Live" clId="Web-{5F85A9EF-0415-F345-32C3-0B129A0385D4}" dt="2026-06-08T13:41:49.033" v="271" actId="14100"/>
          <ac:spMkLst>
            <pc:docMk/>
            <pc:sldMk cId="2694334898" sldId="295"/>
            <ac:spMk id="8" creationId="{68278446-7C85-AB42-B860-C4D5311D4B99}"/>
          </ac:spMkLst>
        </pc:spChg>
        <pc:spChg chg="add mod">
          <ac:chgData name="원일 김" userId="de319178d62d76de" providerId="Windows Live" clId="Web-{5F85A9EF-0415-F345-32C3-0B129A0385D4}" dt="2026-06-08T13:42:10.284" v="282" actId="14100"/>
          <ac:spMkLst>
            <pc:docMk/>
            <pc:sldMk cId="2694334898" sldId="295"/>
            <ac:spMk id="10" creationId="{C5F30ACE-13F2-858D-4C97-2D13161B4799}"/>
          </ac:spMkLst>
        </pc:spChg>
        <pc:picChg chg="add mod ord">
          <ac:chgData name="원일 김" userId="de319178d62d76de" providerId="Windows Live" clId="Web-{5F85A9EF-0415-F345-32C3-0B129A0385D4}" dt="2026-06-08T13:41:41.580" v="269" actId="1076"/>
          <ac:picMkLst>
            <pc:docMk/>
            <pc:sldMk cId="2694334898" sldId="295"/>
            <ac:picMk id="7" creationId="{03B5A59A-0554-9015-4084-AFAE81EC2C56}"/>
          </ac:picMkLst>
        </pc:picChg>
      </pc:sldChg>
      <pc:sldChg chg="addSp delSp modSp new ord">
        <pc:chgData name="원일 김" userId="de319178d62d76de" providerId="Windows Live" clId="Web-{5F85A9EF-0415-F345-32C3-0B129A0385D4}" dt="2026-06-08T13:45:29.682" v="306" actId="20577"/>
        <pc:sldMkLst>
          <pc:docMk/>
          <pc:sldMk cId="2581535168" sldId="296"/>
        </pc:sldMkLst>
        <pc:spChg chg="mod">
          <ac:chgData name="원일 김" userId="de319178d62d76de" providerId="Windows Live" clId="Web-{5F85A9EF-0415-F345-32C3-0B129A0385D4}" dt="2026-06-08T13:38:13.713" v="232" actId="1076"/>
          <ac:spMkLst>
            <pc:docMk/>
            <pc:sldMk cId="2581535168" sldId="296"/>
            <ac:spMk id="2" creationId="{045407D3-5E4A-FB4E-9668-3EA3AA112D1C}"/>
          </ac:spMkLst>
        </pc:spChg>
        <pc:spChg chg="add mod">
          <ac:chgData name="원일 김" userId="de319178d62d76de" providerId="Windows Live" clId="Web-{5F85A9EF-0415-F345-32C3-0B129A0385D4}" dt="2026-06-08T13:45:29.682" v="306" actId="20577"/>
          <ac:spMkLst>
            <pc:docMk/>
            <pc:sldMk cId="2581535168" sldId="296"/>
            <ac:spMk id="9" creationId="{7FC5C368-F767-5F99-63AC-966B8F643899}"/>
          </ac:spMkLst>
        </pc:spChg>
        <pc:picChg chg="add mod ord">
          <ac:chgData name="원일 김" userId="de319178d62d76de" providerId="Windows Live" clId="Web-{5F85A9EF-0415-F345-32C3-0B129A0385D4}" dt="2026-06-08T13:38:19.213" v="235" actId="14100"/>
          <ac:picMkLst>
            <pc:docMk/>
            <pc:sldMk cId="2581535168" sldId="296"/>
            <ac:picMk id="5" creationId="{A32A7072-AC94-6690-02E7-CC4386A9A89D}"/>
          </ac:picMkLst>
        </pc:picChg>
      </pc:sldChg>
      <pc:sldChg chg="addSp delSp modSp new ord">
        <pc:chgData name="원일 김" userId="de319178d62d76de" providerId="Windows Live" clId="Web-{5F85A9EF-0415-F345-32C3-0B129A0385D4}" dt="2026-06-08T13:53:45.653" v="345" actId="20577"/>
        <pc:sldMkLst>
          <pc:docMk/>
          <pc:sldMk cId="1065350077" sldId="297"/>
        </pc:sldMkLst>
        <pc:spChg chg="mod">
          <ac:chgData name="원일 김" userId="de319178d62d76de" providerId="Windows Live" clId="Web-{5F85A9EF-0415-F345-32C3-0B129A0385D4}" dt="2026-06-08T13:53:45.653" v="345" actId="20577"/>
          <ac:spMkLst>
            <pc:docMk/>
            <pc:sldMk cId="1065350077" sldId="297"/>
            <ac:spMk id="2" creationId="{BA5502D6-9C79-57D6-AEFC-39C305698019}"/>
          </ac:spMkLst>
        </pc:spChg>
        <pc:picChg chg="add mod ord">
          <ac:chgData name="원일 김" userId="de319178d62d76de" providerId="Windows Live" clId="Web-{5F85A9EF-0415-F345-32C3-0B129A0385D4}" dt="2026-06-08T13:48:22.219" v="330" actId="14100"/>
          <ac:picMkLst>
            <pc:docMk/>
            <pc:sldMk cId="1065350077" sldId="297"/>
            <ac:picMk id="4" creationId="{22753C60-7821-1BC2-EFEA-795BB0DE9E41}"/>
          </ac:picMkLst>
        </pc:picChg>
      </pc:sldChg>
    </pc:docChg>
  </pc:docChgLst>
  <pc:docChgLst>
    <pc:chgData name="원일 김" userId="de319178d62d76de" providerId="Windows Live" clId="Web-{1BDAAAE1-B3A1-2830-A92E-2CC427E70142}"/>
    <pc:docChg chg="addSld delSld modSld sldOrd">
      <pc:chgData name="원일 김" userId="de319178d62d76de" providerId="Windows Live" clId="Web-{1BDAAAE1-B3A1-2830-A92E-2CC427E70142}" dt="2026-06-10T13:53:29.680" v="524" actId="20577"/>
      <pc:docMkLst>
        <pc:docMk/>
      </pc:docMkLst>
      <pc:sldChg chg="modSp">
        <pc:chgData name="원일 김" userId="de319178d62d76de" providerId="Windows Live" clId="Web-{1BDAAAE1-B3A1-2830-A92E-2CC427E70142}" dt="2026-06-10T11:27:01.221" v="7" actId="20577"/>
        <pc:sldMkLst>
          <pc:docMk/>
          <pc:sldMk cId="1434672068" sldId="261"/>
        </pc:sldMkLst>
        <pc:spChg chg="mod">
          <ac:chgData name="원일 김" userId="de319178d62d76de" providerId="Windows Live" clId="Web-{1BDAAAE1-B3A1-2830-A92E-2CC427E70142}" dt="2026-06-10T11:27:01.221" v="7" actId="20577"/>
          <ac:spMkLst>
            <pc:docMk/>
            <pc:sldMk cId="1434672068" sldId="261"/>
            <ac:spMk id="3" creationId="{00000000-0000-0000-0000-000000000000}"/>
          </ac:spMkLst>
        </pc:spChg>
      </pc:sldChg>
      <pc:sldChg chg="modSp">
        <pc:chgData name="원일 김" userId="de319178d62d76de" providerId="Windows Live" clId="Web-{1BDAAAE1-B3A1-2830-A92E-2CC427E70142}" dt="2026-06-10T13:44:49.850" v="448" actId="20577"/>
        <pc:sldMkLst>
          <pc:docMk/>
          <pc:sldMk cId="979797" sldId="262"/>
        </pc:sldMkLst>
        <pc:spChg chg="mod">
          <ac:chgData name="원일 김" userId="de319178d62d76de" providerId="Windows Live" clId="Web-{1BDAAAE1-B3A1-2830-A92E-2CC427E70142}" dt="2026-06-10T13:09:22.390" v="235" actId="1076"/>
          <ac:spMkLst>
            <pc:docMk/>
            <pc:sldMk cId="979797" sldId="262"/>
            <ac:spMk id="2" creationId="{00000000-0000-0000-0000-000000000000}"/>
          </ac:spMkLst>
        </pc:spChg>
        <pc:spChg chg="mod">
          <ac:chgData name="원일 김" userId="de319178d62d76de" providerId="Windows Live" clId="Web-{1BDAAAE1-B3A1-2830-A92E-2CC427E70142}" dt="2026-06-10T13:44:49.850" v="448" actId="20577"/>
          <ac:spMkLst>
            <pc:docMk/>
            <pc:sldMk cId="979797" sldId="262"/>
            <ac:spMk id="3" creationId="{00000000-0000-0000-0000-000000000000}"/>
          </ac:spMkLst>
        </pc:spChg>
      </pc:sldChg>
      <pc:sldChg chg="modSp">
        <pc:chgData name="원일 김" userId="de319178d62d76de" providerId="Windows Live" clId="Web-{1BDAAAE1-B3A1-2830-A92E-2CC427E70142}" dt="2026-06-10T12:54:52.200" v="184" actId="20577"/>
        <pc:sldMkLst>
          <pc:docMk/>
          <pc:sldMk cId="2958374395" sldId="264"/>
        </pc:sldMkLst>
        <pc:spChg chg="mod">
          <ac:chgData name="원일 김" userId="de319178d62d76de" providerId="Windows Live" clId="Web-{1BDAAAE1-B3A1-2830-A92E-2CC427E70142}" dt="2026-06-10T12:34:04.922" v="161" actId="14100"/>
          <ac:spMkLst>
            <pc:docMk/>
            <pc:sldMk cId="2958374395" sldId="264"/>
            <ac:spMk id="2" creationId="{00000000-0000-0000-0000-000000000000}"/>
          </ac:spMkLst>
        </pc:spChg>
        <pc:spChg chg="mod">
          <ac:chgData name="원일 김" userId="de319178d62d76de" providerId="Windows Live" clId="Web-{1BDAAAE1-B3A1-2830-A92E-2CC427E70142}" dt="2026-06-10T12:54:52.200" v="184" actId="20577"/>
          <ac:spMkLst>
            <pc:docMk/>
            <pc:sldMk cId="2958374395" sldId="264"/>
            <ac:spMk id="3" creationId="{00000000-0000-0000-0000-000000000000}"/>
          </ac:spMkLst>
        </pc:spChg>
      </pc:sldChg>
      <pc:sldChg chg="modSp">
        <pc:chgData name="원일 김" userId="de319178d62d76de" providerId="Windows Live" clId="Web-{1BDAAAE1-B3A1-2830-A92E-2CC427E70142}" dt="2026-06-10T11:32:46.301" v="40" actId="20577"/>
        <pc:sldMkLst>
          <pc:docMk/>
          <pc:sldMk cId="4159317372" sldId="266"/>
        </pc:sldMkLst>
        <pc:spChg chg="mod">
          <ac:chgData name="원일 김" userId="de319178d62d76de" providerId="Windows Live" clId="Web-{1BDAAAE1-B3A1-2830-A92E-2CC427E70142}" dt="2026-06-10T11:32:46.301" v="40" actId="20577"/>
          <ac:spMkLst>
            <pc:docMk/>
            <pc:sldMk cId="4159317372" sldId="266"/>
            <ac:spMk id="3" creationId="{00000000-0000-0000-0000-000000000000}"/>
          </ac:spMkLst>
        </pc:spChg>
      </pc:sldChg>
      <pc:sldChg chg="modSp">
        <pc:chgData name="원일 김" userId="de319178d62d76de" providerId="Windows Live" clId="Web-{1BDAAAE1-B3A1-2830-A92E-2CC427E70142}" dt="2026-06-10T11:54:57.993" v="108" actId="20577"/>
        <pc:sldMkLst>
          <pc:docMk/>
          <pc:sldMk cId="704289487" sldId="268"/>
        </pc:sldMkLst>
        <pc:spChg chg="mod">
          <ac:chgData name="원일 김" userId="de319178d62d76de" providerId="Windows Live" clId="Web-{1BDAAAE1-B3A1-2830-A92E-2CC427E70142}" dt="2026-06-10T11:54:57.993" v="108" actId="20577"/>
          <ac:spMkLst>
            <pc:docMk/>
            <pc:sldMk cId="704289487" sldId="268"/>
            <ac:spMk id="3" creationId="{00000000-0000-0000-0000-000000000000}"/>
          </ac:spMkLst>
        </pc:spChg>
      </pc:sldChg>
      <pc:sldChg chg="modSp">
        <pc:chgData name="원일 김" userId="de319178d62d76de" providerId="Windows Live" clId="Web-{1BDAAAE1-B3A1-2830-A92E-2CC427E70142}" dt="2026-06-10T11:32:59.223" v="41" actId="20577"/>
        <pc:sldMkLst>
          <pc:docMk/>
          <pc:sldMk cId="1369672365" sldId="273"/>
        </pc:sldMkLst>
        <pc:spChg chg="mod">
          <ac:chgData name="원일 김" userId="de319178d62d76de" providerId="Windows Live" clId="Web-{1BDAAAE1-B3A1-2830-A92E-2CC427E70142}" dt="2026-06-10T11:32:59.223" v="41" actId="20577"/>
          <ac:spMkLst>
            <pc:docMk/>
            <pc:sldMk cId="1369672365" sldId="273"/>
            <ac:spMk id="2" creationId="{00000000-0000-0000-0000-000000000000}"/>
          </ac:spMkLst>
        </pc:spChg>
      </pc:sldChg>
      <pc:sldChg chg="modSp">
        <pc:chgData name="원일 김" userId="de319178d62d76de" providerId="Windows Live" clId="Web-{1BDAAAE1-B3A1-2830-A92E-2CC427E70142}" dt="2026-06-10T13:06:47.827" v="203" actId="1076"/>
        <pc:sldMkLst>
          <pc:docMk/>
          <pc:sldMk cId="3520636731" sldId="276"/>
        </pc:sldMkLst>
        <pc:spChg chg="mod">
          <ac:chgData name="원일 김" userId="de319178d62d76de" providerId="Windows Live" clId="Web-{1BDAAAE1-B3A1-2830-A92E-2CC427E70142}" dt="2026-06-10T13:06:47.827" v="203" actId="1076"/>
          <ac:spMkLst>
            <pc:docMk/>
            <pc:sldMk cId="3520636731" sldId="276"/>
            <ac:spMk id="14" creationId="{00000000-0000-0000-0000-000000000000}"/>
          </ac:spMkLst>
        </pc:spChg>
      </pc:sldChg>
      <pc:sldChg chg="modSp">
        <pc:chgData name="원일 김" userId="de319178d62d76de" providerId="Windows Live" clId="Web-{1BDAAAE1-B3A1-2830-A92E-2CC427E70142}" dt="2026-06-10T13:53:29.680" v="524" actId="20577"/>
        <pc:sldMkLst>
          <pc:docMk/>
          <pc:sldMk cId="1710204329" sldId="281"/>
        </pc:sldMkLst>
        <pc:spChg chg="mod">
          <ac:chgData name="원일 김" userId="de319178d62d76de" providerId="Windows Live" clId="Web-{1BDAAAE1-B3A1-2830-A92E-2CC427E70142}" dt="2026-06-10T13:48:09.351" v="483" actId="14100"/>
          <ac:spMkLst>
            <pc:docMk/>
            <pc:sldMk cId="1710204329" sldId="281"/>
            <ac:spMk id="2" creationId="{00000000-0000-0000-0000-000000000000}"/>
          </ac:spMkLst>
        </pc:spChg>
        <pc:spChg chg="mod">
          <ac:chgData name="원일 김" userId="de319178d62d76de" providerId="Windows Live" clId="Web-{1BDAAAE1-B3A1-2830-A92E-2CC427E70142}" dt="2026-06-10T13:53:29.680" v="524" actId="20577"/>
          <ac:spMkLst>
            <pc:docMk/>
            <pc:sldMk cId="1710204329" sldId="281"/>
            <ac:spMk id="3" creationId="{00000000-0000-0000-0000-000000000000}"/>
          </ac:spMkLst>
        </pc:spChg>
      </pc:sldChg>
      <pc:sldChg chg="modSp">
        <pc:chgData name="원일 김" userId="de319178d62d76de" providerId="Windows Live" clId="Web-{1BDAAAE1-B3A1-2830-A92E-2CC427E70142}" dt="2026-06-10T13:09:47.124" v="247" actId="20577"/>
        <pc:sldMkLst>
          <pc:docMk/>
          <pc:sldMk cId="118910465" sldId="282"/>
        </pc:sldMkLst>
        <pc:spChg chg="mod">
          <ac:chgData name="원일 김" userId="de319178d62d76de" providerId="Windows Live" clId="Web-{1BDAAAE1-B3A1-2830-A92E-2CC427E70142}" dt="2026-06-10T13:09:47.124" v="247" actId="20577"/>
          <ac:spMkLst>
            <pc:docMk/>
            <pc:sldMk cId="118910465" sldId="282"/>
            <ac:spMk id="3" creationId="{00000000-0000-0000-0000-000000000000}"/>
          </ac:spMkLst>
        </pc:spChg>
      </pc:sldChg>
      <pc:sldChg chg="modSp">
        <pc:chgData name="원일 김" userId="de319178d62d76de" providerId="Windows Live" clId="Web-{1BDAAAE1-B3A1-2830-A92E-2CC427E70142}" dt="2026-06-10T11:27:07.440" v="8" actId="20577"/>
        <pc:sldMkLst>
          <pc:docMk/>
          <pc:sldMk cId="3918284226" sldId="286"/>
        </pc:sldMkLst>
        <pc:spChg chg="mod">
          <ac:chgData name="원일 김" userId="de319178d62d76de" providerId="Windows Live" clId="Web-{1BDAAAE1-B3A1-2830-A92E-2CC427E70142}" dt="2026-06-10T11:27:07.440" v="8" actId="20577"/>
          <ac:spMkLst>
            <pc:docMk/>
            <pc:sldMk cId="3918284226" sldId="286"/>
            <ac:spMk id="2" creationId="{00000000-0000-0000-0000-000000000000}"/>
          </ac:spMkLst>
        </pc:spChg>
      </pc:sldChg>
      <pc:sldChg chg="modSp">
        <pc:chgData name="원일 김" userId="de319178d62d76de" providerId="Windows Live" clId="Web-{1BDAAAE1-B3A1-2830-A92E-2CC427E70142}" dt="2026-06-10T11:32:15.488" v="25" actId="20577"/>
        <pc:sldMkLst>
          <pc:docMk/>
          <pc:sldMk cId="2581535168" sldId="296"/>
        </pc:sldMkLst>
        <pc:spChg chg="mod">
          <ac:chgData name="원일 김" userId="de319178d62d76de" providerId="Windows Live" clId="Web-{1BDAAAE1-B3A1-2830-A92E-2CC427E70142}" dt="2026-06-10T11:32:15.488" v="25" actId="20577"/>
          <ac:spMkLst>
            <pc:docMk/>
            <pc:sldMk cId="2581535168" sldId="296"/>
            <ac:spMk id="9" creationId="{7FC5C368-F767-5F99-63AC-966B8F643899}"/>
          </ac:spMkLst>
        </pc:spChg>
      </pc:sldChg>
      <pc:sldChg chg="modSp">
        <pc:chgData name="원일 김" userId="de319178d62d76de" providerId="Windows Live" clId="Web-{1BDAAAE1-B3A1-2830-A92E-2CC427E70142}" dt="2026-06-10T11:30:32.519" v="22"/>
        <pc:sldMkLst>
          <pc:docMk/>
          <pc:sldMk cId="3591975162" sldId="299"/>
        </pc:sldMkLst>
        <pc:spChg chg="mod">
          <ac:chgData name="원일 김" userId="de319178d62d76de" providerId="Windows Live" clId="Web-{1BDAAAE1-B3A1-2830-A92E-2CC427E70142}" dt="2026-06-10T11:30:32.519" v="22"/>
          <ac:spMkLst>
            <pc:docMk/>
            <pc:sldMk cId="3591975162" sldId="299"/>
            <ac:spMk id="2" creationId="{56E45BE7-A75B-D58E-39D1-04E4088467AE}"/>
          </ac:spMkLst>
        </pc:spChg>
        <pc:spChg chg="mod">
          <ac:chgData name="원일 김" userId="de319178d62d76de" providerId="Windows Live" clId="Web-{1BDAAAE1-B3A1-2830-A92E-2CC427E70142}" dt="2026-06-10T11:30:00.410" v="21"/>
          <ac:spMkLst>
            <pc:docMk/>
            <pc:sldMk cId="3591975162" sldId="299"/>
            <ac:spMk id="3" creationId="{2A968593-8CD6-4BE9-FE2A-071EA8DA13AC}"/>
          </ac:spMkLst>
        </pc:spChg>
      </pc:sldChg>
      <pc:sldChg chg="modSp">
        <pc:chgData name="원일 김" userId="de319178d62d76de" providerId="Windows Live" clId="Web-{1BDAAAE1-B3A1-2830-A92E-2CC427E70142}" dt="2026-06-10T11:49:31.101" v="101" actId="20577"/>
        <pc:sldMkLst>
          <pc:docMk/>
          <pc:sldMk cId="2737556679" sldId="300"/>
        </pc:sldMkLst>
        <pc:spChg chg="mod">
          <ac:chgData name="원일 김" userId="de319178d62d76de" providerId="Windows Live" clId="Web-{1BDAAAE1-B3A1-2830-A92E-2CC427E70142}" dt="2026-06-10T11:49:31.101" v="101" actId="20577"/>
          <ac:spMkLst>
            <pc:docMk/>
            <pc:sldMk cId="2737556679" sldId="300"/>
            <ac:spMk id="3" creationId="{F12BEC9C-B40E-77CC-A1F3-126C6D35CB92}"/>
          </ac:spMkLst>
        </pc:spChg>
      </pc:sldChg>
      <pc:sldChg chg="addSp delSp modSp new ord">
        <pc:chgData name="원일 김" userId="de319178d62d76de" providerId="Windows Live" clId="Web-{1BDAAAE1-B3A1-2830-A92E-2CC427E70142}" dt="2026-06-10T12:14:37.027" v="130" actId="14100"/>
        <pc:sldMkLst>
          <pc:docMk/>
          <pc:sldMk cId="3909735722" sldId="301"/>
        </pc:sldMkLst>
        <pc:spChg chg="mod">
          <ac:chgData name="원일 김" userId="de319178d62d76de" providerId="Windows Live" clId="Web-{1BDAAAE1-B3A1-2830-A92E-2CC427E70142}" dt="2026-06-10T12:14:25.231" v="128"/>
          <ac:spMkLst>
            <pc:docMk/>
            <pc:sldMk cId="3909735722" sldId="301"/>
            <ac:spMk id="2" creationId="{097C81FF-EB5B-523F-438F-43D0A58BE7D7}"/>
          </ac:spMkLst>
        </pc:spChg>
        <pc:picChg chg="add mod ord">
          <ac:chgData name="원일 김" userId="de319178d62d76de" providerId="Windows Live" clId="Web-{1BDAAAE1-B3A1-2830-A92E-2CC427E70142}" dt="2026-06-10T12:14:37.027" v="130" actId="14100"/>
          <ac:picMkLst>
            <pc:docMk/>
            <pc:sldMk cId="3909735722" sldId="301"/>
            <ac:picMk id="4" creationId="{3DF76BFB-1294-F11D-A706-448D1DB101B2}"/>
          </ac:picMkLst>
        </pc:picChg>
      </pc:sldChg>
      <pc:sldChg chg="addSp delSp modSp new ord">
        <pc:chgData name="원일 김" userId="de319178d62d76de" providerId="Windows Live" clId="Web-{1BDAAAE1-B3A1-2830-A92E-2CC427E70142}" dt="2026-06-10T12:25:35.420" v="133"/>
        <pc:sldMkLst>
          <pc:docMk/>
          <pc:sldMk cId="428148989" sldId="302"/>
        </pc:sldMkLst>
        <pc:picChg chg="add mod ord">
          <ac:chgData name="원일 김" userId="de319178d62d76de" providerId="Windows Live" clId="Web-{1BDAAAE1-B3A1-2830-A92E-2CC427E70142}" dt="2026-06-10T12:25:35.420" v="133"/>
          <ac:picMkLst>
            <pc:docMk/>
            <pc:sldMk cId="428148989" sldId="302"/>
            <ac:picMk id="4" creationId="{A55D2D05-5C0D-675A-A8CE-7A7F31862855}"/>
          </ac:picMkLst>
        </pc:picChg>
      </pc:sldChg>
      <pc:sldChg chg="modSp new ord">
        <pc:chgData name="원일 김" userId="de319178d62d76de" providerId="Windows Live" clId="Web-{1BDAAAE1-B3A1-2830-A92E-2CC427E70142}" dt="2026-06-10T13:26:33.268" v="349" actId="20577"/>
        <pc:sldMkLst>
          <pc:docMk/>
          <pc:sldMk cId="3356316411" sldId="303"/>
        </pc:sldMkLst>
        <pc:spChg chg="mod">
          <ac:chgData name="원일 김" userId="de319178d62d76de" providerId="Windows Live" clId="Web-{1BDAAAE1-B3A1-2830-A92E-2CC427E70142}" dt="2026-06-10T13:26:02.612" v="335" actId="14100"/>
          <ac:spMkLst>
            <pc:docMk/>
            <pc:sldMk cId="3356316411" sldId="303"/>
            <ac:spMk id="2" creationId="{836BE20B-CFD9-53FA-33C1-6DCB64468835}"/>
          </ac:spMkLst>
        </pc:spChg>
        <pc:spChg chg="mod">
          <ac:chgData name="원일 김" userId="de319178d62d76de" providerId="Windows Live" clId="Web-{1BDAAAE1-B3A1-2830-A92E-2CC427E70142}" dt="2026-06-10T13:26:33.268" v="349" actId="20577"/>
          <ac:spMkLst>
            <pc:docMk/>
            <pc:sldMk cId="3356316411" sldId="303"/>
            <ac:spMk id="3" creationId="{411B57FA-6194-99D2-D676-2DF92EEA4937}"/>
          </ac:spMkLst>
        </pc:spChg>
      </pc:sldChg>
    </pc:docChg>
  </pc:docChgLst>
  <pc:docChgLst>
    <pc:chgData name="원일 김" userId="de319178d62d76de" providerId="Windows Live" clId="Web-{5086DE63-B718-1E4A-C848-1CA350713004}"/>
    <pc:docChg chg="addSld modSld">
      <pc:chgData name="원일 김" userId="de319178d62d76de" providerId="Windows Live" clId="Web-{5086DE63-B718-1E4A-C848-1CA350713004}" dt="2026-06-15T08:26:05.965" v="575" actId="20577"/>
      <pc:docMkLst>
        <pc:docMk/>
      </pc:docMkLst>
      <pc:sldChg chg="modSp">
        <pc:chgData name="원일 김" userId="de319178d62d76de" providerId="Windows Live" clId="Web-{5086DE63-B718-1E4A-C848-1CA350713004}" dt="2026-06-15T08:16:27.864" v="335" actId="20577"/>
        <pc:sldMkLst>
          <pc:docMk/>
          <pc:sldMk cId="3356316411" sldId="303"/>
        </pc:sldMkLst>
        <pc:spChg chg="mod">
          <ac:chgData name="원일 김" userId="de319178d62d76de" providerId="Windows Live" clId="Web-{5086DE63-B718-1E4A-C848-1CA350713004}" dt="2026-06-15T08:11:43.556" v="257" actId="14100"/>
          <ac:spMkLst>
            <pc:docMk/>
            <pc:sldMk cId="3356316411" sldId="303"/>
            <ac:spMk id="2" creationId="{836BE20B-CFD9-53FA-33C1-6DCB64468835}"/>
          </ac:spMkLst>
        </pc:spChg>
        <pc:spChg chg="mod">
          <ac:chgData name="원일 김" userId="de319178d62d76de" providerId="Windows Live" clId="Web-{5086DE63-B718-1E4A-C848-1CA350713004}" dt="2026-06-15T08:16:27.864" v="335" actId="20577"/>
          <ac:spMkLst>
            <pc:docMk/>
            <pc:sldMk cId="3356316411" sldId="303"/>
            <ac:spMk id="3" creationId="{411B57FA-6194-99D2-D676-2DF92EEA4937}"/>
          </ac:spMkLst>
        </pc:spChg>
      </pc:sldChg>
      <pc:sldChg chg="delSp modSp new">
        <pc:chgData name="원일 김" userId="de319178d62d76de" providerId="Windows Live" clId="Web-{5086DE63-B718-1E4A-C848-1CA350713004}" dt="2026-06-15T08:26:05.965" v="575" actId="20577"/>
        <pc:sldMkLst>
          <pc:docMk/>
          <pc:sldMk cId="3233838815" sldId="306"/>
        </pc:sldMkLst>
        <pc:spChg chg="del">
          <ac:chgData name="원일 김" userId="de319178d62d76de" providerId="Windows Live" clId="Web-{5086DE63-B718-1E4A-C848-1CA350713004}" dt="2026-06-15T08:17:55.071" v="373"/>
          <ac:spMkLst>
            <pc:docMk/>
            <pc:sldMk cId="3233838815" sldId="306"/>
            <ac:spMk id="2" creationId="{A5F3E84E-A4B5-D6DA-636E-D291D98A9399}"/>
          </ac:spMkLst>
        </pc:spChg>
        <pc:spChg chg="mod">
          <ac:chgData name="원일 김" userId="de319178d62d76de" providerId="Windows Live" clId="Web-{5086DE63-B718-1E4A-C848-1CA350713004}" dt="2026-06-15T08:26:05.965" v="575" actId="20577"/>
          <ac:spMkLst>
            <pc:docMk/>
            <pc:sldMk cId="3233838815" sldId="306"/>
            <ac:spMk id="3" creationId="{F4123051-9AC4-899C-5DA6-A863B7E11F0F}"/>
          </ac:spMkLst>
        </pc:spChg>
      </pc:sldChg>
    </pc:docChg>
  </pc:docChgLst>
  <pc:docChgLst>
    <pc:chgData name="원일 김" userId="de319178d62d76de" providerId="Windows Live" clId="Web-{6A722B5B-08B7-4D59-8B9B-035F2040F817}"/>
    <pc:docChg chg="modSld">
      <pc:chgData name="원일 김" userId="de319178d62d76de" providerId="Windows Live" clId="Web-{6A722B5B-08B7-4D59-8B9B-035F2040F817}" dt="2026-06-07T12:36:56.660" v="42" actId="20577"/>
      <pc:docMkLst>
        <pc:docMk/>
      </pc:docMkLst>
      <pc:sldChg chg="delSp modSp">
        <pc:chgData name="원일 김" userId="de319178d62d76de" providerId="Windows Live" clId="Web-{6A722B5B-08B7-4D59-8B9B-035F2040F817}" dt="2026-06-07T12:30:30.349" v="8" actId="14100"/>
        <pc:sldMkLst>
          <pc:docMk/>
          <pc:sldMk cId="2880505169" sldId="263"/>
        </pc:sldMkLst>
      </pc:sldChg>
      <pc:sldChg chg="addSp modSp">
        <pc:chgData name="원일 김" userId="de319178d62d76de" providerId="Windows Live" clId="Web-{6A722B5B-08B7-4D59-8B9B-035F2040F817}" dt="2026-06-07T12:36:12.687" v="35" actId="14100"/>
        <pc:sldMkLst>
          <pc:docMk/>
          <pc:sldMk cId="3066483501" sldId="270"/>
        </pc:sldMkLst>
        <pc:spChg chg="add mod">
          <ac:chgData name="원일 김" userId="de319178d62d76de" providerId="Windows Live" clId="Web-{6A722B5B-08B7-4D59-8B9B-035F2040F817}" dt="2026-06-07T12:35:02.665" v="16" actId="14100"/>
          <ac:spMkLst>
            <pc:docMk/>
            <pc:sldMk cId="3066483501" sldId="270"/>
            <ac:spMk id="4" creationId="{DCEEFB7D-5778-B371-D5BA-09BE28D1A150}"/>
          </ac:spMkLst>
        </pc:spChg>
        <pc:cxnChg chg="add mod">
          <ac:chgData name="원일 김" userId="de319178d62d76de" providerId="Windows Live" clId="Web-{6A722B5B-08B7-4D59-8B9B-035F2040F817}" dt="2026-06-07T12:36:12.687" v="35" actId="14100"/>
          <ac:cxnSpMkLst>
            <pc:docMk/>
            <pc:sldMk cId="3066483501" sldId="270"/>
            <ac:cxnSpMk id="5" creationId="{B75A569C-2933-2E27-F05F-49570213D09D}"/>
          </ac:cxnSpMkLst>
        </pc:cxnChg>
      </pc:sldChg>
      <pc:sldChg chg="modSp">
        <pc:chgData name="원일 김" userId="de319178d62d76de" providerId="Windows Live" clId="Web-{6A722B5B-08B7-4D59-8B9B-035F2040F817}" dt="2026-06-07T12:36:56.660" v="42" actId="20577"/>
        <pc:sldMkLst>
          <pc:docMk/>
          <pc:sldMk cId="601035663" sldId="293"/>
        </pc:sldMkLst>
        <pc:spChg chg="mod">
          <ac:chgData name="원일 김" userId="de319178d62d76de" providerId="Windows Live" clId="Web-{6A722B5B-08B7-4D59-8B9B-035F2040F817}" dt="2026-06-07T12:36:56.660" v="42" actId="20577"/>
          <ac:spMkLst>
            <pc:docMk/>
            <pc:sldMk cId="601035663" sldId="293"/>
            <ac:spMk id="3" creationId="{00000000-0000-0000-0000-000000000000}"/>
          </ac:spMkLst>
        </pc:spChg>
      </pc:sldChg>
    </pc:docChg>
  </pc:docChgLst>
  <pc:docChgLst>
    <pc:chgData name="원일 김" userId="de319178d62d76de" providerId="Windows Live" clId="Web-{D50A3513-97C1-42C7-815A-E7ED862387B3}"/>
    <pc:docChg chg="modSld">
      <pc:chgData name="원일 김" userId="de319178d62d76de" providerId="Windows Live" clId="Web-{D50A3513-97C1-42C7-815A-E7ED862387B3}" dt="2026-06-07T13:56:53.197" v="172" actId="20577"/>
      <pc:docMkLst>
        <pc:docMk/>
      </pc:docMkLst>
      <pc:sldChg chg="modSp">
        <pc:chgData name="원일 김" userId="de319178d62d76de" providerId="Windows Live" clId="Web-{D50A3513-97C1-42C7-815A-E7ED862387B3}" dt="2026-06-07T13:56:53.197" v="172" actId="20577"/>
        <pc:sldMkLst>
          <pc:docMk/>
          <pc:sldMk cId="3417028493" sldId="294"/>
        </pc:sldMkLst>
        <pc:spChg chg="mod">
          <ac:chgData name="원일 김" userId="de319178d62d76de" providerId="Windows Live" clId="Web-{D50A3513-97C1-42C7-815A-E7ED862387B3}" dt="2026-06-07T13:32:12.788" v="14" actId="14100"/>
          <ac:spMkLst>
            <pc:docMk/>
            <pc:sldMk cId="3417028493" sldId="294"/>
            <ac:spMk id="2" creationId="{00000000-0000-0000-0000-000000000000}"/>
          </ac:spMkLst>
        </pc:spChg>
        <pc:spChg chg="mod">
          <ac:chgData name="원일 김" userId="de319178d62d76de" providerId="Windows Live" clId="Web-{D50A3513-97C1-42C7-815A-E7ED862387B3}" dt="2026-06-07T13:56:53.197" v="172" actId="20577"/>
          <ac:spMkLst>
            <pc:docMk/>
            <pc:sldMk cId="3417028493" sldId="294"/>
            <ac:spMk id="3" creationId="{00000000-0000-0000-0000-000000000000}"/>
          </ac:spMkLst>
        </pc:spChg>
      </pc:sldChg>
    </pc:docChg>
  </pc:docChgLst>
  <pc:docChgLst>
    <pc:chgData name="원일 김" userId="de319178d62d76de" providerId="Windows Live" clId="Web-{075F0B26-A09C-12A5-29DA-1CE077210E80}"/>
    <pc:docChg chg="addSld modSld sldOrd">
      <pc:chgData name="원일 김" userId="de319178d62d76de" providerId="Windows Live" clId="Web-{075F0B26-A09C-12A5-29DA-1CE077210E80}" dt="2026-06-09T14:41:00.461" v="179" actId="14100"/>
      <pc:docMkLst>
        <pc:docMk/>
      </pc:docMkLst>
      <pc:sldChg chg="addSp modSp">
        <pc:chgData name="원일 김" userId="de319178d62d76de" providerId="Windows Live" clId="Web-{075F0B26-A09C-12A5-29DA-1CE077210E80}" dt="2026-06-09T14:19:54.468" v="63" actId="1076"/>
        <pc:sldMkLst>
          <pc:docMk/>
          <pc:sldMk cId="1369672365" sldId="273"/>
        </pc:sldMkLst>
        <pc:picChg chg="add mod">
          <ac:chgData name="원일 김" userId="de319178d62d76de" providerId="Windows Live" clId="Web-{075F0B26-A09C-12A5-29DA-1CE077210E80}" dt="2026-06-09T14:19:54.468" v="63" actId="1076"/>
          <ac:picMkLst>
            <pc:docMk/>
            <pc:sldMk cId="1369672365" sldId="273"/>
            <ac:picMk id="3" creationId="{F71FBDE5-A32D-1851-FF90-D35158B8D184}"/>
          </ac:picMkLst>
        </pc:picChg>
        <pc:picChg chg="add mod">
          <ac:chgData name="원일 김" userId="de319178d62d76de" providerId="Windows Live" clId="Web-{075F0B26-A09C-12A5-29DA-1CE077210E80}" dt="2026-06-09T14:19:52.812" v="62" actId="1076"/>
          <ac:picMkLst>
            <pc:docMk/>
            <pc:sldMk cId="1369672365" sldId="273"/>
            <ac:picMk id="4" creationId="{14FA2338-2E1E-959A-7802-605F1A6C10E1}"/>
          </ac:picMkLst>
        </pc:picChg>
        <pc:picChg chg="mod">
          <ac:chgData name="원일 김" userId="de319178d62d76de" providerId="Windows Live" clId="Web-{075F0B26-A09C-12A5-29DA-1CE077210E80}" dt="2026-06-09T14:18:23.764" v="51" actId="1076"/>
          <ac:picMkLst>
            <pc:docMk/>
            <pc:sldMk cId="1369672365" sldId="273"/>
            <ac:picMk id="1026" creationId="{00000000-0000-0000-0000-000000000000}"/>
          </ac:picMkLst>
        </pc:picChg>
        <pc:picChg chg="mod">
          <ac:chgData name="원일 김" userId="de319178d62d76de" providerId="Windows Live" clId="Web-{075F0B26-A09C-12A5-29DA-1CE077210E80}" dt="2026-06-09T14:18:25.576" v="52" actId="1076"/>
          <ac:picMkLst>
            <pc:docMk/>
            <pc:sldMk cId="1369672365" sldId="273"/>
            <ac:picMk id="1027" creationId="{00000000-0000-0000-0000-000000000000}"/>
          </ac:picMkLst>
        </pc:picChg>
      </pc:sldChg>
      <pc:sldChg chg="modSp">
        <pc:chgData name="원일 김" userId="de319178d62d76de" providerId="Windows Live" clId="Web-{075F0B26-A09C-12A5-29DA-1CE077210E80}" dt="2026-06-09T14:24:03.391" v="77" actId="20577"/>
        <pc:sldMkLst>
          <pc:docMk/>
          <pc:sldMk cId="2683103593" sldId="284"/>
        </pc:sldMkLst>
        <pc:spChg chg="mod">
          <ac:chgData name="원일 김" userId="de319178d62d76de" providerId="Windows Live" clId="Web-{075F0B26-A09C-12A5-29DA-1CE077210E80}" dt="2026-06-09T14:23:09.250" v="72" actId="14100"/>
          <ac:spMkLst>
            <pc:docMk/>
            <pc:sldMk cId="2683103593" sldId="284"/>
            <ac:spMk id="2" creationId="{00000000-0000-0000-0000-000000000000}"/>
          </ac:spMkLst>
        </pc:spChg>
        <pc:spChg chg="mod">
          <ac:chgData name="원일 김" userId="de319178d62d76de" providerId="Windows Live" clId="Web-{075F0B26-A09C-12A5-29DA-1CE077210E80}" dt="2026-06-09T14:24:03.391" v="77" actId="20577"/>
          <ac:spMkLst>
            <pc:docMk/>
            <pc:sldMk cId="2683103593" sldId="284"/>
            <ac:spMk id="3" creationId="{00000000-0000-0000-0000-000000000000}"/>
          </ac:spMkLst>
        </pc:spChg>
      </pc:sldChg>
      <pc:sldChg chg="modSp">
        <pc:chgData name="원일 김" userId="de319178d62d76de" providerId="Windows Live" clId="Web-{075F0B26-A09C-12A5-29DA-1CE077210E80}" dt="2026-06-09T14:04:54.774" v="8" actId="20577"/>
        <pc:sldMkLst>
          <pc:docMk/>
          <pc:sldMk cId="365831436" sldId="288"/>
        </pc:sldMkLst>
        <pc:spChg chg="mod">
          <ac:chgData name="원일 김" userId="de319178d62d76de" providerId="Windows Live" clId="Web-{075F0B26-A09C-12A5-29DA-1CE077210E80}" dt="2026-06-09T14:04:54.774" v="8" actId="20577"/>
          <ac:spMkLst>
            <pc:docMk/>
            <pc:sldMk cId="365831436" sldId="288"/>
            <ac:spMk id="2" creationId="{00000000-0000-0000-0000-000000000000}"/>
          </ac:spMkLst>
        </pc:spChg>
      </pc:sldChg>
      <pc:sldChg chg="modSp">
        <pc:chgData name="원일 김" userId="de319178d62d76de" providerId="Windows Live" clId="Web-{075F0B26-A09C-12A5-29DA-1CE077210E80}" dt="2026-06-09T14:22:31.968" v="71"/>
        <pc:sldMkLst>
          <pc:docMk/>
          <pc:sldMk cId="2878348766" sldId="291"/>
        </pc:sldMkLst>
        <pc:spChg chg="mod">
          <ac:chgData name="원일 김" userId="de319178d62d76de" providerId="Windows Live" clId="Web-{075F0B26-A09C-12A5-29DA-1CE077210E80}" dt="2026-06-09T14:22:31.968" v="71"/>
          <ac:spMkLst>
            <pc:docMk/>
            <pc:sldMk cId="2878348766" sldId="291"/>
            <ac:spMk id="3" creationId="{00000000-0000-0000-0000-000000000000}"/>
          </ac:spMkLst>
        </pc:spChg>
      </pc:sldChg>
      <pc:sldChg chg="modSp">
        <pc:chgData name="원일 김" userId="de319178d62d76de" providerId="Windows Live" clId="Web-{075F0B26-A09C-12A5-29DA-1CE077210E80}" dt="2026-06-09T14:07:46.712" v="33" actId="14100"/>
        <pc:sldMkLst>
          <pc:docMk/>
          <pc:sldMk cId="2581535168" sldId="296"/>
        </pc:sldMkLst>
        <pc:spChg chg="mod">
          <ac:chgData name="원일 김" userId="de319178d62d76de" providerId="Windows Live" clId="Web-{075F0B26-A09C-12A5-29DA-1CE077210E80}" dt="2026-06-09T14:07:46.712" v="33" actId="14100"/>
          <ac:spMkLst>
            <pc:docMk/>
            <pc:sldMk cId="2581535168" sldId="296"/>
            <ac:spMk id="9" creationId="{7FC5C368-F767-5F99-63AC-966B8F643899}"/>
          </ac:spMkLst>
        </pc:spChg>
      </pc:sldChg>
      <pc:sldChg chg="addSp delSp modSp new ord">
        <pc:chgData name="원일 김" userId="de319178d62d76de" providerId="Windows Live" clId="Web-{075F0B26-A09C-12A5-29DA-1CE077210E80}" dt="2026-06-09T14:15:04.151" v="48" actId="14100"/>
        <pc:sldMkLst>
          <pc:docMk/>
          <pc:sldMk cId="2059366212" sldId="298"/>
        </pc:sldMkLst>
        <pc:spChg chg="mod">
          <ac:chgData name="원일 김" userId="de319178d62d76de" providerId="Windows Live" clId="Web-{075F0B26-A09C-12A5-29DA-1CE077210E80}" dt="2026-06-09T14:11:41.323" v="43" actId="14100"/>
          <ac:spMkLst>
            <pc:docMk/>
            <pc:sldMk cId="2059366212" sldId="298"/>
            <ac:spMk id="2" creationId="{6E4DBEF1-F612-BBAF-3966-0F6F09F0C91B}"/>
          </ac:spMkLst>
        </pc:spChg>
        <pc:picChg chg="add mod ord">
          <ac:chgData name="원일 김" userId="de319178d62d76de" providerId="Windows Live" clId="Web-{075F0B26-A09C-12A5-29DA-1CE077210E80}" dt="2026-06-09T14:15:04.151" v="48" actId="14100"/>
          <ac:picMkLst>
            <pc:docMk/>
            <pc:sldMk cId="2059366212" sldId="298"/>
            <ac:picMk id="4" creationId="{1CD0DB6F-8F34-3EB5-1A16-E7B519AECE42}"/>
          </ac:picMkLst>
        </pc:picChg>
      </pc:sldChg>
      <pc:sldChg chg="modSp new ord">
        <pc:chgData name="원일 김" userId="de319178d62d76de" providerId="Windows Live" clId="Web-{075F0B26-A09C-12A5-29DA-1CE077210E80}" dt="2026-06-09T14:40:35.617" v="166" actId="20577"/>
        <pc:sldMkLst>
          <pc:docMk/>
          <pc:sldMk cId="3591975162" sldId="299"/>
        </pc:sldMkLst>
        <pc:spChg chg="mod">
          <ac:chgData name="원일 김" userId="de319178d62d76de" providerId="Windows Live" clId="Web-{075F0B26-A09C-12A5-29DA-1CE077210E80}" dt="2026-06-09T14:40:35.617" v="166" actId="20577"/>
          <ac:spMkLst>
            <pc:docMk/>
            <pc:sldMk cId="3591975162" sldId="299"/>
            <ac:spMk id="2" creationId="{56E45BE7-A75B-D58E-39D1-04E4088467AE}"/>
          </ac:spMkLst>
        </pc:spChg>
        <pc:spChg chg="mod">
          <ac:chgData name="원일 김" userId="de319178d62d76de" providerId="Windows Live" clId="Web-{075F0B26-A09C-12A5-29DA-1CE077210E80}" dt="2026-06-09T14:39:36.833" v="164" actId="20577"/>
          <ac:spMkLst>
            <pc:docMk/>
            <pc:sldMk cId="3591975162" sldId="299"/>
            <ac:spMk id="3" creationId="{2A968593-8CD6-4BE9-FE2A-071EA8DA13AC}"/>
          </ac:spMkLst>
        </pc:spChg>
      </pc:sldChg>
      <pc:sldChg chg="modSp new ord">
        <pc:chgData name="원일 김" userId="de319178d62d76de" providerId="Windows Live" clId="Web-{075F0B26-A09C-12A5-29DA-1CE077210E80}" dt="2026-06-09T14:41:00.461" v="179" actId="14100"/>
        <pc:sldMkLst>
          <pc:docMk/>
          <pc:sldMk cId="2737556679" sldId="300"/>
        </pc:sldMkLst>
        <pc:spChg chg="mod">
          <ac:chgData name="원일 김" userId="de319178d62d76de" providerId="Windows Live" clId="Web-{075F0B26-A09C-12A5-29DA-1CE077210E80}" dt="2026-06-09T14:40:58.321" v="178" actId="14100"/>
          <ac:spMkLst>
            <pc:docMk/>
            <pc:sldMk cId="2737556679" sldId="300"/>
            <ac:spMk id="2" creationId="{76A48CD1-BD4A-0747-19F8-33E179D4EEE4}"/>
          </ac:spMkLst>
        </pc:spChg>
        <pc:spChg chg="mod">
          <ac:chgData name="원일 김" userId="de319178d62d76de" providerId="Windows Live" clId="Web-{075F0B26-A09C-12A5-29DA-1CE077210E80}" dt="2026-06-09T14:41:00.461" v="179" actId="14100"/>
          <ac:spMkLst>
            <pc:docMk/>
            <pc:sldMk cId="2737556679" sldId="300"/>
            <ac:spMk id="3" creationId="{F12BEC9C-B40E-77CC-A1F3-126C6D35CB92}"/>
          </ac:spMkLst>
        </pc:spChg>
      </pc:sldChg>
    </pc:docChg>
  </pc:docChgLst>
  <pc:docChgLst>
    <pc:chgData name="원일 김" userId="de319178d62d76de" providerId="Windows Live" clId="Web-{5B637A0E-3502-4024-FCD0-6B2BFFC058A2}"/>
    <pc:docChg chg="addSld modSld sldOrd">
      <pc:chgData name="원일 김" userId="de319178d62d76de" providerId="Windows Live" clId="Web-{5B637A0E-3502-4024-FCD0-6B2BFFC058A2}" dt="2026-06-14T03:25:49.559" v="168" actId="20577"/>
      <pc:docMkLst>
        <pc:docMk/>
      </pc:docMkLst>
      <pc:sldChg chg="modSp">
        <pc:chgData name="원일 김" userId="de319178d62d76de" providerId="Windows Live" clId="Web-{5B637A0E-3502-4024-FCD0-6B2BFFC058A2}" dt="2026-06-14T03:20:00.340" v="163"/>
        <pc:sldMkLst>
          <pc:docMk/>
          <pc:sldMk cId="2958374395" sldId="264"/>
        </pc:sldMkLst>
        <pc:spChg chg="mod">
          <ac:chgData name="원일 김" userId="de319178d62d76de" providerId="Windows Live" clId="Web-{5B637A0E-3502-4024-FCD0-6B2BFFC058A2}" dt="2026-06-14T03:20:00.340" v="163"/>
          <ac:spMkLst>
            <pc:docMk/>
            <pc:sldMk cId="2958374395" sldId="264"/>
            <ac:spMk id="3" creationId="{00000000-0000-0000-0000-000000000000}"/>
          </ac:spMkLst>
        </pc:spChg>
      </pc:sldChg>
      <pc:sldChg chg="modSp">
        <pc:chgData name="원일 김" userId="de319178d62d76de" providerId="Windows Live" clId="Web-{5B637A0E-3502-4024-FCD0-6B2BFFC058A2}" dt="2026-06-14T03:25:49.559" v="168" actId="20577"/>
        <pc:sldMkLst>
          <pc:docMk/>
          <pc:sldMk cId="47732838" sldId="267"/>
        </pc:sldMkLst>
        <pc:spChg chg="mod">
          <ac:chgData name="원일 김" userId="de319178d62d76de" providerId="Windows Live" clId="Web-{5B637A0E-3502-4024-FCD0-6B2BFFC058A2}" dt="2026-06-14T03:25:49.559" v="168" actId="20577"/>
          <ac:spMkLst>
            <pc:docMk/>
            <pc:sldMk cId="47732838" sldId="267"/>
            <ac:spMk id="3" creationId="{00000000-0000-0000-0000-000000000000}"/>
          </ac:spMkLst>
        </pc:spChg>
      </pc:sldChg>
      <pc:sldChg chg="addSp delSp modSp new ord">
        <pc:chgData name="원일 김" userId="de319178d62d76de" providerId="Windows Live" clId="Web-{5B637A0E-3502-4024-FCD0-6B2BFFC058A2}" dt="2026-06-14T03:04:56.975" v="29" actId="1076"/>
        <pc:sldMkLst>
          <pc:docMk/>
          <pc:sldMk cId="4194210363" sldId="305"/>
        </pc:sldMkLst>
        <pc:spChg chg="mod">
          <ac:chgData name="원일 김" userId="de319178d62d76de" providerId="Windows Live" clId="Web-{5B637A0E-3502-4024-FCD0-6B2BFFC058A2}" dt="2026-06-14T03:04:25.568" v="19" actId="14100"/>
          <ac:spMkLst>
            <pc:docMk/>
            <pc:sldMk cId="4194210363" sldId="305"/>
            <ac:spMk id="2" creationId="{9D7F0B6E-CB3C-223F-FF9B-986358A28DD0}"/>
          </ac:spMkLst>
        </pc:spChg>
        <pc:spChg chg="del">
          <ac:chgData name="원일 김" userId="de319178d62d76de" providerId="Windows Live" clId="Web-{5B637A0E-3502-4024-FCD0-6B2BFFC058A2}" dt="2026-06-14T03:02:06.745" v="2"/>
          <ac:spMkLst>
            <pc:docMk/>
            <pc:sldMk cId="4194210363" sldId="305"/>
            <ac:spMk id="3" creationId="{EFED9C25-8DE4-6406-0799-77F2707AA5C8}"/>
          </ac:spMkLst>
        </pc:spChg>
        <pc:spChg chg="add del mod">
          <ac:chgData name="원일 김" userId="de319178d62d76de" providerId="Windows Live" clId="Web-{5B637A0E-3502-4024-FCD0-6B2BFFC058A2}" dt="2026-06-14T03:03:56.020" v="9"/>
          <ac:spMkLst>
            <pc:docMk/>
            <pc:sldMk cId="4194210363" sldId="305"/>
            <ac:spMk id="6" creationId="{3844452F-4043-4EEF-4B5D-25DFB9551C34}"/>
          </ac:spMkLst>
        </pc:spChg>
        <pc:spChg chg="add mod">
          <ac:chgData name="원일 김" userId="de319178d62d76de" providerId="Windows Live" clId="Web-{5B637A0E-3502-4024-FCD0-6B2BFFC058A2}" dt="2026-06-14T03:04:56.975" v="29" actId="1076"/>
          <ac:spMkLst>
            <pc:docMk/>
            <pc:sldMk cId="4194210363" sldId="305"/>
            <ac:spMk id="8" creationId="{1AFF5A0C-3D08-14B4-76EA-0434C1B95786}"/>
          </ac:spMkLst>
        </pc:spChg>
        <pc:picChg chg="add del mod ord">
          <ac:chgData name="원일 김" userId="de319178d62d76de" providerId="Windows Live" clId="Web-{5B637A0E-3502-4024-FCD0-6B2BFFC058A2}" dt="2026-06-14T03:03:53.348" v="8"/>
          <ac:picMkLst>
            <pc:docMk/>
            <pc:sldMk cId="4194210363" sldId="305"/>
            <ac:picMk id="4" creationId="{CD2D5BC9-2B91-3B6D-B240-2BF075973960}"/>
          </ac:picMkLst>
        </pc:picChg>
        <pc:picChg chg="add mod ord">
          <ac:chgData name="원일 김" userId="de319178d62d76de" providerId="Windows Live" clId="Web-{5B637A0E-3502-4024-FCD0-6B2BFFC058A2}" dt="2026-06-14T03:04:27.599" v="20" actId="1076"/>
          <ac:picMkLst>
            <pc:docMk/>
            <pc:sldMk cId="4194210363" sldId="305"/>
            <ac:picMk id="7" creationId="{08782FD3-1C96-586C-0869-F31D06C84AC5}"/>
          </ac:picMkLst>
        </pc:picChg>
      </pc:sldChg>
    </pc:docChg>
  </pc:docChgLst>
  <pc:docChgLst>
    <pc:chgData name="원일 김" userId="de319178d62d76de" providerId="Windows Live" clId="Web-{EF0E69EC-58D6-CB97-5A16-66F58E08E65C}"/>
    <pc:docChg chg="addSld modSld sldOrd">
      <pc:chgData name="원일 김" userId="de319178d62d76de" providerId="Windows Live" clId="Web-{EF0E69EC-58D6-CB97-5A16-66F58E08E65C}" dt="2026-06-13T13:57:55.129" v="228" actId="20577"/>
      <pc:docMkLst>
        <pc:docMk/>
      </pc:docMkLst>
      <pc:sldChg chg="modSp">
        <pc:chgData name="원일 김" userId="de319178d62d76de" providerId="Windows Live" clId="Web-{EF0E69EC-58D6-CB97-5A16-66F58E08E65C}" dt="2026-06-13T13:29:31.584" v="128" actId="20577"/>
        <pc:sldMkLst>
          <pc:docMk/>
          <pc:sldMk cId="4159317372" sldId="266"/>
        </pc:sldMkLst>
        <pc:spChg chg="mod">
          <ac:chgData name="원일 김" userId="de319178d62d76de" providerId="Windows Live" clId="Web-{EF0E69EC-58D6-CB97-5A16-66F58E08E65C}" dt="2026-06-13T13:29:31.584" v="128" actId="20577"/>
          <ac:spMkLst>
            <pc:docMk/>
            <pc:sldMk cId="4159317372" sldId="266"/>
            <ac:spMk id="3" creationId="{00000000-0000-0000-0000-000000000000}"/>
          </ac:spMkLst>
        </pc:spChg>
      </pc:sldChg>
      <pc:sldChg chg="modSp">
        <pc:chgData name="원일 김" userId="de319178d62d76de" providerId="Windows Live" clId="Web-{EF0E69EC-58D6-CB97-5A16-66F58E08E65C}" dt="2026-06-13T13:52:43.028" v="202" actId="20577"/>
        <pc:sldMkLst>
          <pc:docMk/>
          <pc:sldMk cId="47732838" sldId="267"/>
        </pc:sldMkLst>
        <pc:spChg chg="mod">
          <ac:chgData name="원일 김" userId="de319178d62d76de" providerId="Windows Live" clId="Web-{EF0E69EC-58D6-CB97-5A16-66F58E08E65C}" dt="2026-06-13T13:52:43.028" v="202" actId="20577"/>
          <ac:spMkLst>
            <pc:docMk/>
            <pc:sldMk cId="47732838" sldId="267"/>
            <ac:spMk id="2" creationId="{00000000-0000-0000-0000-000000000000}"/>
          </ac:spMkLst>
        </pc:spChg>
      </pc:sldChg>
      <pc:sldChg chg="modSp">
        <pc:chgData name="원일 김" userId="de319178d62d76de" providerId="Windows Live" clId="Web-{EF0E69EC-58D6-CB97-5A16-66F58E08E65C}" dt="2026-06-13T13:52:31.450" v="201" actId="1076"/>
        <pc:sldMkLst>
          <pc:docMk/>
          <pc:sldMk cId="3174978502" sldId="290"/>
        </pc:sldMkLst>
        <pc:spChg chg="mod">
          <ac:chgData name="원일 김" userId="de319178d62d76de" providerId="Windows Live" clId="Web-{EF0E69EC-58D6-CB97-5A16-66F58E08E65C}" dt="2026-06-13T13:52:31.450" v="201" actId="1076"/>
          <ac:spMkLst>
            <pc:docMk/>
            <pc:sldMk cId="3174978502" sldId="290"/>
            <ac:spMk id="2" creationId="{00000000-0000-0000-0000-000000000000}"/>
          </ac:spMkLst>
        </pc:spChg>
        <pc:spChg chg="mod">
          <ac:chgData name="원일 김" userId="de319178d62d76de" providerId="Windows Live" clId="Web-{EF0E69EC-58D6-CB97-5A16-66F58E08E65C}" dt="2026-06-13T13:03:34.785" v="3" actId="14100"/>
          <ac:spMkLst>
            <pc:docMk/>
            <pc:sldMk cId="3174978502" sldId="290"/>
            <ac:spMk id="3" creationId="{00000000-0000-0000-0000-000000000000}"/>
          </ac:spMkLst>
        </pc:spChg>
      </pc:sldChg>
      <pc:sldChg chg="modSp">
        <pc:chgData name="원일 김" userId="de319178d62d76de" providerId="Windows Live" clId="Web-{EF0E69EC-58D6-CB97-5A16-66F58E08E65C}" dt="2026-06-13T13:24:17.436" v="98" actId="20577"/>
        <pc:sldMkLst>
          <pc:docMk/>
          <pc:sldMk cId="2878348766" sldId="291"/>
        </pc:sldMkLst>
        <pc:spChg chg="mod">
          <ac:chgData name="원일 김" userId="de319178d62d76de" providerId="Windows Live" clId="Web-{EF0E69EC-58D6-CB97-5A16-66F58E08E65C}" dt="2026-06-13T13:23:11.341" v="62" actId="14100"/>
          <ac:spMkLst>
            <pc:docMk/>
            <pc:sldMk cId="2878348766" sldId="291"/>
            <ac:spMk id="2" creationId="{00000000-0000-0000-0000-000000000000}"/>
          </ac:spMkLst>
        </pc:spChg>
        <pc:spChg chg="mod">
          <ac:chgData name="원일 김" userId="de319178d62d76de" providerId="Windows Live" clId="Web-{EF0E69EC-58D6-CB97-5A16-66F58E08E65C}" dt="2026-06-13T13:24:17.436" v="98" actId="20577"/>
          <ac:spMkLst>
            <pc:docMk/>
            <pc:sldMk cId="2878348766" sldId="291"/>
            <ac:spMk id="3" creationId="{00000000-0000-0000-0000-000000000000}"/>
          </ac:spMkLst>
        </pc:spChg>
      </pc:sldChg>
      <pc:sldChg chg="modSp">
        <pc:chgData name="원일 김" userId="de319178d62d76de" providerId="Windows Live" clId="Web-{EF0E69EC-58D6-CB97-5A16-66F58E08E65C}" dt="2026-06-13T13:57:55.129" v="228" actId="20577"/>
        <pc:sldMkLst>
          <pc:docMk/>
          <pc:sldMk cId="3417028493" sldId="294"/>
        </pc:sldMkLst>
        <pc:spChg chg="mod">
          <ac:chgData name="원일 김" userId="de319178d62d76de" providerId="Windows Live" clId="Web-{EF0E69EC-58D6-CB97-5A16-66F58E08E65C}" dt="2026-06-13T13:57:55.129" v="228" actId="20577"/>
          <ac:spMkLst>
            <pc:docMk/>
            <pc:sldMk cId="3417028493" sldId="294"/>
            <ac:spMk id="3" creationId="{00000000-0000-0000-0000-000000000000}"/>
          </ac:spMkLst>
        </pc:spChg>
      </pc:sldChg>
      <pc:sldChg chg="addSp modSp new ord">
        <pc:chgData name="원일 김" userId="de319178d62d76de" providerId="Windows Live" clId="Web-{EF0E69EC-58D6-CB97-5A16-66F58E08E65C}" dt="2026-06-13T13:51:47.824" v="200" actId="20577"/>
        <pc:sldMkLst>
          <pc:docMk/>
          <pc:sldMk cId="2425911212" sldId="304"/>
        </pc:sldMkLst>
        <pc:spChg chg="mod">
          <ac:chgData name="원일 김" userId="de319178d62d76de" providerId="Windows Live" clId="Web-{EF0E69EC-58D6-CB97-5A16-66F58E08E65C}" dt="2026-06-13T13:35:02.954" v="133" actId="14100"/>
          <ac:spMkLst>
            <pc:docMk/>
            <pc:sldMk cId="2425911212" sldId="304"/>
            <ac:spMk id="2" creationId="{65D2A034-9EFE-3849-843B-F715ACA95926}"/>
          </ac:spMkLst>
        </pc:spChg>
        <pc:spChg chg="mod">
          <ac:chgData name="원일 김" userId="de319178d62d76de" providerId="Windows Live" clId="Web-{EF0E69EC-58D6-CB97-5A16-66F58E08E65C}" dt="2026-06-13T13:51:47.824" v="200" actId="20577"/>
          <ac:spMkLst>
            <pc:docMk/>
            <pc:sldMk cId="2425911212" sldId="304"/>
            <ac:spMk id="3" creationId="{8FB42EF0-DA55-2FD3-57C9-4B89B8A6CEBC}"/>
          </ac:spMkLst>
        </pc:spChg>
        <pc:picChg chg="add mod">
          <ac:chgData name="원일 김" userId="de319178d62d76de" providerId="Windows Live" clId="Web-{EF0E69EC-58D6-CB97-5A16-66F58E08E65C}" dt="2026-06-13T13:51:35.746" v="198" actId="1076"/>
          <ac:picMkLst>
            <pc:docMk/>
            <pc:sldMk cId="2425911212" sldId="304"/>
            <ac:picMk id="4" creationId="{6EB73E76-B23E-A09B-7F6D-A95E68B96D3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altLang="ko-KR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ko-KR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03B67B1-E514-4217-88EB-3B1CAE126F79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2D713A27-D4B6-4284-B9EE-5F2A97D2157B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ko-KR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altLang="ko-KR"/>
              <a:t>Click to edit Master text styles</a:t>
            </a:r>
          </a:p>
          <a:p>
            <a:pPr lvl="1" eaLnBrk="1" latinLnBrk="0" hangingPunct="1"/>
            <a:r>
              <a:rPr lang="en-US" altLang="ko-KR"/>
              <a:t>Second level</a:t>
            </a:r>
          </a:p>
          <a:p>
            <a:pPr lvl="2" eaLnBrk="1" latinLnBrk="0" hangingPunct="1"/>
            <a:r>
              <a:rPr lang="en-US" altLang="ko-KR"/>
              <a:t>Third level</a:t>
            </a:r>
          </a:p>
          <a:p>
            <a:pPr lvl="3" eaLnBrk="1" latinLnBrk="0" hangingPunct="1"/>
            <a:r>
              <a:rPr lang="en-US" altLang="ko-KR"/>
              <a:t>Fourth level</a:t>
            </a:r>
          </a:p>
          <a:p>
            <a:pPr lvl="4" eaLnBrk="1" latinLnBrk="0" hangingPunct="1"/>
            <a:r>
              <a:rPr lang="en-US" altLang="ko-KR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03B67B1-E514-4217-88EB-3B1CAE126F79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D713A27-D4B6-4284-B9EE-5F2A97D2157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altLang="ko-KR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03B67B1-E514-4217-88EB-3B1CAE126F79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2D713A27-D4B6-4284-B9EE-5F2A97D2157B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ko-KR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B67B1-E514-4217-88EB-3B1CAE126F79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13A27-D4B6-4284-B9EE-5F2A97D2157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altLang="ko-KR"/>
              <a:t>Click to edit Master text styles</a:t>
            </a:r>
          </a:p>
          <a:p>
            <a:pPr lvl="1" eaLnBrk="1" latinLnBrk="0" hangingPunct="1"/>
            <a:r>
              <a:rPr lang="en-US" altLang="ko-KR"/>
              <a:t>Second level</a:t>
            </a:r>
          </a:p>
          <a:p>
            <a:pPr lvl="2" eaLnBrk="1" latinLnBrk="0" hangingPunct="1"/>
            <a:r>
              <a:rPr lang="en-US" altLang="ko-KR"/>
              <a:t>Third level</a:t>
            </a:r>
          </a:p>
          <a:p>
            <a:pPr lvl="3" eaLnBrk="1" latinLnBrk="0" hangingPunct="1"/>
            <a:r>
              <a:rPr lang="en-US" altLang="ko-KR"/>
              <a:t>Fourth level</a:t>
            </a:r>
          </a:p>
          <a:p>
            <a:pPr lvl="4" eaLnBrk="1" latinLnBrk="0" hangingPunct="1"/>
            <a:r>
              <a:rPr lang="en-US" altLang="ko-KR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altLang="ko-KR"/>
              <a:t>Click to edit Master text styles</a:t>
            </a:r>
          </a:p>
          <a:p>
            <a:pPr lvl="1" eaLnBrk="1" latinLnBrk="0" hangingPunct="1"/>
            <a:r>
              <a:rPr lang="en-US" altLang="ko-KR"/>
              <a:t>Second level</a:t>
            </a:r>
          </a:p>
          <a:p>
            <a:pPr lvl="2" eaLnBrk="1" latinLnBrk="0" hangingPunct="1"/>
            <a:r>
              <a:rPr lang="en-US" altLang="ko-KR"/>
              <a:t>Third level</a:t>
            </a:r>
          </a:p>
          <a:p>
            <a:pPr lvl="3" eaLnBrk="1" latinLnBrk="0" hangingPunct="1"/>
            <a:r>
              <a:rPr lang="en-US" altLang="ko-KR"/>
              <a:t>Fourth level</a:t>
            </a:r>
          </a:p>
          <a:p>
            <a:pPr lvl="4" eaLnBrk="1" latinLnBrk="0" hangingPunct="1"/>
            <a:r>
              <a:rPr lang="en-US" altLang="ko-KR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altLang="ko-KR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B67B1-E514-4217-88EB-3B1CAE126F79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13A27-D4B6-4284-B9EE-5F2A97D2157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altLang="ko-KR"/>
              <a:t>Click to edit Master text styles</a:t>
            </a:r>
          </a:p>
          <a:p>
            <a:pPr lvl="1" eaLnBrk="1" latinLnBrk="0" hangingPunct="1"/>
            <a:r>
              <a:rPr lang="en-US" altLang="ko-KR"/>
              <a:t>Second level</a:t>
            </a:r>
          </a:p>
          <a:p>
            <a:pPr lvl="2" eaLnBrk="1" latinLnBrk="0" hangingPunct="1"/>
            <a:r>
              <a:rPr lang="en-US" altLang="ko-KR"/>
              <a:t>Third level</a:t>
            </a:r>
          </a:p>
          <a:p>
            <a:pPr lvl="3" eaLnBrk="1" latinLnBrk="0" hangingPunct="1"/>
            <a:r>
              <a:rPr lang="en-US" altLang="ko-KR"/>
              <a:t>Fourth level</a:t>
            </a:r>
          </a:p>
          <a:p>
            <a:pPr lvl="4" eaLnBrk="1" latinLnBrk="0" hangingPunct="1"/>
            <a:r>
              <a:rPr lang="en-US" altLang="ko-KR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altLang="ko-KR"/>
              <a:t>Click to edit Master text styles</a:t>
            </a:r>
          </a:p>
          <a:p>
            <a:pPr lvl="1" eaLnBrk="1" latinLnBrk="0" hangingPunct="1"/>
            <a:r>
              <a:rPr lang="en-US" altLang="ko-KR"/>
              <a:t>Second level</a:t>
            </a:r>
          </a:p>
          <a:p>
            <a:pPr lvl="2" eaLnBrk="1" latinLnBrk="0" hangingPunct="1"/>
            <a:r>
              <a:rPr lang="en-US" altLang="ko-KR"/>
              <a:t>Third level</a:t>
            </a:r>
          </a:p>
          <a:p>
            <a:pPr lvl="3" eaLnBrk="1" latinLnBrk="0" hangingPunct="1"/>
            <a:r>
              <a:rPr lang="en-US" altLang="ko-KR"/>
              <a:t>Fourth level</a:t>
            </a:r>
          </a:p>
          <a:p>
            <a:pPr lvl="4" eaLnBrk="1" latinLnBrk="0" hangingPunct="1"/>
            <a:r>
              <a:rPr lang="en-US" altLang="ko-KR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altLang="ko-KR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altLang="ko-KR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ko-KR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03B67B1-E514-4217-88EB-3B1CAE126F79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D713A27-D4B6-4284-B9EE-5F2A97D2157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B67B1-E514-4217-88EB-3B1CAE126F79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13A27-D4B6-4284-B9EE-5F2A97D2157B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altLang="ko-KR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ko-KR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altLang="ko-KR"/>
              <a:t>Click to edit Master text styles</a:t>
            </a:r>
          </a:p>
          <a:p>
            <a:pPr lvl="1" eaLnBrk="1" latinLnBrk="0" hangingPunct="1"/>
            <a:r>
              <a:rPr lang="en-US" altLang="ko-KR"/>
              <a:t>Second level</a:t>
            </a:r>
          </a:p>
          <a:p>
            <a:pPr lvl="2" eaLnBrk="1" latinLnBrk="0" hangingPunct="1"/>
            <a:r>
              <a:rPr lang="en-US" altLang="ko-KR"/>
              <a:t>Third level</a:t>
            </a:r>
          </a:p>
          <a:p>
            <a:pPr lvl="3" eaLnBrk="1" latinLnBrk="0" hangingPunct="1"/>
            <a:r>
              <a:rPr lang="en-US" altLang="ko-KR"/>
              <a:t>Fourth level</a:t>
            </a:r>
          </a:p>
          <a:p>
            <a:pPr lvl="4" eaLnBrk="1" latinLnBrk="0" hangingPunct="1"/>
            <a:r>
              <a:rPr lang="en-US" altLang="ko-KR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03B67B1-E514-4217-88EB-3B1CAE126F79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D713A27-D4B6-4284-B9EE-5F2A97D2157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altLang="ko-KR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altLang="ko-KR" dirty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altLang="ko-KR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03B67B1-E514-4217-88EB-3B1CAE126F79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D713A27-D4B6-4284-B9EE-5F2A97D2157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ko-KR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ko-KR"/>
              <a:t>Click to edit Master text styles</a:t>
            </a:r>
          </a:p>
          <a:p>
            <a:pPr lvl="1" eaLnBrk="1" latinLnBrk="0" hangingPunct="1"/>
            <a:r>
              <a:rPr lang="en-US" altLang="ko-KR"/>
              <a:t>Second level</a:t>
            </a:r>
          </a:p>
          <a:p>
            <a:pPr lvl="2" eaLnBrk="1" latinLnBrk="0" hangingPunct="1"/>
            <a:r>
              <a:rPr lang="en-US" altLang="ko-KR"/>
              <a:t>Third level</a:t>
            </a:r>
          </a:p>
          <a:p>
            <a:pPr lvl="3" eaLnBrk="1" latinLnBrk="0" hangingPunct="1"/>
            <a:r>
              <a:rPr lang="en-US" altLang="ko-KR"/>
              <a:t>Fourth level</a:t>
            </a:r>
          </a:p>
          <a:p>
            <a:pPr lvl="4" eaLnBrk="1" latinLnBrk="0" hangingPunct="1"/>
            <a:r>
              <a:rPr lang="en-US" altLang="ko-KR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B67B1-E514-4217-88EB-3B1CAE126F79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13A27-D4B6-4284-B9EE-5F2A97D2157B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altLang="ko-KR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altLang="ko-KR"/>
              <a:t>Click to edit Master text styles</a:t>
            </a:r>
          </a:p>
          <a:p>
            <a:pPr lvl="1" eaLnBrk="1" latinLnBrk="0" hangingPunct="1"/>
            <a:r>
              <a:rPr lang="en-US" altLang="ko-KR"/>
              <a:t>Second level</a:t>
            </a:r>
          </a:p>
          <a:p>
            <a:pPr lvl="2" eaLnBrk="1" latinLnBrk="0" hangingPunct="1"/>
            <a:r>
              <a:rPr lang="en-US" altLang="ko-KR"/>
              <a:t>Third level</a:t>
            </a:r>
          </a:p>
          <a:p>
            <a:pPr lvl="3" eaLnBrk="1" latinLnBrk="0" hangingPunct="1"/>
            <a:r>
              <a:rPr lang="en-US" altLang="ko-KR"/>
              <a:t>Fourth level</a:t>
            </a:r>
          </a:p>
          <a:p>
            <a:pPr lvl="4" eaLnBrk="1" latinLnBrk="0" hangingPunct="1"/>
            <a:r>
              <a:rPr lang="en-US" altLang="ko-KR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B67B1-E514-4217-88EB-3B1CAE126F79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13A27-D4B6-4284-B9EE-5F2A97D2157B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altLang="ko-KR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ko-KR"/>
              <a:t>Click to edit Master text styles</a:t>
            </a:r>
          </a:p>
          <a:p>
            <a:pPr lvl="1" eaLnBrk="1" latinLnBrk="0" hangingPunct="1"/>
            <a:r>
              <a:rPr kumimoji="0" lang="en-US" altLang="ko-KR"/>
              <a:t>Second level</a:t>
            </a:r>
          </a:p>
          <a:p>
            <a:pPr lvl="2" eaLnBrk="1" latinLnBrk="0" hangingPunct="1"/>
            <a:r>
              <a:rPr kumimoji="0" lang="en-US" altLang="ko-KR"/>
              <a:t>Third level</a:t>
            </a:r>
          </a:p>
          <a:p>
            <a:pPr lvl="3" eaLnBrk="1" latinLnBrk="0" hangingPunct="1"/>
            <a:r>
              <a:rPr kumimoji="0" lang="en-US" altLang="ko-KR"/>
              <a:t>Fourth level</a:t>
            </a:r>
          </a:p>
          <a:p>
            <a:pPr lvl="4" eaLnBrk="1" latinLnBrk="0" hangingPunct="1"/>
            <a:r>
              <a:rPr kumimoji="0" lang="en-US" altLang="ko-KR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03B67B1-E514-4217-88EB-3B1CAE126F79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D713A27-D4B6-4284-B9EE-5F2A97D2157B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85" r:id="rId1"/>
    <p:sldLayoutId id="2147484286" r:id="rId2"/>
    <p:sldLayoutId id="2147484287" r:id="rId3"/>
    <p:sldLayoutId id="2147484288" r:id="rId4"/>
    <p:sldLayoutId id="2147484289" r:id="rId5"/>
    <p:sldLayoutId id="2147484290" r:id="rId6"/>
    <p:sldLayoutId id="2147484291" r:id="rId7"/>
    <p:sldLayoutId id="2147484292" r:id="rId8"/>
    <p:sldLayoutId id="2147484293" r:id="rId9"/>
    <p:sldLayoutId id="2147484294" r:id="rId10"/>
    <p:sldLayoutId id="2147484295" r:id="rId11"/>
  </p:sldLayoutIdLst>
  <p:txStyles>
    <p:titleStyle>
      <a:lvl1pPr algn="l" rtl="0" eaLnBrk="1" latinLnBrk="1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1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1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1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1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1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1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1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1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dbr.donga.com/kfocus/view/article_no/2202" TargetMode="External"/><Relationship Id="rId13" Type="http://schemas.openxmlformats.org/officeDocument/2006/relationships/hyperlink" Target="https://blog.naver.com/bwt8307/224242136151?trackingCode=rss" TargetMode="External"/><Relationship Id="rId3" Type="http://schemas.openxmlformats.org/officeDocument/2006/relationships/hyperlink" Target="https://news.samsungsdi.com/ko/articleView?seq=31" TargetMode="External"/><Relationship Id="rId7" Type="http://schemas.openxmlformats.org/officeDocument/2006/relationships/hyperlink" Target="https://news.samsungsdi.com/ko/articleView?seq=385" TargetMode="External"/><Relationship Id="rId12" Type="http://schemas.openxmlformats.org/officeDocument/2006/relationships/hyperlink" Target="https://www.asiatoday.co.kr/kn/view.php?key=20260428010008930" TargetMode="External"/><Relationship Id="rId17" Type="http://schemas.openxmlformats.org/officeDocument/2006/relationships/hyperlink" Target="https://www.samsungsdi.co.kr/sdi-now/sdi-news/4564.html" TargetMode="External"/><Relationship Id="rId2" Type="http://schemas.openxmlformats.org/officeDocument/2006/relationships/hyperlink" Target="https://www.sedaily.com/article/20000292" TargetMode="External"/><Relationship Id="rId16" Type="http://schemas.openxmlformats.org/officeDocument/2006/relationships/hyperlink" Target="https://news.samsungsdi.com/ko/articleView?seq=21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siatoday.co.kr/kn/view.php?key=20260211010004202" TargetMode="External"/><Relationship Id="rId11" Type="http://schemas.openxmlformats.org/officeDocument/2006/relationships/hyperlink" Target="https://www.dailian.co.kr/news/view/1634757/AWS-%EA%B3%B5%EA%B8%89%EB%A7%9D-%EC%B4%9D%EA%B4%84%EB%B0%B0%ED%84%B0%EB%A6%AC-%EC%B1%85%EC%9E%84%EC%9E%90-%EC%82%BC%EC%84%B1-2026" TargetMode="External"/><Relationship Id="rId5" Type="http://schemas.openxmlformats.org/officeDocument/2006/relationships/hyperlink" Target="https://biz.chosun.com/industry/company/2026/05/20/2LQONXYKANGA7KOVO3JZFPDINI/" TargetMode="External"/><Relationship Id="rId15" Type="http://schemas.openxmlformats.org/officeDocument/2006/relationships/hyperlink" Target="https://www.hani.co.kr/arti/society/environment/1252823.html" TargetMode="External"/><Relationship Id="rId10" Type="http://schemas.openxmlformats.org/officeDocument/2006/relationships/hyperlink" Target="https://www.chosun.com/economy/industry-company/2026/01/31/LBTEB4NCVFBO7PELUD7WPAOXWE/" TargetMode="External"/><Relationship Id="rId4" Type="http://schemas.openxmlformats.org/officeDocument/2006/relationships/hyperlink" Target="https://www.mk.co.kr/news/economy/12022986" TargetMode="External"/><Relationship Id="rId9" Type="http://schemas.openxmlformats.org/officeDocument/2006/relationships/hyperlink" Target="https://zdnet.co.kr/view/?no=20260130150255" TargetMode="External"/><Relationship Id="rId14" Type="http://schemas.openxmlformats.org/officeDocument/2006/relationships/hyperlink" Target="https://www.chosun.com/economy/tech_it/2026/05/13/AU5KEBUNOVG3ZOIGT4CNOJ75KU/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conovill.com/news/articleView.html?idxno=739649" TargetMode="External"/><Relationship Id="rId13" Type="http://schemas.openxmlformats.org/officeDocument/2006/relationships/hyperlink" Target="https://www.thecommoditiesnews.com/news/articleView.html?idxno=11150" TargetMode="External"/><Relationship Id="rId3" Type="http://schemas.openxmlformats.org/officeDocument/2006/relationships/hyperlink" Target="https://www.thelec.kr/news/articleView.html?idxno=55583" TargetMode="External"/><Relationship Id="rId7" Type="http://schemas.openxmlformats.org/officeDocument/2006/relationships/hyperlink" Target="https://www.solartodaymag.com/news/articleView.html?idxno=20546" TargetMode="External"/><Relationship Id="rId12" Type="http://schemas.openxmlformats.org/officeDocument/2006/relationships/hyperlink" Target="https://biz.chosun.com/stock/stock_general/2026/06/05/6AWUVBQL5VDB5G7AONPBSZ4U7A/" TargetMode="External"/><Relationship Id="rId2" Type="http://schemas.openxmlformats.org/officeDocument/2006/relationships/hyperlink" Target="https://www.hansbiz.co.kr/news/articleView.html?idxno=839324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na.co.kr/view/AKR20260608124800003" TargetMode="External"/><Relationship Id="rId11" Type="http://schemas.openxmlformats.org/officeDocument/2006/relationships/hyperlink" Target="https://www.thelec.kr/news/articleView.html?idxno=57602" TargetMode="External"/><Relationship Id="rId5" Type="http://schemas.openxmlformats.org/officeDocument/2006/relationships/hyperlink" Target="https://www.solartodaymag.com/news/articleView.html?idxno=20439" TargetMode="External"/><Relationship Id="rId10" Type="http://schemas.openxmlformats.org/officeDocument/2006/relationships/hyperlink" Target="https://www.greenpostkorea.co.kr/news/articleView.html?idxno=306730" TargetMode="External"/><Relationship Id="rId4" Type="http://schemas.openxmlformats.org/officeDocument/2006/relationships/hyperlink" Target="https://www.g-enews.com/article/Global-Biz/2026/02/202602011824041986fbbec65dfb_1" TargetMode="External"/><Relationship Id="rId9" Type="http://schemas.openxmlformats.org/officeDocument/2006/relationships/hyperlink" Target="https://www.ngetnews.com/news/articleView.html?idxno=549122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mpacton.net/news/articleView.html?idxno=14727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7744" y="3140968"/>
            <a:ext cx="6172200" cy="1894362"/>
          </a:xfrm>
        </p:spPr>
        <p:txBody>
          <a:bodyPr>
            <a:normAutofit/>
          </a:bodyPr>
          <a:lstStyle/>
          <a:p>
            <a:r>
              <a:rPr lang="ko-KR" altLang="en-US" sz="4000" dirty="0">
                <a:solidFill>
                  <a:schemeClr val="tx1"/>
                </a:solidFill>
              </a:rPr>
              <a:t>삼성</a:t>
            </a:r>
            <a:r>
              <a:rPr lang="en-US" altLang="ko-KR" sz="4000" dirty="0">
                <a:solidFill>
                  <a:schemeClr val="tx1"/>
                </a:solidFill>
              </a:rPr>
              <a:t>SDI</a:t>
            </a:r>
            <a:endParaRPr lang="ko-KR" altLang="en-US" sz="40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9752" y="5013176"/>
            <a:ext cx="6172200" cy="1371600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발표자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김원일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88640"/>
            <a:ext cx="3188031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0791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2074"/>
          </a:xfrm>
        </p:spPr>
        <p:txBody>
          <a:bodyPr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목차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80728"/>
            <a:ext cx="7467600" cy="5493224"/>
          </a:xfrm>
        </p:spPr>
        <p:txBody>
          <a:bodyPr/>
          <a:lstStyle/>
          <a:p>
            <a:r>
              <a:rPr lang="ko-KR" altLang="en-US" dirty="0" smtClean="0"/>
              <a:t>회사개요</a:t>
            </a:r>
            <a:endParaRPr lang="en-US" altLang="ko-KR" dirty="0" smtClean="0"/>
          </a:p>
          <a:p>
            <a:r>
              <a:rPr lang="ko-KR" altLang="en-US" dirty="0" smtClean="0"/>
              <a:t>재무구조개선</a:t>
            </a:r>
            <a:endParaRPr lang="en-US" altLang="ko-KR" dirty="0" smtClean="0"/>
          </a:p>
          <a:p>
            <a:r>
              <a:rPr lang="ko-KR" altLang="en-US" dirty="0" smtClean="0"/>
              <a:t>삼성</a:t>
            </a:r>
            <a:r>
              <a:rPr lang="en-US" altLang="ko-KR" dirty="0" smtClean="0"/>
              <a:t>SDI </a:t>
            </a:r>
            <a:r>
              <a:rPr lang="ko-KR" altLang="en-US" dirty="0" smtClean="0"/>
              <a:t>관련기사 </a:t>
            </a:r>
            <a:r>
              <a:rPr lang="en-US" altLang="ko-KR" dirty="0" smtClean="0"/>
              <a:t>&amp; 26</a:t>
            </a:r>
            <a:r>
              <a:rPr lang="ko-KR" altLang="en-US" dirty="0" smtClean="0"/>
              <a:t>년</a:t>
            </a:r>
            <a:r>
              <a:rPr lang="en-US" altLang="ko-KR" dirty="0" smtClean="0"/>
              <a:t>1</a:t>
            </a:r>
            <a:r>
              <a:rPr lang="ko-KR" altLang="en-US" dirty="0" smtClean="0"/>
              <a:t>분기 컨퍼런스콜 내용</a:t>
            </a:r>
            <a:endParaRPr lang="en-US" altLang="ko-KR" dirty="0" smtClean="0"/>
          </a:p>
          <a:p>
            <a:r>
              <a:rPr lang="ko-KR" altLang="en-US" dirty="0" smtClean="0"/>
              <a:t>투자아이디어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en-US" altLang="ko-KR" sz="2000" dirty="0" smtClean="0"/>
              <a:t>(EV </a:t>
            </a:r>
            <a:r>
              <a:rPr lang="ko-KR" altLang="en-US" sz="2000" dirty="0" smtClean="0"/>
              <a:t>배터리</a:t>
            </a:r>
            <a:r>
              <a:rPr lang="en-US" altLang="ko-KR" sz="2000" dirty="0" smtClean="0"/>
              <a:t>, ESS, </a:t>
            </a:r>
            <a:r>
              <a:rPr lang="ko-KR" altLang="en-US" sz="2000" dirty="0" smtClean="0"/>
              <a:t>중국배터리규제</a:t>
            </a:r>
            <a:r>
              <a:rPr lang="en-US" altLang="ko-KR" sz="2000" dirty="0" smtClean="0"/>
              <a:t>, BBU,</a:t>
            </a:r>
            <a:r>
              <a:rPr lang="ko-KR" altLang="en-US" sz="2000" dirty="0" smtClean="0"/>
              <a:t>로봇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전고체 배터리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삼성 디스플레이 지분매각</a:t>
            </a:r>
            <a:r>
              <a:rPr lang="en-US" altLang="ko-KR" sz="2000" dirty="0" smtClean="0"/>
              <a:t>)</a:t>
            </a:r>
          </a:p>
          <a:p>
            <a:r>
              <a:rPr lang="ko-KR" altLang="en-US" dirty="0" smtClean="0"/>
              <a:t>국내 </a:t>
            </a:r>
            <a:r>
              <a:rPr lang="en-US" altLang="ko-KR" dirty="0" smtClean="0"/>
              <a:t>3</a:t>
            </a:r>
            <a:r>
              <a:rPr lang="ko-KR" altLang="en-US" dirty="0" smtClean="0"/>
              <a:t>사 경쟁사 비교</a:t>
            </a:r>
            <a:endParaRPr lang="en-US" altLang="ko-KR" dirty="0" smtClean="0"/>
          </a:p>
          <a:p>
            <a:r>
              <a:rPr lang="ko-KR" altLang="en-US" dirty="0" smtClean="0"/>
              <a:t>투자로드맵</a:t>
            </a:r>
            <a:endParaRPr lang="en-US" altLang="ko-KR" dirty="0" smtClean="0"/>
          </a:p>
          <a:p>
            <a:r>
              <a:rPr lang="en-US" altLang="ko-KR" dirty="0" smtClean="0"/>
              <a:t>RISK </a:t>
            </a:r>
            <a:r>
              <a:rPr lang="ko-KR" altLang="en-US" dirty="0" smtClean="0"/>
              <a:t>및 주담통화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7657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06090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chemeClr val="tx1"/>
                </a:solidFill>
              </a:rPr>
              <a:t>참고자료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7467600" cy="52772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rPr lang="ko-KR" altLang="en-US" dirty="0"/>
              <a:t>전자공시 </a:t>
            </a:r>
            <a:r>
              <a:rPr lang="en-US" altLang="ko-KR" dirty="0"/>
              <a:t>(DART)</a:t>
            </a:r>
          </a:p>
          <a:p>
            <a:r>
              <a:rPr lang="ko-KR" altLang="en-US" dirty="0"/>
              <a:t>삼성</a:t>
            </a:r>
            <a:r>
              <a:rPr lang="en-US" altLang="ko-KR" dirty="0"/>
              <a:t>SDI </a:t>
            </a:r>
            <a:r>
              <a:rPr lang="ko-KR" altLang="en-US" dirty="0" smtClean="0"/>
              <a:t>홈페이지</a:t>
            </a:r>
            <a:endParaRPr lang="en-US" altLang="ko-KR" dirty="0" smtClean="0"/>
          </a:p>
          <a:p>
            <a:r>
              <a:rPr lang="ko-KR" altLang="en-US" dirty="0" smtClean="0"/>
              <a:t>삼성 </a:t>
            </a:r>
            <a:r>
              <a:rPr lang="en-US" altLang="ko-KR" dirty="0" smtClean="0"/>
              <a:t>2026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분기 컨퍼런스 콜</a:t>
            </a:r>
            <a:endParaRPr lang="ko-KR" altLang="en-US" dirty="0"/>
          </a:p>
          <a:p>
            <a:r>
              <a:rPr lang="ko-KR" altLang="en-US" dirty="0" smtClean="0">
                <a:ea typeface="휴먼매직체"/>
              </a:rPr>
              <a:t>각종 증권사 리포트</a:t>
            </a:r>
            <a:endParaRPr lang="en-US" altLang="ko-KR" dirty="0" smtClean="0">
              <a:ea typeface="휴먼매직체"/>
            </a:endParaRPr>
          </a:p>
          <a:p>
            <a:r>
              <a:rPr lang="ko-KR" altLang="en-US" dirty="0" smtClean="0">
                <a:ea typeface="휴먼매직체"/>
              </a:rPr>
              <a:t>각종 언론사 뉴스</a:t>
            </a:r>
            <a:endParaRPr lang="en-US" altLang="ko-KR" dirty="0" smtClean="0">
              <a:ea typeface="휴먼매직체"/>
            </a:endParaRPr>
          </a:p>
          <a:p>
            <a:r>
              <a:rPr lang="ko-KR" altLang="en-US" dirty="0" smtClean="0">
                <a:ea typeface="휴먼매직체"/>
              </a:rPr>
              <a:t>구글</a:t>
            </a:r>
            <a:endParaRPr lang="ko-KR" altLang="en-US" dirty="0">
              <a:ea typeface="휴먼매직체"/>
            </a:endParaRPr>
          </a:p>
        </p:txBody>
      </p:sp>
    </p:spTree>
    <p:extLst>
      <p:ext uri="{BB962C8B-B14F-4D97-AF65-F5344CB8AC3E}">
        <p14:creationId xmlns:p14="http://schemas.microsoft.com/office/powerpoint/2010/main" val="704289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회사개요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1052736"/>
            <a:ext cx="8219256" cy="5565232"/>
          </a:xfrm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txBody>
          <a:bodyPr vert="horz" lIns="91440" tIns="45720" rIns="91440" bIns="45720" anchor="t">
            <a:normAutofit fontScale="25000" lnSpcReduction="20000"/>
          </a:bodyPr>
          <a:lstStyle/>
          <a:p>
            <a:r>
              <a:rPr lang="en-US" altLang="ko-KR" sz="7400" dirty="0"/>
              <a:t>1970</a:t>
            </a:r>
            <a:r>
              <a:rPr lang="ko-KR" altLang="en-US" sz="7400" dirty="0"/>
              <a:t>년 설립 </a:t>
            </a:r>
            <a:r>
              <a:rPr lang="en-US" altLang="ko-KR" sz="7400" dirty="0"/>
              <a:t>(</a:t>
            </a:r>
            <a:r>
              <a:rPr lang="ko-KR" altLang="en-US" sz="7400" dirty="0"/>
              <a:t>삼성</a:t>
            </a:r>
            <a:r>
              <a:rPr lang="en-US" altLang="ko-KR" sz="7400" dirty="0"/>
              <a:t>NEC-&gt;</a:t>
            </a:r>
            <a:r>
              <a:rPr lang="ko-KR" altLang="en-US" sz="7400" dirty="0"/>
              <a:t>삼성전관</a:t>
            </a:r>
            <a:r>
              <a:rPr lang="en-US" altLang="ko-KR" sz="7400" dirty="0"/>
              <a:t>-&gt;</a:t>
            </a:r>
            <a:r>
              <a:rPr lang="ko-KR" altLang="en-US" sz="7400" dirty="0"/>
              <a:t>삼성</a:t>
            </a:r>
            <a:r>
              <a:rPr lang="en-US" altLang="ko-KR" sz="7400" dirty="0" smtClean="0"/>
              <a:t>SDI,1999</a:t>
            </a:r>
            <a:r>
              <a:rPr lang="ko-KR" altLang="en-US" sz="7400" dirty="0" smtClean="0"/>
              <a:t>년</a:t>
            </a:r>
            <a:r>
              <a:rPr lang="en-US" altLang="ko-KR" sz="7400" dirty="0" smtClean="0"/>
              <a:t>)</a:t>
            </a:r>
            <a:endParaRPr lang="en-US" altLang="ko-KR" sz="7400" dirty="0"/>
          </a:p>
          <a:p>
            <a:pPr marL="0" indent="0">
              <a:buNone/>
            </a:pPr>
            <a:r>
              <a:rPr lang="en-US" altLang="ko-KR" sz="3700" dirty="0"/>
              <a:t>  </a:t>
            </a:r>
          </a:p>
          <a:p>
            <a:endParaRPr lang="en-US" altLang="ko-KR" sz="3700" dirty="0"/>
          </a:p>
          <a:p>
            <a:endParaRPr lang="en-US" altLang="ko-KR" sz="3700" dirty="0"/>
          </a:p>
          <a:p>
            <a:endParaRPr lang="en-US" altLang="ko-KR" sz="3700" dirty="0"/>
          </a:p>
          <a:p>
            <a:endParaRPr lang="en-US" altLang="ko-KR" sz="3700" dirty="0"/>
          </a:p>
          <a:p>
            <a:endParaRPr lang="en-US" altLang="ko-KR" sz="3700" dirty="0"/>
          </a:p>
          <a:p>
            <a:endParaRPr lang="en-US" altLang="ko-KR" sz="3700" dirty="0"/>
          </a:p>
          <a:p>
            <a:endParaRPr lang="en-US" altLang="ko-KR" sz="3700" dirty="0"/>
          </a:p>
          <a:p>
            <a:endParaRPr lang="en-US" altLang="ko-KR" sz="7400" dirty="0" smtClean="0"/>
          </a:p>
          <a:p>
            <a:r>
              <a:rPr lang="ko-KR" altLang="en-US" sz="7400" dirty="0" smtClean="0"/>
              <a:t>임직원</a:t>
            </a:r>
            <a:r>
              <a:rPr lang="en-US" altLang="ko-KR" sz="7400" dirty="0"/>
              <a:t>(2025</a:t>
            </a:r>
            <a:r>
              <a:rPr lang="ko-KR" altLang="en-US" sz="7400" dirty="0"/>
              <a:t>년 기준</a:t>
            </a:r>
            <a:r>
              <a:rPr lang="en-US" altLang="ko-KR" sz="7400" dirty="0"/>
              <a:t>) : 26,090</a:t>
            </a:r>
            <a:r>
              <a:rPr lang="ko-KR" altLang="en-US" sz="7400" dirty="0" smtClean="0"/>
              <a:t>명</a:t>
            </a:r>
            <a:endParaRPr lang="en-US" altLang="ko-KR" sz="7400" dirty="0"/>
          </a:p>
          <a:p>
            <a:r>
              <a:rPr lang="en-US" altLang="ko-KR" sz="7400" dirty="0"/>
              <a:t>R&amp;D</a:t>
            </a:r>
            <a:r>
              <a:rPr lang="ko-KR" altLang="en-US" sz="7400" dirty="0"/>
              <a:t>특허 </a:t>
            </a:r>
            <a:r>
              <a:rPr lang="en-US" altLang="ko-KR" sz="7400" dirty="0"/>
              <a:t>(2025</a:t>
            </a:r>
            <a:r>
              <a:rPr lang="ko-KR" altLang="en-US" sz="7400" dirty="0"/>
              <a:t>년 기준</a:t>
            </a:r>
            <a:r>
              <a:rPr lang="en-US" altLang="ko-KR" sz="7400" dirty="0"/>
              <a:t>) : 21,887</a:t>
            </a:r>
            <a:r>
              <a:rPr lang="ko-KR" altLang="en-US" sz="7400" dirty="0"/>
              <a:t>개</a:t>
            </a:r>
            <a:endParaRPr lang="en-US" altLang="ko-KR" sz="7400" dirty="0"/>
          </a:p>
          <a:p>
            <a:r>
              <a:rPr lang="ko-KR" altLang="en-US" sz="7400" dirty="0"/>
              <a:t>사업부문</a:t>
            </a:r>
            <a:r>
              <a:rPr lang="en-US" altLang="ko-KR" sz="7400" dirty="0"/>
              <a:t>(2025</a:t>
            </a:r>
            <a:r>
              <a:rPr lang="ko-KR" altLang="en-US" sz="7400" dirty="0"/>
              <a:t>년</a:t>
            </a:r>
            <a:r>
              <a:rPr lang="en-US" altLang="ko-KR" sz="7400" dirty="0"/>
              <a:t> </a:t>
            </a:r>
            <a:r>
              <a:rPr lang="ko-KR" altLang="en-US" sz="7400" dirty="0"/>
              <a:t>기준</a:t>
            </a:r>
            <a:r>
              <a:rPr lang="en-US" altLang="ko-KR" sz="7400" dirty="0"/>
              <a:t>)</a:t>
            </a:r>
            <a:r>
              <a:rPr lang="ko-KR" altLang="en-US" sz="7400" dirty="0"/>
              <a:t> </a:t>
            </a:r>
            <a:r>
              <a:rPr lang="en-US" altLang="ko-KR" sz="7400" dirty="0"/>
              <a:t>: </a:t>
            </a:r>
            <a:r>
              <a:rPr lang="ko-KR" altLang="en-US" sz="7400" dirty="0"/>
              <a:t>에너지솔루션</a:t>
            </a:r>
            <a:r>
              <a:rPr lang="en-US" altLang="ko-KR" sz="7400" dirty="0"/>
              <a:t>(2</a:t>
            </a:r>
            <a:r>
              <a:rPr lang="ko-KR" altLang="en-US" sz="7400" dirty="0"/>
              <a:t>차전지</a:t>
            </a:r>
            <a:r>
              <a:rPr lang="en-US" altLang="ko-KR" sz="7400" dirty="0"/>
              <a:t>),</a:t>
            </a:r>
            <a:r>
              <a:rPr lang="ko-KR" altLang="en-US" sz="7400" dirty="0"/>
              <a:t> </a:t>
            </a:r>
            <a:endParaRPr lang="en-US" altLang="ko-KR" sz="7400" dirty="0"/>
          </a:p>
          <a:p>
            <a:pPr marL="0" indent="0">
              <a:buNone/>
            </a:pPr>
            <a:r>
              <a:rPr lang="en-US" altLang="ko-KR" sz="7400" dirty="0"/>
              <a:t>                                            </a:t>
            </a:r>
            <a:r>
              <a:rPr lang="ko-KR" altLang="en-US" sz="7400" dirty="0" smtClean="0"/>
              <a:t>전자재료</a:t>
            </a:r>
            <a:endParaRPr lang="en-US" altLang="ko-KR" sz="7400" dirty="0"/>
          </a:p>
          <a:p>
            <a:r>
              <a:rPr lang="ko-KR" altLang="en-US" sz="7400" dirty="0" smtClean="0"/>
              <a:t>총 주식수 </a:t>
            </a:r>
            <a:r>
              <a:rPr lang="en-US" altLang="ko-KR" sz="7400" dirty="0" smtClean="0"/>
              <a:t>: 80,585,530</a:t>
            </a:r>
            <a:r>
              <a:rPr lang="ko-KR" altLang="en-US" sz="7400" dirty="0" smtClean="0"/>
              <a:t>주</a:t>
            </a:r>
            <a:endParaRPr lang="en-US" altLang="ko-KR" sz="7400" dirty="0" smtClean="0"/>
          </a:p>
          <a:p>
            <a:r>
              <a:rPr lang="ko-KR" altLang="en-US" sz="7400" dirty="0" smtClean="0"/>
              <a:t>주요주주 </a:t>
            </a:r>
            <a:r>
              <a:rPr lang="ko-KR" altLang="en-US" sz="7400" dirty="0"/>
              <a:t>지분</a:t>
            </a:r>
            <a:endParaRPr lang="en-US" altLang="ko-KR" sz="7400" dirty="0"/>
          </a:p>
          <a:p>
            <a:pPr marL="0" indent="0">
              <a:buNone/>
            </a:pPr>
            <a:r>
              <a:rPr lang="en-US" altLang="ko-KR" sz="7400" dirty="0"/>
              <a:t>  - </a:t>
            </a:r>
            <a:r>
              <a:rPr lang="ko-KR" altLang="en-US" sz="7400" dirty="0"/>
              <a:t>삼성전자 </a:t>
            </a:r>
            <a:r>
              <a:rPr lang="en-US" altLang="ko-KR" sz="7400" dirty="0"/>
              <a:t>(19.44%), </a:t>
            </a:r>
            <a:r>
              <a:rPr lang="ko-KR" altLang="en-US" sz="7400" dirty="0"/>
              <a:t>국민연금 공단 </a:t>
            </a:r>
            <a:r>
              <a:rPr lang="en-US" altLang="ko-KR" sz="7400" dirty="0"/>
              <a:t>(6.87%), </a:t>
            </a:r>
            <a:r>
              <a:rPr lang="ko-KR" altLang="en-US" sz="7400" dirty="0"/>
              <a:t>자사주 </a:t>
            </a:r>
            <a:r>
              <a:rPr lang="en-US" altLang="ko-KR" sz="7400" dirty="0"/>
              <a:t>(4.13%) , </a:t>
            </a:r>
          </a:p>
          <a:p>
            <a:pPr marL="0" indent="0">
              <a:buNone/>
            </a:pPr>
            <a:r>
              <a:rPr lang="en-US" altLang="ko-KR" sz="7400" dirty="0"/>
              <a:t>    </a:t>
            </a:r>
            <a:r>
              <a:rPr lang="ko-KR" altLang="en-US" sz="7400" dirty="0"/>
              <a:t>우리사주</a:t>
            </a:r>
            <a:r>
              <a:rPr lang="en-US" altLang="ko-KR" sz="7400" dirty="0"/>
              <a:t>(2.91%) </a:t>
            </a:r>
            <a:r>
              <a:rPr lang="ko-KR" altLang="en-US" sz="7400" dirty="0" smtClean="0"/>
              <a:t>등</a:t>
            </a:r>
            <a:endParaRPr lang="en-US" altLang="ko-KR" sz="7400" dirty="0"/>
          </a:p>
          <a:p>
            <a:endParaRPr lang="ko-KR" altLang="en-US" sz="4400" dirty="0">
              <a:ea typeface="휴먼매직체"/>
            </a:endParaRP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                                   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44" y="1484784"/>
            <a:ext cx="2470567" cy="144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1484784"/>
            <a:ext cx="2456743" cy="144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431" y="1484784"/>
            <a:ext cx="2448272" cy="144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5580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78098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chemeClr val="tx1"/>
                </a:solidFill>
              </a:rPr>
              <a:t>사업부문 </a:t>
            </a:r>
            <a:r>
              <a:rPr lang="en-US" altLang="ko-KR" dirty="0">
                <a:solidFill>
                  <a:schemeClr val="tx1"/>
                </a:solidFill>
              </a:rPr>
              <a:t>(2025</a:t>
            </a:r>
            <a:r>
              <a:rPr lang="ko-KR" altLang="en-US" dirty="0">
                <a:solidFill>
                  <a:schemeClr val="tx1"/>
                </a:solidFill>
              </a:rPr>
              <a:t>년 기준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68760"/>
            <a:ext cx="7467600" cy="5205192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에너지솔루션</a:t>
            </a:r>
            <a:r>
              <a:rPr lang="en-US" altLang="ko-KR" dirty="0"/>
              <a:t>(2</a:t>
            </a:r>
            <a:r>
              <a:rPr lang="ko-KR" altLang="en-US" dirty="0"/>
              <a:t>차전지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  a. </a:t>
            </a:r>
            <a:r>
              <a:rPr lang="ko-KR" altLang="en-US" dirty="0"/>
              <a:t>매출비중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(93%, 12</a:t>
            </a:r>
            <a:r>
              <a:rPr lang="ko-KR" altLang="en-US" dirty="0"/>
              <a:t>조 </a:t>
            </a:r>
            <a:r>
              <a:rPr lang="en-US" altLang="ko-KR" dirty="0"/>
              <a:t>3841</a:t>
            </a:r>
            <a:r>
              <a:rPr lang="ko-KR" altLang="en-US" dirty="0"/>
              <a:t>억 매출</a:t>
            </a:r>
            <a:r>
              <a:rPr lang="en-US" altLang="ko-KR" dirty="0"/>
              <a:t>, </a:t>
            </a:r>
            <a:r>
              <a:rPr lang="ko-KR" altLang="en-US" dirty="0"/>
              <a:t>영업손실 </a:t>
            </a:r>
            <a:r>
              <a:rPr lang="en-US" altLang="ko-KR" dirty="0"/>
              <a:t>1</a:t>
            </a:r>
            <a:r>
              <a:rPr lang="ko-KR" altLang="en-US" dirty="0"/>
              <a:t>조 </a:t>
            </a:r>
            <a:r>
              <a:rPr lang="en-US" altLang="ko-KR" dirty="0"/>
              <a:t>8519</a:t>
            </a:r>
            <a:r>
              <a:rPr lang="ko-KR" altLang="en-US" dirty="0"/>
              <a:t>억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  b. </a:t>
            </a:r>
            <a:r>
              <a:rPr lang="ko-KR" altLang="en-US" dirty="0"/>
              <a:t>주요 제품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  </a:t>
            </a:r>
            <a:r>
              <a:rPr lang="en-US" altLang="ko-KR" dirty="0"/>
              <a:t>- </a:t>
            </a:r>
            <a:r>
              <a:rPr lang="ko-KR" altLang="en-US" dirty="0"/>
              <a:t>대형전지 </a:t>
            </a:r>
            <a:r>
              <a:rPr lang="en-US" altLang="ko-KR" dirty="0"/>
              <a:t>(</a:t>
            </a:r>
            <a:r>
              <a:rPr lang="ko-KR" altLang="en-US" dirty="0"/>
              <a:t>각형 리튬 </a:t>
            </a:r>
            <a:r>
              <a:rPr lang="en-US" altLang="ko-KR" dirty="0"/>
              <a:t>2</a:t>
            </a:r>
            <a:r>
              <a:rPr lang="ko-KR" altLang="en-US" dirty="0"/>
              <a:t>차전지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       </a:t>
            </a:r>
            <a:r>
              <a:rPr lang="en-US" altLang="ko-KR" dirty="0">
                <a:latin typeface="HY강B"/>
                <a:ea typeface="HY강B"/>
              </a:rPr>
              <a:t>☞</a:t>
            </a:r>
            <a:r>
              <a:rPr lang="ko-KR" altLang="en-US" dirty="0"/>
              <a:t>전력저장장치인 </a:t>
            </a:r>
            <a:r>
              <a:rPr lang="en-US" altLang="ko-KR" dirty="0"/>
              <a:t>ESS</a:t>
            </a:r>
            <a:r>
              <a:rPr lang="ko-KR" altLang="en-US" dirty="0"/>
              <a:t>용</a:t>
            </a:r>
            <a:r>
              <a:rPr lang="en-US" altLang="ko-KR" sz="2000" dirty="0"/>
              <a:t>(Energy Storage </a:t>
            </a:r>
            <a:r>
              <a:rPr lang="en-US" altLang="ko-KR" sz="2000" dirty="0" err="1"/>
              <a:t>Sytem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r>
              <a:rPr lang="en-US" altLang="ko-KR" dirty="0"/>
              <a:t>     - </a:t>
            </a:r>
            <a:r>
              <a:rPr lang="ko-KR" altLang="en-US" dirty="0"/>
              <a:t>중형전지 </a:t>
            </a:r>
            <a:r>
              <a:rPr lang="en-US" altLang="ko-KR" dirty="0"/>
              <a:t>(</a:t>
            </a:r>
            <a:r>
              <a:rPr lang="ko-KR" altLang="en-US" dirty="0"/>
              <a:t>각형</a:t>
            </a:r>
            <a:r>
              <a:rPr lang="en-US" altLang="ko-KR" dirty="0"/>
              <a:t>&amp;</a:t>
            </a:r>
            <a:r>
              <a:rPr lang="ko-KR" altLang="en-US" dirty="0"/>
              <a:t>원통형 리튬 </a:t>
            </a:r>
            <a:r>
              <a:rPr lang="en-US" altLang="ko-KR" dirty="0"/>
              <a:t>2</a:t>
            </a:r>
            <a:r>
              <a:rPr lang="ko-KR" altLang="en-US" dirty="0"/>
              <a:t>차전지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ko-KR" altLang="en-US" dirty="0"/>
              <a:t>       </a:t>
            </a:r>
            <a:r>
              <a:rPr lang="en-US" altLang="ko-KR" dirty="0">
                <a:latin typeface="HY강B"/>
                <a:ea typeface="HY강B"/>
              </a:rPr>
              <a:t>☞</a:t>
            </a:r>
            <a:r>
              <a:rPr lang="en-US" altLang="ko-KR" dirty="0"/>
              <a:t> </a:t>
            </a:r>
            <a:r>
              <a:rPr lang="ko-KR" altLang="en-US" dirty="0"/>
              <a:t>자동차용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  </a:t>
            </a:r>
            <a:r>
              <a:rPr lang="en-US" altLang="ko-KR" dirty="0"/>
              <a:t>- </a:t>
            </a:r>
            <a:r>
              <a:rPr lang="ko-KR" altLang="en-US" dirty="0"/>
              <a:t>소형전지 </a:t>
            </a:r>
            <a:r>
              <a:rPr lang="en-US" altLang="ko-KR" dirty="0"/>
              <a:t>(</a:t>
            </a:r>
            <a:r>
              <a:rPr lang="ko-KR" altLang="en-US" dirty="0"/>
              <a:t>파우치</a:t>
            </a:r>
            <a:r>
              <a:rPr lang="en-US" altLang="ko-KR" dirty="0"/>
              <a:t>&amp;</a:t>
            </a:r>
            <a:r>
              <a:rPr lang="ko-KR" altLang="en-US" dirty="0"/>
              <a:t>원통형 리튬 </a:t>
            </a:r>
            <a:r>
              <a:rPr lang="en-US" altLang="ko-KR" dirty="0"/>
              <a:t>2</a:t>
            </a:r>
            <a:r>
              <a:rPr lang="ko-KR" altLang="en-US" dirty="0"/>
              <a:t>차전지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       </a:t>
            </a:r>
            <a:r>
              <a:rPr lang="en-US" altLang="ko-KR" dirty="0">
                <a:latin typeface="HY강B"/>
                <a:ea typeface="HY강B"/>
              </a:rPr>
              <a:t>☞</a:t>
            </a:r>
            <a:r>
              <a:rPr lang="en-US" altLang="ko-KR" dirty="0"/>
              <a:t> </a:t>
            </a:r>
            <a:r>
              <a:rPr lang="ko-KR" altLang="en-US" dirty="0"/>
              <a:t>스마트폰</a:t>
            </a:r>
            <a:r>
              <a:rPr lang="en-US" altLang="ko-KR" dirty="0"/>
              <a:t>, Note PC, </a:t>
            </a:r>
            <a:r>
              <a:rPr lang="ko-KR" altLang="en-US" dirty="0"/>
              <a:t>전동공구</a:t>
            </a:r>
            <a:r>
              <a:rPr lang="en-US" altLang="ko-KR" dirty="0"/>
              <a:t>, </a:t>
            </a:r>
            <a:r>
              <a:rPr lang="ko-KR" altLang="en-US" dirty="0"/>
              <a:t>자동차용 전지</a:t>
            </a:r>
            <a:r>
              <a:rPr lang="en-US" altLang="ko-KR" dirty="0"/>
              <a:t>, </a:t>
            </a:r>
          </a:p>
          <a:p>
            <a:pPr marL="0" indent="0">
              <a:buNone/>
            </a:pPr>
            <a:r>
              <a:rPr lang="en-US" altLang="ko-KR" dirty="0"/>
              <a:t>            E-Bike, E-Scooter</a:t>
            </a:r>
            <a:endParaRPr lang="ko-KR" altLang="en-US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22993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78098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사업부문 </a:t>
            </a:r>
            <a:r>
              <a:rPr lang="en-US" altLang="ko-KR" dirty="0">
                <a:solidFill>
                  <a:schemeClr val="tx1"/>
                </a:solidFill>
              </a:rPr>
              <a:t>(2025</a:t>
            </a:r>
            <a:r>
              <a:rPr lang="ko-KR" altLang="en-US" dirty="0">
                <a:solidFill>
                  <a:schemeClr val="tx1"/>
                </a:solidFill>
              </a:rPr>
              <a:t>년 기준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68760"/>
            <a:ext cx="7715200" cy="5205192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전자재료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a. </a:t>
            </a:r>
            <a:r>
              <a:rPr lang="ko-KR" altLang="en-US" dirty="0"/>
              <a:t>매출비중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(7%, 8826</a:t>
            </a:r>
            <a:r>
              <a:rPr lang="ko-KR" altLang="en-US" dirty="0"/>
              <a:t>억 매출</a:t>
            </a:r>
            <a:r>
              <a:rPr lang="en-US" altLang="ko-KR" dirty="0"/>
              <a:t>, </a:t>
            </a:r>
            <a:r>
              <a:rPr lang="ko-KR" altLang="en-US" dirty="0"/>
              <a:t>영업이익 </a:t>
            </a:r>
            <a:r>
              <a:rPr lang="en-US" altLang="ko-KR" dirty="0"/>
              <a:t>1295</a:t>
            </a:r>
            <a:r>
              <a:rPr lang="ko-KR" altLang="en-US" dirty="0"/>
              <a:t>억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  b. </a:t>
            </a:r>
            <a:r>
              <a:rPr lang="ko-KR" altLang="en-US" dirty="0"/>
              <a:t>주요 제품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  </a:t>
            </a:r>
            <a:r>
              <a:rPr lang="en-US" altLang="ko-KR" dirty="0"/>
              <a:t>- </a:t>
            </a:r>
            <a:r>
              <a:rPr lang="ko-KR" altLang="en-US" dirty="0"/>
              <a:t>반도체 소재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 </a:t>
            </a:r>
            <a:r>
              <a:rPr lang="en-US" altLang="ko-KR" dirty="0">
                <a:latin typeface="HY강B"/>
                <a:ea typeface="HY강B"/>
              </a:rPr>
              <a:t>☞</a:t>
            </a:r>
            <a:r>
              <a:rPr lang="en-US" altLang="ko-KR" dirty="0"/>
              <a:t> EMC(Epoxy Molding Compound)</a:t>
            </a:r>
          </a:p>
          <a:p>
            <a:pPr marL="0" indent="0">
              <a:buNone/>
            </a:pPr>
            <a:r>
              <a:rPr lang="en-US" altLang="ko-KR" sz="1600" dirty="0"/>
              <a:t>             (</a:t>
            </a:r>
            <a:r>
              <a:rPr lang="ko-KR" altLang="en-US" sz="1600" dirty="0"/>
              <a:t>반도체 후공정에서 칩을 외부 환경</a:t>
            </a:r>
            <a:r>
              <a:rPr lang="en-US" altLang="ko-KR" sz="1600" dirty="0"/>
              <a:t>(</a:t>
            </a:r>
            <a:r>
              <a:rPr lang="ko-KR" altLang="en-US" sz="1600" dirty="0"/>
              <a:t>열</a:t>
            </a:r>
            <a:r>
              <a:rPr lang="en-US" altLang="ko-KR" sz="1600" dirty="0"/>
              <a:t>, </a:t>
            </a:r>
            <a:r>
              <a:rPr lang="ko-KR" altLang="en-US" sz="1600" dirty="0"/>
              <a:t>습기</a:t>
            </a:r>
            <a:r>
              <a:rPr lang="en-US" altLang="ko-KR" sz="1600" dirty="0"/>
              <a:t>, </a:t>
            </a:r>
            <a:r>
              <a:rPr lang="ko-KR" altLang="en-US" sz="1600" dirty="0"/>
              <a:t>충격</a:t>
            </a:r>
            <a:r>
              <a:rPr lang="en-US" altLang="ko-KR" sz="1600" dirty="0"/>
              <a:t>)</a:t>
            </a:r>
            <a:r>
              <a:rPr lang="ko-KR" altLang="en-US" sz="1600" dirty="0"/>
              <a:t>으로부터 보호하고 열을 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              </a:t>
            </a:r>
            <a:r>
              <a:rPr lang="ko-KR" altLang="en-US" sz="1600" dirty="0"/>
              <a:t>방출하는 열경화성 에폭시 봉지재</a:t>
            </a:r>
            <a:r>
              <a:rPr lang="en-US" altLang="ko-KR" sz="1600" dirty="0"/>
              <a:t>)</a:t>
            </a:r>
          </a:p>
          <a:p>
            <a:pPr marL="0" indent="0">
              <a:buNone/>
            </a:pPr>
            <a:r>
              <a:rPr lang="ko-KR" altLang="en-US" dirty="0"/>
              <a:t>     </a:t>
            </a:r>
            <a:r>
              <a:rPr lang="en-US" altLang="ko-KR" dirty="0"/>
              <a:t>- </a:t>
            </a:r>
            <a:r>
              <a:rPr lang="ko-KR" altLang="en-US" dirty="0"/>
              <a:t>디스플레이 소재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 </a:t>
            </a:r>
            <a:r>
              <a:rPr lang="en-US" altLang="ko-KR" dirty="0">
                <a:latin typeface="HY강B"/>
                <a:ea typeface="HY강B"/>
              </a:rPr>
              <a:t>☞ </a:t>
            </a:r>
            <a:r>
              <a:rPr lang="en-US" altLang="ko-KR" dirty="0"/>
              <a:t>OLED </a:t>
            </a:r>
            <a:r>
              <a:rPr lang="ko-KR" altLang="en-US" dirty="0"/>
              <a:t>소재</a:t>
            </a:r>
          </a:p>
        </p:txBody>
      </p:sp>
    </p:spTree>
    <p:extLst>
      <p:ext uri="{BB962C8B-B14F-4D97-AF65-F5344CB8AC3E}">
        <p14:creationId xmlns:p14="http://schemas.microsoft.com/office/powerpoint/2010/main" val="1503807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삼성 </a:t>
            </a:r>
            <a:r>
              <a:rPr lang="en-US" altLang="ko-KR" dirty="0">
                <a:solidFill>
                  <a:schemeClr val="tx1"/>
                </a:solidFill>
              </a:rPr>
              <a:t>SDI, GLOBAL NETWORK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5141168"/>
          </a:xfrm>
        </p:spPr>
        <p:txBody>
          <a:bodyPr vert="horz" lIns="91440" tIns="45720" rIns="91440" bIns="45720" anchor="t">
            <a:normAutofit lnSpcReduction="10000"/>
          </a:bodyPr>
          <a:lstStyle/>
          <a:p>
            <a:endParaRPr lang="en-US" altLang="ko-KR" u="sng" dirty="0"/>
          </a:p>
          <a:p>
            <a:endParaRPr lang="en-US" altLang="ko-KR" u="sng" dirty="0"/>
          </a:p>
          <a:p>
            <a:endParaRPr lang="en-US" altLang="ko-KR" u="sng" dirty="0"/>
          </a:p>
          <a:p>
            <a:endParaRPr lang="en-US" altLang="ko-KR" u="sng" dirty="0"/>
          </a:p>
          <a:p>
            <a:endParaRPr lang="en-US" altLang="ko-KR" sz="1800" u="sng" dirty="0"/>
          </a:p>
          <a:p>
            <a:endParaRPr lang="en-US" altLang="ko-KR" sz="1800" u="sng" dirty="0"/>
          </a:p>
          <a:p>
            <a:endParaRPr lang="en-US" altLang="ko-KR" sz="1800" u="sng" dirty="0"/>
          </a:p>
          <a:p>
            <a:endParaRPr lang="en-US" altLang="ko-KR" sz="1800" u="sng" dirty="0"/>
          </a:p>
          <a:p>
            <a:endParaRPr lang="en-US" altLang="ko-KR" sz="1800" u="sng" dirty="0"/>
          </a:p>
          <a:p>
            <a:endParaRPr lang="en-US" altLang="ko-KR" sz="1800" u="sng" dirty="0"/>
          </a:p>
          <a:p>
            <a:endParaRPr lang="en-US" altLang="ko-KR" sz="1600" u="sng" dirty="0"/>
          </a:p>
          <a:p>
            <a:endParaRPr lang="en-US" altLang="ko-KR" sz="1600" u="sng" dirty="0"/>
          </a:p>
          <a:p>
            <a:r>
              <a:rPr lang="ko-KR" altLang="en-US" sz="1600" dirty="0"/>
              <a:t>생산공장 </a:t>
            </a:r>
            <a:r>
              <a:rPr lang="en-US" altLang="ko-KR" sz="1600" dirty="0"/>
              <a:t>:</a:t>
            </a:r>
          </a:p>
          <a:p>
            <a:pPr marL="0" indent="0">
              <a:buNone/>
            </a:pPr>
            <a:r>
              <a:rPr lang="en-US" altLang="ko-KR" sz="1600" dirty="0">
                <a:ea typeface="휴먼매직체"/>
              </a:rPr>
              <a:t>  2</a:t>
            </a:r>
            <a:r>
              <a:rPr lang="ko-KR" altLang="en-US" sz="1600" dirty="0">
                <a:ea typeface="휴먼매직체"/>
              </a:rPr>
              <a:t>차전지 </a:t>
            </a:r>
            <a:r>
              <a:rPr lang="en-US" altLang="ko-KR" sz="1600" dirty="0">
                <a:ea typeface="휴먼매직체"/>
              </a:rPr>
              <a:t>: </a:t>
            </a:r>
            <a:r>
              <a:rPr lang="ko-KR" altLang="en-US" sz="1600" dirty="0">
                <a:ea typeface="휴먼매직체"/>
              </a:rPr>
              <a:t>한국</a:t>
            </a:r>
            <a:r>
              <a:rPr lang="en-US" altLang="ko-KR" sz="1600" dirty="0">
                <a:ea typeface="휴먼매직체"/>
              </a:rPr>
              <a:t>, </a:t>
            </a:r>
            <a:r>
              <a:rPr lang="en-US" altLang="ko-KR" sz="1600" dirty="0" err="1">
                <a:ea typeface="휴먼매직체"/>
              </a:rPr>
              <a:t>미국</a:t>
            </a:r>
            <a:r>
              <a:rPr lang="en-US" altLang="ko-KR" sz="1600" dirty="0">
                <a:ea typeface="휴먼매직체"/>
              </a:rPr>
              <a:t>, </a:t>
            </a:r>
            <a:r>
              <a:rPr lang="ko-KR" altLang="en-US" sz="1600" dirty="0">
                <a:ea typeface="휴먼매직체"/>
              </a:rPr>
              <a:t>헝가리</a:t>
            </a:r>
            <a:r>
              <a:rPr lang="en-US" altLang="ko-KR" sz="1600" dirty="0">
                <a:ea typeface="휴먼매직체"/>
              </a:rPr>
              <a:t>, </a:t>
            </a:r>
            <a:r>
              <a:rPr lang="ko-KR" altLang="en-US" sz="1600" dirty="0">
                <a:ea typeface="휴먼매직체"/>
              </a:rPr>
              <a:t>중국</a:t>
            </a:r>
            <a:r>
              <a:rPr lang="en-US" altLang="ko-KR" sz="1600" dirty="0">
                <a:ea typeface="휴먼매직체"/>
              </a:rPr>
              <a:t>, </a:t>
            </a:r>
            <a:r>
              <a:rPr lang="ko-KR" altLang="en-US" sz="1600" dirty="0">
                <a:ea typeface="휴먼매직체"/>
              </a:rPr>
              <a:t>인도</a:t>
            </a:r>
            <a:endParaRPr lang="en-US" altLang="ko-KR" sz="1600" dirty="0">
              <a:ea typeface="휴먼매직체"/>
            </a:endParaRPr>
          </a:p>
          <a:p>
            <a:pPr marL="0" indent="0">
              <a:buNone/>
            </a:pPr>
            <a:r>
              <a:rPr lang="en-US" altLang="ko-KR" sz="1600" dirty="0"/>
              <a:t>  </a:t>
            </a:r>
            <a:r>
              <a:rPr lang="ko-KR" altLang="en-US" sz="1600" dirty="0"/>
              <a:t>전자재료 </a:t>
            </a:r>
            <a:r>
              <a:rPr lang="en-US" altLang="ko-KR" sz="1600" dirty="0"/>
              <a:t>: </a:t>
            </a:r>
            <a:r>
              <a:rPr lang="ko-KR" altLang="en-US" sz="1600" dirty="0"/>
              <a:t>한국</a:t>
            </a:r>
          </a:p>
          <a:p>
            <a:endParaRPr lang="ko-KR" altLang="en-US" sz="18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166" y="980728"/>
            <a:ext cx="8712968" cy="46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4672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82" y="332656"/>
            <a:ext cx="3960440" cy="3085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57" y="3403362"/>
            <a:ext cx="3899065" cy="3006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B78DED62-8662-E0CE-3979-49C710C98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8951" y="497758"/>
            <a:ext cx="4620849" cy="590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505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06090"/>
          </a:xfrm>
        </p:spPr>
        <p:txBody>
          <a:bodyPr vert="horz" lIns="91440" tIns="45720" rIns="91440" bIns="45720" anchor="b">
            <a:normAutofit/>
          </a:bodyPr>
          <a:lstStyle/>
          <a:p>
            <a:r>
              <a:rPr lang="ko-KR" altLang="en-US" dirty="0">
                <a:solidFill>
                  <a:schemeClr val="tx1"/>
                </a:solidFill>
                <a:ea typeface="휴먼매직체"/>
              </a:rPr>
              <a:t>삼성 </a:t>
            </a:r>
            <a:r>
              <a:rPr lang="en-US" altLang="ko-KR" dirty="0">
                <a:solidFill>
                  <a:schemeClr val="tx1"/>
                </a:solidFill>
                <a:ea typeface="휴먼매직체"/>
              </a:rPr>
              <a:t>SDI </a:t>
            </a:r>
            <a:r>
              <a:rPr lang="ko-KR" altLang="en-US" dirty="0">
                <a:solidFill>
                  <a:schemeClr val="tx1"/>
                </a:solidFill>
                <a:ea typeface="휴먼매직체"/>
              </a:rPr>
              <a:t>실적 추이 및 전망 </a:t>
            </a:r>
            <a:r>
              <a:rPr lang="en-US" altLang="ko-KR" sz="1800">
                <a:solidFill>
                  <a:schemeClr val="tx1"/>
                </a:solidFill>
                <a:ea typeface="휴먼매직체"/>
              </a:rPr>
              <a:t>(by IM </a:t>
            </a:r>
            <a:r>
              <a:rPr lang="ko-KR" altLang="en-US" sz="1800" dirty="0">
                <a:solidFill>
                  <a:schemeClr val="tx1"/>
                </a:solidFill>
                <a:ea typeface="휴먼매직체"/>
              </a:rPr>
              <a:t>증권 리포트</a:t>
            </a:r>
            <a:r>
              <a:rPr lang="en-US" altLang="ko-KR" sz="1800" dirty="0">
                <a:solidFill>
                  <a:schemeClr val="tx1"/>
                </a:solidFill>
                <a:ea typeface="휴먼매직체"/>
              </a:rPr>
              <a:t>)</a:t>
            </a:r>
            <a:endParaRPr lang="ko-KR" altLang="en-US" dirty="0">
              <a:solidFill>
                <a:schemeClr val="tx1"/>
              </a:solidFill>
              <a:ea typeface="휴먼매직체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250" y="1268760"/>
            <a:ext cx="8316416" cy="4916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8284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E4DBEF1-F612-BBAF-3966-0F6F09F0C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8984"/>
          </a:xfrm>
        </p:spPr>
        <p:txBody>
          <a:bodyPr vert="horz" lIns="91440" tIns="45720" rIns="91440" bIns="45720" anchor="b">
            <a:normAutofit/>
          </a:bodyPr>
          <a:lstStyle/>
          <a:p>
            <a:r>
              <a:rPr lang="ko-KR" dirty="0">
                <a:solidFill>
                  <a:schemeClr val="tx1"/>
                </a:solidFill>
                <a:ea typeface="휴먼매직체"/>
              </a:rPr>
              <a:t>삼성 </a:t>
            </a:r>
            <a:r>
              <a:rPr lang="en-US" altLang="ko-KR" dirty="0">
                <a:solidFill>
                  <a:schemeClr val="tx1"/>
                </a:solidFill>
                <a:ea typeface="휴먼매직체"/>
              </a:rPr>
              <a:t>SDI </a:t>
            </a:r>
            <a:r>
              <a:rPr lang="ko-KR" dirty="0">
                <a:solidFill>
                  <a:schemeClr val="tx1"/>
                </a:solidFill>
                <a:ea typeface="휴먼매직체"/>
              </a:rPr>
              <a:t>실적 추이 및 전망 </a:t>
            </a:r>
            <a:r>
              <a:rPr lang="en-US" altLang="ko-KR" sz="1800">
                <a:solidFill>
                  <a:schemeClr val="tx1"/>
                </a:solidFill>
                <a:ea typeface="휴먼매직체"/>
              </a:rPr>
              <a:t>(by LS </a:t>
            </a:r>
            <a:r>
              <a:rPr lang="ko-KR" sz="1800">
                <a:solidFill>
                  <a:schemeClr val="tx1"/>
                </a:solidFill>
                <a:ea typeface="휴먼매직체"/>
              </a:rPr>
              <a:t>증권 리포트</a:t>
            </a:r>
            <a:r>
              <a:rPr lang="en-US" altLang="ko-KR" sz="1800" dirty="0">
                <a:solidFill>
                  <a:schemeClr val="tx1"/>
                </a:solidFill>
                <a:ea typeface="휴먼매직체"/>
              </a:rPr>
              <a:t>)</a:t>
            </a:r>
            <a:endParaRPr lang="ko-KR" dirty="0">
              <a:solidFill>
                <a:schemeClr val="tx1"/>
              </a:solidFill>
              <a:ea typeface="휴먼매직체"/>
            </a:endParaRPr>
          </a:p>
        </p:txBody>
      </p:sp>
      <p:pic>
        <p:nvPicPr>
          <p:cNvPr id="4" name="내용 개체 틀 3" descr="텍스트, 번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xmlns="" id="{1CD0DB6F-8F34-3EB5-1A16-E7B519AECE4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53613" y="1277579"/>
            <a:ext cx="7659128" cy="514106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92280" y="1196752"/>
            <a:ext cx="9361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dirty="0" smtClean="0"/>
              <a:t>단위 </a:t>
            </a:r>
            <a:r>
              <a:rPr lang="en-US" altLang="ko-KR" sz="1050" b="1" dirty="0" smtClean="0"/>
              <a:t>:</a:t>
            </a:r>
            <a:r>
              <a:rPr lang="ko-KR" altLang="en-US" sz="1050" b="1" dirty="0" smtClean="0"/>
              <a:t>십억원</a:t>
            </a:r>
            <a:endParaRPr lang="ko-KR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2059366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97C81FF-EB5B-523F-438F-43D0A58BE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648868" cy="558911"/>
          </a:xfrm>
        </p:spPr>
        <p:txBody>
          <a:bodyPr vert="horz" lIns="91440" tIns="45720" rIns="91440" bIns="45720" anchor="b">
            <a:normAutofit/>
          </a:bodyPr>
          <a:lstStyle/>
          <a:p>
            <a:r>
              <a:rPr lang="ko-KR" altLang="en-US">
                <a:solidFill>
                  <a:srgbClr val="000000"/>
                </a:solidFill>
                <a:ea typeface="휴먼매직체"/>
              </a:rPr>
              <a:t>삼성 SDI 월봉 차트 (2026.06.10기준)</a:t>
            </a:r>
            <a:endParaRPr lang="ko-KR" altLang="en-US">
              <a:solidFill>
                <a:srgbClr val="000000"/>
              </a:solidFill>
            </a:endParaRPr>
          </a:p>
        </p:txBody>
      </p:sp>
      <p:pic>
        <p:nvPicPr>
          <p:cNvPr id="4" name="내용 개체 틀 3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xmlns="" id="{3DF76BFB-1294-F11D-A706-448D1DB101B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55790" y="1065857"/>
            <a:ext cx="8424296" cy="541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735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재무구조 개선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80728"/>
            <a:ext cx="8003232" cy="5688632"/>
          </a:xfrm>
        </p:spPr>
        <p:txBody>
          <a:bodyPr>
            <a:no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US" altLang="ko-KR" sz="2200" b="1" cap="small" dirty="0">
                <a:latin typeface="+mj-lt"/>
                <a:ea typeface="+mj-ea"/>
                <a:cs typeface="+mj-cs"/>
              </a:rPr>
              <a:t>1. 2025</a:t>
            </a:r>
            <a:r>
              <a:rPr lang="ko-KR" altLang="en-US" sz="2200" b="1" cap="small" dirty="0">
                <a:latin typeface="+mj-lt"/>
                <a:ea typeface="+mj-ea"/>
                <a:cs typeface="+mj-cs"/>
              </a:rPr>
              <a:t>년 </a:t>
            </a:r>
            <a:r>
              <a:rPr lang="en-US" altLang="ko-KR" sz="2200" b="1" cap="small" dirty="0">
                <a:latin typeface="+mj-lt"/>
                <a:ea typeface="+mj-ea"/>
                <a:cs typeface="+mj-cs"/>
              </a:rPr>
              <a:t>5</a:t>
            </a:r>
            <a:r>
              <a:rPr lang="ko-KR" altLang="en-US" sz="2200" b="1" cap="small" dirty="0">
                <a:latin typeface="+mj-lt"/>
                <a:ea typeface="+mj-ea"/>
                <a:cs typeface="+mj-cs"/>
              </a:rPr>
              <a:t>월 주주배정 후 실권주 일반공모 유상증자 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/>
            </a:r>
            <a:br>
              <a:rPr lang="en-US" altLang="ko-KR" sz="2200" cap="small" dirty="0">
                <a:latin typeface="+mj-lt"/>
                <a:ea typeface="+mj-ea"/>
                <a:cs typeface="+mj-cs"/>
              </a:rPr>
            </a:br>
            <a:r>
              <a:rPr lang="en-US" altLang="ko-KR" sz="2200" cap="small" dirty="0">
                <a:latin typeface="+mj-lt"/>
                <a:ea typeface="+mj-ea"/>
                <a:cs typeface="+mj-cs"/>
              </a:rPr>
              <a:t> - 1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조 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6549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억원 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(1,182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만 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1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천 주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)</a:t>
            </a:r>
            <a:br>
              <a:rPr lang="en-US" altLang="ko-KR" sz="2200" cap="small" dirty="0">
                <a:latin typeface="+mj-lt"/>
                <a:ea typeface="+mj-ea"/>
                <a:cs typeface="+mj-cs"/>
              </a:rPr>
            </a:br>
            <a:r>
              <a:rPr lang="en-US" altLang="ko-KR" sz="2200" cap="small" dirty="0">
                <a:latin typeface="+mj-lt"/>
                <a:ea typeface="+mj-ea"/>
                <a:cs typeface="+mj-cs"/>
              </a:rPr>
              <a:t> - 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청약률 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101.96%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ko-KR" sz="2200" cap="small" dirty="0">
                <a:latin typeface="+mj-lt"/>
                <a:ea typeface="+mj-ea"/>
                <a:cs typeface="+mj-cs"/>
              </a:rPr>
              <a:t> - 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자금 사용처 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(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자금사용시기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:25~26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년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)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ko-KR" sz="2200" cap="small" dirty="0">
                <a:latin typeface="+mj-lt"/>
                <a:ea typeface="+mj-ea"/>
                <a:cs typeface="+mj-cs"/>
              </a:rPr>
              <a:t>  ☞ 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북미 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GM 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전기차 배터리 합작법인 투자 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(9,047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억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)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ko-KR" sz="2200" cap="small" dirty="0">
                <a:latin typeface="+mj-lt"/>
                <a:ea typeface="+mj-ea"/>
                <a:cs typeface="+mj-cs"/>
              </a:rPr>
              <a:t>  ☞ 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헝가리 법인 각형 배터리 생산능력 확대 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LFP 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배터리 라인</a:t>
            </a:r>
            <a:endParaRPr lang="en-US" altLang="ko-KR" sz="2200" cap="small" dirty="0">
              <a:latin typeface="+mj-lt"/>
              <a:ea typeface="+mj-ea"/>
              <a:cs typeface="+mj-cs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ko-KR" sz="2200" cap="small" dirty="0">
                <a:latin typeface="+mj-lt"/>
                <a:ea typeface="+mj-ea"/>
                <a:cs typeface="+mj-cs"/>
              </a:rPr>
              <a:t>      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투자 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(3,961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억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)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ko-KR" sz="2200" cap="small" dirty="0">
                <a:latin typeface="+mj-lt"/>
                <a:ea typeface="+mj-ea"/>
                <a:cs typeface="+mj-cs"/>
              </a:rPr>
              <a:t>  ☞ 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국내 전고체 배터리 라인 투자 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(3,541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억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)</a:t>
            </a:r>
          </a:p>
          <a:p>
            <a:pPr marL="0" indent="0">
              <a:spcBef>
                <a:spcPct val="0"/>
              </a:spcBef>
              <a:buNone/>
            </a:pPr>
            <a:endParaRPr lang="en-US" altLang="ko-KR" sz="2200" cap="small" dirty="0">
              <a:latin typeface="+mj-lt"/>
              <a:ea typeface="+mj-ea"/>
              <a:cs typeface="+mj-cs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ko-KR" sz="2200" b="1" cap="small" dirty="0">
                <a:latin typeface="+mj-lt"/>
                <a:ea typeface="+mj-ea"/>
                <a:cs typeface="+mj-cs"/>
              </a:rPr>
              <a:t>2. </a:t>
            </a:r>
            <a:r>
              <a:rPr lang="ko-KR" altLang="en-US" sz="2200" b="1" cap="small" dirty="0">
                <a:latin typeface="+mj-lt"/>
                <a:ea typeface="+mj-ea"/>
                <a:cs typeface="+mj-cs"/>
              </a:rPr>
              <a:t>삼성디스플레이 지분매각 추진 공시 </a:t>
            </a:r>
            <a:r>
              <a:rPr lang="en-US" altLang="ko-KR" sz="2200" b="1" cap="small" dirty="0">
                <a:latin typeface="+mj-lt"/>
                <a:ea typeface="+mj-ea"/>
                <a:cs typeface="+mj-cs"/>
              </a:rPr>
              <a:t>(2026</a:t>
            </a:r>
            <a:r>
              <a:rPr lang="ko-KR" altLang="en-US" sz="2200" b="1" cap="small" dirty="0">
                <a:latin typeface="+mj-lt"/>
                <a:ea typeface="+mj-ea"/>
                <a:cs typeface="+mj-cs"/>
              </a:rPr>
              <a:t>년 </a:t>
            </a:r>
            <a:r>
              <a:rPr lang="en-US" altLang="ko-KR" sz="2200" b="1" cap="small" dirty="0">
                <a:latin typeface="+mj-lt"/>
                <a:ea typeface="+mj-ea"/>
                <a:cs typeface="+mj-cs"/>
              </a:rPr>
              <a:t>2</a:t>
            </a:r>
            <a:r>
              <a:rPr lang="ko-KR" altLang="en-US" sz="2200" b="1" cap="small" dirty="0">
                <a:latin typeface="+mj-lt"/>
                <a:ea typeface="+mj-ea"/>
                <a:cs typeface="+mj-cs"/>
              </a:rPr>
              <a:t>월 </a:t>
            </a:r>
            <a:r>
              <a:rPr lang="en-US" altLang="ko-KR" sz="2200" b="1" cap="small" dirty="0">
                <a:latin typeface="+mj-lt"/>
                <a:ea typeface="+mj-ea"/>
                <a:cs typeface="+mj-cs"/>
              </a:rPr>
              <a:t>19</a:t>
            </a:r>
            <a:r>
              <a:rPr lang="ko-KR" altLang="en-US" sz="2200" b="1" cap="small" dirty="0">
                <a:latin typeface="+mj-lt"/>
                <a:ea typeface="+mj-ea"/>
                <a:cs typeface="+mj-cs"/>
              </a:rPr>
              <a:t>일</a:t>
            </a:r>
            <a:r>
              <a:rPr lang="en-US" altLang="ko-KR" sz="2200" b="1" cap="small" dirty="0">
                <a:latin typeface="+mj-lt"/>
                <a:ea typeface="+mj-ea"/>
                <a:cs typeface="+mj-cs"/>
              </a:rPr>
              <a:t>)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/>
            </a:r>
            <a:br>
              <a:rPr lang="en-US" altLang="ko-KR" sz="2200" cap="small" dirty="0">
                <a:latin typeface="+mj-lt"/>
                <a:ea typeface="+mj-ea"/>
                <a:cs typeface="+mj-cs"/>
              </a:rPr>
            </a:br>
            <a:r>
              <a:rPr lang="en-US" altLang="ko-KR" sz="2200" cap="small" dirty="0">
                <a:latin typeface="+mj-lt"/>
                <a:ea typeface="+mj-ea"/>
                <a:cs typeface="+mj-cs"/>
              </a:rPr>
              <a:t> - 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삼성디스플레이 지분 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15.2% 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보유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/>
            </a:r>
            <a:br>
              <a:rPr lang="en-US" altLang="ko-KR" sz="2200" cap="small" dirty="0">
                <a:latin typeface="+mj-lt"/>
                <a:ea typeface="+mj-ea"/>
                <a:cs typeface="+mj-cs"/>
              </a:rPr>
            </a:br>
            <a:r>
              <a:rPr lang="en-US" altLang="ko-KR" sz="2200" cap="small" dirty="0">
                <a:latin typeface="+mj-lt"/>
                <a:ea typeface="+mj-ea"/>
                <a:cs typeface="+mj-cs"/>
              </a:rPr>
              <a:t> - 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지분가치 약 </a:t>
            </a:r>
            <a:r>
              <a:rPr lang="en-US" altLang="ko-KR" sz="2200" cap="small" dirty="0" smtClean="0">
                <a:latin typeface="+mj-lt"/>
                <a:ea typeface="+mj-ea"/>
                <a:cs typeface="+mj-cs"/>
              </a:rPr>
              <a:t>11</a:t>
            </a:r>
            <a:r>
              <a:rPr lang="ko-KR" altLang="en-US" sz="2200" cap="small" dirty="0" smtClean="0">
                <a:latin typeface="+mj-lt"/>
                <a:ea typeface="+mj-ea"/>
                <a:cs typeface="+mj-cs"/>
              </a:rPr>
              <a:t>조 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내외추정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/>
            </a:r>
            <a:br>
              <a:rPr lang="en-US" altLang="ko-KR" sz="2200" cap="small" dirty="0">
                <a:latin typeface="+mj-lt"/>
                <a:ea typeface="+mj-ea"/>
                <a:cs typeface="+mj-cs"/>
              </a:rPr>
            </a:br>
            <a:r>
              <a:rPr lang="en-US" altLang="ko-KR" sz="2200" cap="small" dirty="0">
                <a:latin typeface="+mj-lt"/>
                <a:ea typeface="+mj-ea"/>
                <a:cs typeface="+mj-cs"/>
              </a:rPr>
              <a:t> 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참고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)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 삼성디스플레이 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2025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년 실적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/>
            </a:r>
            <a:br>
              <a:rPr lang="en-US" altLang="ko-KR" sz="2200" cap="small" dirty="0">
                <a:latin typeface="+mj-lt"/>
                <a:ea typeface="+mj-ea"/>
                <a:cs typeface="+mj-cs"/>
              </a:rPr>
            </a:br>
            <a:r>
              <a:rPr lang="en-US" altLang="ko-KR" sz="2200" cap="small" dirty="0">
                <a:latin typeface="+mj-lt"/>
                <a:ea typeface="+mj-ea"/>
                <a:cs typeface="+mj-cs"/>
              </a:rPr>
              <a:t>          </a:t>
            </a:r>
            <a:r>
              <a:rPr lang="en-US" altLang="ko-KR" sz="2200" cap="small" dirty="0"/>
              <a:t>☞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 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매출 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29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조 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8000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여억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, 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영업이익 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4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조 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1000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억원</a:t>
            </a:r>
            <a:endParaRPr lang="en-US" altLang="ko-KR" sz="2200" cap="small" dirty="0">
              <a:latin typeface="+mj-lt"/>
              <a:ea typeface="+mj-ea"/>
              <a:cs typeface="+mj-cs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ko-KR" sz="2200" cap="small" dirty="0">
                <a:latin typeface="+mj-lt"/>
                <a:ea typeface="+mj-ea"/>
                <a:cs typeface="+mj-cs"/>
              </a:rPr>
              <a:t> - 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차입금 감소 기대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, 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재무건전성 개선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, 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투자여력 확보</a:t>
            </a:r>
            <a:endParaRPr lang="en-US" altLang="ko-KR" sz="2200" cap="small" dirty="0">
              <a:latin typeface="+mj-lt"/>
              <a:ea typeface="+mj-ea"/>
              <a:cs typeface="+mj-cs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ko-KR" sz="2200" cap="small" dirty="0">
                <a:latin typeface="+mj-lt"/>
                <a:ea typeface="+mj-ea"/>
                <a:cs typeface="+mj-cs"/>
              </a:rPr>
              <a:t>   (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총 차입금 규모 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: 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약 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10</a:t>
            </a:r>
            <a:r>
              <a:rPr lang="ko-KR" altLang="en-US" sz="2200" cap="small" dirty="0">
                <a:latin typeface="+mj-lt"/>
                <a:ea typeface="+mj-ea"/>
                <a:cs typeface="+mj-cs"/>
              </a:rPr>
              <a:t>조원</a:t>
            </a:r>
            <a:r>
              <a:rPr lang="en-US" altLang="ko-KR" sz="2200" cap="small" dirty="0">
                <a:latin typeface="+mj-lt"/>
                <a:ea typeface="+mj-ea"/>
                <a:cs typeface="+mj-cs"/>
              </a:rPr>
              <a:t>)</a:t>
            </a:r>
            <a:endParaRPr lang="ko-KR" altLang="en-US" sz="2200" cap="small" dirty="0">
              <a:latin typeface="+mj-lt"/>
              <a:ea typeface="+mj-ea"/>
              <a:cs typeface="+mj-cs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ko-KR" sz="2200" cap="sm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/>
            </a:r>
            <a:br>
              <a:rPr lang="en-US" altLang="ko-KR" sz="2200" cap="sm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ko-KR" altLang="en-US" sz="2200" cap="small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70067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299"/>
            <a:ext cx="7467600" cy="609397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삼성 </a:t>
            </a:r>
            <a:r>
              <a:rPr lang="en-US" altLang="ko-KR" dirty="0" err="1">
                <a:solidFill>
                  <a:schemeClr val="tx1"/>
                </a:solidFill>
              </a:rPr>
              <a:t>sdi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관련 기사</a:t>
            </a:r>
            <a:r>
              <a:rPr lang="en-US" altLang="ko-KR" dirty="0">
                <a:solidFill>
                  <a:schemeClr val="tx1"/>
                </a:solidFill>
              </a:rPr>
              <a:t>(1)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5438" y="874497"/>
            <a:ext cx="8438760" cy="5810936"/>
          </a:xfrm>
        </p:spPr>
        <p:txBody>
          <a:bodyPr vert="horz" lIns="91440" tIns="45720" rIns="91440" bIns="45720" anchor="t">
            <a:normAutofit fontScale="92500" lnSpcReduction="20000"/>
          </a:bodyPr>
          <a:lstStyle/>
          <a:p>
            <a:r>
              <a:rPr lang="ko-KR" altLang="en-US" sz="2200" dirty="0">
                <a:ea typeface="휴먼매직체"/>
              </a:rPr>
              <a:t>현대차와 로봇전용배터리 공동개발</a:t>
            </a:r>
            <a:r>
              <a:rPr lang="en-US" altLang="ko-KR" sz="2200" dirty="0">
                <a:ea typeface="휴먼매직체"/>
              </a:rPr>
              <a:t>, </a:t>
            </a:r>
            <a:r>
              <a:rPr lang="ko-KR" altLang="en-US" sz="2200" dirty="0">
                <a:ea typeface="휴먼매직체"/>
              </a:rPr>
              <a:t>자동차배터리 공급</a:t>
            </a:r>
            <a:r>
              <a:rPr lang="ko-KR" altLang="en-US" dirty="0">
                <a:ea typeface="휴먼매직체"/>
              </a:rPr>
              <a:t>계약 체결</a:t>
            </a:r>
            <a:r>
              <a:rPr lang="ko-KR" altLang="en-US" sz="1600" dirty="0">
                <a:ea typeface="휴먼매직체"/>
                <a:hlinkClick r:id="rId2"/>
              </a:rPr>
              <a:t>관련기사</a:t>
            </a:r>
            <a:r>
              <a:rPr lang="en-US" altLang="ko-KR" sz="1600" dirty="0">
                <a:ea typeface="휴먼매직체"/>
                <a:hlinkClick r:id="rId2"/>
              </a:rPr>
              <a:t>-</a:t>
            </a:r>
            <a:r>
              <a:rPr lang="ko-KR" altLang="en-US" sz="1600" dirty="0">
                <a:ea typeface="휴먼매직체"/>
                <a:hlinkClick r:id="rId2"/>
              </a:rPr>
              <a:t>현대차</a:t>
            </a:r>
            <a:r>
              <a:rPr lang="en-US" altLang="ko-KR" sz="1600" dirty="0">
                <a:ea typeface="휴먼매직체"/>
                <a:hlinkClick r:id="rId2"/>
              </a:rPr>
              <a:t>1</a:t>
            </a:r>
            <a:r>
              <a:rPr lang="en-US" altLang="ko-KR" sz="1600" dirty="0">
                <a:ea typeface="휴먼매직체"/>
              </a:rPr>
              <a:t>,</a:t>
            </a:r>
            <a:r>
              <a:rPr lang="ko-KR" altLang="en-US" sz="1600" dirty="0">
                <a:ea typeface="휴먼매직체"/>
                <a:hlinkClick r:id="rId3"/>
              </a:rPr>
              <a:t>현대차</a:t>
            </a:r>
            <a:r>
              <a:rPr lang="en-US" altLang="ko-KR" sz="1600" dirty="0">
                <a:ea typeface="휴먼매직체"/>
                <a:hlinkClick r:id="rId3"/>
              </a:rPr>
              <a:t>2</a:t>
            </a:r>
            <a:endParaRPr lang="en-US" altLang="ko-KR" sz="1600" dirty="0">
              <a:ea typeface="휴먼매직체"/>
            </a:endParaRPr>
          </a:p>
          <a:p>
            <a:r>
              <a:rPr lang="ko-KR" altLang="en-US" dirty="0">
                <a:ea typeface="휴먼매직체"/>
              </a:rPr>
              <a:t>벤츠 자동차 배터리 공급계약 체결</a:t>
            </a:r>
            <a:r>
              <a:rPr lang="ko-KR" altLang="en-US" sz="1600" dirty="0">
                <a:ea typeface="휴먼매직체"/>
                <a:hlinkClick r:id="rId4"/>
              </a:rPr>
              <a:t>관련기사</a:t>
            </a:r>
            <a:r>
              <a:rPr lang="en-US" altLang="ko-KR" sz="1600" dirty="0">
                <a:ea typeface="휴먼매직체"/>
                <a:hlinkClick r:id="rId4"/>
              </a:rPr>
              <a:t>-</a:t>
            </a:r>
            <a:r>
              <a:rPr lang="ko-KR" altLang="en-US" sz="1600" dirty="0">
                <a:ea typeface="휴먼매직체"/>
                <a:hlinkClick r:id="rId4"/>
              </a:rPr>
              <a:t>벤츠</a:t>
            </a:r>
            <a:endParaRPr lang="en-US" altLang="ko-KR" sz="1600" dirty="0">
              <a:ea typeface="휴먼매직체"/>
            </a:endParaRPr>
          </a:p>
          <a:p>
            <a:r>
              <a:rPr lang="ko-KR" altLang="en-US" dirty="0"/>
              <a:t>유가폭등으로 인한 전기차 수요 증가</a:t>
            </a:r>
            <a:endParaRPr lang="en-US" altLang="ko-KR" dirty="0"/>
          </a:p>
          <a:p>
            <a:r>
              <a:rPr lang="ko-KR" altLang="en-US" dirty="0">
                <a:ea typeface="휴먼매직체"/>
              </a:rPr>
              <a:t>유럽 내 배터리 한</a:t>
            </a:r>
            <a:r>
              <a:rPr lang="en-US" altLang="ko-KR" dirty="0">
                <a:ea typeface="휴먼매직체"/>
              </a:rPr>
              <a:t>,</a:t>
            </a:r>
            <a:r>
              <a:rPr lang="ko-KR" altLang="en-US" dirty="0">
                <a:ea typeface="휴먼매직체"/>
              </a:rPr>
              <a:t>중 </a:t>
            </a:r>
            <a:r>
              <a:rPr lang="en-US" altLang="ko-KR" dirty="0">
                <a:ea typeface="휴먼매직체"/>
              </a:rPr>
              <a:t>2</a:t>
            </a:r>
            <a:r>
              <a:rPr lang="ko-KR" altLang="en-US" dirty="0">
                <a:ea typeface="휴먼매직체"/>
              </a:rPr>
              <a:t>파전</a:t>
            </a:r>
            <a:r>
              <a:rPr lang="ko-KR" altLang="en-US" sz="1700" dirty="0">
                <a:ea typeface="휴먼매직체"/>
                <a:hlinkClick r:id="rId5"/>
              </a:rPr>
              <a:t>관련기사</a:t>
            </a:r>
            <a:r>
              <a:rPr lang="en-US" altLang="ko-KR" sz="1700" dirty="0">
                <a:ea typeface="휴먼매직체"/>
                <a:hlinkClick r:id="rId5"/>
              </a:rPr>
              <a:t>-</a:t>
            </a:r>
            <a:r>
              <a:rPr lang="ko-KR" altLang="en-US" sz="1700" dirty="0">
                <a:ea typeface="휴먼매직체"/>
                <a:hlinkClick r:id="rId5"/>
              </a:rPr>
              <a:t>노스볼트파산</a:t>
            </a:r>
            <a:endParaRPr lang="en-US" altLang="ko-KR" sz="1700" dirty="0">
              <a:ea typeface="휴먼매직체"/>
            </a:endParaRPr>
          </a:p>
          <a:p>
            <a:r>
              <a:rPr lang="ko-KR" altLang="en-US" dirty="0">
                <a:ea typeface="휴먼매직체"/>
              </a:rPr>
              <a:t>한국전력거래소 ESS 중앙계약시장 수주</a:t>
            </a:r>
            <a:r>
              <a:rPr lang="en-US" altLang="ko-KR" sz="1600" dirty="0">
                <a:ea typeface="휴먼매직체"/>
                <a:hlinkClick r:id="rId6"/>
              </a:rPr>
              <a:t>관련기사-한국전력거래소</a:t>
            </a:r>
            <a:endParaRPr lang="en-US" altLang="ko-KR" sz="1600" dirty="0">
              <a:ea typeface="휴먼매직체"/>
            </a:endParaRPr>
          </a:p>
          <a:p>
            <a:r>
              <a:rPr lang="ko-KR" altLang="en-US" dirty="0">
                <a:ea typeface="휴먼매직체"/>
              </a:rPr>
              <a:t>미국 대형 에너지 기업에 2027년 부터 2조원대 ESS공급</a:t>
            </a:r>
            <a:r>
              <a:rPr lang="ko-KR" altLang="en-US" sz="1700" dirty="0">
                <a:ea typeface="휴먼매직체"/>
                <a:hlinkClick r:id="rId7"/>
              </a:rPr>
              <a:t>관련기사_2조원북미2027</a:t>
            </a:r>
            <a:endParaRPr lang="ko-KR" altLang="en-US" sz="1700" dirty="0">
              <a:ea typeface="휴먼매직체"/>
            </a:endParaRPr>
          </a:p>
          <a:p>
            <a:r>
              <a:rPr lang="ko-KR" altLang="en-US" dirty="0">
                <a:ea typeface="휴먼매직체"/>
              </a:rPr>
              <a:t>미국 에너지 기업에 2026년부터 1.5조원대 ESS공급</a:t>
            </a:r>
            <a:r>
              <a:rPr lang="ko-KR" altLang="en-US" sz="1700" dirty="0">
                <a:ea typeface="휴먼매직체"/>
                <a:hlinkClick r:id="rId8"/>
              </a:rPr>
              <a:t>관련기사_1.5조원공급</a:t>
            </a:r>
            <a:endParaRPr lang="ko-KR" altLang="en-US" sz="1700" dirty="0">
              <a:ea typeface="휴먼매직체"/>
            </a:endParaRPr>
          </a:p>
          <a:p>
            <a:r>
              <a:rPr lang="ko-KR" altLang="en-US" dirty="0">
                <a:ea typeface="휴먼매직체"/>
              </a:rPr>
              <a:t>테슬라 </a:t>
            </a:r>
            <a:r>
              <a:rPr lang="en-US" altLang="ko-KR" dirty="0">
                <a:ea typeface="휴먼매직체"/>
              </a:rPr>
              <a:t>ESS </a:t>
            </a:r>
            <a:r>
              <a:rPr lang="ko-KR" altLang="en-US" dirty="0">
                <a:ea typeface="휴먼매직체"/>
              </a:rPr>
              <a:t>수주,2027년부터 3년간 연간 10GW</a:t>
            </a:r>
            <a:r>
              <a:rPr lang="ko-KR" altLang="en-US" sz="1600" dirty="0">
                <a:ea typeface="휴먼매직체"/>
                <a:hlinkClick r:id="rId9"/>
              </a:rPr>
              <a:t>관련기사</a:t>
            </a:r>
            <a:r>
              <a:rPr lang="en-US" altLang="ko-KR" sz="1600" dirty="0">
                <a:ea typeface="휴먼매직체"/>
                <a:hlinkClick r:id="rId9"/>
              </a:rPr>
              <a:t>-</a:t>
            </a:r>
            <a:r>
              <a:rPr lang="ko-KR" altLang="en-US" sz="1600" dirty="0">
                <a:ea typeface="휴먼매직체"/>
                <a:hlinkClick r:id="rId9"/>
              </a:rPr>
              <a:t>테슬라</a:t>
            </a:r>
            <a:r>
              <a:rPr lang="en-US" altLang="ko-KR" sz="1600" dirty="0">
                <a:ea typeface="휴먼매직체"/>
                <a:hlinkClick r:id="rId9"/>
              </a:rPr>
              <a:t>1</a:t>
            </a:r>
            <a:r>
              <a:rPr lang="en-US" altLang="ko-KR" sz="1600" dirty="0">
                <a:ea typeface="휴먼매직체"/>
              </a:rPr>
              <a:t>,</a:t>
            </a:r>
            <a:r>
              <a:rPr lang="en-US" altLang="ko-KR" sz="1600" dirty="0">
                <a:ea typeface="휴먼매직체"/>
                <a:hlinkClick r:id="rId10"/>
              </a:rPr>
              <a:t>테슬라2</a:t>
            </a:r>
          </a:p>
          <a:p>
            <a:r>
              <a:rPr lang="en-US" altLang="ko-KR" dirty="0">
                <a:ea typeface="휴먼매직체"/>
              </a:rPr>
              <a:t>AWS(</a:t>
            </a:r>
            <a:r>
              <a:rPr lang="ko-KR" altLang="en-US" dirty="0">
                <a:ea typeface="휴먼매직체"/>
              </a:rPr>
              <a:t>아마존웹서비스</a:t>
            </a:r>
            <a:r>
              <a:rPr lang="en-US" altLang="ko-KR" dirty="0">
                <a:ea typeface="휴먼매직체"/>
              </a:rPr>
              <a:t>) AI </a:t>
            </a:r>
            <a:r>
              <a:rPr lang="ko-KR" altLang="en-US" dirty="0">
                <a:ea typeface="휴먼매직체"/>
              </a:rPr>
              <a:t>데이터센터</a:t>
            </a:r>
            <a:r>
              <a:rPr lang="en-US" altLang="ko-KR" dirty="0">
                <a:ea typeface="휴먼매직체"/>
              </a:rPr>
              <a:t> ESS</a:t>
            </a:r>
            <a:r>
              <a:rPr lang="ko-KR" altLang="en-US" dirty="0">
                <a:ea typeface="휴먼매직체"/>
              </a:rPr>
              <a:t>협력</a:t>
            </a:r>
            <a:r>
              <a:rPr lang="ko-KR" altLang="en-US" sz="1600" dirty="0">
                <a:ea typeface="휴먼매직체"/>
                <a:hlinkClick r:id="rId11"/>
              </a:rPr>
              <a:t>관련기사</a:t>
            </a:r>
            <a:r>
              <a:rPr lang="en-US" altLang="ko-KR" sz="1600" dirty="0">
                <a:ea typeface="휴먼매직체"/>
                <a:hlinkClick r:id="rId11"/>
              </a:rPr>
              <a:t>-AWS</a:t>
            </a:r>
            <a:r>
              <a:rPr lang="en-US" altLang="ko-KR" sz="1600" dirty="0" smtClean="0">
                <a:ea typeface="휴먼매직체"/>
              </a:rPr>
              <a:t>,</a:t>
            </a:r>
            <a:r>
              <a:rPr lang="ko-KR" altLang="en-US" sz="1600" dirty="0" smtClean="0">
                <a:ea typeface="휴먼매직체"/>
                <a:hlinkClick r:id="rId12"/>
              </a:rPr>
              <a:t>관련기사</a:t>
            </a:r>
            <a:r>
              <a:rPr lang="en-US" altLang="ko-KR" sz="1600" dirty="0" smtClean="0">
                <a:ea typeface="휴먼매직체"/>
                <a:hlinkClick r:id="rId12"/>
              </a:rPr>
              <a:t>-A</a:t>
            </a:r>
            <a:r>
              <a:rPr lang="ko-KR" altLang="en-US" sz="1600" dirty="0" smtClean="0">
                <a:ea typeface="휴먼매직체"/>
                <a:hlinkClick r:id="rId12"/>
              </a:rPr>
              <a:t>사 공급계약</a:t>
            </a:r>
            <a:endParaRPr lang="en-US" altLang="ko-KR" sz="1600" dirty="0">
              <a:ea typeface="휴먼매직체"/>
            </a:endParaRPr>
          </a:p>
          <a:p>
            <a:r>
              <a:rPr lang="ko-KR" altLang="en-US" dirty="0">
                <a:ea typeface="휴먼매직체"/>
              </a:rPr>
              <a:t>스페이스</a:t>
            </a:r>
            <a:r>
              <a:rPr lang="en-US" altLang="ko-KR" dirty="0">
                <a:ea typeface="휴먼매직체"/>
              </a:rPr>
              <a:t>X </a:t>
            </a:r>
            <a:r>
              <a:rPr lang="ko-KR" altLang="en-US" dirty="0">
                <a:ea typeface="휴먼매직체"/>
              </a:rPr>
              <a:t>협력</a:t>
            </a:r>
            <a:r>
              <a:rPr lang="ko-KR" altLang="en-US" sz="1600" dirty="0">
                <a:ea typeface="휴먼매직체"/>
                <a:hlinkClick r:id="rId13"/>
              </a:rPr>
              <a:t>관련블로그</a:t>
            </a:r>
            <a:r>
              <a:rPr lang="en-US" altLang="ko-KR" sz="1600" dirty="0">
                <a:ea typeface="휴먼매직체"/>
                <a:hlinkClick r:id="rId13"/>
              </a:rPr>
              <a:t>-SPX1</a:t>
            </a:r>
            <a:r>
              <a:rPr lang="en-US" altLang="ko-KR" sz="1600" dirty="0">
                <a:ea typeface="휴먼매직체"/>
              </a:rPr>
              <a:t>, </a:t>
            </a:r>
          </a:p>
          <a:p>
            <a:r>
              <a:rPr lang="ko-KR" altLang="en-US" dirty="0">
                <a:ea typeface="휴먼매직체"/>
              </a:rPr>
              <a:t>우주 데이터센터</a:t>
            </a:r>
            <a:r>
              <a:rPr lang="ko-KR" altLang="en-US" sz="1600" dirty="0">
                <a:ea typeface="휴먼매직체"/>
                <a:hlinkClick r:id="rId14"/>
              </a:rPr>
              <a:t>관련기사</a:t>
            </a:r>
            <a:r>
              <a:rPr lang="en-US" altLang="ko-KR" sz="1600" dirty="0">
                <a:ea typeface="휴먼매직체"/>
                <a:hlinkClick r:id="rId14"/>
              </a:rPr>
              <a:t>-</a:t>
            </a:r>
            <a:r>
              <a:rPr lang="ko-KR" altLang="en-US" sz="1600" dirty="0">
                <a:ea typeface="휴먼매직체"/>
                <a:hlinkClick r:id="rId14"/>
              </a:rPr>
              <a:t>구글 </a:t>
            </a:r>
            <a:r>
              <a:rPr lang="en-US" altLang="ko-KR" sz="1600" dirty="0">
                <a:ea typeface="휴먼매직체"/>
                <a:hlinkClick r:id="rId14"/>
              </a:rPr>
              <a:t>SPACEX</a:t>
            </a:r>
            <a:endParaRPr lang="en-US" altLang="ko-KR" sz="1600" dirty="0">
              <a:ea typeface="휴먼매직체"/>
            </a:endParaRPr>
          </a:p>
          <a:p>
            <a:r>
              <a:rPr lang="ko-KR" altLang="en-US" dirty="0">
                <a:ea typeface="휴먼매직체"/>
              </a:rPr>
              <a:t>미국 이란 전쟁 영향 신재생 에너지 정부정책</a:t>
            </a:r>
            <a:r>
              <a:rPr lang="ko-KR" altLang="en-US" sz="1600" dirty="0">
                <a:ea typeface="휴먼매직체"/>
                <a:hlinkClick r:id="rId15"/>
              </a:rPr>
              <a:t>관련기사</a:t>
            </a:r>
            <a:r>
              <a:rPr lang="en-US" altLang="ko-KR" sz="1600" dirty="0">
                <a:ea typeface="휴먼매직체"/>
                <a:hlinkClick r:id="rId15"/>
              </a:rPr>
              <a:t>-</a:t>
            </a:r>
            <a:r>
              <a:rPr lang="ko-KR" altLang="en-US" sz="1600" dirty="0">
                <a:ea typeface="휴먼매직체"/>
                <a:hlinkClick r:id="rId15"/>
              </a:rPr>
              <a:t>정부정책</a:t>
            </a:r>
            <a:r>
              <a:rPr lang="en-US" altLang="ko-KR" sz="1600" dirty="0">
                <a:ea typeface="휴먼매직체"/>
              </a:rPr>
              <a:t>,</a:t>
            </a:r>
            <a:r>
              <a:rPr lang="ko-KR" altLang="en-US" sz="1600" dirty="0">
                <a:ea typeface="휴먼매직체"/>
                <a:hlinkClick r:id="rId16"/>
              </a:rPr>
              <a:t>신재생</a:t>
            </a:r>
            <a:r>
              <a:rPr lang="en-US" altLang="ko-KR" sz="1600" dirty="0">
                <a:ea typeface="휴먼매직체"/>
                <a:hlinkClick r:id="rId16"/>
              </a:rPr>
              <a:t>-ESS</a:t>
            </a:r>
            <a:endParaRPr lang="en-US" altLang="ko-KR" sz="1600" dirty="0">
              <a:ea typeface="휴먼매직체"/>
            </a:endParaRPr>
          </a:p>
          <a:p>
            <a:r>
              <a:rPr lang="ko-KR" altLang="en-US" dirty="0">
                <a:ea typeface="휴먼매직체"/>
              </a:rPr>
              <a:t>전고체 배터리 개발</a:t>
            </a:r>
            <a:r>
              <a:rPr lang="ko-KR" altLang="en-US" sz="1600" dirty="0">
                <a:ea typeface="휴먼매직체"/>
                <a:hlinkClick r:id="rId17"/>
              </a:rPr>
              <a:t>관련기사</a:t>
            </a:r>
            <a:r>
              <a:rPr lang="en-US" altLang="ko-KR" sz="1600" dirty="0">
                <a:ea typeface="휴먼매직체"/>
                <a:hlinkClick r:id="rId17"/>
              </a:rPr>
              <a:t>-bmw</a:t>
            </a:r>
            <a:r>
              <a:rPr lang="en-US" altLang="ko-KR" sz="1600" dirty="0">
                <a:ea typeface="휴먼매직체"/>
              </a:rPr>
              <a:t>,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7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2074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삼성 </a:t>
            </a:r>
            <a:r>
              <a:rPr lang="en-US" altLang="ko-KR" dirty="0" err="1">
                <a:solidFill>
                  <a:schemeClr val="tx1"/>
                </a:solidFill>
              </a:rPr>
              <a:t>sdi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관련 기사</a:t>
            </a:r>
            <a:r>
              <a:rPr lang="en-US" altLang="ko-KR" dirty="0">
                <a:solidFill>
                  <a:schemeClr val="tx1"/>
                </a:solidFill>
              </a:rPr>
              <a:t>(2)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08720"/>
            <a:ext cx="8003232" cy="5565232"/>
          </a:xfrm>
        </p:spPr>
        <p:txBody>
          <a:bodyPr vert="horz" lIns="91440" tIns="45720" rIns="91440" bIns="45720" anchor="t">
            <a:normAutofit lnSpcReduction="10000"/>
          </a:bodyPr>
          <a:lstStyle/>
          <a:p>
            <a:r>
              <a:rPr lang="ko-KR" altLang="en-US" dirty="0">
                <a:ea typeface="휴먼매직체"/>
              </a:rPr>
              <a:t>삼성</a:t>
            </a:r>
            <a:r>
              <a:rPr lang="en-US" altLang="ko-KR" dirty="0">
                <a:ea typeface="휴먼매직체"/>
              </a:rPr>
              <a:t>SDI ESS </a:t>
            </a:r>
            <a:r>
              <a:rPr lang="ko-KR" altLang="en-US" dirty="0">
                <a:ea typeface="휴먼매직체"/>
              </a:rPr>
              <a:t>성장축 본격화 </a:t>
            </a:r>
            <a:r>
              <a:rPr lang="ko-KR" altLang="en-US" sz="1600" dirty="0">
                <a:ea typeface="휴먼매직체"/>
                <a:hlinkClick r:id="rId2"/>
              </a:rPr>
              <a:t>관련기사</a:t>
            </a:r>
            <a:r>
              <a:rPr lang="en-US" altLang="ko-KR" sz="1600" dirty="0">
                <a:ea typeface="휴먼매직체"/>
                <a:hlinkClick r:id="rId2"/>
              </a:rPr>
              <a:t>-ESS</a:t>
            </a:r>
            <a:r>
              <a:rPr lang="ko-KR" altLang="en-US" sz="1600" dirty="0">
                <a:ea typeface="휴먼매직체"/>
                <a:hlinkClick r:id="rId2"/>
              </a:rPr>
              <a:t>성장</a:t>
            </a:r>
            <a:endParaRPr lang="en-US" altLang="ko-KR" sz="1600" dirty="0">
              <a:ea typeface="휴먼매직체"/>
            </a:endParaRPr>
          </a:p>
          <a:p>
            <a:r>
              <a:rPr lang="ko-KR" altLang="en-US" dirty="0">
                <a:ea typeface="휴먼매직체"/>
              </a:rPr>
              <a:t>삼성 </a:t>
            </a:r>
            <a:r>
              <a:rPr lang="en-US" altLang="ko-KR" dirty="0">
                <a:ea typeface="휴먼매직체"/>
              </a:rPr>
              <a:t>SDI BBU </a:t>
            </a:r>
            <a:r>
              <a:rPr lang="ko-KR" altLang="en-US" dirty="0">
                <a:ea typeface="휴먼매직체"/>
              </a:rPr>
              <a:t>시장 </a:t>
            </a:r>
            <a:r>
              <a:rPr lang="en-US" altLang="ko-KR" dirty="0">
                <a:ea typeface="휴먼매직체"/>
              </a:rPr>
              <a:t>2025</a:t>
            </a:r>
            <a:r>
              <a:rPr lang="ko-KR" altLang="en-US" dirty="0">
                <a:ea typeface="휴먼매직체"/>
              </a:rPr>
              <a:t>년부터 연평균 </a:t>
            </a:r>
            <a:r>
              <a:rPr lang="en-US" altLang="ko-KR" dirty="0">
                <a:ea typeface="휴먼매직체"/>
              </a:rPr>
              <a:t>14%</a:t>
            </a:r>
            <a:r>
              <a:rPr lang="ko-KR" altLang="en-US" dirty="0">
                <a:ea typeface="휴먼매직체"/>
              </a:rPr>
              <a:t>성장 </a:t>
            </a:r>
            <a:r>
              <a:rPr lang="ko-KR" altLang="en-US" sz="1600" dirty="0">
                <a:ea typeface="휴먼매직체"/>
                <a:hlinkClick r:id="rId3"/>
              </a:rPr>
              <a:t>관련기사</a:t>
            </a:r>
            <a:r>
              <a:rPr lang="en-US" altLang="ko-KR" sz="1600" dirty="0">
                <a:ea typeface="휴먼매직체"/>
                <a:hlinkClick r:id="rId3"/>
              </a:rPr>
              <a:t>-BBU</a:t>
            </a:r>
            <a:r>
              <a:rPr lang="ko-KR" altLang="en-US" sz="1600" dirty="0">
                <a:ea typeface="휴먼매직체"/>
                <a:hlinkClick r:id="rId3"/>
              </a:rPr>
              <a:t>성장</a:t>
            </a:r>
            <a:endParaRPr lang="ko-KR" altLang="en-US" sz="1600" dirty="0">
              <a:ea typeface="휴먼매직체"/>
            </a:endParaRPr>
          </a:p>
          <a:p>
            <a:r>
              <a:rPr lang="ko-KR" altLang="en-US" dirty="0">
                <a:ea typeface="휴먼매직체"/>
              </a:rPr>
              <a:t>글로벌 </a:t>
            </a:r>
            <a:r>
              <a:rPr lang="en-US" altLang="ko-KR" dirty="0">
                <a:ea typeface="휴먼매직체"/>
              </a:rPr>
              <a:t>ESS </a:t>
            </a:r>
            <a:r>
              <a:rPr lang="ko-KR" altLang="en-US" dirty="0">
                <a:ea typeface="휴먼매직체"/>
              </a:rPr>
              <a:t>시장 점유율</a:t>
            </a:r>
            <a:r>
              <a:rPr lang="ko-KR" altLang="en-US" sz="1600" dirty="0">
                <a:ea typeface="휴먼매직체"/>
              </a:rPr>
              <a:t> </a:t>
            </a:r>
            <a:r>
              <a:rPr lang="ko-KR" altLang="en-US" sz="1600" dirty="0">
                <a:ea typeface="휴먼매직체"/>
                <a:hlinkClick r:id="rId4"/>
              </a:rPr>
              <a:t>글로벌 </a:t>
            </a:r>
            <a:r>
              <a:rPr lang="en-US" altLang="ko-KR" sz="1600" dirty="0">
                <a:ea typeface="휴먼매직체"/>
                <a:hlinkClick r:id="rId4"/>
              </a:rPr>
              <a:t>ESS </a:t>
            </a:r>
            <a:r>
              <a:rPr lang="ko-KR" altLang="en-US" sz="1600" dirty="0">
                <a:ea typeface="휴먼매직체"/>
                <a:hlinkClick r:id="rId4"/>
              </a:rPr>
              <a:t>시장 점유율</a:t>
            </a:r>
            <a:r>
              <a:rPr lang="en-US" altLang="ko-KR" sz="1600" dirty="0">
                <a:ea typeface="휴먼매직체"/>
              </a:rPr>
              <a:t>, </a:t>
            </a:r>
            <a:r>
              <a:rPr lang="ko-KR" altLang="en-US" sz="1600" dirty="0">
                <a:ea typeface="휴먼매직체"/>
                <a:hlinkClick r:id="rId5"/>
              </a:rPr>
              <a:t>글로벌 </a:t>
            </a:r>
            <a:r>
              <a:rPr lang="en-US" altLang="ko-KR" sz="1600" dirty="0">
                <a:ea typeface="휴먼매직체"/>
                <a:hlinkClick r:id="rId5"/>
              </a:rPr>
              <a:t>ESS </a:t>
            </a:r>
            <a:r>
              <a:rPr lang="ko-KR" altLang="en-US" sz="1600" dirty="0">
                <a:ea typeface="휴먼매직체"/>
                <a:hlinkClick r:id="rId5"/>
              </a:rPr>
              <a:t>시장 점유율</a:t>
            </a:r>
            <a:r>
              <a:rPr lang="en-US" altLang="ko-KR" sz="1600" dirty="0">
                <a:ea typeface="휴먼매직체"/>
                <a:hlinkClick r:id="rId5"/>
              </a:rPr>
              <a:t>(2</a:t>
            </a:r>
            <a:r>
              <a:rPr lang="en-US" altLang="ko-KR" sz="1600" dirty="0" smtClean="0">
                <a:ea typeface="휴먼매직체"/>
                <a:hlinkClick r:id="rId5"/>
              </a:rPr>
              <a:t>)</a:t>
            </a:r>
            <a:endParaRPr lang="en-US" altLang="ko-KR" sz="1600" dirty="0" smtClean="0">
              <a:ea typeface="휴먼매직체"/>
            </a:endParaRPr>
          </a:p>
          <a:p>
            <a:r>
              <a:rPr lang="en-US" altLang="ko-KR" dirty="0">
                <a:ea typeface="휴먼매직체"/>
              </a:rPr>
              <a:t>2026</a:t>
            </a:r>
            <a:r>
              <a:rPr lang="ko-KR" altLang="en-US" dirty="0">
                <a:ea typeface="휴먼매직체"/>
              </a:rPr>
              <a:t>년 </a:t>
            </a:r>
            <a:r>
              <a:rPr lang="en-US" altLang="ko-KR" dirty="0">
                <a:ea typeface="휴먼매직체"/>
              </a:rPr>
              <a:t>1</a:t>
            </a:r>
            <a:r>
              <a:rPr lang="ko-KR" altLang="en-US" dirty="0">
                <a:ea typeface="휴먼매직체"/>
              </a:rPr>
              <a:t>분기 글로벌 </a:t>
            </a:r>
            <a:r>
              <a:rPr lang="en-US" altLang="ko-KR" dirty="0">
                <a:ea typeface="휴먼매직체"/>
              </a:rPr>
              <a:t>ESS </a:t>
            </a:r>
            <a:r>
              <a:rPr lang="ko-KR" altLang="en-US" dirty="0">
                <a:ea typeface="휴먼매직체"/>
              </a:rPr>
              <a:t>출하량 </a:t>
            </a:r>
            <a:r>
              <a:rPr lang="en-US" altLang="ko-KR" dirty="0">
                <a:ea typeface="휴먼매직체"/>
              </a:rPr>
              <a:t>78%</a:t>
            </a:r>
            <a:r>
              <a:rPr lang="ko-KR" altLang="en-US" sz="1700" dirty="0" smtClean="0">
                <a:ea typeface="휴먼매직체"/>
              </a:rPr>
              <a:t>증가</a:t>
            </a:r>
            <a:r>
              <a:rPr lang="ko-KR" altLang="en-US" sz="1700" dirty="0" smtClean="0">
                <a:ea typeface="휴먼매직체"/>
                <a:hlinkClick r:id="rId6"/>
              </a:rPr>
              <a:t>관련기사</a:t>
            </a:r>
            <a:r>
              <a:rPr lang="en-US" altLang="ko-KR" sz="1700" dirty="0" smtClean="0">
                <a:ea typeface="휴먼매직체"/>
                <a:hlinkClick r:id="rId6"/>
              </a:rPr>
              <a:t>-2026</a:t>
            </a:r>
            <a:r>
              <a:rPr lang="ko-KR" altLang="en-US" sz="1700" dirty="0" smtClean="0">
                <a:ea typeface="휴먼매직체"/>
                <a:hlinkClick r:id="rId6"/>
              </a:rPr>
              <a:t>년</a:t>
            </a:r>
            <a:r>
              <a:rPr lang="en-US" altLang="ko-KR" sz="1700" dirty="0" smtClean="0">
                <a:ea typeface="휴먼매직체"/>
                <a:hlinkClick r:id="rId6"/>
              </a:rPr>
              <a:t>1</a:t>
            </a:r>
            <a:r>
              <a:rPr lang="ko-KR" altLang="en-US" sz="1700" dirty="0" smtClean="0">
                <a:ea typeface="휴먼매직체"/>
                <a:hlinkClick r:id="rId6"/>
              </a:rPr>
              <a:t>분기 글로벌 </a:t>
            </a:r>
            <a:r>
              <a:rPr lang="en-US" altLang="ko-KR" sz="1700" dirty="0" smtClean="0">
                <a:ea typeface="휴먼매직체"/>
                <a:hlinkClick r:id="rId6"/>
              </a:rPr>
              <a:t>ESS </a:t>
            </a:r>
            <a:r>
              <a:rPr lang="ko-KR" altLang="en-US" sz="1700" dirty="0" smtClean="0">
                <a:ea typeface="휴먼매직체"/>
                <a:hlinkClick r:id="rId6"/>
              </a:rPr>
              <a:t>출하량</a:t>
            </a:r>
            <a:endParaRPr lang="en-US" altLang="ko-KR" sz="1700" dirty="0">
              <a:ea typeface="휴먼매직체"/>
            </a:endParaRPr>
          </a:p>
          <a:p>
            <a:r>
              <a:rPr lang="ko-KR" altLang="en-US" dirty="0">
                <a:ea typeface="휴먼매직체"/>
              </a:rPr>
              <a:t>글로벌 전기차용 배터리 점유율</a:t>
            </a:r>
            <a:r>
              <a:rPr lang="en-US" altLang="ko-KR" dirty="0">
                <a:ea typeface="휴먼매직체"/>
              </a:rPr>
              <a:t>(</a:t>
            </a:r>
            <a:r>
              <a:rPr lang="ko-KR" altLang="en-US" dirty="0">
                <a:ea typeface="휴먼매직체"/>
              </a:rPr>
              <a:t>중국제외</a:t>
            </a:r>
            <a:r>
              <a:rPr lang="en-US" altLang="ko-KR" dirty="0">
                <a:ea typeface="휴먼매직체"/>
              </a:rPr>
              <a:t>) </a:t>
            </a:r>
            <a:r>
              <a:rPr lang="ko-KR" altLang="en-US" sz="1600" dirty="0">
                <a:ea typeface="휴먼매직체"/>
                <a:hlinkClick r:id="rId7"/>
              </a:rPr>
              <a:t>관련기사</a:t>
            </a:r>
            <a:r>
              <a:rPr lang="en-US" altLang="ko-KR" sz="1600" dirty="0">
                <a:ea typeface="휴먼매직체"/>
                <a:hlinkClick r:id="rId7"/>
              </a:rPr>
              <a:t>-</a:t>
            </a:r>
            <a:r>
              <a:rPr lang="ko-KR" altLang="en-US" sz="1600" dirty="0">
                <a:ea typeface="휴먼매직체"/>
                <a:hlinkClick r:id="rId7"/>
              </a:rPr>
              <a:t>전기차배터리점유율</a:t>
            </a:r>
            <a:r>
              <a:rPr lang="en-US" altLang="ko-KR" sz="1600" dirty="0">
                <a:ea typeface="휴먼매직체"/>
              </a:rPr>
              <a:t>,</a:t>
            </a:r>
            <a:r>
              <a:rPr lang="ko-KR" altLang="en-US" sz="1600" dirty="0">
                <a:ea typeface="휴먼매직체"/>
                <a:hlinkClick r:id="rId8"/>
              </a:rPr>
              <a:t>전기차배터리점유율</a:t>
            </a:r>
            <a:r>
              <a:rPr lang="en-US" altLang="ko-KR" sz="1600" dirty="0">
                <a:ea typeface="휴먼매직체"/>
                <a:hlinkClick r:id="rId8"/>
              </a:rPr>
              <a:t>(2)</a:t>
            </a:r>
            <a:endParaRPr lang="en-US" altLang="ko-KR" sz="1600" dirty="0">
              <a:ea typeface="휴먼매직체"/>
            </a:endParaRPr>
          </a:p>
          <a:p>
            <a:r>
              <a:rPr lang="ko-KR" altLang="en-US" smtClean="0">
                <a:ea typeface="휴먼매직체"/>
              </a:rPr>
              <a:t>미국</a:t>
            </a:r>
            <a:r>
              <a:rPr lang="en-US" altLang="ko-KR" dirty="0">
                <a:ea typeface="휴먼매직체"/>
              </a:rPr>
              <a:t>, EU </a:t>
            </a:r>
            <a:r>
              <a:rPr lang="ko-KR" altLang="en-US" dirty="0">
                <a:ea typeface="휴먼매직체"/>
              </a:rPr>
              <a:t>중국 배터리 규제</a:t>
            </a:r>
            <a:r>
              <a:rPr lang="ko-KR" altLang="en-US" sz="1600" dirty="0">
                <a:ea typeface="휴먼매직체"/>
                <a:hlinkClick r:id="rId9"/>
              </a:rPr>
              <a:t>관련기사</a:t>
            </a:r>
            <a:r>
              <a:rPr lang="en-US" altLang="ko-KR" sz="1600" dirty="0">
                <a:ea typeface="휴먼매직체"/>
                <a:hlinkClick r:id="rId9"/>
              </a:rPr>
              <a:t>-</a:t>
            </a:r>
            <a:r>
              <a:rPr lang="ko-KR" altLang="en-US" sz="1600" dirty="0">
                <a:ea typeface="휴먼매직체"/>
                <a:hlinkClick r:id="rId9"/>
              </a:rPr>
              <a:t>중국배터리규제</a:t>
            </a:r>
            <a:r>
              <a:rPr lang="en-US" altLang="ko-KR" sz="1600" dirty="0">
                <a:ea typeface="휴먼매직체"/>
              </a:rPr>
              <a:t>, </a:t>
            </a:r>
            <a:r>
              <a:rPr lang="ko-KR" altLang="en-US" sz="1600" dirty="0">
                <a:ea typeface="휴먼매직체"/>
                <a:hlinkClick r:id="rId10"/>
              </a:rPr>
              <a:t>관련기사</a:t>
            </a:r>
            <a:r>
              <a:rPr lang="en-US" altLang="ko-KR" sz="1600" dirty="0">
                <a:ea typeface="휴먼매직체"/>
                <a:hlinkClick r:id="rId10"/>
              </a:rPr>
              <a:t>-EU</a:t>
            </a:r>
            <a:r>
              <a:rPr lang="ko-KR" altLang="en-US" sz="1600" dirty="0">
                <a:ea typeface="휴먼매직체"/>
                <a:hlinkClick r:id="rId10"/>
              </a:rPr>
              <a:t>산업가속화법</a:t>
            </a:r>
            <a:endParaRPr lang="en-US" altLang="ko-KR" sz="1600" dirty="0">
              <a:ea typeface="휴먼매직체"/>
            </a:endParaRPr>
          </a:p>
          <a:p>
            <a:r>
              <a:rPr lang="ko-KR" altLang="en-US" dirty="0">
                <a:ea typeface="휴먼매직체"/>
              </a:rPr>
              <a:t>삼성</a:t>
            </a:r>
            <a:r>
              <a:rPr lang="en-US" altLang="ko-KR" dirty="0">
                <a:ea typeface="휴먼매직체"/>
              </a:rPr>
              <a:t>SDI </a:t>
            </a:r>
            <a:r>
              <a:rPr lang="ko-KR" altLang="en-US" dirty="0">
                <a:ea typeface="휴먼매직체"/>
              </a:rPr>
              <a:t>폭스바겐 통합형 셀 각형 배터리 공급 계약</a:t>
            </a:r>
            <a:r>
              <a:rPr lang="ko-KR" altLang="en-US" sz="1600" dirty="0">
                <a:ea typeface="휴먼매직체"/>
                <a:hlinkClick r:id="rId11"/>
              </a:rPr>
              <a:t>관련기사</a:t>
            </a:r>
            <a:r>
              <a:rPr lang="en-US" altLang="ko-KR" sz="1600" dirty="0">
                <a:ea typeface="휴먼매직체"/>
                <a:hlinkClick r:id="rId11"/>
              </a:rPr>
              <a:t>-</a:t>
            </a:r>
            <a:r>
              <a:rPr lang="ko-KR" altLang="en-US" sz="1600" dirty="0">
                <a:ea typeface="휴먼매직체"/>
                <a:hlinkClick r:id="rId11"/>
              </a:rPr>
              <a:t>폭스바겐</a:t>
            </a:r>
          </a:p>
          <a:p>
            <a:r>
              <a:rPr lang="ko-KR" altLang="en-US" dirty="0">
                <a:ea typeface="휴먼매직체"/>
              </a:rPr>
              <a:t>삼성</a:t>
            </a:r>
            <a:r>
              <a:rPr lang="en-US" altLang="ko-KR" dirty="0">
                <a:ea typeface="휴먼매직체"/>
              </a:rPr>
              <a:t>SDI, EV </a:t>
            </a:r>
            <a:r>
              <a:rPr lang="ko-KR" altLang="en-US" dirty="0">
                <a:ea typeface="휴먼매직체"/>
              </a:rPr>
              <a:t>판매량 정체 우려</a:t>
            </a:r>
            <a:r>
              <a:rPr lang="en-US" altLang="ko-KR" dirty="0">
                <a:ea typeface="휴먼매직체"/>
              </a:rPr>
              <a:t>·ESS</a:t>
            </a:r>
            <a:r>
              <a:rPr lang="ko-KR" altLang="en-US" dirty="0">
                <a:ea typeface="휴먼매직체"/>
              </a:rPr>
              <a:t>도 경쟁 심화</a:t>
            </a:r>
            <a:r>
              <a:rPr lang="ko-KR" altLang="en-US" sz="1600" dirty="0">
                <a:ea typeface="휴먼매직체"/>
                <a:hlinkClick r:id="rId12"/>
              </a:rPr>
              <a:t>관련기사-EV판매량정체</a:t>
            </a:r>
            <a:endParaRPr lang="ko-KR" altLang="en-US" sz="1600" dirty="0">
              <a:ea typeface="휴먼매직체"/>
            </a:endParaRPr>
          </a:p>
          <a:p>
            <a:r>
              <a:rPr lang="ko-KR" dirty="0">
                <a:ea typeface="휴먼매직체"/>
              </a:rPr>
              <a:t>리튬 가격 상승 </a:t>
            </a:r>
            <a:r>
              <a:rPr lang="ko-KR" sz="1600" dirty="0">
                <a:ea typeface="휴먼매직체"/>
                <a:hlinkClick r:id="rId13"/>
              </a:rPr>
              <a:t>관련기사</a:t>
            </a:r>
            <a:r>
              <a:rPr lang="en-US" altLang="ko-KR" sz="1600" dirty="0">
                <a:ea typeface="휴먼매직체"/>
                <a:hlinkClick r:id="rId13"/>
              </a:rPr>
              <a:t>-</a:t>
            </a:r>
            <a:r>
              <a:rPr lang="ko-KR" altLang="en-US" sz="1600" dirty="0">
                <a:ea typeface="휴먼매직체"/>
                <a:hlinkClick r:id="rId13"/>
              </a:rPr>
              <a:t>리튬가격</a:t>
            </a:r>
            <a:endParaRPr lang="ko-KR" altLang="en-US" sz="1600" dirty="0">
              <a:ea typeface="휴먼매직체"/>
            </a:endParaRPr>
          </a:p>
          <a:p>
            <a:endParaRPr lang="ko-KR" altLang="en-US" sz="1600" dirty="0">
              <a:ea typeface="휴먼매직체"/>
            </a:endParaRPr>
          </a:p>
        </p:txBody>
      </p:sp>
    </p:spTree>
    <p:extLst>
      <p:ext uri="{BB962C8B-B14F-4D97-AF65-F5344CB8AC3E}">
        <p14:creationId xmlns:p14="http://schemas.microsoft.com/office/powerpoint/2010/main" val="118910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467600" cy="778098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2026</a:t>
            </a:r>
            <a:r>
              <a:rPr lang="ko-KR" altLang="en-US" dirty="0">
                <a:solidFill>
                  <a:schemeClr val="tx1"/>
                </a:solidFill>
              </a:rPr>
              <a:t>년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분기 컨퍼런스 콜 </a:t>
            </a:r>
            <a:r>
              <a:rPr lang="en-US" altLang="ko-KR" sz="2600" dirty="0">
                <a:solidFill>
                  <a:schemeClr val="tx1"/>
                </a:solidFill>
              </a:rPr>
              <a:t>(</a:t>
            </a:r>
            <a:r>
              <a:rPr lang="ko-KR" altLang="en-US" sz="2600" dirty="0">
                <a:solidFill>
                  <a:schemeClr val="tx1"/>
                </a:solidFill>
              </a:rPr>
              <a:t>주요 내용</a:t>
            </a:r>
            <a:r>
              <a:rPr lang="en-US" altLang="ko-KR" sz="2600" dirty="0">
                <a:solidFill>
                  <a:schemeClr val="tx1"/>
                </a:solidFill>
              </a:rPr>
              <a:t>)</a:t>
            </a:r>
            <a:endParaRPr lang="ko-KR" altLang="en-US" sz="26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80728"/>
            <a:ext cx="7467600" cy="5493224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분기 적자폭 감소</a:t>
            </a:r>
            <a:r>
              <a:rPr lang="en-US" altLang="ko-KR" dirty="0"/>
              <a:t>, </a:t>
            </a:r>
            <a:r>
              <a:rPr lang="ko-KR" altLang="en-US" dirty="0"/>
              <a:t>하반기 흑자 전환 예상</a:t>
            </a:r>
            <a:endParaRPr lang="en-US" altLang="ko-KR" dirty="0"/>
          </a:p>
          <a:p>
            <a:r>
              <a:rPr lang="ko-KR" altLang="en-US" dirty="0"/>
              <a:t>유럽 전기차 점진적 수요 회복 기대</a:t>
            </a:r>
            <a:r>
              <a:rPr lang="en-US" altLang="ko-KR" dirty="0"/>
              <a:t>, </a:t>
            </a:r>
            <a:r>
              <a:rPr lang="ko-KR" altLang="en-US" dirty="0"/>
              <a:t>독일</a:t>
            </a:r>
            <a:r>
              <a:rPr lang="en-US" altLang="ko-KR" dirty="0"/>
              <a:t> </a:t>
            </a:r>
            <a:r>
              <a:rPr lang="ko-KR" altLang="en-US" dirty="0"/>
              <a:t>및</a:t>
            </a:r>
            <a:r>
              <a:rPr lang="en-US" altLang="ko-KR" dirty="0"/>
              <a:t> </a:t>
            </a:r>
            <a:r>
              <a:rPr lang="ko-KR" altLang="en-US" dirty="0"/>
              <a:t>프랑스 등 주요국 보조금 정책 확대</a:t>
            </a:r>
            <a:r>
              <a:rPr lang="en-US" altLang="ko-KR" dirty="0"/>
              <a:t>, </a:t>
            </a:r>
            <a:r>
              <a:rPr lang="ko-KR" altLang="en-US" dirty="0"/>
              <a:t>내연 기관 차 총 소요비용이 상승</a:t>
            </a:r>
            <a:r>
              <a:rPr lang="en-US" altLang="ko-KR" dirty="0"/>
              <a:t> -&gt; </a:t>
            </a:r>
            <a:r>
              <a:rPr lang="ko-KR" altLang="en-US" dirty="0"/>
              <a:t>전기차 수요회복 기대 </a:t>
            </a:r>
            <a:endParaRPr lang="en-US" altLang="ko-KR" dirty="0"/>
          </a:p>
          <a:p>
            <a:r>
              <a:rPr lang="en-US" altLang="ko-KR" dirty="0"/>
              <a:t>ESS </a:t>
            </a:r>
            <a:r>
              <a:rPr lang="ko-KR" altLang="en-US" dirty="0"/>
              <a:t>시장의 경우</a:t>
            </a:r>
            <a:r>
              <a:rPr lang="en-US" altLang="ko-KR" dirty="0"/>
              <a:t> </a:t>
            </a:r>
            <a:r>
              <a:rPr lang="ko-KR" altLang="en-US" dirty="0"/>
              <a:t>미국 </a:t>
            </a:r>
            <a:r>
              <a:rPr lang="en-US" altLang="ko-KR" dirty="0"/>
              <a:t>AI </a:t>
            </a:r>
            <a:r>
              <a:rPr lang="ko-KR" altLang="en-US" dirty="0"/>
              <a:t>데이터 센터 확대에 따른 전력 수요 증가로 신재생 에너지 연계 </a:t>
            </a:r>
            <a:r>
              <a:rPr lang="en-US" altLang="ko-KR" dirty="0"/>
              <a:t>ESS, UPS </a:t>
            </a:r>
            <a:r>
              <a:rPr lang="ko-KR" altLang="en-US" dirty="0"/>
              <a:t>수요 꾸준히 확대</a:t>
            </a:r>
            <a:r>
              <a:rPr lang="en-US" altLang="ko-KR" dirty="0"/>
              <a:t>, </a:t>
            </a:r>
            <a:r>
              <a:rPr lang="ko-KR" altLang="en-US" dirty="0"/>
              <a:t>국내 또한 신재생 에너지 확대에 따른 전력망 안정화 수요가 꾸준히 확대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소형 배터리 사업은 </a:t>
            </a:r>
            <a:r>
              <a:rPr lang="en-US" altLang="ko-KR" dirty="0"/>
              <a:t>AI </a:t>
            </a:r>
            <a:r>
              <a:rPr lang="ko-KR" altLang="en-US" dirty="0"/>
              <a:t>데이터 센터 건설 증가에 따라 </a:t>
            </a:r>
            <a:r>
              <a:rPr lang="en-US" altLang="ko-KR" dirty="0"/>
              <a:t>BBU</a:t>
            </a:r>
            <a:r>
              <a:rPr lang="ko-KR" altLang="en-US" dirty="0"/>
              <a:t>와 전문가용 전동공구 수요 성장</a:t>
            </a:r>
            <a:r>
              <a:rPr lang="en-US" altLang="ko-KR" dirty="0"/>
              <a:t>, </a:t>
            </a:r>
            <a:r>
              <a:rPr lang="ko-KR" altLang="en-US" dirty="0"/>
              <a:t>마이크로 모빌리티 수요회복세</a:t>
            </a:r>
            <a:endParaRPr lang="en-US" altLang="ko-KR" dirty="0"/>
          </a:p>
          <a:p>
            <a:r>
              <a:rPr lang="ko-KR" altLang="en-US" dirty="0"/>
              <a:t>전자재료 사업</a:t>
            </a:r>
            <a:r>
              <a:rPr lang="en-US" altLang="ko-KR" dirty="0"/>
              <a:t>, </a:t>
            </a:r>
            <a:r>
              <a:rPr lang="ko-KR" altLang="en-US" dirty="0"/>
              <a:t>반도체 소재 경우 전방업황 호조 속에서 </a:t>
            </a:r>
            <a:r>
              <a:rPr lang="en-US" altLang="ko-KR" dirty="0"/>
              <a:t>AI</a:t>
            </a:r>
            <a:r>
              <a:rPr lang="ko-KR" altLang="en-US" dirty="0"/>
              <a:t>향</a:t>
            </a:r>
            <a:r>
              <a:rPr lang="en-US" altLang="ko-KR" dirty="0"/>
              <a:t> </a:t>
            </a:r>
            <a:r>
              <a:rPr lang="ko-KR" altLang="en-US" dirty="0"/>
              <a:t>고부가 반도체 소재 중심 수요 확대</a:t>
            </a:r>
            <a:r>
              <a:rPr lang="en-US" altLang="ko-KR" dirty="0"/>
              <a:t>, </a:t>
            </a:r>
            <a:r>
              <a:rPr lang="ko-KR" altLang="en-US" dirty="0"/>
              <a:t>디스플레이 소재는 폴더블 스마트폰</a:t>
            </a:r>
            <a:r>
              <a:rPr lang="en-US" altLang="ko-KR" dirty="0"/>
              <a:t>, </a:t>
            </a:r>
            <a:r>
              <a:rPr lang="ko-KR" altLang="en-US" dirty="0"/>
              <a:t>게이밍 모니터 수요 지속</a:t>
            </a:r>
            <a:endParaRPr lang="en-US" altLang="ko-KR" dirty="0"/>
          </a:p>
          <a:p>
            <a:r>
              <a:rPr lang="ko-KR" altLang="en-US" dirty="0"/>
              <a:t>삼성 디스플레이 지분매각은 구체적인 사항은 정해지지 않았지만 연내 마무리할 계획임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15373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467600" cy="706090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2026</a:t>
            </a:r>
            <a:r>
              <a:rPr lang="ko-KR" altLang="en-US" dirty="0">
                <a:solidFill>
                  <a:schemeClr val="tx1"/>
                </a:solidFill>
              </a:rPr>
              <a:t>년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분기 컨퍼런스 </a:t>
            </a:r>
            <a:r>
              <a:rPr lang="ko-KR" altLang="en-US" dirty="0">
                <a:solidFill>
                  <a:schemeClr val="tx1"/>
                </a:solidFill>
                <a:latin typeface="+mj-ea"/>
              </a:rPr>
              <a:t>콜 </a:t>
            </a:r>
            <a:r>
              <a:rPr lang="en-US" altLang="ko-KR" sz="2600" dirty="0">
                <a:solidFill>
                  <a:schemeClr val="tx1"/>
                </a:solidFill>
                <a:latin typeface="+mj-ea"/>
              </a:rPr>
              <a:t>(</a:t>
            </a:r>
            <a:r>
              <a:rPr lang="ko-KR" altLang="en-US" sz="2600" dirty="0">
                <a:solidFill>
                  <a:schemeClr val="tx1"/>
                </a:solidFill>
                <a:latin typeface="+mj-ea"/>
              </a:rPr>
              <a:t>세부내용</a:t>
            </a:r>
            <a:r>
              <a:rPr lang="en-US" altLang="ko-KR" sz="2600" dirty="0">
                <a:solidFill>
                  <a:schemeClr val="tx1"/>
                </a:solidFill>
                <a:latin typeface="+mj-ea"/>
              </a:rPr>
              <a:t>)</a:t>
            </a:r>
            <a:endParaRPr lang="ko-KR" altLang="en-US" sz="26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24744"/>
            <a:ext cx="7467600" cy="5349208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ESS </a:t>
            </a:r>
            <a:r>
              <a:rPr lang="ko-KR" altLang="en-US" dirty="0"/>
              <a:t>경우 미국 </a:t>
            </a:r>
            <a:r>
              <a:rPr lang="en-US" altLang="ko-KR" dirty="0"/>
              <a:t>AI </a:t>
            </a:r>
            <a:r>
              <a:rPr lang="ko-KR" altLang="en-US" dirty="0"/>
              <a:t>데이터 센터 수요가 가파르게 상승 미국 전체 </a:t>
            </a:r>
            <a:r>
              <a:rPr lang="en-US" altLang="ko-KR" dirty="0"/>
              <a:t>ESS </a:t>
            </a:r>
            <a:r>
              <a:rPr lang="ko-KR" altLang="en-US" dirty="0"/>
              <a:t>수요는 </a:t>
            </a:r>
            <a:r>
              <a:rPr lang="en-US" altLang="ko-KR" dirty="0"/>
              <a:t>25</a:t>
            </a:r>
            <a:r>
              <a:rPr lang="ko-KR" altLang="en-US" dirty="0"/>
              <a:t>년 </a:t>
            </a:r>
            <a:r>
              <a:rPr lang="en-US" altLang="ko-KR" dirty="0" smtClean="0"/>
              <a:t>90GWh</a:t>
            </a:r>
            <a:r>
              <a:rPr lang="ko-KR" altLang="en-US" dirty="0" smtClean="0"/>
              <a:t>에서 </a:t>
            </a:r>
            <a:r>
              <a:rPr lang="en-US" altLang="ko-KR" dirty="0"/>
              <a:t>30</a:t>
            </a:r>
            <a:r>
              <a:rPr lang="ko-KR" altLang="en-US" dirty="0"/>
              <a:t>년 </a:t>
            </a:r>
            <a:r>
              <a:rPr lang="en-US" altLang="ko-KR" dirty="0" smtClean="0"/>
              <a:t>160GWh</a:t>
            </a:r>
            <a:r>
              <a:rPr lang="ko-KR" altLang="en-US" dirty="0" smtClean="0"/>
              <a:t>로 </a:t>
            </a:r>
            <a:r>
              <a:rPr lang="ko-KR" altLang="en-US" dirty="0"/>
              <a:t>연평균 </a:t>
            </a:r>
            <a:r>
              <a:rPr lang="en-US" altLang="ko-KR" dirty="0"/>
              <a:t>12%</a:t>
            </a:r>
            <a:r>
              <a:rPr lang="ko-KR" altLang="en-US" dirty="0"/>
              <a:t>성장</a:t>
            </a:r>
            <a:r>
              <a:rPr lang="en-US" altLang="ko-KR" dirty="0"/>
              <a:t> </a:t>
            </a:r>
            <a:r>
              <a:rPr lang="ko-KR" altLang="en-US" dirty="0"/>
              <a:t>이중 데이터 센터 활용 </a:t>
            </a:r>
            <a:r>
              <a:rPr lang="en-US" altLang="ko-KR" dirty="0"/>
              <a:t>ESS</a:t>
            </a:r>
            <a:r>
              <a:rPr lang="ko-KR" altLang="en-US" dirty="0"/>
              <a:t>는 </a:t>
            </a:r>
            <a:r>
              <a:rPr lang="en-US" altLang="ko-KR" dirty="0"/>
              <a:t>25</a:t>
            </a:r>
            <a:r>
              <a:rPr lang="ko-KR" altLang="en-US" dirty="0"/>
              <a:t>년 </a:t>
            </a:r>
            <a:r>
              <a:rPr lang="en-US" altLang="ko-KR" dirty="0" smtClean="0"/>
              <a:t>9GWh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40GWh</a:t>
            </a:r>
            <a:r>
              <a:rPr lang="ko-KR" altLang="en-US" dirty="0" smtClean="0"/>
              <a:t>로 </a:t>
            </a:r>
            <a:r>
              <a:rPr lang="ko-KR" altLang="en-US" dirty="0"/>
              <a:t>추산</a:t>
            </a:r>
            <a:r>
              <a:rPr lang="en-US" altLang="ko-KR" dirty="0"/>
              <a:t>, </a:t>
            </a:r>
            <a:r>
              <a:rPr lang="ko-KR" altLang="en-US" dirty="0"/>
              <a:t>연평균 </a:t>
            </a:r>
            <a:r>
              <a:rPr lang="en-US" altLang="ko-KR" dirty="0"/>
              <a:t>30%</a:t>
            </a:r>
            <a:r>
              <a:rPr lang="ko-KR" altLang="en-US" dirty="0"/>
              <a:t>빠른 성장 예상</a:t>
            </a:r>
            <a:endParaRPr lang="en-US" altLang="ko-KR" dirty="0"/>
          </a:p>
          <a:p>
            <a:r>
              <a:rPr lang="ko-KR" altLang="en-US" dirty="0"/>
              <a:t>또한 신재생 연계 </a:t>
            </a:r>
            <a:r>
              <a:rPr lang="en-US" altLang="ko-KR" dirty="0"/>
              <a:t>ESS, </a:t>
            </a:r>
            <a:r>
              <a:rPr lang="ko-KR" altLang="en-US" dirty="0"/>
              <a:t>무정전 </a:t>
            </a:r>
            <a:r>
              <a:rPr lang="en-US" altLang="ko-KR" dirty="0"/>
              <a:t>UPS</a:t>
            </a:r>
            <a:r>
              <a:rPr lang="ko-KR" altLang="en-US" dirty="0"/>
              <a:t>관련 </a:t>
            </a:r>
            <a:r>
              <a:rPr lang="en-US" altLang="ko-KR" dirty="0"/>
              <a:t>ESS </a:t>
            </a:r>
            <a:r>
              <a:rPr lang="ko-KR" altLang="en-US" dirty="0"/>
              <a:t>수요도 증가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최근에는 데이터 센터 내 자체 전력수급을 위한 마이크로 그리드용  </a:t>
            </a:r>
            <a:r>
              <a:rPr lang="en-US" altLang="ko-KR" dirty="0"/>
              <a:t>ESS </a:t>
            </a:r>
            <a:r>
              <a:rPr lang="ko-KR" altLang="en-US" dirty="0"/>
              <a:t>시장이 </a:t>
            </a:r>
            <a:r>
              <a:rPr lang="en-US" altLang="ko-KR" dirty="0"/>
              <a:t>30</a:t>
            </a:r>
            <a:r>
              <a:rPr lang="ko-KR" altLang="en-US" dirty="0"/>
              <a:t>년까지 연평균 </a:t>
            </a:r>
            <a:r>
              <a:rPr lang="en-US" altLang="ko-KR" dirty="0"/>
              <a:t>60%</a:t>
            </a:r>
            <a:r>
              <a:rPr lang="ko-KR" altLang="en-US" dirty="0"/>
              <a:t>성장이 예상되고 이에따라 데이터 센터 업체도 직접 배터리 장비 확보 노력중임</a:t>
            </a:r>
            <a:endParaRPr lang="en-US" altLang="ko-KR" dirty="0"/>
          </a:p>
          <a:p>
            <a:r>
              <a:rPr lang="ko-KR" altLang="en-US" dirty="0"/>
              <a:t>수주 현황은 이미 미국 </a:t>
            </a:r>
            <a:r>
              <a:rPr lang="en-US" altLang="ko-KR" dirty="0"/>
              <a:t>ESS </a:t>
            </a:r>
            <a:r>
              <a:rPr lang="ko-KR" altLang="en-US" dirty="0"/>
              <a:t>생산 </a:t>
            </a:r>
            <a:r>
              <a:rPr lang="en-US" altLang="ko-KR" dirty="0" err="1"/>
              <a:t>Capa</a:t>
            </a:r>
            <a:r>
              <a:rPr lang="ko-KR" altLang="en-US" dirty="0"/>
              <a:t>의 </a:t>
            </a:r>
            <a:r>
              <a:rPr lang="en-US" altLang="ko-KR" dirty="0"/>
              <a:t>2~3</a:t>
            </a:r>
            <a:r>
              <a:rPr lang="ko-KR" altLang="en-US" dirty="0"/>
              <a:t>년 분량을 상당부분 채워나감 </a:t>
            </a:r>
            <a:r>
              <a:rPr lang="en-US" altLang="ko-KR" dirty="0"/>
              <a:t>(</a:t>
            </a:r>
            <a:r>
              <a:rPr lang="ko-KR" altLang="en-US" dirty="0"/>
              <a:t>올해말까지 </a:t>
            </a:r>
            <a:r>
              <a:rPr lang="en-US" altLang="ko-KR" dirty="0" smtClean="0"/>
              <a:t>30GWh </a:t>
            </a:r>
            <a:r>
              <a:rPr lang="en-US" altLang="ko-KR" dirty="0" err="1"/>
              <a:t>Capa</a:t>
            </a:r>
            <a:r>
              <a:rPr lang="ko-KR" altLang="en-US" dirty="0"/>
              <a:t>확보예정</a:t>
            </a:r>
            <a:r>
              <a:rPr lang="en-US" altLang="ko-KR" dirty="0"/>
              <a:t>, LFP)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5145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78098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2026</a:t>
            </a:r>
            <a:r>
              <a:rPr lang="ko-KR" altLang="en-US" dirty="0">
                <a:solidFill>
                  <a:schemeClr val="tx1"/>
                </a:solidFill>
              </a:rPr>
              <a:t>년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분기 컨퍼런스 </a:t>
            </a:r>
            <a:r>
              <a:rPr lang="ko-KR" altLang="en-US" dirty="0">
                <a:solidFill>
                  <a:schemeClr val="tx1"/>
                </a:solidFill>
                <a:latin typeface="+mj-ea"/>
              </a:rPr>
              <a:t>콜 </a:t>
            </a:r>
            <a:r>
              <a:rPr lang="en-US" altLang="ko-KR" sz="2600" dirty="0">
                <a:solidFill>
                  <a:schemeClr val="tx1"/>
                </a:solidFill>
                <a:latin typeface="+mj-ea"/>
              </a:rPr>
              <a:t>(</a:t>
            </a:r>
            <a:r>
              <a:rPr lang="ko-KR" altLang="en-US" sz="2600" dirty="0">
                <a:solidFill>
                  <a:schemeClr val="tx1"/>
                </a:solidFill>
                <a:latin typeface="+mj-ea"/>
              </a:rPr>
              <a:t>세부내용</a:t>
            </a:r>
            <a:r>
              <a:rPr lang="en-US" altLang="ko-KR" sz="2600" dirty="0">
                <a:solidFill>
                  <a:schemeClr val="tx1"/>
                </a:solidFill>
                <a:latin typeface="+mj-ea"/>
              </a:rPr>
              <a:t>)</a:t>
            </a:r>
            <a:endParaRPr lang="ko-KR" altLang="en-US" sz="2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68760"/>
            <a:ext cx="7467600" cy="5205192"/>
          </a:xfrm>
        </p:spPr>
        <p:txBody>
          <a:bodyPr/>
          <a:lstStyle/>
          <a:p>
            <a:r>
              <a:rPr lang="en-US" altLang="ko-KR" dirty="0"/>
              <a:t> BBU</a:t>
            </a:r>
            <a:r>
              <a:rPr lang="en-US" altLang="ko-KR" sz="1800" dirty="0"/>
              <a:t>(</a:t>
            </a:r>
            <a:r>
              <a:rPr lang="en-US" altLang="ko-KR" sz="1800" dirty="0" err="1"/>
              <a:t>Battey</a:t>
            </a:r>
            <a:r>
              <a:rPr lang="en-US" altLang="ko-KR" sz="1800" dirty="0"/>
              <a:t> Back-up Unit) </a:t>
            </a:r>
            <a:r>
              <a:rPr lang="ko-KR" altLang="en-US" dirty="0"/>
              <a:t>관련 </a:t>
            </a:r>
            <a:r>
              <a:rPr lang="en-US" altLang="ko-KR" dirty="0"/>
              <a:t>Cloud </a:t>
            </a:r>
            <a:r>
              <a:rPr lang="ko-KR" altLang="en-US" dirty="0"/>
              <a:t>서비스 업체들의 공격적인 인프라 투자 확대로 전망치가 상향되고 있고 올해 시장규모도 </a:t>
            </a:r>
            <a:r>
              <a:rPr lang="en-US" altLang="ko-KR" dirty="0"/>
              <a:t>8</a:t>
            </a:r>
            <a:r>
              <a:rPr lang="ko-KR" altLang="en-US" dirty="0"/>
              <a:t>억달러로 전년대비 </a:t>
            </a:r>
            <a:r>
              <a:rPr lang="en-US" altLang="ko-KR" dirty="0"/>
              <a:t>70%</a:t>
            </a:r>
            <a:r>
              <a:rPr lang="ko-KR" altLang="en-US" dirty="0"/>
              <a:t>확대 전망</a:t>
            </a:r>
            <a:endParaRPr lang="en-US" altLang="ko-KR" dirty="0"/>
          </a:p>
          <a:p>
            <a:r>
              <a:rPr lang="ko-KR" altLang="en-US" dirty="0"/>
              <a:t>또한 주요 </a:t>
            </a:r>
            <a:r>
              <a:rPr lang="en-US" altLang="ko-KR" dirty="0"/>
              <a:t>Cloud </a:t>
            </a:r>
            <a:r>
              <a:rPr lang="ko-KR" altLang="en-US" dirty="0"/>
              <a:t>서비스 업체 들도 </a:t>
            </a:r>
            <a:r>
              <a:rPr lang="en-US" altLang="ko-KR" dirty="0"/>
              <a:t>BBU</a:t>
            </a:r>
            <a:r>
              <a:rPr lang="ko-KR" altLang="en-US" dirty="0"/>
              <a:t>의 안정적인 수급을 위해 직접 배터리 확보 노력중이라 추가적인 시장 확대 가능성이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당사는 고출력 및 </a:t>
            </a:r>
            <a:r>
              <a:rPr lang="en-US" altLang="ko-KR" dirty="0"/>
              <a:t>Non-China </a:t>
            </a:r>
            <a:r>
              <a:rPr lang="ko-KR" altLang="en-US" dirty="0"/>
              <a:t>공급망 강점을 통해 </a:t>
            </a:r>
            <a:r>
              <a:rPr lang="en-US" altLang="ko-KR" dirty="0"/>
              <a:t>1</a:t>
            </a:r>
            <a:r>
              <a:rPr lang="ko-KR" altLang="en-US" dirty="0"/>
              <a:t>분기에도 </a:t>
            </a:r>
            <a:r>
              <a:rPr lang="en-US" altLang="ko-KR" dirty="0"/>
              <a:t>BBU </a:t>
            </a:r>
            <a:r>
              <a:rPr lang="ko-KR" altLang="en-US" dirty="0"/>
              <a:t>향 판매가 큰폭으로 성장했고 올해 연간 판매량은 시장성장세를 상회할 것으로 전망</a:t>
            </a:r>
            <a:r>
              <a:rPr lang="en-US" altLang="ko-KR" dirty="0"/>
              <a:t>, </a:t>
            </a:r>
            <a:r>
              <a:rPr lang="ko-KR" altLang="en-US" dirty="0"/>
              <a:t>향후에도 </a:t>
            </a:r>
            <a:r>
              <a:rPr lang="en-US" altLang="ko-KR" dirty="0"/>
              <a:t>BBU</a:t>
            </a:r>
            <a:r>
              <a:rPr lang="ko-KR" altLang="en-US" dirty="0"/>
              <a:t>용 원형 배터리를 성장의 핵심축으로 키울 계획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833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78098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2026</a:t>
            </a:r>
            <a:r>
              <a:rPr lang="ko-KR" altLang="en-US" dirty="0">
                <a:solidFill>
                  <a:schemeClr val="tx1"/>
                </a:solidFill>
              </a:rPr>
              <a:t>년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분기 컨퍼런스 </a:t>
            </a:r>
            <a:r>
              <a:rPr lang="ko-KR" altLang="en-US" dirty="0">
                <a:solidFill>
                  <a:schemeClr val="tx1"/>
                </a:solidFill>
                <a:latin typeface="+mj-ea"/>
              </a:rPr>
              <a:t>콜 </a:t>
            </a:r>
            <a:r>
              <a:rPr lang="en-US" altLang="ko-KR" sz="2600" dirty="0">
                <a:solidFill>
                  <a:schemeClr val="tx1"/>
                </a:solidFill>
                <a:latin typeface="+mj-ea"/>
              </a:rPr>
              <a:t>(</a:t>
            </a:r>
            <a:r>
              <a:rPr lang="ko-KR" altLang="en-US" sz="2600" dirty="0">
                <a:solidFill>
                  <a:schemeClr val="tx1"/>
                </a:solidFill>
                <a:latin typeface="+mj-ea"/>
              </a:rPr>
              <a:t>세부내용</a:t>
            </a:r>
            <a:r>
              <a:rPr lang="en-US" altLang="ko-KR" sz="2600" dirty="0">
                <a:solidFill>
                  <a:schemeClr val="tx1"/>
                </a:solidFill>
                <a:latin typeface="+mj-ea"/>
              </a:rPr>
              <a:t>)</a:t>
            </a:r>
            <a:endParaRPr lang="ko-KR" altLang="en-US" sz="2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316052"/>
            <a:ext cx="7467600" cy="5157900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dirty="0"/>
              <a:t>미국 </a:t>
            </a:r>
            <a:r>
              <a:rPr lang="en-US" altLang="ko-KR" dirty="0"/>
              <a:t>OBBBA</a:t>
            </a:r>
            <a:r>
              <a:rPr lang="en-US" altLang="ko-KR" sz="1600" dirty="0"/>
              <a:t>(One Big Beautiful Bill Act) </a:t>
            </a:r>
            <a:r>
              <a:rPr lang="ko-KR" altLang="en-US" dirty="0"/>
              <a:t>관련 </a:t>
            </a:r>
            <a:r>
              <a:rPr lang="en-US" altLang="ko-KR" dirty="0"/>
              <a:t>PFE</a:t>
            </a:r>
            <a:r>
              <a:rPr lang="en-US" altLang="ko-KR" sz="1600" dirty="0"/>
              <a:t>(Prohibited Foreign Entity)</a:t>
            </a:r>
            <a:r>
              <a:rPr lang="en-US" altLang="ko-KR" dirty="0"/>
              <a:t> </a:t>
            </a:r>
            <a:r>
              <a:rPr lang="ko-KR" altLang="en-US" dirty="0"/>
              <a:t>원소제 부품 허용률 올해 </a:t>
            </a:r>
            <a:r>
              <a:rPr lang="en-US" altLang="ko-KR" dirty="0"/>
              <a:t>40%</a:t>
            </a:r>
            <a:r>
              <a:rPr lang="ko-KR" altLang="en-US" dirty="0"/>
              <a:t>에서 </a:t>
            </a:r>
            <a:r>
              <a:rPr lang="en-US" altLang="ko-KR" dirty="0"/>
              <a:t>30</a:t>
            </a:r>
            <a:r>
              <a:rPr lang="ko-KR" altLang="en-US" dirty="0"/>
              <a:t>년까지 </a:t>
            </a:r>
            <a:r>
              <a:rPr lang="en-US" altLang="ko-KR" dirty="0"/>
              <a:t>15%</a:t>
            </a:r>
            <a:r>
              <a:rPr lang="ko-KR" altLang="en-US" dirty="0"/>
              <a:t>까지 단계적으로 낮아짐</a:t>
            </a:r>
            <a:endParaRPr lang="en-US" altLang="ko-KR" dirty="0"/>
          </a:p>
          <a:p>
            <a:r>
              <a:rPr lang="en-US" altLang="ko-KR" dirty="0"/>
              <a:t>NON PFE </a:t>
            </a:r>
            <a:r>
              <a:rPr lang="ko-KR" altLang="en-US" dirty="0"/>
              <a:t>요건충족을 위해선 </a:t>
            </a:r>
            <a:r>
              <a:rPr lang="en-US" altLang="ko-KR" dirty="0"/>
              <a:t>LFP</a:t>
            </a:r>
            <a:r>
              <a:rPr lang="ko-KR" altLang="en-US" dirty="0"/>
              <a:t>의 양극 활물질이 관건인데 이를 중국제에서 국산화로 전환 계획</a:t>
            </a:r>
            <a:r>
              <a:rPr lang="en-US" altLang="ko-KR" dirty="0"/>
              <a:t>, </a:t>
            </a:r>
            <a:r>
              <a:rPr lang="ko-KR" altLang="en-US" dirty="0"/>
              <a:t>이를 위해 국내 주요공급업체의 물량을 선점하고 공급망 다변화를 통해 대응하고 있는 중</a:t>
            </a:r>
            <a:r>
              <a:rPr lang="en-US" altLang="ko-KR" dirty="0"/>
              <a:t>(</a:t>
            </a:r>
            <a:r>
              <a:rPr lang="ko-KR" altLang="en-US" dirty="0"/>
              <a:t>엘엔에프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양극 활물질 이외의 다른 소재 및 부품은 현재 기준 상 </a:t>
            </a:r>
            <a:r>
              <a:rPr lang="en-US" altLang="ko-KR" dirty="0"/>
              <a:t>NON PFE </a:t>
            </a:r>
            <a:r>
              <a:rPr lang="ko-KR" altLang="en-US" dirty="0"/>
              <a:t>기준을 맞추는 데 무리가 없음</a:t>
            </a:r>
            <a:endParaRPr lang="en-US" altLang="ko-KR" dirty="0"/>
          </a:p>
          <a:p>
            <a:r>
              <a:rPr lang="ko-KR" altLang="en-US" dirty="0" smtClean="0"/>
              <a:t>미국 인플레이션 감축법</a:t>
            </a:r>
            <a:r>
              <a:rPr lang="en-US" altLang="ko-KR" dirty="0" smtClean="0"/>
              <a:t>(IRA)</a:t>
            </a:r>
            <a:r>
              <a:rPr lang="ko-KR" altLang="en-US" dirty="0" smtClean="0"/>
              <a:t>의 첨단제조생산세액공제</a:t>
            </a:r>
            <a:r>
              <a:rPr lang="en-US" altLang="ko-KR" dirty="0"/>
              <a:t>(AMPC_</a:t>
            </a:r>
            <a:r>
              <a:rPr lang="ko-KR" altLang="en-US" dirty="0"/>
              <a:t>미국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sz="1800" dirty="0"/>
              <a:t>   </a:t>
            </a:r>
            <a:r>
              <a:rPr lang="en-US" altLang="ko-KR" sz="1800" dirty="0"/>
              <a:t>- 2032</a:t>
            </a:r>
            <a:r>
              <a:rPr lang="ko-KR" altLang="en-US" sz="1800" dirty="0"/>
              <a:t>년까지 유지 및 혜택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   - </a:t>
            </a:r>
            <a:r>
              <a:rPr lang="ko-KR" altLang="en-US" sz="1800" dirty="0"/>
              <a:t>배터리 기업의 경우 셀 </a:t>
            </a:r>
            <a:r>
              <a:rPr lang="en-US" altLang="ko-KR" sz="1800" dirty="0"/>
              <a:t>1</a:t>
            </a:r>
            <a:r>
              <a:rPr lang="ko-KR" altLang="en-US" sz="1800" dirty="0"/>
              <a:t>킬로와트시</a:t>
            </a:r>
            <a:r>
              <a:rPr lang="en-US" altLang="ko-KR" sz="1800" dirty="0"/>
              <a:t>(kWh)</a:t>
            </a:r>
            <a:r>
              <a:rPr lang="ko-KR" altLang="en-US" sz="1800" dirty="0"/>
              <a:t>당 최대 </a:t>
            </a:r>
            <a:r>
              <a:rPr lang="en-US" altLang="ko-KR" sz="1800" dirty="0"/>
              <a:t>45</a:t>
            </a:r>
            <a:r>
              <a:rPr lang="ko-KR" altLang="en-US" sz="1800" dirty="0"/>
              <a:t>달러 세액공제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     (</a:t>
            </a:r>
            <a:r>
              <a:rPr lang="ko-KR" altLang="en-US" sz="1800" dirty="0"/>
              <a:t>미국 내 배터리 부품 생산 및 판매 시</a:t>
            </a:r>
            <a:r>
              <a:rPr lang="en-US" altLang="ko-KR" sz="1800" dirty="0"/>
              <a:t>, </a:t>
            </a:r>
            <a:r>
              <a:rPr lang="ko-KR" altLang="en-US" sz="1800" dirty="0"/>
              <a:t>배터리 셀에 </a:t>
            </a:r>
            <a:r>
              <a:rPr lang="en-US" altLang="ko-KR" sz="1800" dirty="0"/>
              <a:t>$35/kWh, </a:t>
            </a:r>
            <a:r>
              <a:rPr lang="ko-KR" altLang="en-US" sz="1800" dirty="0"/>
              <a:t>배터리 모듈 </a:t>
            </a:r>
            <a:r>
              <a:rPr lang="en-US" altLang="ko-KR" sz="1800" dirty="0"/>
              <a:t>$10/kWh(</a:t>
            </a:r>
            <a:r>
              <a:rPr lang="ko-KR" altLang="en-US" sz="1800" dirty="0"/>
              <a:t>셀사용</a:t>
            </a:r>
            <a:r>
              <a:rPr lang="en-US" altLang="ko-KR" sz="1800" dirty="0"/>
              <a:t>) </a:t>
            </a:r>
            <a:r>
              <a:rPr lang="ko-KR" altLang="en-US" sz="1800" dirty="0"/>
              <a:t>또는 </a:t>
            </a:r>
            <a:r>
              <a:rPr lang="en-US" altLang="ko-KR" sz="1800" dirty="0"/>
              <a:t>$45/kWh(</a:t>
            </a:r>
            <a:r>
              <a:rPr lang="ko-KR" altLang="en-US" sz="1800" dirty="0"/>
              <a:t>셀 미사용</a:t>
            </a:r>
            <a:r>
              <a:rPr lang="en-US" altLang="ko-KR" sz="1800" dirty="0"/>
              <a:t>) </a:t>
            </a:r>
            <a:r>
              <a:rPr lang="ko-KR" altLang="en-US" sz="1800" dirty="0"/>
              <a:t>세액공제</a:t>
            </a:r>
            <a:r>
              <a:rPr lang="en-US" altLang="ko-KR" sz="1800" dirty="0"/>
              <a:t>)</a:t>
            </a:r>
            <a:r>
              <a:rPr lang="ko-KR" altLang="en-US" sz="1800" dirty="0"/>
              <a:t/>
            </a:r>
            <a:br>
              <a:rPr lang="ko-KR" altLang="en-US" sz="1800" dirty="0"/>
            </a:br>
            <a:r>
              <a:rPr lang="ko-KR" altLang="en-US" sz="1800" dirty="0"/>
              <a:t>   </a:t>
            </a:r>
            <a:r>
              <a:rPr lang="en-US" altLang="ko-KR" sz="1800" dirty="0"/>
              <a:t>- </a:t>
            </a:r>
            <a:r>
              <a:rPr lang="ko-KR" altLang="en-US" sz="1700" dirty="0"/>
              <a:t>배터리 양극재나 음극재를 미국에서 가공할 경우 생산 비용 중 </a:t>
            </a:r>
            <a:r>
              <a:rPr lang="en-US" altLang="ko-KR" sz="1700" dirty="0"/>
              <a:t>10%</a:t>
            </a:r>
            <a:r>
              <a:rPr lang="ko-KR" altLang="en-US" sz="1700" dirty="0"/>
              <a:t>를 보전</a:t>
            </a:r>
            <a:br>
              <a:rPr lang="ko-KR" altLang="en-US" sz="1700" dirty="0"/>
            </a:br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1906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2026</a:t>
            </a:r>
            <a:r>
              <a:rPr lang="ko-KR" altLang="en-US" dirty="0">
                <a:solidFill>
                  <a:schemeClr val="tx1"/>
                </a:solidFill>
              </a:rPr>
              <a:t>년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분기 컨퍼런스 </a:t>
            </a:r>
            <a:r>
              <a:rPr lang="ko-KR" altLang="en-US" dirty="0">
                <a:solidFill>
                  <a:schemeClr val="tx1"/>
                </a:solidFill>
                <a:latin typeface="+mj-ea"/>
              </a:rPr>
              <a:t>콜 </a:t>
            </a:r>
            <a:r>
              <a:rPr lang="en-US" altLang="ko-KR" sz="2600" dirty="0">
                <a:solidFill>
                  <a:schemeClr val="tx1"/>
                </a:solidFill>
                <a:latin typeface="+mj-ea"/>
              </a:rPr>
              <a:t>(</a:t>
            </a:r>
            <a:r>
              <a:rPr lang="ko-KR" altLang="en-US" sz="2600" dirty="0">
                <a:solidFill>
                  <a:schemeClr val="tx1"/>
                </a:solidFill>
                <a:latin typeface="+mj-ea"/>
              </a:rPr>
              <a:t>세부내용</a:t>
            </a:r>
            <a:r>
              <a:rPr lang="en-US" altLang="ko-KR" sz="2600" dirty="0">
                <a:solidFill>
                  <a:schemeClr val="tx1"/>
                </a:solidFill>
                <a:latin typeface="+mj-ea"/>
              </a:rPr>
              <a:t>)</a:t>
            </a:r>
            <a:endParaRPr lang="ko-KR" altLang="en-US" sz="2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7467600" cy="5277200"/>
          </a:xfrm>
        </p:spPr>
        <p:txBody>
          <a:bodyPr/>
          <a:lstStyle/>
          <a:p>
            <a:r>
              <a:rPr lang="ko-KR" altLang="en-US" dirty="0"/>
              <a:t>유럽 주요 국가내 전기차 보조금 재 도입 및 확대 또한 최근 고유가로 인한 전기차 관심 증가세</a:t>
            </a:r>
            <a:r>
              <a:rPr lang="en-US" altLang="ko-KR" dirty="0"/>
              <a:t>, </a:t>
            </a:r>
            <a:r>
              <a:rPr lang="ko-KR" altLang="en-US" dirty="0"/>
              <a:t>전기차 배터리 수요도 전년대비 </a:t>
            </a:r>
            <a:r>
              <a:rPr lang="en-US" altLang="ko-KR" dirty="0"/>
              <a:t>10%</a:t>
            </a:r>
            <a:r>
              <a:rPr lang="ko-KR" altLang="en-US" dirty="0"/>
              <a:t>이상 성장 예상</a:t>
            </a:r>
            <a:endParaRPr lang="en-US" altLang="ko-KR" dirty="0"/>
          </a:p>
          <a:p>
            <a:r>
              <a:rPr lang="ko-KR" altLang="en-US" dirty="0"/>
              <a:t>유럽 수요 증가에 따라 당사도 </a:t>
            </a:r>
            <a:r>
              <a:rPr lang="en-US" altLang="ko-KR" dirty="0"/>
              <a:t>2</a:t>
            </a:r>
            <a:r>
              <a:rPr lang="ko-KR" altLang="en-US" dirty="0"/>
              <a:t>분기부터 유럽 볼륨모델향 신규프로젝트 양산을 실시할 예정이고 해당 차량이 출시되어 판매가 본격화 되면 헝가리 공장 가동률과 사업실적 개선에도 의미있게 기여할 예정</a:t>
            </a:r>
            <a:r>
              <a:rPr lang="en-US" altLang="ko-KR" dirty="0"/>
              <a:t>, </a:t>
            </a:r>
            <a:r>
              <a:rPr lang="ko-KR" altLang="en-US" dirty="0"/>
              <a:t>또한 일부 라인 </a:t>
            </a:r>
            <a:r>
              <a:rPr lang="en-US" altLang="ko-KR" dirty="0"/>
              <a:t>LFP </a:t>
            </a:r>
            <a:r>
              <a:rPr lang="ko-KR" altLang="en-US" dirty="0"/>
              <a:t>전환</a:t>
            </a:r>
            <a:r>
              <a:rPr lang="en-US" altLang="ko-KR" dirty="0"/>
              <a:t>, </a:t>
            </a:r>
            <a:r>
              <a:rPr lang="ko-KR" altLang="en-US" dirty="0"/>
              <a:t>최신 공법 개조에따른 </a:t>
            </a:r>
            <a:r>
              <a:rPr lang="en-US" altLang="ko-KR" dirty="0"/>
              <a:t>CAPA </a:t>
            </a:r>
            <a:r>
              <a:rPr lang="ko-KR" altLang="en-US" dirty="0"/>
              <a:t>효율화가 되면 하반기에 헝가리 공장 가동률은 </a:t>
            </a:r>
            <a:r>
              <a:rPr lang="en-US" altLang="ko-KR" dirty="0"/>
              <a:t>70%</a:t>
            </a:r>
            <a:r>
              <a:rPr lang="ko-KR" altLang="en-US" dirty="0"/>
              <a:t>까지 개선</a:t>
            </a:r>
            <a:r>
              <a:rPr lang="en-US" altLang="ko-KR" dirty="0"/>
              <a:t> </a:t>
            </a:r>
            <a:r>
              <a:rPr lang="ko-KR" altLang="en-US" dirty="0" smtClean="0"/>
              <a:t>예상됨</a:t>
            </a:r>
            <a:endParaRPr lang="en-US" altLang="ko-KR" sz="1600" dirty="0" smtClean="0"/>
          </a:p>
          <a:p>
            <a:r>
              <a:rPr lang="ko-KR" altLang="en-US" dirty="0" smtClean="0"/>
              <a:t>하반기 흑자 전환이 목표지만 고객 수요 변동가능성이 있어 추후 계속 업데이트 예정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0409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78098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2026</a:t>
            </a:r>
            <a:r>
              <a:rPr lang="ko-KR" altLang="en-US" dirty="0">
                <a:solidFill>
                  <a:schemeClr val="tx1"/>
                </a:solidFill>
              </a:rPr>
              <a:t>년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분기 컨퍼런스 </a:t>
            </a:r>
            <a:r>
              <a:rPr lang="ko-KR" altLang="en-US" dirty="0">
                <a:solidFill>
                  <a:schemeClr val="tx1"/>
                </a:solidFill>
                <a:latin typeface="+mj-ea"/>
              </a:rPr>
              <a:t>콜 </a:t>
            </a:r>
            <a:r>
              <a:rPr lang="en-US" altLang="ko-KR" sz="2600" dirty="0">
                <a:solidFill>
                  <a:schemeClr val="tx1"/>
                </a:solidFill>
                <a:latin typeface="+mj-ea"/>
              </a:rPr>
              <a:t>(</a:t>
            </a:r>
            <a:r>
              <a:rPr lang="ko-KR" altLang="en-US" sz="2600" dirty="0">
                <a:solidFill>
                  <a:schemeClr val="tx1"/>
                </a:solidFill>
                <a:latin typeface="+mj-ea"/>
              </a:rPr>
              <a:t>세부내용</a:t>
            </a:r>
            <a:r>
              <a:rPr lang="en-US" altLang="ko-KR" sz="2600" dirty="0">
                <a:solidFill>
                  <a:schemeClr val="tx1"/>
                </a:solidFill>
                <a:latin typeface="+mj-ea"/>
              </a:rPr>
              <a:t>)</a:t>
            </a:r>
            <a:endParaRPr lang="ko-KR" altLang="en-US" sz="2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7467600" cy="5277200"/>
          </a:xfrm>
        </p:spPr>
        <p:txBody>
          <a:bodyPr/>
          <a:lstStyle/>
          <a:p>
            <a:r>
              <a:rPr lang="ko-KR" altLang="en-US" dirty="0"/>
              <a:t>전동공구형 배터리는 </a:t>
            </a:r>
            <a:r>
              <a:rPr lang="en-US" altLang="ko-KR" dirty="0"/>
              <a:t>AI </a:t>
            </a:r>
            <a:r>
              <a:rPr lang="ko-KR" altLang="en-US" dirty="0"/>
              <a:t>데이터센터 건설로 인한 수요 확대로 수요가 증가하고 있고 당사는 전년대비 </a:t>
            </a:r>
            <a:r>
              <a:rPr lang="en-US" altLang="ko-KR" dirty="0"/>
              <a:t>30</a:t>
            </a:r>
            <a:r>
              <a:rPr lang="ko-KR" altLang="en-US" dirty="0"/>
              <a:t>프로 이상 판매확대를 목표로 하고 있음</a:t>
            </a:r>
            <a:r>
              <a:rPr lang="en-US" altLang="ko-KR" dirty="0"/>
              <a:t>. </a:t>
            </a:r>
            <a:r>
              <a:rPr lang="ko-KR" altLang="en-US" dirty="0"/>
              <a:t>그 중에서도 전문가용 고출력 제품 중심의 수요가 강해 탭리스 배터리 판매비중은 지난해 </a:t>
            </a:r>
            <a:r>
              <a:rPr lang="en-US" altLang="ko-KR" dirty="0"/>
              <a:t>3~4%</a:t>
            </a:r>
            <a:r>
              <a:rPr lang="ko-KR" altLang="en-US" dirty="0"/>
              <a:t>수준에서 올해 </a:t>
            </a:r>
            <a:r>
              <a:rPr lang="en-US" altLang="ko-KR" dirty="0"/>
              <a:t>20%</a:t>
            </a:r>
            <a:r>
              <a:rPr lang="ko-KR" altLang="en-US" dirty="0"/>
              <a:t>이상으로 빠르게 확대될 전망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탭리스 배터리는</a:t>
            </a:r>
            <a:r>
              <a:rPr lang="en-US" altLang="ko-KR" dirty="0"/>
              <a:t>(</a:t>
            </a:r>
            <a:r>
              <a:rPr lang="ko-KR" altLang="en-US" dirty="0"/>
              <a:t>원형배터리</a:t>
            </a:r>
            <a:r>
              <a:rPr lang="en-US" altLang="ko-KR" dirty="0"/>
              <a:t>)</a:t>
            </a:r>
            <a:r>
              <a:rPr lang="ko-KR" altLang="en-US" dirty="0"/>
              <a:t> 탭구조 개선으로 에너지 밀도 및 출력</a:t>
            </a:r>
            <a:r>
              <a:rPr lang="en-US" altLang="ko-KR" dirty="0"/>
              <a:t>, </a:t>
            </a:r>
            <a:r>
              <a:rPr lang="ko-KR" altLang="en-US" dirty="0"/>
              <a:t>충전성능이 향상된 고성능 제품임</a:t>
            </a:r>
            <a:r>
              <a:rPr lang="en-US" altLang="ko-KR" dirty="0"/>
              <a:t>, </a:t>
            </a:r>
            <a:r>
              <a:rPr lang="ko-KR" altLang="en-US" dirty="0"/>
              <a:t>가격대가 높은 전문가용 전동공구형 배터리에 탑재되는 고부가가치 제품으로</a:t>
            </a:r>
            <a:r>
              <a:rPr lang="en-US" altLang="ko-KR" dirty="0"/>
              <a:t> </a:t>
            </a:r>
            <a:r>
              <a:rPr lang="ko-KR" altLang="en-US" dirty="0"/>
              <a:t>실적개선에 도움이 될것으로 전망</a:t>
            </a:r>
            <a:endParaRPr lang="en-US" altLang="ko-KR" dirty="0"/>
          </a:p>
          <a:p>
            <a:r>
              <a:rPr lang="ko-KR" altLang="en-US" dirty="0"/>
              <a:t>삼성 디스플레이 지분매각은 구체적인 사항은 정해지지 않았지만 연내 마무리할 계획임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3978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06090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투자 아이디어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31491"/>
            <a:ext cx="8020623" cy="5242461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rPr lang="en-US" altLang="ko-KR" dirty="0" err="1">
                <a:ea typeface="휴먼매직체"/>
              </a:rPr>
              <a:t>전기차</a:t>
            </a:r>
            <a:r>
              <a:rPr lang="en-US" altLang="ko-KR" dirty="0">
                <a:ea typeface="휴먼매직체"/>
              </a:rPr>
              <a:t> </a:t>
            </a:r>
            <a:r>
              <a:rPr lang="ko-KR" altLang="en-US" dirty="0" err="1">
                <a:ea typeface="휴먼매직체"/>
              </a:rPr>
              <a:t>배</a:t>
            </a:r>
            <a:r>
              <a:rPr lang="en-US" altLang="ko-KR" dirty="0" err="1" smtClean="0">
                <a:ea typeface="휴먼매직체"/>
              </a:rPr>
              <a:t>터리</a:t>
            </a:r>
            <a:r>
              <a:rPr lang="en-US" altLang="ko-KR" dirty="0" smtClean="0">
                <a:ea typeface="휴먼매직체"/>
              </a:rPr>
              <a:t> </a:t>
            </a:r>
            <a:r>
              <a:rPr lang="ko-KR" altLang="en-US" dirty="0" smtClean="0">
                <a:ea typeface="휴먼매직체"/>
              </a:rPr>
              <a:t>매출 확대</a:t>
            </a:r>
            <a:endParaRPr lang="en-US" altLang="ko-KR" dirty="0">
              <a:ea typeface="휴먼매직체"/>
            </a:endParaRPr>
          </a:p>
          <a:p>
            <a:r>
              <a:rPr lang="en-US" altLang="ko-KR" dirty="0" smtClean="0">
                <a:ea typeface="휴먼매직체"/>
              </a:rPr>
              <a:t>ESS</a:t>
            </a:r>
            <a:endParaRPr lang="en-US" dirty="0">
              <a:ea typeface="휴먼매직체"/>
            </a:endParaRPr>
          </a:p>
          <a:p>
            <a:pPr marL="0" indent="0">
              <a:buNone/>
            </a:pPr>
            <a:r>
              <a:rPr lang="en-US" altLang="ko-KR" dirty="0"/>
              <a:t>   1)AI </a:t>
            </a:r>
            <a:r>
              <a:rPr lang="ko-KR" altLang="en-US" dirty="0"/>
              <a:t>데이터 센터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</a:t>
            </a:r>
            <a:r>
              <a:rPr lang="en-US" altLang="ko-KR" dirty="0"/>
              <a:t>2)</a:t>
            </a:r>
            <a:r>
              <a:rPr lang="ko-KR" altLang="en-US" dirty="0"/>
              <a:t>정책 수혜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ea typeface="휴먼매직체"/>
              </a:rPr>
              <a:t>      - </a:t>
            </a:r>
            <a:r>
              <a:rPr lang="ko-KR" altLang="en-US" dirty="0">
                <a:ea typeface="휴먼매직체"/>
              </a:rPr>
              <a:t>국내 신재생 에너지 장려</a:t>
            </a:r>
            <a:r>
              <a:rPr lang="en-US" altLang="ko-KR" dirty="0">
                <a:ea typeface="휴먼매직체"/>
              </a:rPr>
              <a:t>,</a:t>
            </a:r>
            <a:r>
              <a:rPr lang="ko-KR" altLang="en-US" dirty="0">
                <a:ea typeface="휴먼매직체"/>
              </a:rPr>
              <a:t> </a:t>
            </a:r>
            <a:r>
              <a:rPr lang="en-US" altLang="ko-KR" dirty="0">
                <a:ea typeface="휴먼매직체"/>
              </a:rPr>
              <a:t>ESS </a:t>
            </a:r>
            <a:r>
              <a:rPr lang="ko-KR" altLang="en-US" dirty="0">
                <a:ea typeface="휴먼매직체"/>
              </a:rPr>
              <a:t>수주 확대 기회</a:t>
            </a:r>
            <a:endParaRPr lang="en-US" altLang="ko-KR" dirty="0">
              <a:ea typeface="휴먼매직체"/>
            </a:endParaRPr>
          </a:p>
          <a:p>
            <a:r>
              <a:rPr lang="ko-KR" altLang="en-US" dirty="0">
                <a:ea typeface="휴먼매직체"/>
              </a:rPr>
              <a:t>중국 배터리 규제</a:t>
            </a:r>
            <a:endParaRPr lang="en-US" altLang="ko-KR" dirty="0">
              <a:ea typeface="휴먼매직체" panose="02030504000101010101" pitchFamily="18" charset="-127"/>
            </a:endParaRPr>
          </a:p>
          <a:p>
            <a:r>
              <a:rPr lang="en-US" altLang="ko-KR" dirty="0"/>
              <a:t>BBU(Battery Back-up </a:t>
            </a:r>
            <a:r>
              <a:rPr lang="en-US" altLang="ko-KR" dirty="0" smtClean="0"/>
              <a:t>Unit)</a:t>
            </a:r>
            <a:endParaRPr lang="en-US" altLang="ko-KR" dirty="0" smtClean="0">
              <a:ea typeface="휴먼매직체"/>
            </a:endParaRPr>
          </a:p>
          <a:p>
            <a:r>
              <a:rPr lang="ko-KR" altLang="en-US" dirty="0" smtClean="0">
                <a:ea typeface="휴먼매직체"/>
              </a:rPr>
              <a:t>휴머노이드로봇</a:t>
            </a:r>
            <a:r>
              <a:rPr lang="en-US" altLang="ko-KR" dirty="0">
                <a:ea typeface="휴먼매직체"/>
              </a:rPr>
              <a:t>(</a:t>
            </a:r>
            <a:r>
              <a:rPr lang="ko-KR" altLang="en-US" dirty="0">
                <a:ea typeface="휴먼매직체"/>
              </a:rPr>
              <a:t>피지컬 </a:t>
            </a:r>
            <a:r>
              <a:rPr lang="en-US" altLang="ko-KR" dirty="0" smtClean="0">
                <a:ea typeface="휴먼매직체"/>
              </a:rPr>
              <a:t>AI)</a:t>
            </a:r>
            <a:endParaRPr lang="en-US" altLang="ko-KR" dirty="0">
              <a:ea typeface="휴먼매직체"/>
            </a:endParaRPr>
          </a:p>
          <a:p>
            <a:r>
              <a:rPr lang="ko-KR" altLang="en-US" dirty="0" smtClean="0">
                <a:ea typeface="휴먼매직체"/>
              </a:rPr>
              <a:t>전고체 배터리 개발</a:t>
            </a:r>
            <a:endParaRPr lang="en-US" altLang="ko-KR" dirty="0"/>
          </a:p>
          <a:p>
            <a:r>
              <a:rPr lang="ko-KR" altLang="en-US" dirty="0">
                <a:ea typeface="휴먼매직체"/>
              </a:rPr>
              <a:t>삼성디스플레이 지분매각</a:t>
            </a:r>
            <a:endParaRPr lang="en-US" altLang="ko-K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262105"/>
            <a:ext cx="3188031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9317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424936" cy="504056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solidFill>
                  <a:schemeClr val="tx1"/>
                </a:solidFill>
              </a:rPr>
              <a:t>전기차용 배터리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en-US" altLang="ko-KR" sz="3600" dirty="0">
                <a:solidFill>
                  <a:schemeClr val="tx1"/>
                </a:solidFill>
              </a:rPr>
              <a:t>global </a:t>
            </a:r>
            <a:r>
              <a:rPr lang="ko-KR" altLang="en-US" dirty="0">
                <a:solidFill>
                  <a:schemeClr val="tx1"/>
                </a:solidFill>
              </a:rPr>
              <a:t>점유율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중국제외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972" y="548680"/>
            <a:ext cx="4781369" cy="2997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148064" y="682180"/>
            <a:ext cx="3456384" cy="48013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dirty="0"/>
              <a:t>1. 2026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월 판매된 글로벌</a:t>
            </a:r>
            <a:r>
              <a:rPr lang="en-US" altLang="ko-KR" dirty="0"/>
              <a:t>(</a:t>
            </a:r>
            <a:r>
              <a:rPr lang="ko-KR" altLang="en-US" dirty="0"/>
              <a:t>중국 제외</a:t>
            </a:r>
            <a:r>
              <a:rPr lang="en-US" altLang="ko-KR" dirty="0"/>
              <a:t>) </a:t>
            </a:r>
            <a:r>
              <a:rPr lang="ko-KR" altLang="en-US" dirty="0"/>
              <a:t>전기차</a:t>
            </a:r>
            <a:r>
              <a:rPr lang="en-US" altLang="ko-KR" dirty="0"/>
              <a:t>(EV, PHEV, HEV) </a:t>
            </a:r>
            <a:r>
              <a:rPr lang="ko-KR" altLang="en-US" dirty="0"/>
              <a:t>탑재 배터리 총 사용량은 약 </a:t>
            </a:r>
            <a:r>
              <a:rPr lang="en-US" altLang="ko-KR" dirty="0"/>
              <a:t>32.7GWh</a:t>
            </a:r>
            <a:r>
              <a:rPr lang="ko-KR" altLang="en-US" dirty="0"/>
              <a:t>로 전년 동기 대비 </a:t>
            </a:r>
            <a:r>
              <a:rPr lang="en-US" altLang="ko-KR" dirty="0"/>
              <a:t>13.7% </a:t>
            </a:r>
            <a:r>
              <a:rPr lang="ko-KR" altLang="en-US" dirty="0"/>
              <a:t>성장</a:t>
            </a:r>
          </a:p>
          <a:p>
            <a:r>
              <a:rPr lang="en-US" altLang="ko-KR" dirty="0"/>
              <a:t>2. K-</a:t>
            </a:r>
            <a:r>
              <a:rPr lang="ko-KR" altLang="en-US" dirty="0"/>
              <a:t>배터리 </a:t>
            </a:r>
            <a:r>
              <a:rPr lang="en-US" altLang="ko-KR" dirty="0"/>
              <a:t>3</a:t>
            </a:r>
            <a:r>
              <a:rPr lang="ko-KR" altLang="en-US" dirty="0"/>
              <a:t>사의 </a:t>
            </a:r>
            <a:r>
              <a:rPr lang="en-US" altLang="ko-KR" dirty="0"/>
              <a:t>2026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월</a:t>
            </a:r>
            <a:r>
              <a:rPr lang="en-US" altLang="ko-KR" dirty="0"/>
              <a:t>, </a:t>
            </a:r>
            <a:r>
              <a:rPr lang="ko-KR" altLang="en-US" dirty="0"/>
              <a:t>글로벌 전기차용 배터리 사용량 시장점유율은 전년 동기 대비 </a:t>
            </a:r>
            <a:r>
              <a:rPr lang="en-US" altLang="ko-KR" dirty="0"/>
              <a:t>10.4%p </a:t>
            </a:r>
            <a:r>
              <a:rPr lang="ko-KR" altLang="en-US" dirty="0"/>
              <a:t>하락한 </a:t>
            </a:r>
            <a:r>
              <a:rPr lang="en-US" altLang="ko-KR" dirty="0"/>
              <a:t>25.5%</a:t>
            </a:r>
            <a:r>
              <a:rPr lang="ko-KR" altLang="en-US" dirty="0"/>
              <a:t>를 기록</a:t>
            </a:r>
            <a:r>
              <a:rPr lang="en-US" altLang="ko-KR" dirty="0"/>
              <a:t>(</a:t>
            </a:r>
            <a:r>
              <a:rPr lang="ko-KR" altLang="en-US" dirty="0"/>
              <a:t>중국 제외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3. K</a:t>
            </a:r>
            <a:r>
              <a:rPr lang="ko-KR" altLang="en-US" dirty="0"/>
              <a:t>배터리는 중국 내수 시장에서는 </a:t>
            </a:r>
            <a:r>
              <a:rPr lang="en-US" altLang="ko-KR" dirty="0"/>
              <a:t>CATL·BYD</a:t>
            </a:r>
            <a:r>
              <a:rPr lang="ko-KR" altLang="en-US" dirty="0"/>
              <a:t>에 밀리더라도 북미</a:t>
            </a:r>
            <a:r>
              <a:rPr lang="en-US" altLang="ko-KR" dirty="0"/>
              <a:t>·</a:t>
            </a:r>
            <a:r>
              <a:rPr lang="ko-KR" altLang="en-US" dirty="0"/>
              <a:t>유럽 등 비중국 시장에서는 높은 경쟁력을 유지해왔만 최근에는 중국 업체들이 가격 경쟁력을 앞세워 유럽</a:t>
            </a:r>
            <a:r>
              <a:rPr lang="en-US" altLang="ko-KR" dirty="0"/>
              <a:t>, </a:t>
            </a:r>
            <a:r>
              <a:rPr lang="ko-KR" altLang="en-US" dirty="0"/>
              <a:t>동남아</a:t>
            </a:r>
            <a:r>
              <a:rPr lang="en-US" altLang="ko-KR" dirty="0"/>
              <a:t>, </a:t>
            </a:r>
            <a:r>
              <a:rPr lang="ko-KR" altLang="en-US" dirty="0"/>
              <a:t>남미 등으로 빠르게 진입</a:t>
            </a:r>
            <a:endParaRPr lang="en-US" altLang="ko-KR" dirty="0"/>
          </a:p>
          <a:p>
            <a:r>
              <a:rPr lang="en-US" altLang="ko-KR" dirty="0">
                <a:ea typeface="휴먼매직체"/>
              </a:rPr>
              <a:t>4.</a:t>
            </a:r>
            <a:r>
              <a:rPr lang="ko-KR" altLang="en-US" dirty="0">
                <a:ea typeface="휴먼매직체"/>
              </a:rPr>
              <a:t> 또한 미국시장에서 전기차 판매량이 급감한 것이 주요 요인 (2025년 9월부  전기차 보조금 폐지)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8702" y="3546512"/>
            <a:ext cx="407727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/>
              <a:t>참고</a:t>
            </a:r>
            <a:r>
              <a:rPr lang="en-US" altLang="ko-KR" sz="1050" dirty="0" smtClean="0"/>
              <a:t>) 2025</a:t>
            </a:r>
            <a:r>
              <a:rPr lang="ko-KR" altLang="en-US" sz="1050" dirty="0" smtClean="0"/>
              <a:t>년 중국제외 국내 </a:t>
            </a:r>
            <a:r>
              <a:rPr lang="en-US" altLang="ko-KR" sz="1050" dirty="0" smtClean="0"/>
              <a:t>3</a:t>
            </a:r>
            <a:r>
              <a:rPr lang="ko-KR" altLang="en-US" sz="1050" dirty="0" smtClean="0"/>
              <a:t>사 </a:t>
            </a:r>
            <a:r>
              <a:rPr lang="en-US" altLang="ko-KR" sz="1050" dirty="0" smtClean="0"/>
              <a:t>EV</a:t>
            </a:r>
            <a:r>
              <a:rPr lang="ko-KR" altLang="en-US" sz="1050" dirty="0" smtClean="0"/>
              <a:t>향 배터리 탑재량</a:t>
            </a:r>
            <a:endParaRPr lang="en-US" altLang="ko-KR" sz="1050" dirty="0" smtClean="0"/>
          </a:p>
          <a:p>
            <a:r>
              <a:rPr lang="en-US" altLang="ko-KR" sz="1050" dirty="0" smtClean="0"/>
              <a:t>LG</a:t>
            </a:r>
            <a:r>
              <a:rPr lang="ko-KR" altLang="en-US" sz="1050" dirty="0" smtClean="0"/>
              <a:t>엔솔 </a:t>
            </a:r>
            <a:r>
              <a:rPr lang="en-US" altLang="ko-KR" sz="1050" dirty="0" smtClean="0"/>
              <a:t>:</a:t>
            </a:r>
            <a:r>
              <a:rPr lang="ko-KR" altLang="en-US" sz="1050" dirty="0" smtClean="0"/>
              <a:t> </a:t>
            </a:r>
            <a:r>
              <a:rPr lang="en-US" altLang="ko-KR" sz="1050" dirty="0" smtClean="0"/>
              <a:t>95.1GWh, SK ON</a:t>
            </a:r>
            <a:r>
              <a:rPr lang="ko-KR" altLang="en-US" sz="1050" dirty="0" smtClean="0"/>
              <a:t> </a:t>
            </a:r>
            <a:r>
              <a:rPr lang="en-US" altLang="ko-KR" sz="1050" dirty="0" smtClean="0"/>
              <a:t>:44.4GWh, </a:t>
            </a:r>
            <a:r>
              <a:rPr lang="ko-KR" altLang="en-US" sz="1050" dirty="0" smtClean="0"/>
              <a:t>삼성 </a:t>
            </a:r>
            <a:r>
              <a:rPr lang="en-US" altLang="ko-KR" sz="1050" dirty="0" smtClean="0"/>
              <a:t>SDI : 28.9GWh </a:t>
            </a:r>
            <a:endParaRPr lang="ko-KR" altLang="en-US" sz="105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972" y="3945259"/>
            <a:ext cx="4738015" cy="2879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1962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5407D3-5E4A-FB4E-9668-3EA3AA112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720" y="194075"/>
            <a:ext cx="8333660" cy="498622"/>
          </a:xfrm>
        </p:spPr>
        <p:txBody>
          <a:bodyPr vert="horz" lIns="91440" tIns="45720" rIns="91440" bIns="45720" anchor="b">
            <a:normAutofit fontScale="90000"/>
          </a:bodyPr>
          <a:lstStyle/>
          <a:p>
            <a:r>
              <a:rPr lang="ko-KR" altLang="en-US" dirty="0">
                <a:solidFill>
                  <a:schemeClr val="tx1"/>
                </a:solidFill>
                <a:ea typeface="휴먼매직체"/>
              </a:rPr>
              <a:t>26년 1월~4월 삼성 SDI GLOBAL EV 배터리 </a:t>
            </a:r>
            <a:r>
              <a:rPr lang="ko-KR" altLang="en-US" dirty="0" smtClean="0">
                <a:solidFill>
                  <a:schemeClr val="tx1"/>
                </a:solidFill>
                <a:ea typeface="휴먼매직체"/>
              </a:rPr>
              <a:t>탑재</a:t>
            </a:r>
            <a:r>
              <a:rPr lang="ko-KR" altLang="en-US" dirty="0">
                <a:solidFill>
                  <a:schemeClr val="tx1"/>
                </a:solidFill>
                <a:ea typeface="휴먼매직체"/>
              </a:rPr>
              <a:t>량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xmlns="" id="{A32A7072-AC94-6690-02E7-CC4386A9A89D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15516" y="692697"/>
            <a:ext cx="8136903" cy="3456384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924046"/>
            <a:ext cx="8064896" cy="2887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1535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A5502D6-9C79-57D6-AEFC-39C30569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9"/>
            <a:ext cx="7467600" cy="490066"/>
          </a:xfrm>
        </p:spPr>
        <p:txBody>
          <a:bodyPr vert="horz" lIns="91440" tIns="45720" rIns="91440" bIns="45720" anchor="b">
            <a:normAutofit fontScale="90000"/>
          </a:bodyPr>
          <a:lstStyle/>
          <a:p>
            <a:r>
              <a:rPr lang="ko-KR" altLang="en-US" dirty="0">
                <a:solidFill>
                  <a:schemeClr val="tx1"/>
                </a:solidFill>
                <a:ea typeface="휴먼매직체"/>
              </a:rPr>
              <a:t>글로벌 전기 자동차 판매량 증감율(참고) 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5" name="내용 개체 틀 3" descr="텍스트, 스크린샷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xmlns="" id="{22753C60-7821-1BC2-EFEA-795BB0DE9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836712"/>
            <a:ext cx="8463058" cy="2852033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601" y="3871994"/>
            <a:ext cx="7920880" cy="2698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5350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0632D62-5529-7EC4-2778-1D33D67DD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99899"/>
          </a:xfrm>
        </p:spPr>
        <p:txBody>
          <a:bodyPr vert="horz" lIns="91440" tIns="45720" rIns="91440" bIns="45720" anchor="b">
            <a:normAutofit/>
          </a:bodyPr>
          <a:lstStyle/>
          <a:p>
            <a:r>
              <a:rPr lang="ko-KR" altLang="en-US" dirty="0">
                <a:solidFill>
                  <a:schemeClr val="tx1"/>
                </a:solidFill>
                <a:ea typeface="휴먼매직체"/>
              </a:rPr>
              <a:t>전기차용 배터리 - 삼성 SDI 납품고객 현황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7" name="내용 개체 틀 6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xmlns="" id="{03B5A59A-0554-9015-4084-AFAE81EC2C56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96073" y="1930321"/>
            <a:ext cx="8323591" cy="38711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8278446-7C85-AB42-B860-C4D5311D4B99}"/>
              </a:ext>
            </a:extLst>
          </p:cNvPr>
          <p:cNvSpPr txBox="1"/>
          <p:nvPr/>
        </p:nvSpPr>
        <p:spPr>
          <a:xfrm>
            <a:off x="694862" y="1530713"/>
            <a:ext cx="29405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휴먼매직체"/>
              </a:rPr>
              <a:t>2025년도 주요고객별 판매비중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5F30ACE-13F2-858D-4C97-2D13161B4799}"/>
              </a:ext>
            </a:extLst>
          </p:cNvPr>
          <p:cNvSpPr txBox="1"/>
          <p:nvPr/>
        </p:nvSpPr>
        <p:spPr>
          <a:xfrm>
            <a:off x="5115806" y="1530713"/>
            <a:ext cx="317220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휴먼매직체"/>
              </a:rPr>
              <a:t>2026년 4월 주요고객별 판매비중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334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790" y="2735"/>
            <a:ext cx="8276650" cy="634082"/>
          </a:xfrm>
        </p:spPr>
        <p:txBody>
          <a:bodyPr vert="horz" lIns="91440" tIns="45720" rIns="91440" bIns="45720" anchor="b">
            <a:normAutofit fontScale="90000"/>
          </a:bodyPr>
          <a:lstStyle/>
          <a:p>
            <a:r>
              <a:rPr lang="ko-KR" altLang="en-US" dirty="0">
                <a:solidFill>
                  <a:schemeClr val="tx1"/>
                </a:solidFill>
                <a:ea typeface="휴먼매직체"/>
              </a:rPr>
              <a:t>전기차용 배터리 </a:t>
            </a:r>
            <a:r>
              <a:rPr lang="en-US" altLang="ko-KR" dirty="0">
                <a:solidFill>
                  <a:schemeClr val="tx1"/>
                </a:solidFill>
                <a:ea typeface="휴먼매직체"/>
              </a:rPr>
              <a:t>– </a:t>
            </a:r>
            <a:r>
              <a:rPr lang="ko-KR" altLang="en-US" dirty="0" smtClean="0">
                <a:solidFill>
                  <a:schemeClr val="tx1"/>
                </a:solidFill>
                <a:ea typeface="휴먼매직체"/>
              </a:rPr>
              <a:t>향후 </a:t>
            </a:r>
            <a:r>
              <a:rPr lang="en-US" altLang="ko-KR" dirty="0" err="1" smtClean="0">
                <a:solidFill>
                  <a:schemeClr val="tx1"/>
                </a:solidFill>
                <a:ea typeface="휴먼매직체"/>
              </a:rPr>
              <a:t>매출</a:t>
            </a:r>
            <a:r>
              <a:rPr lang="en-US" altLang="ko-KR" dirty="0" smtClean="0">
                <a:solidFill>
                  <a:schemeClr val="tx1"/>
                </a:solidFill>
                <a:ea typeface="휴먼매직체"/>
              </a:rPr>
              <a:t> </a:t>
            </a:r>
            <a:r>
              <a:rPr lang="en-US" altLang="ko-KR" dirty="0">
                <a:solidFill>
                  <a:schemeClr val="tx1"/>
                </a:solidFill>
                <a:ea typeface="휴먼매직체"/>
              </a:rPr>
              <a:t>및 </a:t>
            </a:r>
            <a:r>
              <a:rPr lang="ko-KR" altLang="en-US" dirty="0">
                <a:solidFill>
                  <a:schemeClr val="tx1"/>
                </a:solidFill>
                <a:ea typeface="휴먼매직체"/>
              </a:rPr>
              <a:t>점유율 확대 가능성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28202" y="559284"/>
            <a:ext cx="8769119" cy="6399420"/>
          </a:xfrm>
        </p:spPr>
        <p:txBody>
          <a:bodyPr vert="horz" lIns="91440" tIns="45720" rIns="91440" bIns="45720" anchor="t">
            <a:normAutofit fontScale="92500" lnSpcReduction="10000"/>
          </a:bodyPr>
          <a:lstStyle/>
          <a:p>
            <a:r>
              <a:rPr lang="ko-KR" altLang="en-US" dirty="0"/>
              <a:t>메르세데스 벤츠와 배터리 공급 계약 </a:t>
            </a:r>
            <a:r>
              <a:rPr lang="en-US" altLang="ko-KR" dirty="0"/>
              <a:t>(2026</a:t>
            </a:r>
            <a:r>
              <a:rPr lang="ko-KR" altLang="en-US" dirty="0"/>
              <a:t>년 </a:t>
            </a:r>
            <a:r>
              <a:rPr lang="en-US" altLang="ko-KR" dirty="0"/>
              <a:t>4</a:t>
            </a:r>
            <a:r>
              <a:rPr lang="ko-KR" altLang="en-US" dirty="0"/>
              <a:t>월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sz="2200" dirty="0"/>
              <a:t>  - NCM </a:t>
            </a:r>
            <a:r>
              <a:rPr lang="ko-KR" altLang="en-US" sz="2200" dirty="0"/>
              <a:t>고성능 각형 배터리 공급</a:t>
            </a:r>
            <a:r>
              <a:rPr lang="en-US" altLang="ko-KR" sz="2200" dirty="0"/>
              <a:t>, </a:t>
            </a:r>
            <a:r>
              <a:rPr lang="ko-KR" altLang="en-US" sz="2200" dirty="0" smtClean="0"/>
              <a:t>독일 프리미엄 완성차 </a:t>
            </a:r>
            <a:r>
              <a:rPr lang="en-US" altLang="ko-KR" sz="2200" dirty="0"/>
              <a:t>3</a:t>
            </a:r>
            <a:r>
              <a:rPr lang="ko-KR" altLang="en-US" sz="2200" dirty="0"/>
              <a:t>사에 모두 배터리 </a:t>
            </a:r>
            <a:r>
              <a:rPr lang="ko-KR" altLang="en-US" sz="2200" dirty="0" smtClean="0"/>
              <a:t>공급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수조원 규모</a:t>
            </a:r>
            <a:r>
              <a:rPr lang="en-US" altLang="ko-KR" sz="2200" dirty="0" smtClean="0"/>
              <a:t>, 2028</a:t>
            </a:r>
            <a:r>
              <a:rPr lang="ko-KR" altLang="en-US" sz="2200" dirty="0" smtClean="0"/>
              <a:t>년 공급 예상 </a:t>
            </a:r>
            <a:r>
              <a:rPr lang="en-US" altLang="ko-KR" sz="2200" dirty="0" smtClean="0"/>
              <a:t>(BMW, </a:t>
            </a:r>
            <a:r>
              <a:rPr lang="ko-KR" altLang="en-US" sz="2200" dirty="0" smtClean="0"/>
              <a:t>아우디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벤츠</a:t>
            </a:r>
            <a:r>
              <a:rPr lang="en-US" altLang="ko-KR" sz="2200" dirty="0" smtClean="0"/>
              <a:t>)</a:t>
            </a:r>
            <a:endParaRPr lang="en-US" altLang="ko-KR" sz="2200" dirty="0"/>
          </a:p>
          <a:p>
            <a:r>
              <a:rPr lang="ko-KR" altLang="en-US" dirty="0"/>
              <a:t>현대차 배터리 공급 체결</a:t>
            </a:r>
            <a:r>
              <a:rPr lang="en-US" altLang="ko-KR" dirty="0"/>
              <a:t>(2023</a:t>
            </a:r>
            <a:r>
              <a:rPr lang="ko-KR" altLang="en-US" dirty="0"/>
              <a:t>년 </a:t>
            </a:r>
            <a:r>
              <a:rPr lang="en-US" altLang="ko-KR" dirty="0"/>
              <a:t>10</a:t>
            </a:r>
            <a:r>
              <a:rPr lang="ko-KR" altLang="en-US" dirty="0"/>
              <a:t>월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en-US" altLang="ko-KR" sz="2200" dirty="0"/>
              <a:t>- 2026</a:t>
            </a:r>
            <a:r>
              <a:rPr lang="ko-KR" altLang="en-US" sz="2200" dirty="0"/>
              <a:t>년부터 </a:t>
            </a:r>
            <a:r>
              <a:rPr lang="en-US" altLang="ko-KR" sz="2200" dirty="0"/>
              <a:t>2032</a:t>
            </a:r>
            <a:r>
              <a:rPr lang="ko-KR" altLang="en-US" sz="2200" dirty="0"/>
              <a:t>년까지 </a:t>
            </a:r>
            <a:r>
              <a:rPr lang="en-US" altLang="ko-KR" sz="2200" dirty="0"/>
              <a:t>7</a:t>
            </a:r>
            <a:r>
              <a:rPr lang="ko-KR" altLang="en-US" sz="2200" dirty="0"/>
              <a:t>년간 유럽향 전기차 배터리 </a:t>
            </a:r>
            <a:r>
              <a:rPr lang="ko-KR" altLang="en-US" sz="2200" dirty="0" smtClean="0"/>
              <a:t>공급</a:t>
            </a:r>
            <a:endParaRPr lang="en-US" altLang="ko-KR" sz="2200" dirty="0" smtClean="0"/>
          </a:p>
          <a:p>
            <a:r>
              <a:rPr lang="ko-KR" altLang="en-US" dirty="0"/>
              <a:t>폭스바겐 통합형 셀 각형배터리 공급, 기존 아우디 </a:t>
            </a:r>
            <a:r>
              <a:rPr lang="ko-KR" altLang="en-US"/>
              <a:t>포르쉐 </a:t>
            </a:r>
            <a:r>
              <a:rPr lang="ko-KR" altLang="en-US" smtClean="0"/>
              <a:t>납품에서 </a:t>
            </a:r>
            <a:r>
              <a:rPr lang="ko-KR" altLang="en-US" dirty="0"/>
              <a:t>폭스바겐, 스코다, 세아트 등 대중브랜드로</a:t>
            </a:r>
            <a:r>
              <a:rPr lang="en-US" altLang="ko-KR" dirty="0"/>
              <a:t>(</a:t>
            </a:r>
            <a:r>
              <a:rPr lang="ko-KR" altLang="en-US" dirty="0"/>
              <a:t>보급형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ko-KR" altLang="en-US" dirty="0" smtClean="0"/>
              <a:t>납품확대 </a:t>
            </a:r>
            <a:r>
              <a:rPr lang="en-US" altLang="ko-KR" dirty="0"/>
              <a:t>(2026</a:t>
            </a:r>
            <a:r>
              <a:rPr lang="ko-KR" altLang="en-US" dirty="0"/>
              <a:t>년 </a:t>
            </a:r>
            <a:r>
              <a:rPr lang="en-US" altLang="ko-KR" dirty="0"/>
              <a:t>6</a:t>
            </a:r>
            <a:r>
              <a:rPr lang="ko-KR" altLang="en-US" dirty="0" smtClean="0"/>
              <a:t>월</a:t>
            </a:r>
            <a:r>
              <a:rPr lang="en-US" altLang="ko-KR" dirty="0"/>
              <a:t>)</a:t>
            </a:r>
            <a:endParaRPr lang="en-US" altLang="ko-KR" dirty="0" smtClean="0"/>
          </a:p>
          <a:p>
            <a:r>
              <a:rPr lang="ko-KR" altLang="en-US" dirty="0" smtClean="0"/>
              <a:t>미국</a:t>
            </a:r>
            <a:r>
              <a:rPr lang="en-US" altLang="ko-KR" dirty="0" smtClean="0"/>
              <a:t>-</a:t>
            </a:r>
            <a:r>
              <a:rPr lang="ko-KR" altLang="en-US" dirty="0" smtClean="0"/>
              <a:t>이란 전쟁에 따른 고유가 상황에 따른 전기차 관심증가</a:t>
            </a:r>
            <a:endParaRPr lang="en-US" altLang="ko-KR" dirty="0" smtClean="0"/>
          </a:p>
          <a:p>
            <a:r>
              <a:rPr lang="ko-KR" altLang="en-US" dirty="0" smtClean="0"/>
              <a:t>전기차 </a:t>
            </a:r>
            <a:r>
              <a:rPr lang="ko-KR" altLang="en-US" dirty="0"/>
              <a:t>보조금 확대 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1900" dirty="0"/>
              <a:t> - </a:t>
            </a:r>
            <a:r>
              <a:rPr lang="ko-KR" altLang="en-US" sz="1900" dirty="0"/>
              <a:t>국내 </a:t>
            </a:r>
            <a:r>
              <a:rPr lang="en-US" altLang="ko-KR" sz="1900" dirty="0"/>
              <a:t>: </a:t>
            </a:r>
            <a:r>
              <a:rPr lang="ko-KR" altLang="en-US" sz="1900" dirty="0"/>
              <a:t>올해 전기차 보조금 단가는 최대 </a:t>
            </a:r>
            <a:r>
              <a:rPr lang="en-US" altLang="ko-KR" sz="1900" dirty="0"/>
              <a:t>580</a:t>
            </a:r>
            <a:r>
              <a:rPr lang="ko-KR" altLang="en-US" sz="1900" dirty="0"/>
              <a:t>만원으로 전년과 동일하지만</a:t>
            </a:r>
            <a:r>
              <a:rPr lang="en-US" altLang="ko-KR" sz="1900" dirty="0"/>
              <a:t>, </a:t>
            </a:r>
            <a:r>
              <a:rPr lang="ko-KR" altLang="en-US" sz="1900" dirty="0"/>
              <a:t>내연기관차에서 전기차로 전환할 경우 최대 </a:t>
            </a:r>
            <a:r>
              <a:rPr lang="en-US" altLang="ko-KR" sz="1900" dirty="0"/>
              <a:t>100</a:t>
            </a:r>
            <a:r>
              <a:rPr lang="ko-KR" altLang="en-US" sz="1900" dirty="0"/>
              <a:t>만원이 추가 지원돼 최대 수령액은 </a:t>
            </a:r>
            <a:r>
              <a:rPr lang="en-US" altLang="ko-KR" sz="1900" dirty="0"/>
              <a:t>680</a:t>
            </a:r>
            <a:r>
              <a:rPr lang="ko-KR" altLang="en-US" sz="1900" dirty="0"/>
              <a:t>만원까지 늘어남</a:t>
            </a:r>
            <a:r>
              <a:rPr lang="en-US" altLang="ko-KR" sz="1900" dirty="0"/>
              <a:t>. </a:t>
            </a:r>
            <a:r>
              <a:rPr lang="ko-KR" altLang="en-US" sz="1900" dirty="0"/>
              <a:t>현 정책 영향으로 지난 </a:t>
            </a:r>
            <a:r>
              <a:rPr lang="en-US" altLang="ko-KR" sz="1900" dirty="0"/>
              <a:t>1~2</a:t>
            </a:r>
            <a:r>
              <a:rPr lang="ko-KR" altLang="en-US" sz="1900" dirty="0"/>
              <a:t>월 국내 전기차 판매량은 </a:t>
            </a:r>
            <a:r>
              <a:rPr lang="en-US" altLang="ko-KR" sz="1900" dirty="0"/>
              <a:t>4</a:t>
            </a:r>
            <a:r>
              <a:rPr lang="ko-KR" altLang="en-US" sz="1900" dirty="0"/>
              <a:t>만</a:t>
            </a:r>
            <a:r>
              <a:rPr lang="en-US" altLang="ko-KR" sz="1900" dirty="0"/>
              <a:t>1293</a:t>
            </a:r>
            <a:r>
              <a:rPr lang="ko-KR" altLang="en-US" sz="1900" dirty="0"/>
              <a:t>대를 기록하며 전년 동기 대비 </a:t>
            </a:r>
            <a:r>
              <a:rPr lang="en-US" altLang="ko-KR" sz="1900" dirty="0"/>
              <a:t>166.9% </a:t>
            </a:r>
            <a:r>
              <a:rPr lang="ko-KR" altLang="en-US" sz="1900" dirty="0"/>
              <a:t>증가함</a:t>
            </a:r>
            <a:endParaRPr lang="en-US" altLang="ko-KR" sz="1900" dirty="0"/>
          </a:p>
          <a:p>
            <a:pPr marL="0" indent="0">
              <a:buNone/>
            </a:pPr>
            <a:r>
              <a:rPr lang="en-US" altLang="ko-KR" sz="1900" dirty="0"/>
              <a:t>   - </a:t>
            </a:r>
            <a:r>
              <a:rPr lang="ko-KR" altLang="en-US" sz="1900" dirty="0"/>
              <a:t>유럽</a:t>
            </a:r>
            <a:r>
              <a:rPr lang="en-US" altLang="ko-KR" sz="1900" dirty="0"/>
              <a:t>(EU)</a:t>
            </a:r>
            <a:r>
              <a:rPr lang="ko-KR" altLang="en-US" sz="1900" dirty="0"/>
              <a:t> </a:t>
            </a:r>
            <a:r>
              <a:rPr lang="en-US" altLang="ko-KR" sz="1900" dirty="0"/>
              <a:t>: </a:t>
            </a:r>
            <a:r>
              <a:rPr lang="ko-KR" altLang="en-US" sz="1900" dirty="0"/>
              <a:t>독일은 과거 중단되었던 개별 보조금 제도를 </a:t>
            </a:r>
            <a:r>
              <a:rPr lang="en-US" altLang="ko-KR" sz="1900" dirty="0"/>
              <a:t>2026</a:t>
            </a:r>
            <a:r>
              <a:rPr lang="ko-KR" altLang="en-US" sz="1900" dirty="0"/>
              <a:t>년 재개</a:t>
            </a:r>
            <a:r>
              <a:rPr lang="en-US" altLang="ko-KR" sz="1900" dirty="0"/>
              <a:t>, </a:t>
            </a:r>
          </a:p>
          <a:p>
            <a:pPr marL="0" indent="0">
              <a:buNone/>
            </a:pPr>
            <a:r>
              <a:rPr lang="en-US" altLang="ko-KR" sz="1900" dirty="0"/>
              <a:t>                       </a:t>
            </a:r>
            <a:r>
              <a:rPr lang="ko-KR" altLang="en-US" sz="1900" dirty="0"/>
              <a:t>영국은 </a:t>
            </a:r>
            <a:r>
              <a:rPr lang="en-US" altLang="ko-KR" sz="1900" dirty="0"/>
              <a:t>2025</a:t>
            </a:r>
            <a:r>
              <a:rPr lang="ko-KR" altLang="en-US" sz="1900" dirty="0"/>
              <a:t>년 </a:t>
            </a:r>
            <a:r>
              <a:rPr lang="en-US" altLang="ko-KR" sz="1900" dirty="0"/>
              <a:t>7</a:t>
            </a:r>
            <a:r>
              <a:rPr lang="ko-KR" altLang="en-US" sz="1900" dirty="0"/>
              <a:t>월 보조금 제도 부활</a:t>
            </a:r>
            <a:endParaRPr lang="en-US" altLang="ko-KR" sz="1900" dirty="0"/>
          </a:p>
          <a:p>
            <a:pPr marL="0" indent="0">
              <a:buNone/>
            </a:pPr>
            <a:r>
              <a:rPr lang="en-US" altLang="ko-KR" sz="1900" dirty="0"/>
              <a:t>   - </a:t>
            </a:r>
            <a:r>
              <a:rPr lang="ko-KR" altLang="en-US" sz="1900" dirty="0"/>
              <a:t>미국 </a:t>
            </a:r>
            <a:r>
              <a:rPr lang="en-US" altLang="ko-KR" sz="1900" dirty="0"/>
              <a:t>: </a:t>
            </a:r>
            <a:r>
              <a:rPr lang="ko-KR" altLang="en-US" sz="1900" dirty="0"/>
              <a:t>전기차 보조금 폐지</a:t>
            </a:r>
            <a:r>
              <a:rPr lang="en-US" altLang="ko-KR" sz="1900" dirty="0"/>
              <a:t>…(2025</a:t>
            </a:r>
            <a:r>
              <a:rPr lang="ko-KR" altLang="en-US" sz="1900" dirty="0"/>
              <a:t>년 </a:t>
            </a:r>
            <a:r>
              <a:rPr lang="en-US" altLang="ko-KR" sz="1900" dirty="0"/>
              <a:t>9</a:t>
            </a:r>
            <a:r>
              <a:rPr lang="ko-KR" altLang="en-US" sz="1900" dirty="0"/>
              <a:t>월 </a:t>
            </a:r>
            <a:r>
              <a:rPr lang="en-US" altLang="ko-KR" sz="1900" dirty="0"/>
              <a:t>30</a:t>
            </a:r>
            <a:r>
              <a:rPr lang="ko-KR" altLang="en-US" sz="1900" dirty="0"/>
              <a:t>일부</a:t>
            </a:r>
            <a:r>
              <a:rPr lang="en-US" altLang="ko-KR" sz="1900" dirty="0"/>
              <a:t>)</a:t>
            </a:r>
          </a:p>
          <a:p>
            <a:r>
              <a:rPr lang="en-US" altLang="ko-KR" dirty="0" err="1" smtClean="0">
                <a:ea typeface="휴먼매직체"/>
              </a:rPr>
              <a:t>중국</a:t>
            </a:r>
            <a:r>
              <a:rPr lang="en-US" altLang="ko-KR" dirty="0" smtClean="0">
                <a:ea typeface="휴먼매직체"/>
              </a:rPr>
              <a:t> </a:t>
            </a:r>
            <a:r>
              <a:rPr lang="en-US" altLang="ko-KR" dirty="0" err="1">
                <a:ea typeface="휴먼매직체"/>
              </a:rPr>
              <a:t>배터리</a:t>
            </a:r>
            <a:r>
              <a:rPr lang="en-US" altLang="ko-KR" dirty="0">
                <a:ea typeface="휴먼매직체"/>
              </a:rPr>
              <a:t> </a:t>
            </a:r>
            <a:r>
              <a:rPr lang="en-US" altLang="ko-KR" dirty="0" err="1">
                <a:ea typeface="휴먼매직체"/>
              </a:rPr>
              <a:t>규제</a:t>
            </a:r>
            <a:endParaRPr lang="en-US" altLang="ko-KR" dirty="0">
              <a:ea typeface="휴먼매직체"/>
            </a:endParaRPr>
          </a:p>
          <a:p>
            <a:pPr marL="0" indent="0">
              <a:buNone/>
            </a:pPr>
            <a:endParaRPr lang="en-US" altLang="ko-KR" dirty="0">
              <a:ea typeface="휴먼매직체"/>
            </a:endParaRPr>
          </a:p>
        </p:txBody>
      </p:sp>
    </p:spTree>
    <p:extLst>
      <p:ext uri="{BB962C8B-B14F-4D97-AF65-F5344CB8AC3E}">
        <p14:creationId xmlns:p14="http://schemas.microsoft.com/office/powerpoint/2010/main" val="365831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68838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ESS- </a:t>
            </a:r>
            <a:r>
              <a:rPr lang="en-US" altLang="ko-KR" dirty="0" smtClean="0">
                <a:solidFill>
                  <a:schemeClr val="tx1"/>
                </a:solidFill>
              </a:rPr>
              <a:t>AI </a:t>
            </a:r>
            <a:r>
              <a:rPr lang="ko-KR" altLang="en-US" dirty="0">
                <a:solidFill>
                  <a:schemeClr val="tx1"/>
                </a:solidFill>
              </a:rPr>
              <a:t>데이터 </a:t>
            </a:r>
            <a:r>
              <a:rPr lang="ko-KR" altLang="en-US" dirty="0" smtClean="0">
                <a:solidFill>
                  <a:schemeClr val="tx1"/>
                </a:solidFill>
              </a:rPr>
              <a:t>센터</a:t>
            </a:r>
            <a:r>
              <a:rPr lang="en-US" altLang="ko-KR" dirty="0" smtClean="0">
                <a:solidFill>
                  <a:schemeClr val="tx1"/>
                </a:solidFill>
              </a:rPr>
              <a:t>&amp;</a:t>
            </a:r>
            <a:r>
              <a:rPr lang="ko-KR" altLang="en-US" dirty="0" smtClean="0">
                <a:solidFill>
                  <a:schemeClr val="tx1"/>
                </a:solidFill>
              </a:rPr>
              <a:t>전력망용그리드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5579" y="1038654"/>
            <a:ext cx="8182604" cy="5666919"/>
          </a:xfrm>
        </p:spPr>
        <p:txBody>
          <a:bodyPr vert="horz" lIns="91440" tIns="45720" rIns="91440" bIns="45720" anchor="t">
            <a:normAutofit lnSpcReduction="10000"/>
          </a:bodyPr>
          <a:lstStyle/>
          <a:p>
            <a:r>
              <a:rPr lang="ko-KR" altLang="en-US" dirty="0">
                <a:ea typeface="휴먼매직체"/>
              </a:rPr>
              <a:t>ESS = Energy Storage System</a:t>
            </a:r>
          </a:p>
          <a:p>
            <a:r>
              <a:rPr lang="ko-KR" altLang="en-US" dirty="0">
                <a:ea typeface="휴먼매직체"/>
              </a:rPr>
              <a:t>배터리(70%), </a:t>
            </a:r>
            <a:r>
              <a:rPr lang="ko-KR" dirty="0">
                <a:ea typeface="휴먼매직체"/>
              </a:rPr>
              <a:t>PCS</a:t>
            </a:r>
            <a:r>
              <a:rPr lang="en-US" altLang="ko-KR" dirty="0">
                <a:ea typeface="휴먼매직체"/>
              </a:rPr>
              <a:t>(20%),</a:t>
            </a:r>
            <a:r>
              <a:rPr lang="ko-KR" altLang="en-US" dirty="0">
                <a:ea typeface="휴먼매직체"/>
              </a:rPr>
              <a:t> BMS, EMS, 등으로 구성</a:t>
            </a:r>
          </a:p>
          <a:p>
            <a:r>
              <a:rPr lang="en-US" altLang="ko-KR" dirty="0">
                <a:ea typeface="휴먼매직체"/>
              </a:rPr>
              <a:t>AI </a:t>
            </a:r>
            <a:r>
              <a:rPr lang="en-US" altLang="ko-KR" dirty="0" err="1">
                <a:ea typeface="휴먼매직체"/>
              </a:rPr>
              <a:t>데이터</a:t>
            </a:r>
            <a:r>
              <a:rPr lang="en-US" altLang="ko-KR" dirty="0">
                <a:ea typeface="휴먼매직체"/>
              </a:rPr>
              <a:t> </a:t>
            </a:r>
            <a:r>
              <a:rPr lang="en-US" altLang="ko-KR" dirty="0" err="1">
                <a:ea typeface="휴먼매직체"/>
              </a:rPr>
              <a:t>센터에서의</a:t>
            </a:r>
            <a:r>
              <a:rPr lang="en-US" altLang="ko-KR" dirty="0">
                <a:ea typeface="휴먼매직체"/>
              </a:rPr>
              <a:t> </a:t>
            </a:r>
            <a:r>
              <a:rPr lang="en-US" altLang="ko-KR" dirty="0" err="1">
                <a:ea typeface="휴먼매직체"/>
              </a:rPr>
              <a:t>ESS의</a:t>
            </a:r>
            <a:r>
              <a:rPr lang="en-US" altLang="ko-KR" dirty="0">
                <a:ea typeface="휴먼매직체"/>
              </a:rPr>
              <a:t> 역할</a:t>
            </a:r>
          </a:p>
          <a:p>
            <a:pPr marL="0" indent="0">
              <a:buNone/>
            </a:pPr>
            <a:r>
              <a:rPr lang="en-US" dirty="0">
                <a:ea typeface="휴먼매직체"/>
              </a:rPr>
              <a:t>   - AI </a:t>
            </a:r>
            <a:r>
              <a:rPr lang="en-US" dirty="0" err="1">
                <a:ea typeface="휴먼매직체"/>
              </a:rPr>
              <a:t>서버가</a:t>
            </a:r>
            <a:r>
              <a:rPr lang="en-US" dirty="0">
                <a:ea typeface="휴먼매직체"/>
              </a:rPr>
              <a:t> </a:t>
            </a:r>
            <a:r>
              <a:rPr lang="en-US" dirty="0" err="1">
                <a:ea typeface="휴먼매직체"/>
              </a:rPr>
              <a:t>대규모</a:t>
            </a:r>
            <a:r>
              <a:rPr lang="en-US" dirty="0">
                <a:ea typeface="휴먼매직체"/>
              </a:rPr>
              <a:t> </a:t>
            </a:r>
            <a:r>
              <a:rPr lang="en-US" dirty="0" err="1">
                <a:ea typeface="휴먼매직체"/>
              </a:rPr>
              <a:t>연산을</a:t>
            </a:r>
            <a:r>
              <a:rPr lang="en-US" dirty="0">
                <a:ea typeface="휴먼매직체"/>
              </a:rPr>
              <a:t> </a:t>
            </a:r>
            <a:r>
              <a:rPr lang="en-US" dirty="0" err="1">
                <a:ea typeface="휴먼매직체"/>
              </a:rPr>
              <a:t>동시에</a:t>
            </a:r>
            <a:r>
              <a:rPr lang="en-US" dirty="0">
                <a:ea typeface="휴먼매직체"/>
              </a:rPr>
              <a:t> </a:t>
            </a:r>
            <a:r>
              <a:rPr lang="en-US" dirty="0" err="1">
                <a:ea typeface="휴먼매직체"/>
              </a:rPr>
              <a:t>수행할</a:t>
            </a:r>
            <a:r>
              <a:rPr lang="en-US" dirty="0">
                <a:ea typeface="휴먼매직체"/>
              </a:rPr>
              <a:t> 때 </a:t>
            </a:r>
            <a:r>
              <a:rPr lang="en-US" dirty="0" err="1">
                <a:ea typeface="휴먼매직체"/>
              </a:rPr>
              <a:t>발생하는</a:t>
            </a:r>
            <a:r>
              <a:rPr lang="en-US" dirty="0">
                <a:ea typeface="휴먼매직체"/>
              </a:rPr>
              <a:t> </a:t>
            </a:r>
            <a:r>
              <a:rPr lang="en-US" dirty="0" err="1">
                <a:ea typeface="휴먼매직체"/>
              </a:rPr>
              <a:t>급격한</a:t>
            </a:r>
            <a:r>
              <a:rPr lang="en-US" dirty="0">
                <a:ea typeface="휴먼매직체"/>
              </a:rPr>
              <a:t> </a:t>
            </a:r>
            <a:r>
              <a:rPr lang="en-US" dirty="0" err="1">
                <a:ea typeface="휴먼매직체"/>
              </a:rPr>
              <a:t>전력</a:t>
            </a:r>
            <a:r>
              <a:rPr lang="en-US" dirty="0">
                <a:ea typeface="휴먼매직체"/>
              </a:rPr>
              <a:t> </a:t>
            </a:r>
            <a:r>
              <a:rPr lang="en-US" dirty="0" err="1">
                <a:ea typeface="휴먼매직체"/>
              </a:rPr>
              <a:t>수요</a:t>
            </a:r>
            <a:r>
              <a:rPr lang="en-US" dirty="0">
                <a:ea typeface="휴먼매직체"/>
              </a:rPr>
              <a:t> </a:t>
            </a:r>
            <a:r>
              <a:rPr lang="en-US" dirty="0" err="1">
                <a:ea typeface="휴먼매직체"/>
              </a:rPr>
              <a:t>급증</a:t>
            </a:r>
            <a:r>
              <a:rPr lang="en-US" dirty="0">
                <a:ea typeface="휴먼매직체"/>
              </a:rPr>
              <a:t>(</a:t>
            </a:r>
            <a:r>
              <a:rPr lang="en-US" dirty="0" err="1">
                <a:ea typeface="휴먼매직체"/>
              </a:rPr>
              <a:t>피크</a:t>
            </a:r>
            <a:r>
              <a:rPr lang="en-US" dirty="0">
                <a:ea typeface="휴먼매직체"/>
              </a:rPr>
              <a:t>)을 </a:t>
            </a:r>
            <a:r>
              <a:rPr lang="en-US" dirty="0" err="1">
                <a:ea typeface="휴먼매직체"/>
              </a:rPr>
              <a:t>완화</a:t>
            </a:r>
            <a:endParaRPr lang="en-US" dirty="0">
              <a:ea typeface="휴먼매직체"/>
            </a:endParaRPr>
          </a:p>
          <a:p>
            <a:pPr marL="0" indent="0">
              <a:buNone/>
            </a:pPr>
            <a:r>
              <a:rPr lang="ko-KR" altLang="en-US" dirty="0">
                <a:ea typeface="휴먼매직체"/>
              </a:rPr>
              <a:t>   - 초고성능</a:t>
            </a:r>
            <a:r>
              <a:rPr lang="en-US" dirty="0">
                <a:ea typeface="휴먼매직체"/>
              </a:rPr>
              <a:t> GPU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구동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시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아주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미세한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전압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강하나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변동만으로도</a:t>
            </a:r>
            <a:r>
              <a:rPr lang="en-US" dirty="0">
                <a:ea typeface="휴먼매직체"/>
              </a:rPr>
              <a:t> AI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모델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학습에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치명적인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연산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오류나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데이터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손실이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발생할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수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있음</a:t>
            </a:r>
            <a:r>
              <a:rPr lang="en-US" dirty="0">
                <a:ea typeface="휴먼매직체"/>
              </a:rPr>
              <a:t>. ESS</a:t>
            </a:r>
            <a:r>
              <a:rPr lang="ko-KR" altLang="en-US" dirty="0">
                <a:ea typeface="휴먼매직체"/>
              </a:rPr>
              <a:t>는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전원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변동을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즉각적으로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보정하여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안정적인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시스템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환경을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유지</a:t>
            </a:r>
            <a:endParaRPr lang="en-US" dirty="0">
              <a:ea typeface="휴먼매직체"/>
            </a:endParaRPr>
          </a:p>
          <a:p>
            <a:pPr marL="0" indent="0">
              <a:buNone/>
            </a:pPr>
            <a:r>
              <a:rPr lang="ko-KR" altLang="en-US" dirty="0">
                <a:ea typeface="휴먼매직체"/>
              </a:rPr>
              <a:t>   - 데이터센터에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필요한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전력을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국가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전력망에만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의존할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경우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송</a:t>
            </a:r>
            <a:r>
              <a:rPr lang="en-US" dirty="0">
                <a:ea typeface="휴먼매직체"/>
              </a:rPr>
              <a:t>·</a:t>
            </a:r>
            <a:r>
              <a:rPr lang="ko-KR" altLang="en-US" dirty="0">
                <a:ea typeface="휴먼매직체"/>
              </a:rPr>
              <a:t>배전망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구축에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수년이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걸릴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수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 smtClean="0">
                <a:ea typeface="휴먼매직체"/>
              </a:rPr>
              <a:t>있지만</a:t>
            </a:r>
            <a:r>
              <a:rPr lang="en-US" dirty="0" smtClean="0">
                <a:ea typeface="휴먼매직체"/>
              </a:rPr>
              <a:t> </a:t>
            </a:r>
            <a:r>
              <a:rPr lang="en-US" dirty="0">
                <a:ea typeface="휴먼매직체"/>
              </a:rPr>
              <a:t>ESS</a:t>
            </a:r>
            <a:r>
              <a:rPr lang="ko-KR" altLang="en-US" dirty="0">
                <a:ea typeface="휴먼매직체"/>
              </a:rPr>
              <a:t>는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자체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재생에너지</a:t>
            </a:r>
            <a:r>
              <a:rPr lang="en-US" dirty="0">
                <a:ea typeface="휴먼매직체"/>
              </a:rPr>
              <a:t>(</a:t>
            </a:r>
            <a:r>
              <a:rPr lang="ko-KR" altLang="en-US" dirty="0">
                <a:ea typeface="휴먼매직체"/>
              </a:rPr>
              <a:t>태양광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등</a:t>
            </a:r>
            <a:r>
              <a:rPr lang="en-US" dirty="0">
                <a:ea typeface="휴먼매직체"/>
              </a:rPr>
              <a:t>)</a:t>
            </a:r>
            <a:r>
              <a:rPr lang="ko-KR" altLang="en-US" dirty="0">
                <a:ea typeface="휴먼매직체"/>
              </a:rPr>
              <a:t>와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결합하여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전력을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직접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 smtClean="0">
                <a:ea typeface="휴먼매직체"/>
              </a:rPr>
              <a:t>공급 가능</a:t>
            </a:r>
            <a:endParaRPr lang="en-US" altLang="ko-KR" dirty="0" smtClean="0">
              <a:ea typeface="휴먼매직체"/>
            </a:endParaRPr>
          </a:p>
          <a:p>
            <a:pPr marL="0" indent="0">
              <a:buNone/>
            </a:pPr>
            <a:r>
              <a:rPr lang="ko-KR" altLang="en-US" dirty="0">
                <a:ea typeface="휴먼매직체"/>
              </a:rPr>
              <a:t>   - 전력 공급 중단 시 무정전 전원 장치</a:t>
            </a:r>
            <a:r>
              <a:rPr lang="en-US" altLang="ko-KR" dirty="0">
                <a:ea typeface="휴먼매직체"/>
              </a:rPr>
              <a:t>(UPS)</a:t>
            </a:r>
            <a:r>
              <a:rPr lang="ko-KR" altLang="en-US" dirty="0">
                <a:ea typeface="휴먼매직체"/>
              </a:rPr>
              <a:t>와 함께 비상 전력을 즉각 공급해 데이터센터의 </a:t>
            </a:r>
            <a:r>
              <a:rPr lang="ko-KR" altLang="en-US" dirty="0" smtClean="0">
                <a:ea typeface="휴먼매직체"/>
              </a:rPr>
              <a:t>셧다운 방지함</a:t>
            </a:r>
            <a:endParaRPr lang="ko-KR" altLang="en-US" dirty="0">
              <a:ea typeface="휴먼매직체"/>
            </a:endParaRPr>
          </a:p>
        </p:txBody>
      </p:sp>
    </p:spTree>
    <p:extLst>
      <p:ext uri="{BB962C8B-B14F-4D97-AF65-F5344CB8AC3E}">
        <p14:creationId xmlns:p14="http://schemas.microsoft.com/office/powerpoint/2010/main" val="1710204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9D7F0B6E-CB3C-223F-FF9B-986358A28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00549"/>
          </a:xfrm>
        </p:spPr>
        <p:txBody>
          <a:bodyPr vert="horz" lIns="91440" tIns="45720" rIns="91440" bIns="45720" anchor="b"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ESS- AI </a:t>
            </a:r>
            <a:r>
              <a:rPr lang="ko-KR" dirty="0">
                <a:solidFill>
                  <a:schemeClr val="tx1"/>
                </a:solidFill>
              </a:rPr>
              <a:t>데이터 </a:t>
            </a:r>
            <a:r>
              <a:rPr lang="ko-KR" dirty="0" smtClean="0">
                <a:solidFill>
                  <a:schemeClr val="tx1"/>
                </a:solidFill>
              </a:rPr>
              <a:t>센터</a:t>
            </a:r>
            <a:r>
              <a:rPr lang="en-US" altLang="ko-KR" dirty="0" smtClean="0">
                <a:solidFill>
                  <a:schemeClr val="tx1"/>
                </a:solidFill>
              </a:rPr>
              <a:t>&amp;</a:t>
            </a:r>
            <a:r>
              <a:rPr lang="ko-KR" altLang="en-US" dirty="0">
                <a:solidFill>
                  <a:schemeClr val="tx1"/>
                </a:solidFill>
              </a:rPr>
              <a:t>전력망용그리드</a:t>
            </a:r>
            <a:endParaRPr lang="ko-KR" dirty="0"/>
          </a:p>
        </p:txBody>
      </p:sp>
      <p:pic>
        <p:nvPicPr>
          <p:cNvPr id="7" name="내용 개체 틀 6" descr="스크린샷, 텍스트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xmlns="" id="{08782FD3-1C96-586C-0869-F31D06C84AC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08321" y="1453194"/>
            <a:ext cx="8564510" cy="39602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AFF5A0C-3D08-14B4-76EA-0434C1B95786}"/>
              </a:ext>
            </a:extLst>
          </p:cNvPr>
          <p:cNvSpPr txBox="1"/>
          <p:nvPr/>
        </p:nvSpPr>
        <p:spPr>
          <a:xfrm>
            <a:off x="3059832" y="5651956"/>
            <a:ext cx="24482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휴먼매직체"/>
              </a:rPr>
              <a:t>ESS SYSTEM 구성도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4210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36BE20B-CFD9-53FA-33C1-6DCB64468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88640"/>
            <a:ext cx="7467600" cy="566222"/>
          </a:xfrm>
        </p:spPr>
        <p:txBody>
          <a:bodyPr vert="horz" lIns="91440" tIns="45720" rIns="91440" bIns="45720" anchor="b"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ESS- AI </a:t>
            </a:r>
            <a:r>
              <a:rPr lang="ko-KR" dirty="0">
                <a:solidFill>
                  <a:schemeClr val="tx1"/>
                </a:solidFill>
              </a:rPr>
              <a:t>데이터 </a:t>
            </a:r>
            <a:r>
              <a:rPr lang="ko-KR" dirty="0" smtClean="0">
                <a:solidFill>
                  <a:schemeClr val="tx1"/>
                </a:solidFill>
              </a:rPr>
              <a:t>센터</a:t>
            </a:r>
            <a:r>
              <a:rPr lang="en-US" altLang="ko-KR" dirty="0" smtClean="0">
                <a:solidFill>
                  <a:schemeClr val="tx1"/>
                </a:solidFill>
              </a:rPr>
              <a:t>&amp;</a:t>
            </a:r>
            <a:r>
              <a:rPr lang="ko-KR" altLang="en-US" dirty="0">
                <a:solidFill>
                  <a:schemeClr val="tx1"/>
                </a:solidFill>
              </a:rPr>
              <a:t>전력망용그리드</a:t>
            </a:r>
            <a:endParaRPr 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411B57FA-6194-99D2-D676-2DF92EEA493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79512" y="764704"/>
            <a:ext cx="8640960" cy="5976664"/>
          </a:xfrm>
        </p:spPr>
        <p:txBody>
          <a:bodyPr vert="horz" lIns="91440" tIns="45720" rIns="91440" bIns="45720" anchor="t">
            <a:normAutofit fontScale="70000" lnSpcReduction="20000"/>
          </a:bodyPr>
          <a:lstStyle/>
          <a:p>
            <a:r>
              <a:rPr lang="ko-KR" dirty="0">
                <a:ea typeface="휴먼매직체"/>
              </a:rPr>
              <a:t>미국 전체 </a:t>
            </a:r>
            <a:r>
              <a:rPr lang="en-US" altLang="ko-KR" dirty="0">
                <a:ea typeface="휴먼매직체"/>
              </a:rPr>
              <a:t>ESS </a:t>
            </a:r>
            <a:r>
              <a:rPr lang="ko-KR" dirty="0">
                <a:ea typeface="휴먼매직체"/>
              </a:rPr>
              <a:t>수요는 </a:t>
            </a:r>
            <a:r>
              <a:rPr lang="en-US" altLang="ko-KR" dirty="0">
                <a:ea typeface="휴먼매직체"/>
              </a:rPr>
              <a:t>25</a:t>
            </a:r>
            <a:r>
              <a:rPr lang="ko-KR" dirty="0">
                <a:ea typeface="휴먼매직체"/>
              </a:rPr>
              <a:t>년 </a:t>
            </a:r>
            <a:r>
              <a:rPr lang="en-US" altLang="ko-KR" dirty="0" smtClean="0">
                <a:ea typeface="휴먼매직체"/>
              </a:rPr>
              <a:t>90GWh</a:t>
            </a:r>
            <a:r>
              <a:rPr lang="ko-KR" dirty="0" smtClean="0">
                <a:ea typeface="휴먼매직체"/>
              </a:rPr>
              <a:t>에서</a:t>
            </a:r>
            <a:r>
              <a:rPr lang="ko-KR" dirty="0">
                <a:ea typeface="휴먼매직체"/>
              </a:rPr>
              <a:t> </a:t>
            </a:r>
            <a:r>
              <a:rPr lang="en-US" altLang="ko-KR" dirty="0">
                <a:ea typeface="휴먼매직체"/>
              </a:rPr>
              <a:t>30</a:t>
            </a:r>
            <a:r>
              <a:rPr lang="ko-KR" dirty="0">
                <a:ea typeface="휴먼매직체"/>
              </a:rPr>
              <a:t>년 </a:t>
            </a:r>
            <a:r>
              <a:rPr lang="en-US" altLang="ko-KR" dirty="0" smtClean="0">
                <a:ea typeface="휴먼매직체"/>
              </a:rPr>
              <a:t>160GWh</a:t>
            </a:r>
            <a:r>
              <a:rPr lang="ko-KR" dirty="0" smtClean="0">
                <a:ea typeface="휴먼매직체"/>
              </a:rPr>
              <a:t>로 </a:t>
            </a:r>
            <a:r>
              <a:rPr lang="ko-KR" dirty="0">
                <a:ea typeface="휴먼매직체"/>
              </a:rPr>
              <a:t>연평균 </a:t>
            </a:r>
            <a:r>
              <a:rPr lang="en-US" altLang="ko-KR" dirty="0">
                <a:ea typeface="휴먼매직체"/>
              </a:rPr>
              <a:t>12%</a:t>
            </a:r>
            <a:r>
              <a:rPr lang="ko-KR" dirty="0">
                <a:ea typeface="휴먼매직체"/>
              </a:rPr>
              <a:t>성장</a:t>
            </a:r>
            <a:r>
              <a:rPr lang="en-US" altLang="ko-KR" dirty="0">
                <a:ea typeface="휴먼매직체"/>
              </a:rPr>
              <a:t> </a:t>
            </a:r>
            <a:r>
              <a:rPr lang="ko-KR" dirty="0">
                <a:ea typeface="휴먼매직체"/>
              </a:rPr>
              <a:t>이중 데이터 센터 활용 </a:t>
            </a:r>
            <a:r>
              <a:rPr lang="en-US" altLang="ko-KR" dirty="0">
                <a:ea typeface="휴먼매직체"/>
              </a:rPr>
              <a:t>ESS</a:t>
            </a:r>
            <a:r>
              <a:rPr lang="ko-KR" dirty="0">
                <a:ea typeface="휴먼매직체"/>
              </a:rPr>
              <a:t>는 </a:t>
            </a:r>
            <a:r>
              <a:rPr lang="en-US" altLang="ko-KR" dirty="0">
                <a:ea typeface="휴먼매직체"/>
              </a:rPr>
              <a:t>25</a:t>
            </a:r>
            <a:r>
              <a:rPr lang="ko-KR" dirty="0">
                <a:ea typeface="휴먼매직체"/>
              </a:rPr>
              <a:t>년 </a:t>
            </a:r>
            <a:r>
              <a:rPr lang="en-US" altLang="ko-KR" dirty="0" smtClean="0">
                <a:ea typeface="휴먼매직체"/>
              </a:rPr>
              <a:t>9GWh</a:t>
            </a:r>
            <a:r>
              <a:rPr lang="ko-KR" dirty="0" smtClean="0">
                <a:ea typeface="휴먼매직체"/>
              </a:rPr>
              <a:t>에서</a:t>
            </a:r>
            <a:r>
              <a:rPr lang="ko-KR" dirty="0">
                <a:ea typeface="휴먼매직체"/>
              </a:rPr>
              <a:t> </a:t>
            </a:r>
            <a:r>
              <a:rPr lang="en-US" altLang="ko-KR" dirty="0" smtClean="0">
                <a:ea typeface="휴먼매직체"/>
              </a:rPr>
              <a:t>40GWh</a:t>
            </a:r>
            <a:r>
              <a:rPr lang="ko-KR" altLang="en-US" dirty="0"/>
              <a:t>로 추산</a:t>
            </a:r>
            <a:r>
              <a:rPr lang="en-US" altLang="ko-KR" dirty="0"/>
              <a:t>, </a:t>
            </a:r>
            <a:r>
              <a:rPr lang="ko-KR" altLang="en-US" dirty="0"/>
              <a:t>연평균 </a:t>
            </a:r>
            <a:r>
              <a:rPr lang="en-US" altLang="ko-KR" dirty="0"/>
              <a:t>30%</a:t>
            </a:r>
            <a:r>
              <a:rPr lang="ko-KR" altLang="en-US" dirty="0"/>
              <a:t>빠른 성장 예상</a:t>
            </a:r>
            <a:endParaRPr lang="en-US" altLang="ko-KR" dirty="0"/>
          </a:p>
          <a:p>
            <a:r>
              <a:rPr lang="en-US" altLang="ko-KR" dirty="0" smtClean="0"/>
              <a:t>2026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en-US" altLang="ko-KR" dirty="0"/>
              <a:t>∼3</a:t>
            </a:r>
            <a:r>
              <a:rPr lang="ko-KR" altLang="en-US" dirty="0"/>
              <a:t>월 세계 리튬이온 </a:t>
            </a:r>
            <a:r>
              <a:rPr lang="en-US" altLang="ko-KR" dirty="0"/>
              <a:t>ESS </a:t>
            </a:r>
            <a:r>
              <a:rPr lang="ko-KR" altLang="en-US" dirty="0" smtClean="0"/>
              <a:t>출하량은 지난해 같은 기간 대비 </a:t>
            </a:r>
            <a:r>
              <a:rPr lang="en-US" altLang="ko-KR" dirty="0" smtClean="0"/>
              <a:t>78% </a:t>
            </a:r>
            <a:r>
              <a:rPr lang="ko-KR" altLang="en-US" dirty="0" smtClean="0"/>
              <a:t>증가</a:t>
            </a:r>
            <a:r>
              <a:rPr lang="en-US" altLang="ko-KR" dirty="0" smtClean="0"/>
              <a:t>, </a:t>
            </a:r>
            <a:r>
              <a:rPr lang="ko-KR" altLang="en-US" dirty="0"/>
              <a:t>중국이 </a:t>
            </a:r>
            <a:r>
              <a:rPr lang="en-US" altLang="ko-KR" dirty="0"/>
              <a:t>91.4GWh(52%↑)</a:t>
            </a:r>
            <a:r>
              <a:rPr lang="ko-KR" altLang="en-US" dirty="0"/>
              <a:t>를 기록한 가운데 북미는 </a:t>
            </a:r>
            <a:r>
              <a:rPr lang="en-US" altLang="ko-KR" dirty="0"/>
              <a:t>32.7GWh</a:t>
            </a:r>
            <a:r>
              <a:rPr lang="ko-KR" altLang="en-US" dirty="0"/>
              <a:t>로 </a:t>
            </a:r>
            <a:r>
              <a:rPr lang="en-US" altLang="ko-KR" dirty="0"/>
              <a:t>83%, </a:t>
            </a:r>
            <a:r>
              <a:rPr lang="ko-KR" altLang="en-US" dirty="0"/>
              <a:t>유럽은 </a:t>
            </a:r>
            <a:r>
              <a:rPr lang="en-US" altLang="ko-KR" dirty="0" smtClean="0"/>
              <a:t>29.5GWh</a:t>
            </a:r>
            <a:r>
              <a:rPr lang="ko-KR" altLang="en-US" dirty="0" smtClean="0"/>
              <a:t>로 </a:t>
            </a:r>
            <a:r>
              <a:rPr lang="en-US" altLang="ko-KR" dirty="0"/>
              <a:t>107% </a:t>
            </a:r>
            <a:r>
              <a:rPr lang="ko-KR" altLang="en-US" dirty="0"/>
              <a:t>각각 증가했다</a:t>
            </a:r>
            <a:r>
              <a:rPr lang="en-US" altLang="ko-KR" dirty="0"/>
              <a:t>. </a:t>
            </a:r>
            <a:r>
              <a:rPr lang="ko-KR" altLang="en-US" dirty="0"/>
              <a:t>중국 외 아시아 등 기타 지역은 </a:t>
            </a:r>
            <a:r>
              <a:rPr lang="en-US" altLang="ko-KR" dirty="0"/>
              <a:t>41.8GWh</a:t>
            </a:r>
            <a:r>
              <a:rPr lang="ko-KR" altLang="en-US" dirty="0"/>
              <a:t>로 </a:t>
            </a:r>
            <a:r>
              <a:rPr lang="en-US" altLang="ko-KR" dirty="0"/>
              <a:t>138%</a:t>
            </a:r>
            <a:r>
              <a:rPr lang="ko-KR" altLang="en-US" dirty="0"/>
              <a:t>의 가장 높은 </a:t>
            </a:r>
            <a:r>
              <a:rPr lang="ko-KR" altLang="en-US" dirty="0" smtClean="0"/>
              <a:t>성장률을 기록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삼성</a:t>
            </a:r>
            <a:r>
              <a:rPr lang="en-US" altLang="ko-KR" dirty="0"/>
              <a:t>SDI</a:t>
            </a:r>
            <a:r>
              <a:rPr lang="ko-KR" altLang="en-US" dirty="0"/>
              <a:t>는 </a:t>
            </a:r>
            <a:r>
              <a:rPr lang="en-US" altLang="ko-KR" dirty="0"/>
              <a:t>34% </a:t>
            </a:r>
            <a:r>
              <a:rPr lang="ko-KR" altLang="en-US" dirty="0"/>
              <a:t>늘어난 </a:t>
            </a:r>
            <a:r>
              <a:rPr lang="en-US" altLang="ko-KR" dirty="0"/>
              <a:t>3.0GWh</a:t>
            </a:r>
            <a:r>
              <a:rPr lang="ko-KR" altLang="en-US" dirty="0"/>
              <a:t>로 점유율 </a:t>
            </a:r>
            <a:r>
              <a:rPr lang="en-US" altLang="ko-KR" dirty="0"/>
              <a:t>1.5%</a:t>
            </a:r>
            <a:r>
              <a:rPr lang="ko-KR" altLang="en-US" dirty="0"/>
              <a:t>를 </a:t>
            </a:r>
            <a:r>
              <a:rPr lang="ko-KR" altLang="en-US" dirty="0" smtClean="0"/>
              <a:t>기록 </a:t>
            </a:r>
            <a:r>
              <a:rPr lang="en-US" altLang="ko-KR" dirty="0" smtClean="0"/>
              <a:t>(</a:t>
            </a:r>
            <a:r>
              <a:rPr lang="ko-KR" altLang="en-US" dirty="0" smtClean="0"/>
              <a:t>전력망용 그리드용 </a:t>
            </a:r>
            <a:r>
              <a:rPr lang="en-US" altLang="ko-KR" dirty="0" smtClean="0"/>
              <a:t>ESS </a:t>
            </a:r>
            <a:r>
              <a:rPr lang="ko-KR" altLang="en-US" dirty="0" smtClean="0"/>
              <a:t>출하량이 전체의 </a:t>
            </a:r>
            <a:r>
              <a:rPr lang="en-US" altLang="ko-KR" dirty="0" smtClean="0"/>
              <a:t>74.6%</a:t>
            </a:r>
            <a:r>
              <a:rPr lang="ko-KR" altLang="en-US" dirty="0" smtClean="0"/>
              <a:t>차지</a:t>
            </a:r>
            <a:r>
              <a:rPr lang="en-US" altLang="ko-KR" dirty="0" smtClean="0"/>
              <a:t>)</a:t>
            </a:r>
            <a:endParaRPr lang="en-US" altLang="ko-KR" dirty="0">
              <a:ea typeface="휴먼매직체"/>
            </a:endParaRPr>
          </a:p>
          <a:p>
            <a:r>
              <a:rPr lang="ko-KR" dirty="0"/>
              <a:t>최근에는 데이터 센터 내 자체 전력수급을 위한 마이크로 그리드용 </a:t>
            </a:r>
            <a:r>
              <a:rPr lang="en-US" altLang="ko-KR" dirty="0"/>
              <a:t>ESS </a:t>
            </a:r>
            <a:r>
              <a:rPr lang="ko-KR" dirty="0"/>
              <a:t>시장이 </a:t>
            </a:r>
            <a:r>
              <a:rPr lang="en-US" altLang="ko-KR" dirty="0"/>
              <a:t>30</a:t>
            </a:r>
            <a:r>
              <a:rPr lang="ko-KR" dirty="0"/>
              <a:t>년까지 연평균 </a:t>
            </a:r>
            <a:r>
              <a:rPr lang="en-US" altLang="ko-KR" dirty="0"/>
              <a:t>60%</a:t>
            </a:r>
            <a:r>
              <a:rPr lang="ko-KR" dirty="0"/>
              <a:t>성장이 예상</a:t>
            </a:r>
            <a:r>
              <a:rPr lang="en-US" altLang="ko-KR" dirty="0"/>
              <a:t>, </a:t>
            </a:r>
            <a:r>
              <a:rPr lang="ko-KR" dirty="0"/>
              <a:t>마이크로그리드용 </a:t>
            </a:r>
            <a:r>
              <a:rPr lang="en-US" altLang="ko-KR" dirty="0"/>
              <a:t>ESS</a:t>
            </a:r>
            <a:r>
              <a:rPr lang="ko-KR" dirty="0"/>
              <a:t>시장은 재생에너지 확대와 독립된 전력망 수요 증가로 인해 빠르게 성장 중</a:t>
            </a:r>
            <a:r>
              <a:rPr lang="en-US" altLang="ko-KR" dirty="0"/>
              <a:t>, </a:t>
            </a:r>
            <a:r>
              <a:rPr lang="ko-KR" dirty="0"/>
              <a:t>기존 중앙 집중형 전력망의 한계를 보완하고</a:t>
            </a:r>
            <a:r>
              <a:rPr lang="en-US" altLang="ko-KR" dirty="0"/>
              <a:t>, </a:t>
            </a:r>
            <a:r>
              <a:rPr lang="ko-KR" dirty="0"/>
              <a:t>특정 지역의 전력 자급자족을 위한 필수 인프라로 자리잡고 있음</a:t>
            </a:r>
            <a:endParaRPr lang="en-US" altLang="ko-KR" dirty="0"/>
          </a:p>
          <a:p>
            <a:r>
              <a:rPr lang="ko-KR" dirty="0"/>
              <a:t>마이크로 그리드시장의 </a:t>
            </a:r>
            <a:r>
              <a:rPr lang="en-US" altLang="ko-KR" dirty="0"/>
              <a:t>ESS </a:t>
            </a:r>
            <a:r>
              <a:rPr lang="ko-KR" dirty="0"/>
              <a:t>시장 규모 </a:t>
            </a:r>
            <a:r>
              <a:rPr lang="en-US" altLang="ko-KR" dirty="0"/>
              <a:t>26</a:t>
            </a:r>
            <a:r>
              <a:rPr lang="ko-KR" dirty="0"/>
              <a:t>년 </a:t>
            </a:r>
            <a:r>
              <a:rPr lang="en-US" altLang="ko-KR" dirty="0"/>
              <a:t>8</a:t>
            </a:r>
            <a:r>
              <a:rPr lang="ko-KR" dirty="0" smtClean="0"/>
              <a:t>억달러</a:t>
            </a:r>
            <a:r>
              <a:rPr lang="ko-KR" altLang="en-US" dirty="0" smtClean="0"/>
              <a:t>로 예상</a:t>
            </a:r>
            <a:endParaRPr lang="en-US" altLang="ko-KR" dirty="0"/>
          </a:p>
          <a:p>
            <a:r>
              <a:rPr lang="ko-KR" altLang="en-US" dirty="0" smtClean="0"/>
              <a:t>한국전력거래소가 발주한 </a:t>
            </a:r>
            <a:r>
              <a:rPr lang="en-US" altLang="ko-KR" dirty="0" smtClean="0"/>
              <a:t>ESS</a:t>
            </a:r>
            <a:r>
              <a:rPr lang="ko-KR" altLang="en-US" dirty="0" smtClean="0"/>
              <a:t> </a:t>
            </a:r>
            <a:r>
              <a:rPr lang="ko-KR" altLang="en-US" dirty="0"/>
              <a:t>중앙계약 시장 입찰 결과 송배전망 </a:t>
            </a:r>
            <a:r>
              <a:rPr lang="ko-KR" altLang="en-US" dirty="0">
                <a:ea typeface="휴먼매직체"/>
              </a:rPr>
              <a:t>연계용(6시간작동) 국내</a:t>
            </a:r>
            <a:r>
              <a:rPr lang="ko-KR" altLang="en-US" dirty="0">
                <a:ea typeface="휴먼매직체"/>
                <a:cs typeface="+mn-lt"/>
              </a:rPr>
              <a:t> </a:t>
            </a:r>
            <a:r>
              <a:rPr lang="en-US" altLang="ko-KR" dirty="0">
                <a:ea typeface="휴먼매직체"/>
              </a:rPr>
              <a:t>1</a:t>
            </a:r>
            <a:r>
              <a:rPr lang="ko-KR" altLang="en-US" dirty="0">
                <a:ea typeface="휴먼매직체"/>
              </a:rPr>
              <a:t>차</a:t>
            </a:r>
            <a:r>
              <a:rPr lang="en-US" altLang="ko-KR" dirty="0" smtClean="0">
                <a:ea typeface="휴먼매직체"/>
              </a:rPr>
              <a:t>(540MW,</a:t>
            </a:r>
            <a:r>
              <a:rPr lang="ko-KR" altLang="en-US" dirty="0" smtClean="0">
                <a:ea typeface="휴먼매직체"/>
              </a:rPr>
              <a:t>준공기한 </a:t>
            </a:r>
            <a:r>
              <a:rPr lang="en-US" altLang="ko-KR" dirty="0" smtClean="0">
                <a:ea typeface="휴먼매직체"/>
              </a:rPr>
              <a:t>26</a:t>
            </a:r>
            <a:r>
              <a:rPr lang="ko-KR" altLang="en-US" dirty="0" smtClean="0">
                <a:ea typeface="휴먼매직체"/>
              </a:rPr>
              <a:t>년</a:t>
            </a:r>
            <a:r>
              <a:rPr lang="en-US" altLang="ko-KR" dirty="0" smtClean="0">
                <a:ea typeface="휴먼매직체"/>
              </a:rPr>
              <a:t>12</a:t>
            </a:r>
            <a:r>
              <a:rPr lang="ko-KR" altLang="en-US" dirty="0" smtClean="0">
                <a:ea typeface="휴먼매직체"/>
              </a:rPr>
              <a:t>월</a:t>
            </a:r>
            <a:r>
              <a:rPr lang="en-US" altLang="ko-KR" dirty="0" smtClean="0">
                <a:ea typeface="휴먼매직체"/>
              </a:rPr>
              <a:t>),</a:t>
            </a:r>
            <a:r>
              <a:rPr lang="en-US" altLang="ko-KR" dirty="0">
                <a:ea typeface="휴먼매직체"/>
              </a:rPr>
              <a:t>2</a:t>
            </a:r>
            <a:r>
              <a:rPr lang="ko-KR" altLang="en-US" dirty="0">
                <a:ea typeface="휴먼매직체"/>
              </a:rPr>
              <a:t>차</a:t>
            </a:r>
            <a:r>
              <a:rPr lang="en-US" altLang="en-US" dirty="0" smtClean="0"/>
              <a:t>(565MW,</a:t>
            </a:r>
            <a:r>
              <a:rPr lang="ko-KR" altLang="en-US" dirty="0" smtClean="0"/>
              <a:t>준공기한 </a:t>
            </a:r>
            <a:r>
              <a:rPr lang="en-US" altLang="ko-KR" dirty="0" smtClean="0"/>
              <a:t>27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12</a:t>
            </a:r>
            <a:r>
              <a:rPr lang="ko-KR" altLang="en-US" dirty="0" smtClean="0"/>
              <a:t>월</a:t>
            </a:r>
            <a:r>
              <a:rPr lang="en-US" altLang="en-US" dirty="0" smtClean="0"/>
              <a:t>)</a:t>
            </a:r>
            <a:r>
              <a:rPr lang="ko-KR" altLang="en-US" dirty="0" smtClean="0">
                <a:ea typeface="휴먼매직체"/>
              </a:rPr>
              <a:t> 합산 </a:t>
            </a:r>
            <a:r>
              <a:rPr lang="ko-KR" altLang="en-US" dirty="0">
                <a:ea typeface="휴먼매직체"/>
              </a:rPr>
              <a:t>점유율 약 56%수주 (SK온 :25% LG엔솔 : 19</a:t>
            </a:r>
            <a:r>
              <a:rPr lang="ko-KR" altLang="en-US" dirty="0" smtClean="0">
                <a:ea typeface="휴먼매직체"/>
              </a:rPr>
              <a:t>%)</a:t>
            </a:r>
            <a:endParaRPr lang="en-US" altLang="ko-KR" dirty="0" smtClean="0">
              <a:ea typeface="휴먼매직체"/>
            </a:endParaRPr>
          </a:p>
          <a:p>
            <a:r>
              <a:rPr lang="ko-KR" altLang="en-US" dirty="0" smtClean="0">
                <a:ea typeface="휴먼매직체"/>
              </a:rPr>
              <a:t>미국 대형 에너지 전문기업에 </a:t>
            </a:r>
            <a:r>
              <a:rPr lang="en-US" altLang="ko-KR" dirty="0" smtClean="0">
                <a:ea typeface="휴먼매직체"/>
              </a:rPr>
              <a:t>ESS</a:t>
            </a:r>
            <a:r>
              <a:rPr lang="ko-KR" altLang="en-US" dirty="0" smtClean="0">
                <a:ea typeface="휴먼매직체"/>
              </a:rPr>
              <a:t>용 </a:t>
            </a:r>
            <a:r>
              <a:rPr lang="en-US" altLang="ko-KR" dirty="0" smtClean="0">
                <a:ea typeface="휴먼매직체"/>
              </a:rPr>
              <a:t>LFP </a:t>
            </a:r>
            <a:r>
              <a:rPr lang="ko-KR" altLang="en-US" dirty="0" smtClean="0">
                <a:ea typeface="휴먼매직체"/>
              </a:rPr>
              <a:t>배터리 납품계약</a:t>
            </a:r>
            <a:r>
              <a:rPr lang="en-US" altLang="ko-KR" dirty="0" smtClean="0">
                <a:ea typeface="휴먼매직체"/>
              </a:rPr>
              <a:t>, </a:t>
            </a:r>
            <a:r>
              <a:rPr lang="ko-KR" altLang="en-US" dirty="0" smtClean="0">
                <a:ea typeface="휴먼매직체"/>
              </a:rPr>
              <a:t>약 </a:t>
            </a:r>
            <a:r>
              <a:rPr lang="en-US" altLang="ko-KR" dirty="0" smtClean="0">
                <a:ea typeface="휴먼매직체"/>
              </a:rPr>
              <a:t>2</a:t>
            </a:r>
            <a:r>
              <a:rPr lang="ko-KR" altLang="en-US" dirty="0" smtClean="0">
                <a:ea typeface="휴먼매직체"/>
              </a:rPr>
              <a:t>조원 규모</a:t>
            </a:r>
            <a:r>
              <a:rPr lang="en-US" altLang="ko-KR" dirty="0" smtClean="0">
                <a:ea typeface="휴먼매직체"/>
              </a:rPr>
              <a:t>, 2027</a:t>
            </a:r>
            <a:r>
              <a:rPr lang="ko-KR" altLang="en-US" dirty="0" smtClean="0">
                <a:ea typeface="휴먼매직체"/>
              </a:rPr>
              <a:t>년부터 </a:t>
            </a:r>
            <a:r>
              <a:rPr lang="en-US" altLang="ko-KR" dirty="0" smtClean="0">
                <a:ea typeface="휴먼매직체"/>
              </a:rPr>
              <a:t>3</a:t>
            </a:r>
            <a:r>
              <a:rPr lang="ko-KR" altLang="en-US" dirty="0" smtClean="0">
                <a:ea typeface="휴먼매직체"/>
              </a:rPr>
              <a:t>년간 공급</a:t>
            </a:r>
            <a:r>
              <a:rPr lang="en-US" altLang="ko-KR" dirty="0" smtClean="0">
                <a:ea typeface="휴먼매직체"/>
              </a:rPr>
              <a:t>, (2025</a:t>
            </a:r>
            <a:r>
              <a:rPr lang="ko-KR" altLang="en-US" dirty="0" smtClean="0">
                <a:ea typeface="휴먼매직체"/>
              </a:rPr>
              <a:t>년 </a:t>
            </a:r>
            <a:r>
              <a:rPr lang="en-US" altLang="ko-KR" dirty="0" smtClean="0">
                <a:ea typeface="휴먼매직체"/>
              </a:rPr>
              <a:t>12</a:t>
            </a:r>
            <a:r>
              <a:rPr lang="ko-KR" altLang="en-US" dirty="0" smtClean="0">
                <a:ea typeface="휴먼매직체"/>
              </a:rPr>
              <a:t>월</a:t>
            </a:r>
            <a:r>
              <a:rPr lang="en-US" altLang="ko-KR" dirty="0" smtClean="0">
                <a:ea typeface="휴먼매직체"/>
              </a:rPr>
              <a:t>)</a:t>
            </a:r>
          </a:p>
          <a:p>
            <a:r>
              <a:rPr lang="ko-KR" altLang="en-US" dirty="0" smtClean="0">
                <a:ea typeface="휴먼매직체"/>
              </a:rPr>
              <a:t>미국 메이저 에너지 전문업체와 </a:t>
            </a:r>
            <a:r>
              <a:rPr lang="en-US" altLang="ko-KR" dirty="0" smtClean="0">
                <a:ea typeface="휴먼매직체"/>
              </a:rPr>
              <a:t>ESS</a:t>
            </a:r>
            <a:r>
              <a:rPr lang="ko-KR" altLang="en-US" dirty="0" smtClean="0">
                <a:ea typeface="휴먼매직체"/>
              </a:rPr>
              <a:t>용 </a:t>
            </a:r>
            <a:r>
              <a:rPr lang="en-US" altLang="ko-KR" dirty="0" smtClean="0">
                <a:ea typeface="휴먼매직체"/>
              </a:rPr>
              <a:t>NCA, LFP </a:t>
            </a:r>
            <a:r>
              <a:rPr lang="ko-KR" altLang="en-US" dirty="0" smtClean="0">
                <a:ea typeface="휴먼매직체"/>
              </a:rPr>
              <a:t>배터리 납품계약</a:t>
            </a:r>
            <a:r>
              <a:rPr lang="en-US" altLang="ko-KR" dirty="0" smtClean="0">
                <a:ea typeface="휴먼매직체"/>
              </a:rPr>
              <a:t>,</a:t>
            </a:r>
            <a:r>
              <a:rPr lang="ko-KR" altLang="en-US" dirty="0" smtClean="0">
                <a:ea typeface="휴먼매직체"/>
              </a:rPr>
              <a:t>계약 규모 </a:t>
            </a:r>
            <a:r>
              <a:rPr lang="en-US" altLang="ko-KR" dirty="0" smtClean="0">
                <a:ea typeface="휴먼매직체"/>
              </a:rPr>
              <a:t>1.5</a:t>
            </a:r>
            <a:r>
              <a:rPr lang="ko-KR" altLang="en-US" dirty="0" smtClean="0">
                <a:ea typeface="휴먼매직체"/>
              </a:rPr>
              <a:t>조원</a:t>
            </a:r>
            <a:r>
              <a:rPr lang="en-US" altLang="ko-KR" dirty="0" smtClean="0">
                <a:ea typeface="휴먼매직체"/>
              </a:rPr>
              <a:t>, 2026</a:t>
            </a:r>
            <a:r>
              <a:rPr lang="ko-KR" altLang="en-US" dirty="0" smtClean="0">
                <a:ea typeface="휴먼매직체"/>
              </a:rPr>
              <a:t>년부터 </a:t>
            </a:r>
            <a:r>
              <a:rPr lang="en-US" altLang="ko-KR" dirty="0" smtClean="0">
                <a:ea typeface="휴먼매직체"/>
              </a:rPr>
              <a:t>2029</a:t>
            </a:r>
            <a:r>
              <a:rPr lang="ko-KR" altLang="en-US" dirty="0" smtClean="0">
                <a:ea typeface="휴먼매직체"/>
              </a:rPr>
              <a:t>년까지 </a:t>
            </a:r>
            <a:r>
              <a:rPr lang="en-US" altLang="ko-KR" dirty="0" smtClean="0">
                <a:ea typeface="휴먼매직체"/>
              </a:rPr>
              <a:t>4</a:t>
            </a:r>
            <a:r>
              <a:rPr lang="ko-KR" altLang="en-US" dirty="0" smtClean="0">
                <a:ea typeface="휴먼매직체"/>
              </a:rPr>
              <a:t>년간 공급 </a:t>
            </a:r>
            <a:r>
              <a:rPr lang="en-US" altLang="ko-KR" dirty="0" smtClean="0">
                <a:ea typeface="휴먼매직체"/>
              </a:rPr>
              <a:t>(2026</a:t>
            </a:r>
            <a:r>
              <a:rPr lang="ko-KR" altLang="en-US" dirty="0" smtClean="0">
                <a:ea typeface="휴먼매직체"/>
              </a:rPr>
              <a:t>년 </a:t>
            </a:r>
            <a:r>
              <a:rPr lang="en-US" altLang="ko-KR" dirty="0" smtClean="0">
                <a:ea typeface="휴먼매직체"/>
              </a:rPr>
              <a:t>3</a:t>
            </a:r>
            <a:r>
              <a:rPr lang="ko-KR" altLang="en-US" dirty="0" smtClean="0">
                <a:ea typeface="휴먼매직체"/>
              </a:rPr>
              <a:t>월</a:t>
            </a:r>
            <a:r>
              <a:rPr lang="en-US" altLang="ko-KR" dirty="0" smtClean="0">
                <a:ea typeface="휴먼매직체"/>
              </a:rPr>
              <a:t>)</a:t>
            </a:r>
          </a:p>
          <a:p>
            <a:r>
              <a:rPr lang="ko-KR" altLang="ko-KR" dirty="0"/>
              <a:t>테슬라 </a:t>
            </a:r>
            <a:r>
              <a:rPr lang="en-US" altLang="ko-KR" dirty="0"/>
              <a:t>ESS </a:t>
            </a:r>
            <a:r>
              <a:rPr lang="ko-KR" altLang="en-US" dirty="0"/>
              <a:t>공급계약</a:t>
            </a:r>
            <a:r>
              <a:rPr lang="en-US" altLang="ko-KR" dirty="0"/>
              <a:t>(2026</a:t>
            </a:r>
            <a:r>
              <a:rPr lang="ko-KR" altLang="ko-KR" dirty="0"/>
              <a:t>년</a:t>
            </a:r>
            <a:r>
              <a:rPr lang="en-US" altLang="ko-KR" dirty="0"/>
              <a:t> 1</a:t>
            </a:r>
            <a:r>
              <a:rPr lang="ko-KR" altLang="ko-KR" dirty="0"/>
              <a:t>월</a:t>
            </a:r>
            <a:r>
              <a:rPr lang="ko-KR" altLang="en-US" dirty="0"/>
              <a:t>공시</a:t>
            </a:r>
            <a:r>
              <a:rPr lang="en-US" altLang="ko-KR" dirty="0"/>
              <a:t>), </a:t>
            </a:r>
            <a:r>
              <a:rPr lang="ko-KR" altLang="ko-KR" dirty="0"/>
              <a:t>매년 </a:t>
            </a:r>
            <a:r>
              <a:rPr lang="en-US" altLang="ko-KR" dirty="0"/>
              <a:t>10GW </a:t>
            </a:r>
            <a:r>
              <a:rPr lang="ko-KR" altLang="ko-KR" dirty="0"/>
              <a:t>공급</a:t>
            </a:r>
            <a:r>
              <a:rPr lang="en-US" altLang="ko-KR" dirty="0"/>
              <a:t>, </a:t>
            </a:r>
            <a:r>
              <a:rPr lang="ko-KR" altLang="ko-KR" dirty="0"/>
              <a:t>수조원 규모 </a:t>
            </a:r>
            <a:r>
              <a:rPr lang="ko-KR" altLang="ko-KR" dirty="0" smtClean="0"/>
              <a:t>추산</a:t>
            </a:r>
            <a:endParaRPr lang="en-US" altLang="ko-KR" dirty="0" smtClean="0"/>
          </a:p>
          <a:p>
            <a:r>
              <a:rPr lang="ko-KR" altLang="en-US" dirty="0" smtClean="0"/>
              <a:t>유럽 최대 상업용 독일 </a:t>
            </a:r>
            <a:r>
              <a:rPr lang="en-US" altLang="ko-KR" dirty="0" smtClean="0"/>
              <a:t>ESS </a:t>
            </a:r>
            <a:r>
              <a:rPr lang="ko-KR" altLang="en-US" dirty="0" smtClean="0"/>
              <a:t>업체 테스볼트에 </a:t>
            </a:r>
            <a:r>
              <a:rPr lang="en-US" altLang="ko-KR" dirty="0" smtClean="0"/>
              <a:t> </a:t>
            </a:r>
            <a:r>
              <a:rPr lang="ko-KR" altLang="en-US" dirty="0" smtClean="0"/>
              <a:t>배터리 공급계약 체결</a:t>
            </a:r>
            <a:r>
              <a:rPr lang="en-US" altLang="ko-KR" dirty="0" smtClean="0"/>
              <a:t>(2025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</a:t>
            </a:r>
            <a:r>
              <a:rPr lang="en-US" altLang="ko-KR" dirty="0" smtClean="0"/>
              <a:t>), SBB 1.0</a:t>
            </a:r>
            <a:r>
              <a:rPr lang="ko-KR" altLang="en-US" dirty="0" smtClean="0"/>
              <a:t>공급</a:t>
            </a:r>
            <a:r>
              <a:rPr lang="en-US" altLang="ko-KR" dirty="0" smtClean="0"/>
              <a:t>, 2026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2</a:t>
            </a:r>
            <a:r>
              <a:rPr lang="ko-KR" altLang="en-US" dirty="0" smtClean="0"/>
              <a:t>분기부터 </a:t>
            </a:r>
            <a:r>
              <a:rPr lang="en-US" altLang="ko-KR" dirty="0" smtClean="0"/>
              <a:t>SBB 1.5</a:t>
            </a:r>
            <a:r>
              <a:rPr lang="ko-KR" altLang="en-US" dirty="0" smtClean="0"/>
              <a:t>공급</a:t>
            </a:r>
            <a:endParaRPr lang="ko-KR" altLang="en-US" dirty="0">
              <a:ea typeface="휴먼매직체"/>
            </a:endParaRPr>
          </a:p>
        </p:txBody>
      </p:sp>
    </p:spTree>
    <p:extLst>
      <p:ext uri="{BB962C8B-B14F-4D97-AF65-F5344CB8AC3E}">
        <p14:creationId xmlns:p14="http://schemas.microsoft.com/office/powerpoint/2010/main" val="3356316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510" y="188640"/>
            <a:ext cx="7859216" cy="432048"/>
          </a:xfrm>
        </p:spPr>
        <p:txBody>
          <a:bodyPr>
            <a:noAutofit/>
          </a:bodyPr>
          <a:lstStyle/>
          <a:p>
            <a:r>
              <a:rPr lang="en-US" altLang="ko-KR" sz="2300" dirty="0">
                <a:solidFill>
                  <a:schemeClr val="tx1"/>
                </a:solidFill>
              </a:rPr>
              <a:t>* </a:t>
            </a:r>
            <a:r>
              <a:rPr lang="ko-KR" altLang="en-US" sz="2300" dirty="0">
                <a:solidFill>
                  <a:schemeClr val="tx1"/>
                </a:solidFill>
              </a:rPr>
              <a:t>글로벌 </a:t>
            </a:r>
            <a:r>
              <a:rPr lang="en-US" altLang="ko-KR" sz="2300" dirty="0">
                <a:solidFill>
                  <a:schemeClr val="tx1"/>
                </a:solidFill>
              </a:rPr>
              <a:t>LIB(</a:t>
            </a:r>
            <a:r>
              <a:rPr lang="ko-KR" altLang="en-US" sz="2300" dirty="0">
                <a:solidFill>
                  <a:schemeClr val="tx1"/>
                </a:solidFill>
              </a:rPr>
              <a:t>리튬이온배터리</a:t>
            </a:r>
            <a:r>
              <a:rPr lang="en-US" altLang="ko-KR" sz="2300" dirty="0">
                <a:solidFill>
                  <a:schemeClr val="tx1"/>
                </a:solidFill>
              </a:rPr>
              <a:t>) ESS </a:t>
            </a:r>
            <a:r>
              <a:rPr lang="ko-KR" altLang="en-US" sz="2300" dirty="0">
                <a:solidFill>
                  <a:schemeClr val="tx1"/>
                </a:solidFill>
              </a:rPr>
              <a:t>시장 </a:t>
            </a:r>
            <a:r>
              <a:rPr lang="ko-KR" altLang="en-US" sz="2300" dirty="0" smtClean="0">
                <a:solidFill>
                  <a:schemeClr val="tx1"/>
                </a:solidFill>
              </a:rPr>
              <a:t>규모</a:t>
            </a:r>
            <a:r>
              <a:rPr lang="en-US" altLang="ko-KR" sz="2300" dirty="0" smtClean="0">
                <a:solidFill>
                  <a:schemeClr val="tx1"/>
                </a:solidFill>
              </a:rPr>
              <a:t>(2024~25)</a:t>
            </a:r>
            <a:endParaRPr lang="ko-KR" altLang="en-US" sz="23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64088" y="1248222"/>
            <a:ext cx="3096344" cy="1748730"/>
          </a:xfrm>
        </p:spPr>
        <p:txBody>
          <a:bodyPr>
            <a:normAutofit/>
          </a:bodyPr>
          <a:lstStyle/>
          <a:p>
            <a:r>
              <a:rPr lang="ko-KR" altLang="en-US" sz="2200" dirty="0"/>
              <a:t>중국 제외 시장 규모</a:t>
            </a: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/>
              <a:t>   2024</a:t>
            </a:r>
            <a:r>
              <a:rPr lang="ko-KR" altLang="en-US" sz="2200" dirty="0"/>
              <a:t>년 </a:t>
            </a:r>
            <a:r>
              <a:rPr lang="en-US" altLang="ko-KR" sz="2200" dirty="0"/>
              <a:t>: 145GWh</a:t>
            </a:r>
          </a:p>
          <a:p>
            <a:pPr marL="0" indent="0">
              <a:buNone/>
            </a:pPr>
            <a:r>
              <a:rPr lang="en-US" altLang="ko-KR" sz="2200" dirty="0"/>
              <a:t>   2025</a:t>
            </a:r>
            <a:r>
              <a:rPr lang="ko-KR" altLang="en-US" sz="2200" dirty="0"/>
              <a:t>년 </a:t>
            </a:r>
            <a:r>
              <a:rPr lang="en-US" altLang="ko-KR" sz="2200" dirty="0"/>
              <a:t>: 198GWh</a:t>
            </a:r>
          </a:p>
          <a:p>
            <a:pPr marL="0" indent="0">
              <a:buNone/>
            </a:pPr>
            <a:r>
              <a:rPr lang="en-US" altLang="ko-KR" sz="2200" dirty="0"/>
              <a:t>   (</a:t>
            </a:r>
            <a:r>
              <a:rPr lang="ko-KR" altLang="en-US" sz="2200" dirty="0"/>
              <a:t>약 </a:t>
            </a:r>
            <a:r>
              <a:rPr lang="en-US" altLang="ko-KR" sz="2200" dirty="0"/>
              <a:t>37% </a:t>
            </a:r>
            <a:r>
              <a:rPr lang="ko-KR" altLang="en-US" sz="2200" dirty="0"/>
              <a:t>성장</a:t>
            </a:r>
            <a:r>
              <a:rPr lang="en-US" altLang="ko-KR" sz="2200" dirty="0"/>
              <a:t>)</a:t>
            </a:r>
            <a:endParaRPr lang="ko-KR" altLang="en-US" sz="22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620" y="1248222"/>
            <a:ext cx="4629150" cy="191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961" y="3856726"/>
            <a:ext cx="4543425" cy="286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238" y="3425825"/>
            <a:ext cx="9525" cy="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06620" y="3356459"/>
            <a:ext cx="34260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/>
              <a:t>*</a:t>
            </a:r>
            <a:r>
              <a:rPr lang="ko-KR" altLang="en-US" sz="2200" dirty="0"/>
              <a:t>업체별 </a:t>
            </a:r>
            <a:r>
              <a:rPr lang="en-US" altLang="ko-KR" sz="2200" dirty="0"/>
              <a:t>ESS </a:t>
            </a:r>
            <a:r>
              <a:rPr lang="ko-KR" altLang="en-US" sz="2200" dirty="0"/>
              <a:t>시장 점유율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6620" y="5661248"/>
            <a:ext cx="3777348" cy="43204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Straight Arrow Connector 12"/>
          <p:cNvCxnSpPr>
            <a:endCxn id="15" idx="2"/>
          </p:cNvCxnSpPr>
          <p:nvPr/>
        </p:nvCxnSpPr>
        <p:spPr>
          <a:xfrm flipV="1">
            <a:off x="4315395" y="3856726"/>
            <a:ext cx="2105348" cy="180452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288445" y="3378081"/>
            <a:ext cx="4264596" cy="47864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395" y="3392938"/>
            <a:ext cx="422910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8438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7715200" cy="360040"/>
          </a:xfrm>
        </p:spPr>
        <p:txBody>
          <a:bodyPr>
            <a:normAutofit fontScale="90000"/>
          </a:bodyPr>
          <a:lstStyle/>
          <a:p>
            <a:r>
              <a:rPr lang="en-US" altLang="ko-KR" sz="2300" dirty="0">
                <a:solidFill>
                  <a:schemeClr val="tx1"/>
                </a:solidFill>
              </a:rPr>
              <a:t>* </a:t>
            </a:r>
            <a:r>
              <a:rPr lang="ko-KR" altLang="en-US" sz="2300" dirty="0">
                <a:solidFill>
                  <a:schemeClr val="tx1"/>
                </a:solidFill>
              </a:rPr>
              <a:t>글로벌 </a:t>
            </a:r>
            <a:r>
              <a:rPr lang="en-US" altLang="ko-KR" sz="2300" dirty="0">
                <a:solidFill>
                  <a:schemeClr val="tx1"/>
                </a:solidFill>
              </a:rPr>
              <a:t>LIB(</a:t>
            </a:r>
            <a:r>
              <a:rPr lang="ko-KR" altLang="en-US" sz="2300" dirty="0">
                <a:solidFill>
                  <a:schemeClr val="tx1"/>
                </a:solidFill>
              </a:rPr>
              <a:t>리튬이온배터리</a:t>
            </a:r>
            <a:r>
              <a:rPr lang="en-US" altLang="ko-KR" sz="2300" dirty="0">
                <a:solidFill>
                  <a:schemeClr val="tx1"/>
                </a:solidFill>
              </a:rPr>
              <a:t>) ESS </a:t>
            </a:r>
            <a:r>
              <a:rPr lang="ko-KR" altLang="en-US" sz="2300" dirty="0">
                <a:solidFill>
                  <a:schemeClr val="tx1"/>
                </a:solidFill>
              </a:rPr>
              <a:t>시장 </a:t>
            </a:r>
            <a:r>
              <a:rPr lang="ko-KR" altLang="en-US" sz="2300" dirty="0" smtClean="0">
                <a:solidFill>
                  <a:schemeClr val="tx1"/>
                </a:solidFill>
              </a:rPr>
              <a:t>규모 </a:t>
            </a:r>
            <a:r>
              <a:rPr lang="en-US" altLang="ko-KR" sz="2300" dirty="0" smtClean="0">
                <a:solidFill>
                  <a:schemeClr val="tx1"/>
                </a:solidFill>
              </a:rPr>
              <a:t>(2026</a:t>
            </a:r>
            <a:r>
              <a:rPr lang="ko-KR" altLang="en-US" sz="2300" dirty="0" smtClean="0">
                <a:solidFill>
                  <a:schemeClr val="tx1"/>
                </a:solidFill>
              </a:rPr>
              <a:t>년</a:t>
            </a:r>
            <a:r>
              <a:rPr lang="en-US" altLang="ko-KR" sz="2300" dirty="0" smtClean="0">
                <a:solidFill>
                  <a:schemeClr val="tx1"/>
                </a:solidFill>
              </a:rPr>
              <a:t>1</a:t>
            </a:r>
            <a:r>
              <a:rPr lang="ko-KR" altLang="en-US" sz="2300" dirty="0" smtClean="0">
                <a:solidFill>
                  <a:schemeClr val="tx1"/>
                </a:solidFill>
              </a:rPr>
              <a:t>분기</a:t>
            </a:r>
            <a:r>
              <a:rPr lang="en-US" altLang="ko-KR" sz="2300" dirty="0" smtClean="0">
                <a:solidFill>
                  <a:schemeClr val="tx1"/>
                </a:solidFill>
              </a:rPr>
              <a:t>)</a:t>
            </a:r>
            <a:endParaRPr lang="ko-KR" altLang="en-US" sz="2300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860308" y="2972619"/>
            <a:ext cx="3960440" cy="28083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1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1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1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1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1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1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1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1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2026</a:t>
            </a:r>
            <a:r>
              <a:rPr lang="ko-KR" altLang="en-US" sz="2000" dirty="0"/>
              <a:t>년 </a:t>
            </a:r>
            <a:r>
              <a:rPr lang="en-US" altLang="ko-KR" sz="2000" dirty="0"/>
              <a:t>1</a:t>
            </a:r>
            <a:r>
              <a:rPr lang="ko-KR" altLang="en-US" sz="2000" dirty="0"/>
              <a:t>분 글로벌 리튬이온</a:t>
            </a:r>
            <a:r>
              <a:rPr lang="en-US" altLang="ko-KR" sz="2000" dirty="0"/>
              <a:t>(</a:t>
            </a:r>
            <a:r>
              <a:rPr lang="en-US" altLang="ko-KR" sz="2000" dirty="0" err="1"/>
              <a:t>LiB</a:t>
            </a:r>
            <a:r>
              <a:rPr lang="en-US" altLang="ko-KR" sz="2000" dirty="0"/>
              <a:t>) ESS </a:t>
            </a:r>
            <a:r>
              <a:rPr lang="ko-KR" altLang="en-US" sz="2000" dirty="0"/>
              <a:t>출하량은 </a:t>
            </a:r>
            <a:r>
              <a:rPr lang="en-US" altLang="ko-KR" sz="2000" dirty="0"/>
              <a:t>195.5GWh</a:t>
            </a:r>
            <a:r>
              <a:rPr lang="ko-KR" altLang="en-US" sz="2000" dirty="0"/>
              <a:t>로</a:t>
            </a:r>
            <a:r>
              <a:rPr lang="en-US" altLang="ko-KR" sz="2000" dirty="0"/>
              <a:t>, </a:t>
            </a:r>
            <a:r>
              <a:rPr lang="ko-KR" altLang="en-US" sz="2000" dirty="0"/>
              <a:t>전년 동기</a:t>
            </a:r>
            <a:r>
              <a:rPr lang="en-US" altLang="ko-KR" sz="2000" dirty="0"/>
              <a:t>(109.9GWh) </a:t>
            </a:r>
            <a:r>
              <a:rPr lang="ko-KR" altLang="en-US" sz="2000" dirty="0"/>
              <a:t>대비 </a:t>
            </a:r>
            <a:r>
              <a:rPr lang="en-US" altLang="ko-KR" sz="2000" dirty="0"/>
              <a:t>78% </a:t>
            </a:r>
            <a:r>
              <a:rPr lang="ko-KR" altLang="en-US" sz="2000" dirty="0" smtClean="0"/>
              <a:t>증가</a:t>
            </a:r>
            <a:r>
              <a:rPr lang="ko-KR" altLang="en-US" sz="2000" dirty="0"/>
              <a:t> </a:t>
            </a:r>
            <a:r>
              <a:rPr lang="en-US" altLang="ko-KR" sz="2000" dirty="0" smtClean="0"/>
              <a:t>(SNE </a:t>
            </a:r>
            <a:r>
              <a:rPr lang="ko-KR" altLang="en-US" sz="2000" dirty="0" smtClean="0"/>
              <a:t>리서치</a:t>
            </a:r>
            <a:r>
              <a:rPr lang="en-US" altLang="ko-KR" sz="2000" dirty="0" smtClean="0"/>
              <a:t>)</a:t>
            </a:r>
          </a:p>
          <a:p>
            <a:r>
              <a:rPr lang="ko-KR" altLang="en-US" sz="2000" dirty="0" smtClean="0"/>
              <a:t>중국제외 약 </a:t>
            </a:r>
            <a:r>
              <a:rPr lang="en-US" altLang="ko-KR" sz="2000" dirty="0" smtClean="0"/>
              <a:t>109%</a:t>
            </a:r>
            <a:r>
              <a:rPr lang="ko-KR" altLang="en-US" sz="2000" dirty="0" smtClean="0"/>
              <a:t>증가</a:t>
            </a:r>
            <a:endParaRPr lang="en-US" altLang="ko-KR" sz="2000" dirty="0" smtClean="0"/>
          </a:p>
          <a:p>
            <a:pPr marL="0" indent="0">
              <a:buNone/>
            </a:pPr>
            <a:r>
              <a:rPr lang="en-US" altLang="ko-KR" sz="1600" dirty="0" smtClean="0"/>
              <a:t>49.8GWh(25.1Q) -&gt; 104.1GWh(26.1Q)</a:t>
            </a:r>
          </a:p>
          <a:p>
            <a:endParaRPr lang="en-US" altLang="ko-KR" sz="2000" dirty="0" smtClean="0"/>
          </a:p>
          <a:p>
            <a:endParaRPr lang="ko-KR" altLang="en-US" sz="22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972619"/>
            <a:ext cx="4680520" cy="3811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48680"/>
            <a:ext cx="5991225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0351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06090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ESS - </a:t>
            </a:r>
            <a:r>
              <a:rPr lang="ko-KR" altLang="en-US" dirty="0">
                <a:solidFill>
                  <a:schemeClr val="tx1"/>
                </a:solidFill>
              </a:rPr>
              <a:t>신재생 에너지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확대 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국내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80728"/>
            <a:ext cx="7715200" cy="5493224"/>
          </a:xfrm>
        </p:spPr>
        <p:txBody>
          <a:bodyPr/>
          <a:lstStyle/>
          <a:p>
            <a:r>
              <a:rPr lang="ko-KR" altLang="en-US" sz="2200" dirty="0"/>
              <a:t>이란 미국 전쟁으로 인한 에너지 공급망 불안정사태</a:t>
            </a:r>
            <a:r>
              <a:rPr lang="en-US" altLang="ko-KR" sz="2200" dirty="0"/>
              <a:t>, </a:t>
            </a:r>
            <a:r>
              <a:rPr lang="ko-KR" altLang="en-US" sz="2200" dirty="0"/>
              <a:t>이에 따른 정부 정책으로 인한 신재생 에너지 확대 정책실시</a:t>
            </a:r>
            <a:endParaRPr lang="en-US" altLang="ko-KR" sz="2200" dirty="0"/>
          </a:p>
          <a:p>
            <a:r>
              <a:rPr lang="ko-KR" altLang="en-US" sz="2200" dirty="0"/>
              <a:t>기후에너지환경부 </a:t>
            </a:r>
            <a:r>
              <a:rPr lang="en-US" altLang="ko-KR" sz="2200" dirty="0"/>
              <a:t>‘</a:t>
            </a:r>
            <a:r>
              <a:rPr lang="ko-KR" altLang="en-US" sz="2200" dirty="0"/>
              <a:t>에너지 대전환 추진 계획</a:t>
            </a:r>
            <a:r>
              <a:rPr lang="en-US" altLang="ko-KR" sz="2200" dirty="0"/>
              <a:t>’</a:t>
            </a:r>
            <a:r>
              <a:rPr lang="ko-KR" altLang="en-US" sz="2200" dirty="0"/>
              <a:t> 국무회의 보고</a:t>
            </a:r>
            <a:endParaRPr lang="en-US" altLang="ko-KR" sz="2200" dirty="0"/>
          </a:p>
          <a:p>
            <a:r>
              <a:rPr lang="ko-KR" altLang="en-US" sz="2200" dirty="0"/>
              <a:t>전체 발전 비중에서 신재생 에너지 발전 비중을 </a:t>
            </a:r>
            <a:r>
              <a:rPr lang="en-US" altLang="ko-KR" sz="2200" dirty="0"/>
              <a:t>2030</a:t>
            </a:r>
            <a:r>
              <a:rPr lang="ko-KR" altLang="en-US" sz="2200" dirty="0"/>
              <a:t>년 </a:t>
            </a:r>
            <a:r>
              <a:rPr lang="en-US" altLang="ko-KR" sz="2200" dirty="0"/>
              <a:t>20%</a:t>
            </a:r>
            <a:r>
              <a:rPr lang="ko-KR" altLang="en-US" sz="2200" dirty="0"/>
              <a:t>이상으로 늘릴 계획 </a:t>
            </a:r>
            <a:r>
              <a:rPr lang="en-US" altLang="ko-KR" sz="2200" dirty="0"/>
              <a:t>(2025</a:t>
            </a:r>
            <a:r>
              <a:rPr lang="ko-KR" altLang="en-US" sz="2200" dirty="0"/>
              <a:t>년 발전비중 </a:t>
            </a:r>
            <a:r>
              <a:rPr lang="en-US" altLang="ko-KR" sz="2200" dirty="0"/>
              <a:t>11.4%)</a:t>
            </a:r>
          </a:p>
          <a:p>
            <a:r>
              <a:rPr lang="en-US" altLang="ko-KR" sz="2200" dirty="0"/>
              <a:t>2030</a:t>
            </a:r>
            <a:r>
              <a:rPr lang="ko-KR" altLang="en-US" sz="2200" dirty="0"/>
              <a:t>년 누적 설비용량 </a:t>
            </a:r>
            <a:r>
              <a:rPr lang="en-US" altLang="ko-KR" sz="2200" dirty="0"/>
              <a:t>100GW </a:t>
            </a:r>
            <a:r>
              <a:rPr lang="ko-KR" altLang="en-US" sz="2200" dirty="0"/>
              <a:t>달성 목표</a:t>
            </a:r>
            <a:r>
              <a:rPr lang="en-US" altLang="ko-KR" sz="2200" dirty="0"/>
              <a:t>,</a:t>
            </a:r>
          </a:p>
          <a:p>
            <a:pPr marL="0" indent="0">
              <a:buNone/>
            </a:pPr>
            <a:r>
              <a:rPr lang="ko-KR" altLang="en-US" sz="2200" dirty="0"/>
              <a:t>   태양광 </a:t>
            </a:r>
            <a:r>
              <a:rPr lang="en-US" altLang="ko-KR" sz="2200" dirty="0"/>
              <a:t>87GW, </a:t>
            </a:r>
            <a:r>
              <a:rPr lang="ko-KR" altLang="en-US" sz="2200" dirty="0"/>
              <a:t>육상풍력 </a:t>
            </a:r>
            <a:r>
              <a:rPr lang="en-US" altLang="ko-KR" sz="2200" dirty="0"/>
              <a:t>6GW, </a:t>
            </a:r>
            <a:r>
              <a:rPr lang="ko-KR" altLang="en-US" sz="2200" dirty="0"/>
              <a:t>해상풍력 </a:t>
            </a:r>
            <a:r>
              <a:rPr lang="en-US" altLang="ko-KR" sz="2200" dirty="0"/>
              <a:t>3GW, </a:t>
            </a:r>
            <a:r>
              <a:rPr lang="ko-KR" altLang="en-US" sz="2200" dirty="0"/>
              <a:t>기타</a:t>
            </a: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/>
              <a:t>   4GW</a:t>
            </a:r>
            <a:r>
              <a:rPr lang="ko-KR" altLang="en-US" sz="2200" dirty="0"/>
              <a:t>로 구성계획</a:t>
            </a:r>
          </a:p>
          <a:p>
            <a:endParaRPr lang="ko-KR" altLang="en-US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581128"/>
            <a:ext cx="3573063" cy="21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8547" y="4581128"/>
            <a:ext cx="3806138" cy="2152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2546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515" y="260648"/>
            <a:ext cx="7467600" cy="648072"/>
          </a:xfrm>
        </p:spPr>
        <p:txBody>
          <a:bodyPr vert="horz" lIns="91440" tIns="45720" rIns="91440" bIns="45720" anchor="b"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ea typeface="휴먼매직체"/>
              </a:rPr>
              <a:t>ESS - </a:t>
            </a:r>
            <a:r>
              <a:rPr lang="ko-KR" altLang="en-US">
                <a:solidFill>
                  <a:schemeClr val="tx1"/>
                </a:solidFill>
                <a:ea typeface="휴먼매직체"/>
              </a:rPr>
              <a:t>신재생 에너지</a:t>
            </a:r>
            <a:r>
              <a:rPr lang="en-US" altLang="ko-KR">
                <a:solidFill>
                  <a:schemeClr val="tx1"/>
                </a:solidFill>
                <a:ea typeface="휴먼매직체"/>
              </a:rPr>
              <a:t>?</a:t>
            </a:r>
            <a:r>
              <a:rPr lang="ko-KR" altLang="en-US" dirty="0">
                <a:solidFill>
                  <a:schemeClr val="tx1"/>
                </a:solidFill>
                <a:ea typeface="휴먼매직체"/>
              </a:rPr>
              <a:t>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515" y="918485"/>
            <a:ext cx="3988697" cy="2880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0638" y="918485"/>
            <a:ext cx="4208954" cy="2880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그림 2" descr="발전기, 하늘, 야외, 풍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xmlns="" id="{F71FBDE5-A32D-1851-FF90-D35158B8D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930" y="3902945"/>
            <a:ext cx="4194994" cy="2941996"/>
          </a:xfrm>
          <a:prstGeom prst="rect">
            <a:avLst/>
          </a:prstGeom>
        </p:spPr>
      </p:pic>
      <p:pic>
        <p:nvPicPr>
          <p:cNvPr id="4" name="그림 3" descr="야외, 건물, 지상, 부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xmlns="" id="{14FA2338-2E1E-959A-7802-605F1A6C10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121" y="3905249"/>
            <a:ext cx="3991590" cy="295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672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2074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ESS - </a:t>
            </a:r>
            <a:r>
              <a:rPr lang="ko-KR" altLang="en-US" dirty="0">
                <a:solidFill>
                  <a:schemeClr val="tx1"/>
                </a:solidFill>
              </a:rPr>
              <a:t>신재생 에너지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확대 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국내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80728"/>
            <a:ext cx="7467600" cy="5493224"/>
          </a:xfrm>
        </p:spPr>
        <p:txBody>
          <a:bodyPr>
            <a:normAutofit lnSpcReduction="10000"/>
          </a:bodyPr>
          <a:lstStyle/>
          <a:p>
            <a:r>
              <a:rPr lang="ko-KR" altLang="en-US" dirty="0" smtClean="0"/>
              <a:t>태양광은 </a:t>
            </a:r>
            <a:r>
              <a:rPr lang="ko-KR" altLang="en-US" dirty="0"/>
              <a:t>낮에 발전 집중</a:t>
            </a:r>
            <a:r>
              <a:rPr lang="en-US" altLang="ko-KR" dirty="0"/>
              <a:t>, </a:t>
            </a:r>
            <a:r>
              <a:rPr lang="ko-KR" altLang="en-US" dirty="0"/>
              <a:t>밤에는 발전량 급감 </a:t>
            </a:r>
            <a:r>
              <a:rPr lang="en-US" altLang="ko-KR" dirty="0"/>
              <a:t>-&gt; </a:t>
            </a:r>
            <a:r>
              <a:rPr lang="ko-KR" altLang="en-US" dirty="0"/>
              <a:t>계통 불안정</a:t>
            </a:r>
            <a:r>
              <a:rPr lang="en-US" altLang="ko-KR" dirty="0"/>
              <a:t>- &gt; </a:t>
            </a:r>
            <a:r>
              <a:rPr lang="ko-KR" altLang="en-US" dirty="0"/>
              <a:t>공급과 수요 균형을 못맞춤</a:t>
            </a:r>
            <a:r>
              <a:rPr lang="en-US" altLang="ko-KR" dirty="0"/>
              <a:t>-&gt; </a:t>
            </a:r>
            <a:r>
              <a:rPr lang="ko-KR" altLang="en-US" dirty="0"/>
              <a:t>이에 따라 </a:t>
            </a:r>
            <a:r>
              <a:rPr lang="en-US" altLang="ko-KR" dirty="0"/>
              <a:t>ESS</a:t>
            </a:r>
            <a:r>
              <a:rPr lang="ko-KR" altLang="en-US" dirty="0" smtClean="0"/>
              <a:t>사용</a:t>
            </a:r>
            <a:endParaRPr lang="en-US" altLang="ko-KR" dirty="0" smtClean="0"/>
          </a:p>
          <a:p>
            <a:r>
              <a:rPr lang="ko-KR" altLang="en-US" dirty="0"/>
              <a:t>풍력 발전 </a:t>
            </a:r>
            <a:r>
              <a:rPr lang="en-US" altLang="ko-KR" dirty="0"/>
              <a:t>ESS</a:t>
            </a:r>
            <a:r>
              <a:rPr lang="ko-KR" altLang="en-US" dirty="0"/>
              <a:t>는 바람의 세기에 따라 변동하는 풍력 발전의 불규칙한 출력을 안정화하고</a:t>
            </a:r>
            <a:r>
              <a:rPr lang="en-US" altLang="ko-KR" dirty="0"/>
              <a:t>, </a:t>
            </a:r>
            <a:r>
              <a:rPr lang="ko-KR" altLang="en-US" dirty="0"/>
              <a:t>잉여 전력을 저장했다가 필요할 때 공급하여 효율을 극대화하는 시스템</a:t>
            </a:r>
          </a:p>
          <a:p>
            <a:r>
              <a:rPr lang="ko-KR" altLang="en-US" dirty="0"/>
              <a:t>풍력단점 </a:t>
            </a:r>
            <a:r>
              <a:rPr lang="en-US" altLang="ko-KR" dirty="0"/>
              <a:t>: </a:t>
            </a:r>
            <a:r>
              <a:rPr lang="ko-KR" altLang="en-US" dirty="0"/>
              <a:t>대규모 설비와 이에따른 입지선정</a:t>
            </a:r>
            <a:r>
              <a:rPr lang="en-US" altLang="ko-KR" dirty="0"/>
              <a:t>, </a:t>
            </a:r>
            <a:r>
              <a:rPr lang="ko-KR" altLang="en-US" dirty="0"/>
              <a:t>주민 수용성 예를들어 해상풍력은 착공에만 </a:t>
            </a:r>
            <a:r>
              <a:rPr lang="en-US" altLang="ko-KR" dirty="0"/>
              <a:t>10</a:t>
            </a:r>
            <a:r>
              <a:rPr lang="ko-KR" altLang="en-US" dirty="0"/>
              <a:t>년걸린 사례가 대다수</a:t>
            </a:r>
            <a:endParaRPr lang="en-US" altLang="ko-KR" dirty="0" smtClean="0"/>
          </a:p>
          <a:p>
            <a:r>
              <a:rPr lang="ko-KR" altLang="en-US" dirty="0" smtClean="0"/>
              <a:t>태양광 </a:t>
            </a:r>
            <a:r>
              <a:rPr lang="ko-KR" altLang="en-US" dirty="0"/>
              <a:t>장점</a:t>
            </a:r>
            <a:r>
              <a:rPr lang="en-US" altLang="ko-KR" dirty="0"/>
              <a:t>: </a:t>
            </a:r>
            <a:r>
              <a:rPr lang="ko-KR" altLang="en-US" dirty="0"/>
              <a:t>설치 기간 </a:t>
            </a:r>
            <a:r>
              <a:rPr lang="en-US" altLang="ko-KR" dirty="0"/>
              <a:t>1</a:t>
            </a:r>
            <a:r>
              <a:rPr lang="ko-KR" altLang="en-US" dirty="0"/>
              <a:t>년이내로 짧고</a:t>
            </a:r>
            <a:r>
              <a:rPr lang="en-US" altLang="ko-KR" dirty="0"/>
              <a:t>, </a:t>
            </a:r>
            <a:r>
              <a:rPr lang="ko-KR" altLang="en-US" dirty="0"/>
              <a:t>공장 지붕</a:t>
            </a:r>
            <a:r>
              <a:rPr lang="en-US" altLang="ko-KR" dirty="0"/>
              <a:t>, </a:t>
            </a:r>
            <a:r>
              <a:rPr lang="ko-KR" altLang="en-US" dirty="0"/>
              <a:t>유후 부지</a:t>
            </a:r>
            <a:r>
              <a:rPr lang="en-US" altLang="ko-KR" dirty="0"/>
              <a:t>, </a:t>
            </a:r>
            <a:r>
              <a:rPr lang="ko-KR" altLang="en-US" dirty="0"/>
              <a:t>군 유후 부지</a:t>
            </a:r>
            <a:r>
              <a:rPr lang="en-US" altLang="ko-KR" dirty="0"/>
              <a:t>, </a:t>
            </a:r>
            <a:r>
              <a:rPr lang="ko-KR" altLang="en-US" dirty="0"/>
              <a:t>댐 저수지</a:t>
            </a:r>
            <a:r>
              <a:rPr lang="en-US" altLang="ko-KR" dirty="0"/>
              <a:t>, </a:t>
            </a:r>
            <a:r>
              <a:rPr lang="ko-KR" altLang="en-US" dirty="0"/>
              <a:t>수상태양광등</a:t>
            </a:r>
            <a:r>
              <a:rPr lang="en-US" altLang="ko-KR" dirty="0"/>
              <a:t>, </a:t>
            </a:r>
            <a:r>
              <a:rPr lang="ko-KR" altLang="en-US" dirty="0"/>
              <a:t>도로 철도 옆 유후부지에 즉각 설치 가능 즉 </a:t>
            </a:r>
            <a:r>
              <a:rPr lang="ko-KR" altLang="en-US" dirty="0" smtClean="0"/>
              <a:t> </a:t>
            </a:r>
            <a:r>
              <a:rPr lang="en-US" altLang="ko-KR" dirty="0" smtClean="0"/>
              <a:t>2030</a:t>
            </a:r>
            <a:r>
              <a:rPr lang="ko-KR" altLang="en-US" dirty="0"/>
              <a:t>년까지 즉각적인 용량확대가 가능한 설비는 </a:t>
            </a:r>
            <a:r>
              <a:rPr lang="ko-KR" altLang="en-US" dirty="0" smtClean="0"/>
              <a:t>태양광유일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34512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ESS - </a:t>
            </a:r>
            <a:r>
              <a:rPr lang="ko-KR" altLang="en-US" dirty="0">
                <a:solidFill>
                  <a:schemeClr val="tx1"/>
                </a:solidFill>
              </a:rPr>
              <a:t>신재생 에너지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확대 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국내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24744"/>
            <a:ext cx="7467600" cy="5349208"/>
          </a:xfrm>
        </p:spPr>
        <p:txBody>
          <a:bodyPr>
            <a:normAutofit/>
          </a:bodyPr>
          <a:lstStyle/>
          <a:p>
            <a:r>
              <a:rPr lang="ko-KR" altLang="en-US" dirty="0"/>
              <a:t>태양광 발전 연계형 </a:t>
            </a:r>
            <a:r>
              <a:rPr lang="en-US" altLang="ko-KR" dirty="0"/>
              <a:t>ESS(</a:t>
            </a:r>
            <a:r>
              <a:rPr lang="ko-KR" altLang="en-US" dirty="0"/>
              <a:t>에너지저장장치</a:t>
            </a:r>
            <a:r>
              <a:rPr lang="en-US" altLang="ko-KR" dirty="0"/>
              <a:t>)</a:t>
            </a:r>
            <a:r>
              <a:rPr lang="ko-KR" altLang="en-US" dirty="0"/>
              <a:t>의 설치 용량은 태양광 설비 용량</a:t>
            </a:r>
            <a:r>
              <a:rPr lang="en-US" altLang="ko-KR" dirty="0"/>
              <a:t>(kW)</a:t>
            </a:r>
            <a:r>
              <a:rPr lang="ko-KR" altLang="en-US" dirty="0"/>
              <a:t>을 기준으로 결정되며</a:t>
            </a:r>
            <a:r>
              <a:rPr lang="en-US" altLang="ko-KR" dirty="0"/>
              <a:t>, </a:t>
            </a:r>
            <a:r>
              <a:rPr lang="ko-KR" altLang="en-US" dirty="0"/>
              <a:t>일반적인 상업용 발전소의 경우 배터리 용량은 태양광 발전 용량의 약 </a:t>
            </a:r>
            <a:r>
              <a:rPr lang="en-US" altLang="ko-KR" dirty="0" smtClean="0"/>
              <a:t>2~3</a:t>
            </a:r>
            <a:r>
              <a:rPr lang="ko-KR" altLang="en-US" dirty="0" smtClean="0"/>
              <a:t>배로 산정됨</a:t>
            </a:r>
            <a:endParaRPr lang="en-US" altLang="ko-KR" dirty="0" smtClean="0"/>
          </a:p>
          <a:p>
            <a:r>
              <a:rPr lang="ko-KR" altLang="en-US" dirty="0" smtClean="0"/>
              <a:t>아래</a:t>
            </a:r>
            <a:r>
              <a:rPr lang="en-US" altLang="ko-KR" dirty="0" smtClean="0"/>
              <a:t>) </a:t>
            </a:r>
            <a:r>
              <a:rPr lang="ko-KR" altLang="en-US" dirty="0" smtClean="0"/>
              <a:t>실제 태양광 발전 연계 </a:t>
            </a:r>
            <a:r>
              <a:rPr lang="en-US" altLang="ko-KR" dirty="0" smtClean="0"/>
              <a:t>ESS </a:t>
            </a:r>
            <a:r>
              <a:rPr lang="ko-KR" altLang="en-US" dirty="0" smtClean="0"/>
              <a:t>보급 현황 </a:t>
            </a:r>
            <a:endParaRPr lang="ko-KR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261561"/>
            <a:ext cx="6766857" cy="3259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560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06090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ESS - </a:t>
            </a:r>
            <a:r>
              <a:rPr lang="ko-KR" altLang="en-US" dirty="0">
                <a:solidFill>
                  <a:schemeClr val="tx1"/>
                </a:solidFill>
              </a:rPr>
              <a:t>신재생 에너지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확대 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해외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68760"/>
            <a:ext cx="7467600" cy="5205192"/>
          </a:xfrm>
        </p:spPr>
        <p:txBody>
          <a:bodyPr/>
          <a:lstStyle/>
          <a:p>
            <a:r>
              <a:rPr lang="en-US" altLang="ko-KR" sz="2200" dirty="0" smtClean="0"/>
              <a:t>AI </a:t>
            </a:r>
            <a:r>
              <a:rPr lang="ko-KR" altLang="en-US" sz="2200" dirty="0" smtClean="0"/>
              <a:t>데이터센터 전력공급용 태양광발전</a:t>
            </a:r>
            <a:r>
              <a:rPr lang="en-US" altLang="ko-KR" sz="2200" dirty="0" smtClean="0"/>
              <a:t>+ESS </a:t>
            </a:r>
            <a:r>
              <a:rPr lang="ko-KR" altLang="en-US" sz="2200" dirty="0" smtClean="0"/>
              <a:t>조합 확대로 </a:t>
            </a:r>
            <a:r>
              <a:rPr lang="ko-KR" altLang="en-US" sz="2200" dirty="0"/>
              <a:t>인한 </a:t>
            </a:r>
            <a:r>
              <a:rPr lang="en-US" altLang="ko-KR" sz="2200" dirty="0" smtClean="0"/>
              <a:t>ESS </a:t>
            </a:r>
            <a:r>
              <a:rPr lang="ko-KR" altLang="en-US" sz="2200" dirty="0" smtClean="0"/>
              <a:t>수주 </a:t>
            </a:r>
            <a:r>
              <a:rPr lang="ko-KR" altLang="en-US" sz="2200" dirty="0"/>
              <a:t>기회 </a:t>
            </a:r>
            <a:endParaRPr lang="en-US" altLang="ko-KR" sz="2200" dirty="0" smtClean="0"/>
          </a:p>
          <a:p>
            <a:r>
              <a:rPr lang="ko-KR" altLang="en-US" sz="2200" dirty="0" smtClean="0"/>
              <a:t>테슬라</a:t>
            </a:r>
            <a:r>
              <a:rPr lang="en-US" altLang="ko-KR" sz="2200" dirty="0" smtClean="0"/>
              <a:t>&amp;</a:t>
            </a:r>
            <a:r>
              <a:rPr lang="ko-KR" altLang="en-US" sz="2200" dirty="0" smtClean="0"/>
              <a:t>스페이스</a:t>
            </a:r>
            <a:r>
              <a:rPr lang="en-US" altLang="ko-KR" sz="2200" dirty="0" smtClean="0"/>
              <a:t>X </a:t>
            </a:r>
            <a:r>
              <a:rPr lang="ko-KR" altLang="en-US" sz="2200" dirty="0" smtClean="0"/>
              <a:t>는 </a:t>
            </a:r>
            <a:r>
              <a:rPr lang="en-US" altLang="ko-KR" sz="2200" dirty="0" smtClean="0"/>
              <a:t>3</a:t>
            </a:r>
            <a:r>
              <a:rPr lang="ko-KR" altLang="en-US" sz="2200" dirty="0" smtClean="0"/>
              <a:t>년 내 태양광 패널 생산능력</a:t>
            </a:r>
            <a:r>
              <a:rPr lang="en-US" altLang="ko-KR" sz="2200" dirty="0" smtClean="0"/>
              <a:t>200GW </a:t>
            </a:r>
            <a:r>
              <a:rPr lang="ko-KR" altLang="en-US" sz="2200" dirty="0" smtClean="0"/>
              <a:t>확보 선언</a:t>
            </a:r>
            <a:r>
              <a:rPr lang="en-US" altLang="ko-KR" sz="2200" dirty="0" smtClean="0"/>
              <a:t> </a:t>
            </a:r>
          </a:p>
          <a:p>
            <a:r>
              <a:rPr lang="en-US" altLang="ko-KR" sz="2200" dirty="0" smtClean="0"/>
              <a:t>EU </a:t>
            </a:r>
            <a:r>
              <a:rPr lang="ko-KR" altLang="en-US" sz="2200" dirty="0"/>
              <a:t>내</a:t>
            </a:r>
            <a:r>
              <a:rPr lang="en-US" altLang="ko-KR" sz="2200" dirty="0"/>
              <a:t> 2026</a:t>
            </a:r>
            <a:r>
              <a:rPr lang="ko-KR" altLang="en-US" sz="2200" dirty="0"/>
              <a:t>년 </a:t>
            </a:r>
            <a:r>
              <a:rPr lang="ko-KR" altLang="en-US" sz="2200" dirty="0" smtClean="0"/>
              <a:t>태양광 </a:t>
            </a:r>
            <a:r>
              <a:rPr lang="en-US" altLang="ko-KR" sz="2200" dirty="0" smtClean="0"/>
              <a:t>70GW</a:t>
            </a:r>
            <a:r>
              <a:rPr lang="en-US" altLang="ko-KR" sz="2200" dirty="0"/>
              <a:t>, </a:t>
            </a:r>
            <a:r>
              <a:rPr lang="ko-KR" altLang="en-US" sz="2200" dirty="0"/>
              <a:t>풍력</a:t>
            </a:r>
            <a:r>
              <a:rPr lang="en-US" altLang="ko-KR" sz="2200" dirty="0"/>
              <a:t>19GW </a:t>
            </a:r>
            <a:r>
              <a:rPr lang="ko-KR" altLang="en-US" sz="2200" dirty="0"/>
              <a:t>설치 예상</a:t>
            </a:r>
            <a:r>
              <a:rPr lang="en-US" altLang="ko-KR" sz="2200" dirty="0"/>
              <a:t>, 2030</a:t>
            </a:r>
            <a:r>
              <a:rPr lang="ko-KR" altLang="en-US" sz="2200" dirty="0"/>
              <a:t>년 까지 설정한 기후목표 달성을 위해 풍력 발전 설비는 </a:t>
            </a:r>
            <a:r>
              <a:rPr lang="en-US" altLang="ko-KR" sz="2200" dirty="0"/>
              <a:t>220GW</a:t>
            </a:r>
            <a:r>
              <a:rPr lang="ko-KR" altLang="en-US" sz="2200" dirty="0"/>
              <a:t>에서 </a:t>
            </a:r>
            <a:r>
              <a:rPr lang="en-US" altLang="ko-KR" sz="2200" dirty="0"/>
              <a:t>425GW</a:t>
            </a:r>
            <a:r>
              <a:rPr lang="ko-KR" altLang="en-US" sz="2200" dirty="0"/>
              <a:t>로 확장할 계획</a:t>
            </a:r>
            <a:r>
              <a:rPr lang="en-US" altLang="ko-KR" sz="2200" dirty="0"/>
              <a:t>, </a:t>
            </a:r>
            <a:r>
              <a:rPr lang="ko-KR" altLang="en-US" sz="2200" dirty="0"/>
              <a:t>태양광 설비는 목표달성을 위해 매년 </a:t>
            </a:r>
            <a:r>
              <a:rPr lang="en-US" altLang="ko-KR" sz="2200" dirty="0"/>
              <a:t>70GW</a:t>
            </a:r>
            <a:r>
              <a:rPr lang="ko-KR" altLang="en-US" sz="2200" dirty="0"/>
              <a:t>이상 설치 계획</a:t>
            </a:r>
            <a:r>
              <a:rPr lang="ko-KR" altLang="en-US" sz="2200" dirty="0">
                <a:hlinkClick r:id="rId2"/>
              </a:rPr>
              <a:t>관련기사</a:t>
            </a:r>
            <a:r>
              <a:rPr lang="en-US" altLang="ko-KR" sz="2200" dirty="0">
                <a:hlinkClick r:id="rId2"/>
              </a:rPr>
              <a:t>-EU</a:t>
            </a:r>
            <a:endParaRPr lang="en-US" altLang="ko-KR" sz="2200" dirty="0"/>
          </a:p>
          <a:p>
            <a:r>
              <a:rPr lang="ko-KR" altLang="en-US" sz="2200" dirty="0"/>
              <a:t>일본 </a:t>
            </a:r>
            <a:r>
              <a:rPr lang="en-US" altLang="ko-KR" sz="2200" dirty="0"/>
              <a:t>2040</a:t>
            </a:r>
            <a:r>
              <a:rPr lang="ko-KR" altLang="en-US" sz="2200" dirty="0"/>
              <a:t>년 까지 재생에너지 비중 </a:t>
            </a:r>
            <a:r>
              <a:rPr lang="en-US" altLang="ko-KR" sz="2200" dirty="0"/>
              <a:t>50% </a:t>
            </a:r>
            <a:r>
              <a:rPr lang="ko-KR" altLang="en-US" sz="2200" dirty="0"/>
              <a:t>확대 계획</a:t>
            </a:r>
            <a:endParaRPr lang="en-US" altLang="ko-KR" sz="2200" dirty="0"/>
          </a:p>
          <a:p>
            <a:r>
              <a:rPr lang="ko-KR" altLang="en-US" sz="2200" dirty="0"/>
              <a:t>중국 </a:t>
            </a:r>
            <a:r>
              <a:rPr lang="en-US" altLang="ko-KR" sz="2200" dirty="0"/>
              <a:t>2030</a:t>
            </a:r>
            <a:r>
              <a:rPr lang="ko-KR" altLang="en-US" sz="2200" dirty="0"/>
              <a:t>년까지 에너지 소비 비중 </a:t>
            </a:r>
            <a:r>
              <a:rPr lang="en-US" altLang="ko-KR" sz="2200" dirty="0"/>
              <a:t>25%,</a:t>
            </a:r>
            <a:r>
              <a:rPr lang="ko-KR" altLang="en-US" sz="2200" dirty="0"/>
              <a:t>태양광</a:t>
            </a:r>
            <a:r>
              <a:rPr lang="en-US" altLang="ko-KR" sz="2200" dirty="0"/>
              <a:t>&amp;</a:t>
            </a:r>
            <a:r>
              <a:rPr lang="ko-KR" altLang="en-US" sz="2200" dirty="0"/>
              <a:t>풍력 설비 </a:t>
            </a:r>
            <a:r>
              <a:rPr lang="en-US" altLang="ko-KR" sz="2200" dirty="0"/>
              <a:t>1200GW </a:t>
            </a:r>
            <a:r>
              <a:rPr lang="ko-KR" altLang="en-US" sz="2200" dirty="0"/>
              <a:t>목표를 </a:t>
            </a:r>
            <a:r>
              <a:rPr lang="en-US" altLang="ko-KR" sz="2200" dirty="0"/>
              <a:t>2024</a:t>
            </a:r>
            <a:r>
              <a:rPr lang="ko-KR" altLang="en-US" sz="2200" dirty="0"/>
              <a:t>년말에 이미 조기 달성</a:t>
            </a:r>
            <a:r>
              <a:rPr lang="en-US" altLang="ko-KR" sz="2200" dirty="0"/>
              <a:t>(1878GW), 2040</a:t>
            </a:r>
            <a:r>
              <a:rPr lang="ko-KR" altLang="en-US" sz="2200" dirty="0"/>
              <a:t>년까지 신재생 비중 </a:t>
            </a:r>
            <a:r>
              <a:rPr lang="en-US" altLang="ko-KR" sz="2200" dirty="0"/>
              <a:t>85%</a:t>
            </a:r>
            <a:r>
              <a:rPr lang="ko-KR" altLang="en-US" sz="2200" dirty="0"/>
              <a:t>까지 달성 목표</a:t>
            </a:r>
            <a:endParaRPr lang="en-US" altLang="ko-KR" sz="220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0192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8318"/>
            <a:ext cx="7467600" cy="1143000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24" y="928934"/>
            <a:ext cx="7029450" cy="299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H="1">
            <a:off x="4644008" y="813715"/>
            <a:ext cx="288032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004048" y="525683"/>
            <a:ext cx="1800200" cy="6480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LFP </a:t>
            </a:r>
            <a:r>
              <a:rPr lang="ko-KR" altLang="en-US" sz="1400" dirty="0">
                <a:solidFill>
                  <a:schemeClr val="tx1"/>
                </a:solidFill>
              </a:rPr>
              <a:t>배터리 생산 </a:t>
            </a:r>
            <a:r>
              <a:rPr lang="en-US" altLang="ko-KR" sz="1400" dirty="0">
                <a:solidFill>
                  <a:schemeClr val="tx1"/>
                </a:solidFill>
              </a:rPr>
              <a:t>26</a:t>
            </a:r>
            <a:r>
              <a:rPr lang="ko-KR" altLang="en-US" sz="1400" dirty="0">
                <a:solidFill>
                  <a:schemeClr val="tx1"/>
                </a:solidFill>
              </a:rPr>
              <a:t>년 </a:t>
            </a:r>
            <a:r>
              <a:rPr lang="en-US" altLang="ko-KR" sz="1400" dirty="0">
                <a:solidFill>
                  <a:schemeClr val="tx1"/>
                </a:solidFill>
              </a:rPr>
              <a:t>4</a:t>
            </a:r>
            <a:r>
              <a:rPr lang="ko-KR" altLang="en-US" sz="1400" dirty="0">
                <a:solidFill>
                  <a:schemeClr val="tx1"/>
                </a:solidFill>
              </a:rPr>
              <a:t>분기 생산 예정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2267744" y="813715"/>
            <a:ext cx="288032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527080" y="324274"/>
            <a:ext cx="2142596" cy="84948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ea typeface="휴먼매직체"/>
              </a:rPr>
              <a:t>LFP </a:t>
            </a:r>
            <a:r>
              <a:rPr lang="ko-KR" altLang="en-US" sz="1400" dirty="0">
                <a:solidFill>
                  <a:schemeClr val="tx1"/>
                </a:solidFill>
                <a:ea typeface="휴먼매직체"/>
              </a:rPr>
              <a:t>배터리 생산라인 전환(4개라인 중 3개)  </a:t>
            </a:r>
            <a:r>
              <a:rPr lang="en-US" altLang="ko-KR" sz="1400" dirty="0">
                <a:solidFill>
                  <a:schemeClr val="tx1"/>
                </a:solidFill>
                <a:ea typeface="휴먼매직체"/>
              </a:rPr>
              <a:t>26</a:t>
            </a:r>
            <a:r>
              <a:rPr lang="ko-KR" altLang="en-US" sz="1400" dirty="0">
                <a:solidFill>
                  <a:schemeClr val="tx1"/>
                </a:solidFill>
                <a:ea typeface="휴먼매직체"/>
              </a:rPr>
              <a:t>년 </a:t>
            </a:r>
            <a:r>
              <a:rPr lang="en-US" altLang="ko-KR" sz="1400" dirty="0">
                <a:solidFill>
                  <a:schemeClr val="tx1"/>
                </a:solidFill>
                <a:ea typeface="휴먼매직체"/>
              </a:rPr>
              <a:t>4</a:t>
            </a:r>
            <a:r>
              <a:rPr lang="ko-KR" altLang="en-US" sz="1400" dirty="0">
                <a:solidFill>
                  <a:schemeClr val="tx1"/>
                </a:solidFill>
                <a:ea typeface="휴먼매직체"/>
              </a:rPr>
              <a:t>분기 생산 예정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17895" y="496233"/>
            <a:ext cx="1933571" cy="10457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GM </a:t>
            </a:r>
            <a:r>
              <a:rPr lang="ko-KR" altLang="en-US" sz="1400" dirty="0">
                <a:solidFill>
                  <a:schemeClr val="tx1"/>
                </a:solidFill>
              </a:rPr>
              <a:t>투자 축소로 인한 공장 건설 </a:t>
            </a:r>
            <a:r>
              <a:rPr lang="en-US" altLang="ko-KR" sz="1400" dirty="0">
                <a:solidFill>
                  <a:schemeClr val="tx1"/>
                </a:solidFill>
              </a:rPr>
              <a:t>Project</a:t>
            </a:r>
            <a:r>
              <a:rPr lang="ko-KR" altLang="en-US" sz="1400" dirty="0">
                <a:solidFill>
                  <a:schemeClr val="tx1"/>
                </a:solidFill>
              </a:rPr>
              <a:t> 현재 중단 상태로 확인</a:t>
            </a:r>
            <a:r>
              <a:rPr lang="en-US" altLang="ko-KR" sz="1400" dirty="0">
                <a:solidFill>
                  <a:schemeClr val="tx1"/>
                </a:solidFill>
              </a:rPr>
              <a:t>(2026.5 </a:t>
            </a:r>
            <a:r>
              <a:rPr lang="ko-KR" altLang="en-US" sz="1400" dirty="0">
                <a:solidFill>
                  <a:schemeClr val="tx1"/>
                </a:solidFill>
              </a:rPr>
              <a:t>기사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6922397" y="813715"/>
            <a:ext cx="288032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55" y="3950096"/>
            <a:ext cx="2874550" cy="2231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Rectangle 18"/>
          <p:cNvSpPr/>
          <p:nvPr/>
        </p:nvSpPr>
        <p:spPr>
          <a:xfrm>
            <a:off x="3091222" y="4145088"/>
            <a:ext cx="2350466" cy="15364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25</a:t>
            </a:r>
            <a:r>
              <a:rPr lang="ko-KR" altLang="en-US" sz="1400" dirty="0">
                <a:solidFill>
                  <a:schemeClr val="tx1"/>
                </a:solidFill>
              </a:rPr>
              <a:t>년 유상증자 조달 금액으로 각형 배터리 생산 확대 및 </a:t>
            </a:r>
            <a:r>
              <a:rPr lang="en-US" altLang="ko-KR" sz="1400" dirty="0">
                <a:solidFill>
                  <a:schemeClr val="tx1"/>
                </a:solidFill>
              </a:rPr>
              <a:t>LFP </a:t>
            </a:r>
            <a:r>
              <a:rPr lang="ko-KR" altLang="en-US" sz="1400" dirty="0">
                <a:solidFill>
                  <a:schemeClr val="tx1"/>
                </a:solidFill>
              </a:rPr>
              <a:t>생산라인 투자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32</a:t>
            </a:r>
            <a:r>
              <a:rPr lang="ko-KR" altLang="en-US" sz="1400" dirty="0">
                <a:solidFill>
                  <a:schemeClr val="tx1"/>
                </a:solidFill>
              </a:rPr>
              <a:t>년 까지 현대 기아 유럽향 전기차에 </a:t>
            </a:r>
            <a:r>
              <a:rPr lang="en-US" altLang="ko-KR" sz="1400" dirty="0">
                <a:solidFill>
                  <a:schemeClr val="tx1"/>
                </a:solidFill>
              </a:rPr>
              <a:t>50</a:t>
            </a:r>
            <a:r>
              <a:rPr lang="ko-KR" altLang="en-US" sz="1400" dirty="0">
                <a:solidFill>
                  <a:schemeClr val="tx1"/>
                </a:solidFill>
              </a:rPr>
              <a:t>만대 규모 배터리 공급 예상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2771214" y="4200056"/>
            <a:ext cx="288032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546" y="3952152"/>
            <a:ext cx="3398272" cy="289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0636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7467600" cy="576064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chemeClr val="tx1"/>
                </a:solidFill>
              </a:rPr>
              <a:t>중국 배터리 규제</a:t>
            </a:r>
            <a:r>
              <a:rPr lang="en-US" altLang="ko-KR" dirty="0">
                <a:solidFill>
                  <a:schemeClr val="tx1"/>
                </a:solidFill>
              </a:rPr>
              <a:t>(1)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836712"/>
            <a:ext cx="8424936" cy="5904656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dirty="0"/>
              <a:t>미국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1. OBBBA</a:t>
            </a:r>
            <a:r>
              <a:rPr lang="en-US" altLang="ko-KR" sz="1600" dirty="0"/>
              <a:t>(One Big Beautiful Bill Act) </a:t>
            </a:r>
          </a:p>
          <a:p>
            <a:pPr marL="0" indent="0">
              <a:buNone/>
            </a:pPr>
            <a:r>
              <a:rPr lang="en-US" altLang="ko-KR" sz="1600" dirty="0"/>
              <a:t>       - </a:t>
            </a:r>
            <a:r>
              <a:rPr lang="ko-KR" altLang="en-US" sz="2000" dirty="0"/>
              <a:t> </a:t>
            </a:r>
            <a:r>
              <a:rPr lang="en-US" altLang="ko-KR" sz="2000" dirty="0"/>
              <a:t>OBBBA</a:t>
            </a:r>
            <a:r>
              <a:rPr lang="ko-KR" altLang="en-US" sz="2000" dirty="0"/>
              <a:t> 관련 </a:t>
            </a:r>
            <a:r>
              <a:rPr lang="en-US" altLang="ko-KR" sz="2000" dirty="0"/>
              <a:t>PFE(Prohibited Foreign Entity) </a:t>
            </a:r>
            <a:r>
              <a:rPr lang="ko-KR" altLang="en-US" sz="2000" dirty="0"/>
              <a:t>원소제 부품 허용률 올해 </a:t>
            </a:r>
            <a:r>
              <a:rPr lang="en-US" altLang="ko-KR" sz="2000" dirty="0"/>
              <a:t>40%</a:t>
            </a:r>
            <a:r>
              <a:rPr lang="ko-KR" altLang="en-US" sz="2000" dirty="0"/>
              <a:t>에서 </a:t>
            </a:r>
            <a:r>
              <a:rPr lang="en-US" altLang="ko-KR" sz="2000" dirty="0"/>
              <a:t>30</a:t>
            </a:r>
            <a:r>
              <a:rPr lang="ko-KR" altLang="en-US" sz="2000" dirty="0"/>
              <a:t>년까지 </a:t>
            </a:r>
            <a:r>
              <a:rPr lang="en-US" altLang="ko-KR" sz="2000" dirty="0"/>
              <a:t>15%</a:t>
            </a:r>
            <a:r>
              <a:rPr lang="ko-KR" altLang="en-US" sz="2000" dirty="0"/>
              <a:t>까지 단계적으로 낮아짐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- </a:t>
            </a:r>
            <a:r>
              <a:rPr lang="ko-KR" altLang="en-US" sz="2000" dirty="0"/>
              <a:t>이를 미 충족시 세액공제 혜택 </a:t>
            </a:r>
            <a:r>
              <a:rPr lang="en-US" altLang="ko-KR" sz="2000" dirty="0" smtClean="0"/>
              <a:t>X</a:t>
            </a:r>
          </a:p>
          <a:p>
            <a:pPr marL="0" indent="0">
              <a:buNone/>
            </a:pPr>
            <a:r>
              <a:rPr lang="ko-KR" altLang="en-US" sz="2000" dirty="0" smtClean="0"/>
              <a:t>       참고</a:t>
            </a:r>
            <a:r>
              <a:rPr lang="en-US" altLang="ko-KR" sz="2000" dirty="0" smtClean="0"/>
              <a:t>) </a:t>
            </a:r>
            <a:r>
              <a:rPr lang="ko-KR" altLang="en-US" sz="2000" dirty="0"/>
              <a:t>미국 인플레이션 감축법</a:t>
            </a:r>
            <a:r>
              <a:rPr lang="en-US" altLang="ko-KR" sz="2000" dirty="0"/>
              <a:t>(IRA)</a:t>
            </a:r>
            <a:r>
              <a:rPr lang="ko-KR" altLang="en-US" sz="2000" dirty="0"/>
              <a:t>의 </a:t>
            </a:r>
            <a:r>
              <a:rPr lang="ko-KR" altLang="en-US" sz="2000" dirty="0" smtClean="0"/>
              <a:t>첨단제조생산세액공제</a:t>
            </a:r>
            <a:r>
              <a:rPr lang="en-US" altLang="ko-KR" sz="2000" dirty="0"/>
              <a:t>(AMPC_</a:t>
            </a:r>
            <a:r>
              <a:rPr lang="ko-KR" altLang="en-US" sz="2000" dirty="0"/>
              <a:t>미국</a:t>
            </a:r>
            <a:r>
              <a:rPr lang="en-US" altLang="ko-KR" sz="2000" dirty="0"/>
              <a:t>)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en-US" altLang="ko-KR" sz="2000" dirty="0"/>
              <a:t> </a:t>
            </a:r>
            <a:r>
              <a:rPr lang="en-US" altLang="ko-KR" sz="2000" dirty="0" smtClean="0"/>
              <a:t>            2032</a:t>
            </a:r>
            <a:r>
              <a:rPr lang="ko-KR" altLang="en-US" sz="2000" dirty="0"/>
              <a:t>년까지 유지 및 혜택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en-US" altLang="ko-KR" sz="2000" dirty="0" smtClean="0"/>
              <a:t>             </a:t>
            </a:r>
            <a:r>
              <a:rPr lang="ko-KR" altLang="en-US" sz="2000" dirty="0" smtClean="0"/>
              <a:t>배터리 </a:t>
            </a:r>
            <a:r>
              <a:rPr lang="ko-KR" altLang="en-US" sz="2000" dirty="0"/>
              <a:t>기업의 경우 셀 </a:t>
            </a:r>
            <a:r>
              <a:rPr lang="en-US" altLang="ko-KR" sz="2000" dirty="0"/>
              <a:t>1</a:t>
            </a:r>
            <a:r>
              <a:rPr lang="ko-KR" altLang="en-US" sz="2000" dirty="0"/>
              <a:t>킬로와트시</a:t>
            </a:r>
            <a:r>
              <a:rPr lang="en-US" altLang="ko-KR" sz="2000" dirty="0"/>
              <a:t>(kWh)</a:t>
            </a:r>
            <a:r>
              <a:rPr lang="ko-KR" altLang="en-US" sz="2000" dirty="0"/>
              <a:t>당 최대 </a:t>
            </a:r>
            <a:r>
              <a:rPr lang="en-US" altLang="ko-KR" sz="2000" dirty="0"/>
              <a:t>45</a:t>
            </a:r>
            <a:r>
              <a:rPr lang="ko-KR" altLang="en-US" sz="2000" dirty="0"/>
              <a:t>달러 세액공제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</a:t>
            </a:r>
            <a:r>
              <a:rPr lang="en-US" altLang="ko-KR" sz="2000" dirty="0" smtClean="0"/>
              <a:t>           </a:t>
            </a:r>
            <a:r>
              <a:rPr lang="ko-KR" altLang="en-US" sz="2000" dirty="0" smtClean="0"/>
              <a:t>미국 </a:t>
            </a:r>
            <a:r>
              <a:rPr lang="ko-KR" altLang="en-US" sz="2000" dirty="0"/>
              <a:t>내 배터리 부품 생산 및 판매 시</a:t>
            </a:r>
            <a:r>
              <a:rPr lang="en-US" altLang="ko-KR" sz="2000" dirty="0"/>
              <a:t>, </a:t>
            </a:r>
            <a:r>
              <a:rPr lang="ko-KR" altLang="en-US" sz="2000" dirty="0"/>
              <a:t>배터리 셀에 </a:t>
            </a:r>
            <a:r>
              <a:rPr lang="en-US" altLang="ko-KR" sz="2000" dirty="0"/>
              <a:t>$35/kWh, </a:t>
            </a:r>
            <a:endParaRPr lang="en-US" altLang="ko-KR" sz="2000" dirty="0" smtClean="0"/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en-US" altLang="ko-KR" sz="2000" dirty="0" smtClean="0"/>
              <a:t>               </a:t>
            </a:r>
            <a:r>
              <a:rPr lang="ko-KR" altLang="en-US" sz="2000" dirty="0" smtClean="0"/>
              <a:t>배터리 모듈 </a:t>
            </a:r>
            <a:r>
              <a:rPr lang="en-US" altLang="ko-KR" sz="2000" dirty="0"/>
              <a:t>$10/kWh(</a:t>
            </a:r>
            <a:r>
              <a:rPr lang="ko-KR" altLang="en-US" sz="2000" dirty="0"/>
              <a:t>셀사용</a:t>
            </a:r>
            <a:r>
              <a:rPr lang="en-US" altLang="ko-KR" sz="2000" dirty="0"/>
              <a:t>) </a:t>
            </a:r>
            <a:r>
              <a:rPr lang="ko-KR" altLang="en-US" sz="2000" dirty="0"/>
              <a:t>또는 </a:t>
            </a:r>
            <a:r>
              <a:rPr lang="en-US" altLang="ko-KR" sz="2000" dirty="0"/>
              <a:t>$45/kWh(</a:t>
            </a:r>
            <a:r>
              <a:rPr lang="ko-KR" altLang="en-US" sz="2000" dirty="0"/>
              <a:t>셀 미사용</a:t>
            </a:r>
            <a:r>
              <a:rPr lang="en-US" altLang="ko-KR" sz="2000" dirty="0"/>
              <a:t>) </a:t>
            </a:r>
            <a:r>
              <a:rPr lang="ko-KR" altLang="en-US" sz="2000" dirty="0" smtClean="0"/>
              <a:t>세액공제</a:t>
            </a:r>
            <a:r>
              <a:rPr lang="ko-KR" altLang="en-US" sz="2000" dirty="0"/>
              <a:t/>
            </a:r>
            <a:br>
              <a:rPr lang="ko-KR" altLang="en-US" sz="2000" dirty="0"/>
            </a:br>
            <a:r>
              <a:rPr lang="ko-KR" altLang="en-US" sz="2000" dirty="0"/>
              <a:t>   </a:t>
            </a:r>
            <a:r>
              <a:rPr lang="ko-KR" altLang="en-US" sz="2000" dirty="0" smtClean="0"/>
              <a:t>            </a:t>
            </a:r>
            <a:r>
              <a:rPr lang="en-US" altLang="ko-KR" sz="2000" dirty="0" smtClean="0"/>
              <a:t> </a:t>
            </a:r>
            <a:r>
              <a:rPr lang="ko-KR" altLang="en-US" sz="2000" dirty="0"/>
              <a:t>배터리 양극재나 음극재를 미국에서 가공할 경우 생산 비용 중 </a:t>
            </a:r>
            <a:r>
              <a:rPr lang="en-US" altLang="ko-KR" sz="2000" dirty="0"/>
              <a:t>10%</a:t>
            </a:r>
            <a:r>
              <a:rPr lang="ko-KR" altLang="en-US" sz="2000" dirty="0"/>
              <a:t>를 </a:t>
            </a:r>
            <a:r>
              <a:rPr lang="ko-KR" altLang="en-US" sz="2000" dirty="0" smtClean="0"/>
              <a:t>보전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dirty="0"/>
              <a:t>  2. </a:t>
            </a:r>
            <a:r>
              <a:rPr lang="ko-KR" altLang="en-US" dirty="0"/>
              <a:t>중국 배터리에 대한 고율 관세적용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- </a:t>
            </a:r>
            <a:r>
              <a:rPr lang="ko-KR" altLang="en-US" sz="2000" dirty="0"/>
              <a:t>전기차</a:t>
            </a:r>
            <a:r>
              <a:rPr lang="en-US" altLang="ko-KR" sz="2000" dirty="0"/>
              <a:t>(EV)</a:t>
            </a:r>
            <a:r>
              <a:rPr lang="ko-KR" altLang="en-US" sz="2000" dirty="0"/>
              <a:t>용 배터리</a:t>
            </a:r>
            <a:r>
              <a:rPr lang="en-US" altLang="ko-KR" sz="2000" dirty="0"/>
              <a:t>:</a:t>
            </a:r>
            <a:r>
              <a:rPr lang="ko-KR" altLang="en-US" sz="2000" dirty="0"/>
              <a:t> 무역법 </a:t>
            </a:r>
            <a:r>
              <a:rPr lang="en-US" altLang="ko-KR" sz="2000" dirty="0"/>
              <a:t>301</a:t>
            </a:r>
            <a:r>
              <a:rPr lang="ko-KR" altLang="en-US" sz="2000" dirty="0"/>
              <a:t>조에 따라 관세율이 </a:t>
            </a:r>
            <a:r>
              <a:rPr lang="en-US" altLang="ko-KR" sz="2000" dirty="0"/>
              <a:t>25%</a:t>
            </a:r>
          </a:p>
          <a:p>
            <a:pPr marL="0" indent="0">
              <a:buNone/>
            </a:pPr>
            <a:r>
              <a:rPr lang="en-US" altLang="ko-KR" sz="2000" dirty="0"/>
              <a:t>       </a:t>
            </a:r>
            <a:r>
              <a:rPr lang="ko-KR" altLang="en-US" sz="2000" dirty="0"/>
              <a:t>로 인상되었으며</a:t>
            </a:r>
            <a:r>
              <a:rPr lang="en-US" altLang="ko-KR" sz="2000" dirty="0"/>
              <a:t>, </a:t>
            </a:r>
            <a:r>
              <a:rPr lang="ko-KR" altLang="en-US" sz="2000" dirty="0"/>
              <a:t>기본 관세 및 보편 관세 등을 합산해 약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 38%~43% </a:t>
            </a:r>
            <a:r>
              <a:rPr lang="ko-KR" altLang="en-US" sz="2000" dirty="0"/>
              <a:t>수준의 실질 관세가 적용되고 있음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en-US" altLang="ko-KR" sz="2000" dirty="0">
                <a:latin typeface="HY강B"/>
                <a:ea typeface="HY강B"/>
              </a:rPr>
              <a:t> - </a:t>
            </a:r>
            <a:r>
              <a:rPr lang="en-US" altLang="ko-KR" sz="2000" dirty="0"/>
              <a:t>ESS </a:t>
            </a:r>
            <a:r>
              <a:rPr lang="ko-KR" altLang="en-US" sz="2000" dirty="0"/>
              <a:t>용 배터리</a:t>
            </a:r>
            <a:r>
              <a:rPr lang="en-US" altLang="ko-KR" sz="2000" dirty="0"/>
              <a:t>:</a:t>
            </a:r>
            <a:r>
              <a:rPr lang="ko-KR" altLang="en-US" sz="2000" dirty="0"/>
              <a:t> 대법원의 상호 관세 위법 판결 이후에도 관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 </a:t>
            </a:r>
            <a:r>
              <a:rPr lang="ko-KR" altLang="en-US" sz="2000" dirty="0"/>
              <a:t>세 및 보편 관세를 합쳐 </a:t>
            </a:r>
            <a:r>
              <a:rPr lang="en-US" altLang="ko-KR" sz="2000" dirty="0"/>
              <a:t>43.4%</a:t>
            </a:r>
            <a:r>
              <a:rPr lang="ko-KR" altLang="en-US" sz="2000" dirty="0"/>
              <a:t>의 높은 관세율이 유지되고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 </a:t>
            </a:r>
            <a:r>
              <a:rPr lang="ko-KR" altLang="en-US" sz="2000" dirty="0"/>
              <a:t>있습니다</a:t>
            </a:r>
            <a:r>
              <a:rPr lang="en-US" altLang="ko-KR" sz="2000" dirty="0"/>
              <a:t>. </a:t>
            </a:r>
            <a:r>
              <a:rPr lang="ko-KR" altLang="en-US" sz="2000" dirty="0"/>
              <a:t>일부 품목은 향후 최대 </a:t>
            </a:r>
            <a:r>
              <a:rPr lang="en-US" altLang="ko-KR" sz="2000" dirty="0"/>
              <a:t>64.9%</a:t>
            </a:r>
            <a:r>
              <a:rPr lang="ko-KR" altLang="en-US" sz="2000" dirty="0"/>
              <a:t>까지 누적 관세가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 </a:t>
            </a:r>
            <a:r>
              <a:rPr lang="ko-KR" altLang="en-US" sz="2000" dirty="0"/>
              <a:t>부과될 수 </a:t>
            </a:r>
            <a:r>
              <a:rPr lang="ko-KR" altLang="en-US" sz="2000" dirty="0" smtClean="0"/>
              <a:t>있습니다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7323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77" y="153792"/>
            <a:ext cx="7467600" cy="634082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중국 배터리 규제</a:t>
            </a:r>
            <a:r>
              <a:rPr lang="en-US" altLang="ko-KR" dirty="0">
                <a:solidFill>
                  <a:schemeClr val="tx1"/>
                </a:solidFill>
              </a:rPr>
              <a:t>(2)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7709" y="914470"/>
            <a:ext cx="8651940" cy="6022204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EU</a:t>
            </a:r>
          </a:p>
          <a:p>
            <a:pPr marL="0" indent="0">
              <a:buNone/>
            </a:pPr>
            <a:r>
              <a:rPr lang="en-US" altLang="ko-KR" dirty="0"/>
              <a:t> 1. </a:t>
            </a:r>
            <a:r>
              <a:rPr lang="ko-KR" altLang="en-US" dirty="0"/>
              <a:t>산업 가속화 법</a:t>
            </a:r>
            <a:r>
              <a:rPr lang="en-US" altLang="ko-KR" dirty="0"/>
              <a:t>(IAA, Industrial Accelerator Act)</a:t>
            </a:r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en-US" altLang="ko-KR" sz="2000" dirty="0"/>
              <a:t>-</a:t>
            </a:r>
            <a:r>
              <a:rPr lang="ko-KR" altLang="en-US" sz="2000" dirty="0"/>
              <a:t> 공공 조달과 국가 보조금 지급 대상에서 중국을 구조적으로 축출하기 위한 법적 장치</a:t>
            </a:r>
            <a:r>
              <a:rPr lang="en-US" altLang="ko-KR" sz="2000" dirty="0"/>
              <a:t>(2026</a:t>
            </a:r>
            <a:r>
              <a:rPr lang="ko-KR" altLang="en-US" sz="2000" dirty="0"/>
              <a:t>년 </a:t>
            </a:r>
            <a:r>
              <a:rPr lang="en-US" altLang="ko-KR" sz="2000" dirty="0"/>
              <a:t>3</a:t>
            </a:r>
            <a:r>
              <a:rPr lang="ko-KR" altLang="en-US" sz="2000" dirty="0"/>
              <a:t>월 발의</a:t>
            </a:r>
            <a:r>
              <a:rPr lang="en-US" altLang="ko-KR" sz="2000" dirty="0"/>
              <a:t>) </a:t>
            </a:r>
            <a:r>
              <a:rPr lang="ko-KR" altLang="en-US" sz="2000" dirty="0"/>
              <a:t>이 법안은 기업용 전기차 지원금의 </a:t>
            </a:r>
            <a:r>
              <a:rPr lang="en-US" altLang="ko-KR" sz="2000" dirty="0"/>
              <a:t>100%</a:t>
            </a:r>
            <a:r>
              <a:rPr lang="ko-KR" altLang="en-US" sz="2000" dirty="0"/>
              <a:t>를 엄격한 역내 생산 요건을 충족하는 ‘</a:t>
            </a:r>
            <a:r>
              <a:rPr lang="en-US" altLang="ko-KR" sz="2000" dirty="0"/>
              <a:t>Made in EU’ </a:t>
            </a:r>
            <a:r>
              <a:rPr lang="ko-KR" altLang="en-US" sz="2000" dirty="0"/>
              <a:t>제품에만 배정하도록 규정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- </a:t>
            </a:r>
            <a:r>
              <a:rPr lang="ko-KR" altLang="en-US" sz="2000" dirty="0"/>
              <a:t>초기 차량용 배터리 요건은 </a:t>
            </a:r>
            <a:r>
              <a:rPr lang="en-US" altLang="ko-KR" sz="2000" dirty="0"/>
              <a:t>EU</a:t>
            </a:r>
            <a:r>
              <a:rPr lang="ko-KR" altLang="en-US" sz="2000" dirty="0"/>
              <a:t>산 배터리 셀을 포함한 주요 특정 부품 </a:t>
            </a:r>
            <a:r>
              <a:rPr lang="en-US" altLang="ko-KR" sz="2000" dirty="0"/>
              <a:t>3</a:t>
            </a:r>
            <a:r>
              <a:rPr lang="ko-KR" altLang="en-US" sz="2000" dirty="0"/>
              <a:t>개 이상을 요구</a:t>
            </a:r>
            <a:r>
              <a:rPr lang="en-US" altLang="ko-KR" sz="2000" dirty="0"/>
              <a:t>, </a:t>
            </a:r>
            <a:r>
              <a:rPr lang="ko-KR" altLang="en-US" sz="2000" dirty="0"/>
              <a:t>주요 특정 부품이란 배터리 팩</a:t>
            </a:r>
            <a:r>
              <a:rPr lang="en-US" altLang="ko-KR" sz="2000" dirty="0"/>
              <a:t>, </a:t>
            </a:r>
            <a:r>
              <a:rPr lang="ko-KR" altLang="en-US" sz="2000" dirty="0"/>
              <a:t>모듈</a:t>
            </a:r>
            <a:r>
              <a:rPr lang="en-US" altLang="ko-KR" sz="2000" dirty="0"/>
              <a:t>, </a:t>
            </a:r>
            <a:r>
              <a:rPr lang="ko-KR" altLang="en-US" sz="2000" dirty="0"/>
              <a:t>셀</a:t>
            </a:r>
            <a:r>
              <a:rPr lang="en-US" altLang="ko-KR" sz="2000" dirty="0"/>
              <a:t>, </a:t>
            </a:r>
            <a:r>
              <a:rPr lang="ko-KR" altLang="en-US" sz="2000" dirty="0"/>
              <a:t>양극활물질</a:t>
            </a:r>
            <a:r>
              <a:rPr lang="en-US" altLang="ko-KR" sz="2000" dirty="0"/>
              <a:t>, </a:t>
            </a:r>
            <a:r>
              <a:rPr lang="ko-KR" altLang="en-US" sz="2000" dirty="0"/>
              <a:t>음극활물질</a:t>
            </a:r>
            <a:r>
              <a:rPr lang="en-US" altLang="ko-KR" sz="2000" dirty="0"/>
              <a:t>, </a:t>
            </a:r>
            <a:r>
              <a:rPr lang="ko-KR" altLang="en-US" sz="2000" dirty="0"/>
              <a:t>전해액</a:t>
            </a:r>
            <a:r>
              <a:rPr lang="en-US" altLang="ko-KR" sz="2000" dirty="0"/>
              <a:t>, </a:t>
            </a:r>
            <a:r>
              <a:rPr lang="ko-KR" altLang="en-US" sz="2000" dirty="0"/>
              <a:t>분리막</a:t>
            </a:r>
            <a:r>
              <a:rPr lang="en-US" altLang="ko-KR" sz="2000" dirty="0"/>
              <a:t>, </a:t>
            </a:r>
            <a:r>
              <a:rPr lang="ko-KR" altLang="en-US" sz="2000" dirty="0"/>
              <a:t>집전체</a:t>
            </a:r>
            <a:r>
              <a:rPr lang="en-US" altLang="ko-KR" sz="2000" dirty="0"/>
              <a:t>, </a:t>
            </a:r>
            <a:r>
              <a:rPr lang="ko-KR" altLang="en-US" sz="2000" dirty="0"/>
              <a:t>배터리관리시스템</a:t>
            </a:r>
            <a:r>
              <a:rPr lang="en-US" altLang="ko-KR" sz="2000" dirty="0"/>
              <a:t>(BMS) </a:t>
            </a:r>
            <a:r>
              <a:rPr lang="ko-KR" altLang="en-US" sz="2000" dirty="0"/>
              <a:t>등이 포함</a:t>
            </a:r>
            <a:r>
              <a:rPr lang="en-US" altLang="ko-KR" sz="2000" dirty="0"/>
              <a:t>. </a:t>
            </a:r>
            <a:r>
              <a:rPr lang="ko-KR" altLang="en-US" sz="2000" dirty="0"/>
              <a:t>법 발효 </a:t>
            </a:r>
            <a:r>
              <a:rPr lang="en-US" altLang="ko-KR" sz="2000" dirty="0"/>
              <a:t>3</a:t>
            </a:r>
            <a:r>
              <a:rPr lang="ko-KR" altLang="en-US" sz="2000" dirty="0"/>
              <a:t>년 뒤에는 요건이 더 강화돼 </a:t>
            </a:r>
            <a:r>
              <a:rPr lang="en-US" altLang="ko-KR" sz="2000" dirty="0"/>
              <a:t>EU</a:t>
            </a:r>
            <a:r>
              <a:rPr lang="ko-KR" altLang="en-US" sz="2000" dirty="0"/>
              <a:t>산 주요 특정 부품을 최소 </a:t>
            </a:r>
            <a:r>
              <a:rPr lang="en-US" altLang="ko-KR" sz="2000" dirty="0"/>
              <a:t>5</a:t>
            </a:r>
            <a:r>
              <a:rPr lang="ko-KR" altLang="en-US" sz="2000" dirty="0"/>
              <a:t>개 포함해야 하고  가운데 배터리 셀과 양극활물질</a:t>
            </a:r>
            <a:r>
              <a:rPr lang="en-US" altLang="ko-KR" sz="2000" dirty="0"/>
              <a:t>, BMS</a:t>
            </a:r>
            <a:r>
              <a:rPr lang="ko-KR" altLang="en-US" sz="2000" dirty="0"/>
              <a:t>는 반드시 </a:t>
            </a:r>
            <a:r>
              <a:rPr lang="en-US" altLang="ko-KR" sz="2000" dirty="0"/>
              <a:t>EU</a:t>
            </a:r>
            <a:r>
              <a:rPr lang="ko-KR" altLang="en-US" sz="2000" dirty="0"/>
              <a:t>산이어야 함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- </a:t>
            </a:r>
            <a:r>
              <a:rPr lang="ko-KR" altLang="en-US" sz="2000" dirty="0"/>
              <a:t>이 법안 중 주목할 핵심은 ‘역내 제조 등가성’의 범위다</a:t>
            </a:r>
            <a:r>
              <a:rPr lang="en-US" altLang="ko-KR" sz="2000" dirty="0"/>
              <a:t>. EU</a:t>
            </a:r>
            <a:r>
              <a:rPr lang="ko-KR" altLang="en-US" sz="2000" dirty="0"/>
              <a:t>는 </a:t>
            </a:r>
            <a:r>
              <a:rPr lang="en-US" altLang="ko-KR" sz="2000" dirty="0"/>
              <a:t>FTA</a:t>
            </a:r>
            <a:r>
              <a:rPr lang="ko-KR" altLang="en-US" sz="2000" dirty="0"/>
              <a:t>를 체결했거나 </a:t>
            </a:r>
            <a:r>
              <a:rPr lang="en-US" altLang="ko-KR" sz="2000" dirty="0"/>
              <a:t>WTO </a:t>
            </a:r>
            <a:r>
              <a:rPr lang="ko-KR" altLang="en-US" sz="2000" dirty="0"/>
              <a:t>정부조달협정 서명국인 국가만을 우대 국가로 분류했다</a:t>
            </a:r>
            <a:r>
              <a:rPr lang="en-US" altLang="ko-KR" sz="2000" dirty="0"/>
              <a:t>. </a:t>
            </a:r>
            <a:r>
              <a:rPr lang="ko-KR" altLang="en-US" sz="2000" dirty="0"/>
              <a:t>이에 따라 한국산 배터리는 </a:t>
            </a:r>
            <a:r>
              <a:rPr lang="en-US" altLang="ko-KR" sz="2000" dirty="0"/>
              <a:t>EU </a:t>
            </a:r>
            <a:r>
              <a:rPr lang="ko-KR" altLang="en-US" sz="2000" dirty="0"/>
              <a:t>영토 밖에서 생산되더라도 역내산과 동일한 보조금 지위를 누리게 되지만</a:t>
            </a:r>
            <a:r>
              <a:rPr lang="en-US" altLang="ko-KR" sz="2000" dirty="0"/>
              <a:t>, </a:t>
            </a:r>
            <a:r>
              <a:rPr lang="ko-KR" altLang="en-US" sz="2000" dirty="0"/>
              <a:t>중국산은 공공 시장에서 사실상 퇴출당하게 된다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- </a:t>
            </a:r>
            <a:r>
              <a:rPr lang="ko-KR" altLang="en-US" sz="2000" dirty="0"/>
              <a:t>단</a:t>
            </a:r>
            <a:r>
              <a:rPr lang="en-US" altLang="ko-KR" sz="2000" dirty="0"/>
              <a:t>, CATL </a:t>
            </a:r>
            <a:r>
              <a:rPr lang="ko-KR" altLang="en-US" sz="2000" dirty="0"/>
              <a:t>같은 중국계 기업이라도 헝가리나 독일 공장에서 베터리 셀을 실질적으로 생산하면 </a:t>
            </a:r>
            <a:r>
              <a:rPr lang="en-US" altLang="ko-KR" sz="2000" dirty="0"/>
              <a:t>EU</a:t>
            </a:r>
            <a:r>
              <a:rPr lang="ko-KR" altLang="en-US" sz="2000" dirty="0"/>
              <a:t>산으로 인정될 가능성이 큼</a:t>
            </a:r>
            <a:r>
              <a:rPr lang="en-US" altLang="ko-KR" sz="2000" dirty="0"/>
              <a:t>, </a:t>
            </a:r>
            <a:r>
              <a:rPr lang="ko-KR" altLang="en-US" sz="2000" dirty="0"/>
              <a:t>반대로 중국에서 생산된 셀을 유럽으로 들여온 뒤 단순히 모듈이나 팩으로 조립하는 경우는 셀 자체가 </a:t>
            </a:r>
            <a:r>
              <a:rPr lang="en-US" altLang="ko-KR" sz="2000" dirty="0"/>
              <a:t>EU</a:t>
            </a:r>
            <a:r>
              <a:rPr lang="ko-KR" altLang="en-US" sz="2000" dirty="0"/>
              <a:t>산으로 바뀌지 않음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 - </a:t>
            </a:r>
            <a:r>
              <a:rPr lang="ko-KR" altLang="en-US" sz="2000" dirty="0"/>
              <a:t>스웨덴의 노스볼트</a:t>
            </a:r>
            <a:r>
              <a:rPr lang="en-US" altLang="ko-KR" sz="2000" dirty="0"/>
              <a:t>(</a:t>
            </a:r>
            <a:r>
              <a:rPr lang="en-US" altLang="ko-KR" sz="2000" dirty="0" err="1"/>
              <a:t>Northvolt</a:t>
            </a:r>
            <a:r>
              <a:rPr lang="en-US" altLang="ko-KR" sz="2000" dirty="0"/>
              <a:t>)</a:t>
            </a:r>
            <a:r>
              <a:rPr lang="ko-KR" altLang="en-US" sz="2000" dirty="0"/>
              <a:t>와 노르웨이의 모로우 </a:t>
            </a:r>
            <a:r>
              <a:rPr lang="ko-KR" altLang="en-US" sz="2000"/>
              <a:t>배터리 </a:t>
            </a:r>
            <a:r>
              <a:rPr lang="ko-KR" altLang="en-US" sz="2000" smtClean="0"/>
              <a:t>파산으로 </a:t>
            </a:r>
            <a:r>
              <a:rPr lang="ko-KR" altLang="en-US" sz="2000" dirty="0"/>
              <a:t>한국 배터리 </a:t>
            </a:r>
            <a:r>
              <a:rPr lang="en-US" altLang="ko-KR" sz="2000" dirty="0"/>
              <a:t>3</a:t>
            </a:r>
            <a:r>
              <a:rPr lang="ko-KR" altLang="en-US" sz="2000" dirty="0"/>
              <a:t>사의 반사이익 기대됨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dirty="0"/>
              <a:t> 2. </a:t>
            </a:r>
            <a:r>
              <a:rPr lang="ko-KR" altLang="en-US" dirty="0"/>
              <a:t>관세 부과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en-US" altLang="ko-KR" sz="2000" dirty="0"/>
              <a:t>- </a:t>
            </a:r>
            <a:r>
              <a:rPr lang="ko-KR" altLang="en-US" sz="2000" dirty="0"/>
              <a:t>전기차 배터리에 기본 관세</a:t>
            </a:r>
            <a:r>
              <a:rPr lang="en-US" altLang="ko-KR" sz="2000" dirty="0"/>
              <a:t>(10%)</a:t>
            </a:r>
            <a:r>
              <a:rPr lang="ko-KR" altLang="en-US" sz="2000" dirty="0"/>
              <a:t>에 더해 회사별로 최대 </a:t>
            </a:r>
            <a:r>
              <a:rPr lang="en-US" altLang="ko-KR" sz="2000" dirty="0"/>
              <a:t>35.3%</a:t>
            </a:r>
            <a:r>
              <a:rPr lang="ko-KR" altLang="en-US" sz="2000" dirty="0"/>
              <a:t>포인트의 추가 관세를 더해 최대 </a:t>
            </a:r>
            <a:r>
              <a:rPr lang="en-US" altLang="ko-KR" sz="2000" dirty="0"/>
              <a:t>45.3% </a:t>
            </a:r>
            <a:r>
              <a:rPr lang="ko-KR" altLang="en-US" sz="2000" dirty="0"/>
              <a:t>부과</a:t>
            </a:r>
            <a:r>
              <a:rPr lang="en-US" altLang="ko-KR" sz="2000" dirty="0"/>
              <a:t> 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74978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6E45BE7-A75B-D58E-39D1-04E408846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89936"/>
          </a:xfrm>
        </p:spPr>
        <p:txBody>
          <a:bodyPr vert="horz" lIns="91440" tIns="45720" rIns="91440" bIns="45720" anchor="b"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ea typeface="휴먼매직체"/>
              </a:rPr>
              <a:t>BBU (Battery Back-up Unit)</a:t>
            </a:r>
            <a:endParaRPr lang="ko-KR" altLang="en-US" dirty="0">
              <a:solidFill>
                <a:schemeClr val="tx1"/>
              </a:solidFill>
              <a:ea typeface="휴먼매직체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2A968593-8CD6-4BE9-FE2A-071EA8DA13A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51520" y="1052736"/>
            <a:ext cx="8280920" cy="5472607"/>
          </a:xfrm>
        </p:spPr>
        <p:txBody>
          <a:bodyPr vert="horz" lIns="91440" tIns="45720" rIns="91440" bIns="45720" anchor="t">
            <a:normAutofit fontScale="77500" lnSpcReduction="20000"/>
          </a:bodyPr>
          <a:lstStyle/>
          <a:p>
            <a:r>
              <a:rPr lang="ko-KR" altLang="en-US" dirty="0">
                <a:ea typeface="휴먼매직체"/>
              </a:rPr>
              <a:t>데이터 센터 내  서버랙에 설치되어 전력피크를 </a:t>
            </a:r>
            <a:r>
              <a:rPr lang="ko-KR" altLang="en-US" dirty="0" smtClean="0">
                <a:ea typeface="휴먼매직체"/>
              </a:rPr>
              <a:t>제어</a:t>
            </a:r>
            <a:endParaRPr lang="en-US" altLang="ko-KR" dirty="0" smtClean="0">
              <a:ea typeface="휴먼매직체"/>
            </a:endParaRPr>
          </a:p>
          <a:p>
            <a:r>
              <a:rPr lang="ko-KR" altLang="en-US" dirty="0" smtClean="0">
                <a:ea typeface="휴먼매직체"/>
              </a:rPr>
              <a:t>탭리스 기술을 적용한 하이니켈</a:t>
            </a:r>
            <a:r>
              <a:rPr lang="en-US" altLang="ko-KR" dirty="0" smtClean="0">
                <a:ea typeface="휴먼매직체"/>
              </a:rPr>
              <a:t>(NCA) </a:t>
            </a:r>
            <a:r>
              <a:rPr lang="ko-KR" altLang="en-US" dirty="0" smtClean="0">
                <a:ea typeface="휴먼매직체"/>
              </a:rPr>
              <a:t>원통형 배터리 사용 </a:t>
            </a:r>
            <a:r>
              <a:rPr lang="en-US" altLang="ko-KR" dirty="0" smtClean="0">
                <a:ea typeface="휴먼매직체"/>
              </a:rPr>
              <a:t>(</a:t>
            </a:r>
            <a:r>
              <a:rPr lang="ko-KR" altLang="en-US" dirty="0" smtClean="0">
                <a:ea typeface="휴먼매직체"/>
              </a:rPr>
              <a:t>고용량</a:t>
            </a:r>
            <a:r>
              <a:rPr lang="en-US" altLang="ko-KR" dirty="0" smtClean="0">
                <a:ea typeface="휴먼매직체"/>
              </a:rPr>
              <a:t>, </a:t>
            </a:r>
            <a:r>
              <a:rPr lang="ko-KR" altLang="en-US" dirty="0" smtClean="0">
                <a:ea typeface="휴먼매직체"/>
              </a:rPr>
              <a:t>급속충전가능</a:t>
            </a:r>
            <a:r>
              <a:rPr lang="en-US" altLang="ko-KR" dirty="0" smtClean="0">
                <a:ea typeface="휴먼매직체"/>
              </a:rPr>
              <a:t>)</a:t>
            </a:r>
          </a:p>
          <a:p>
            <a:r>
              <a:rPr lang="ko-KR" altLang="en-US" dirty="0" smtClean="0"/>
              <a:t>탭리스 </a:t>
            </a:r>
            <a:r>
              <a:rPr lang="ko-KR" altLang="en-US" dirty="0"/>
              <a:t>기술은 극판 자체를 전자의 이동 경로로 활용해 셀 내부 저항을 절반 이상 감소시킨다</a:t>
            </a:r>
            <a:r>
              <a:rPr lang="en-US" altLang="ko-KR" dirty="0"/>
              <a:t>. </a:t>
            </a:r>
            <a:r>
              <a:rPr lang="ko-KR" altLang="en-US" dirty="0"/>
              <a:t>이러한 저저항 특성은 고출력과 급속 충전에 유리해 빠른 충방전이 필요한 </a:t>
            </a:r>
            <a:r>
              <a:rPr lang="en-US" altLang="ko-KR" dirty="0"/>
              <a:t>BBU</a:t>
            </a:r>
            <a:r>
              <a:rPr lang="ko-KR" altLang="en-US" dirty="0"/>
              <a:t>에 적합</a:t>
            </a:r>
            <a:endParaRPr lang="ko-KR" altLang="en-US" dirty="0">
              <a:ea typeface="휴먼매직체"/>
            </a:endParaRPr>
          </a:p>
          <a:p>
            <a:r>
              <a:rPr lang="ko-KR" altLang="en-US" dirty="0">
                <a:ea typeface="휴먼매직체"/>
              </a:rPr>
              <a:t>데이터 센터 내부에 설치되는 </a:t>
            </a:r>
            <a:r>
              <a:rPr lang="en-US" altLang="ko-KR" dirty="0">
                <a:ea typeface="휴먼매직체"/>
              </a:rPr>
              <a:t>UPS</a:t>
            </a:r>
            <a:r>
              <a:rPr lang="ko-KR" altLang="en-US" dirty="0">
                <a:ea typeface="휴먼매직체"/>
              </a:rPr>
              <a:t>와 </a:t>
            </a:r>
            <a:r>
              <a:rPr lang="en-US" altLang="ko-KR" dirty="0">
                <a:ea typeface="휴먼매직체"/>
              </a:rPr>
              <a:t>BBU</a:t>
            </a:r>
            <a:r>
              <a:rPr lang="ko-KR" altLang="en-US" dirty="0">
                <a:ea typeface="휴먼매직체"/>
              </a:rPr>
              <a:t>는 고출력 성능이 중요,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정전 발생 시 </a:t>
            </a:r>
            <a:r>
              <a:rPr lang="en-US" altLang="ko-KR" dirty="0">
                <a:ea typeface="휴먼매직체"/>
              </a:rPr>
              <a:t>0.1</a:t>
            </a:r>
            <a:r>
              <a:rPr lang="ko-KR" altLang="en-US" dirty="0">
                <a:ea typeface="휴먼매직체"/>
              </a:rPr>
              <a:t>밀리초</a:t>
            </a:r>
            <a:r>
              <a:rPr lang="en-US" altLang="ko-KR" dirty="0">
                <a:ea typeface="휴먼매직체"/>
              </a:rPr>
              <a:t>(</a:t>
            </a:r>
            <a:r>
              <a:rPr lang="en-US" altLang="ko-KR" dirty="0" err="1">
                <a:ea typeface="휴먼매직체"/>
              </a:rPr>
              <a:t>ms</a:t>
            </a:r>
            <a:r>
              <a:rPr lang="en-US" altLang="ko-KR" dirty="0">
                <a:ea typeface="휴먼매직체"/>
              </a:rPr>
              <a:t>) </a:t>
            </a:r>
            <a:r>
              <a:rPr lang="ko-KR" altLang="en-US" dirty="0">
                <a:ea typeface="휴먼매직체"/>
              </a:rPr>
              <a:t>단위의 짧은 시간 안에 대규모 전력을 공급해야 하기 때문에 에너지 밀도와 출력이 낮은 </a:t>
            </a:r>
            <a:r>
              <a:rPr lang="en-US" altLang="ko-KR" dirty="0">
                <a:ea typeface="휴먼매직체"/>
              </a:rPr>
              <a:t>LFP</a:t>
            </a:r>
            <a:r>
              <a:rPr lang="ko-KR" altLang="en-US" dirty="0">
                <a:ea typeface="휴먼매직체"/>
              </a:rPr>
              <a:t>만으로는 대응이 어려움.</a:t>
            </a:r>
          </a:p>
          <a:p>
            <a:r>
              <a:rPr lang="ko-KR" altLang="en-US" dirty="0" smtClean="0"/>
              <a:t>최근 </a:t>
            </a:r>
            <a:r>
              <a:rPr lang="en-US" altLang="ko-KR" dirty="0"/>
              <a:t>AI </a:t>
            </a:r>
            <a:r>
              <a:rPr lang="ko-KR" altLang="en-US" dirty="0"/>
              <a:t>데이터센터용 </a:t>
            </a:r>
            <a:r>
              <a:rPr lang="en-US" altLang="ko-KR" dirty="0"/>
              <a:t>BBU </a:t>
            </a:r>
            <a:r>
              <a:rPr lang="ko-KR" altLang="en-US" dirty="0"/>
              <a:t>시장이 새 성장동력으로 떠오르면서 주목</a:t>
            </a:r>
            <a:endParaRPr lang="en-US" altLang="ko-KR" dirty="0" smtClean="0">
              <a:ea typeface="휴먼매직체"/>
            </a:endParaRPr>
          </a:p>
          <a:p>
            <a:r>
              <a:rPr lang="ko-KR" altLang="en-US" dirty="0" smtClean="0">
                <a:ea typeface="휴먼매직체"/>
              </a:rPr>
              <a:t>2025</a:t>
            </a:r>
            <a:r>
              <a:rPr lang="ko-KR" altLang="en-US" dirty="0">
                <a:ea typeface="휴먼매직체"/>
              </a:rPr>
              <a:t>년 BBU 셀시장에서 삼성 SDI는 점유율 50%이상 차지함</a:t>
            </a:r>
          </a:p>
          <a:p>
            <a:r>
              <a:rPr lang="en-US" altLang="ko-KR" dirty="0">
                <a:ea typeface="휴먼매직체"/>
              </a:rPr>
              <a:t>BBU</a:t>
            </a:r>
            <a:r>
              <a:rPr lang="en-US" altLang="ko-KR" sz="1800" dirty="0">
                <a:ea typeface="휴먼매직체"/>
              </a:rPr>
              <a:t>(</a:t>
            </a:r>
            <a:r>
              <a:rPr lang="en-US" altLang="ko-KR" sz="1800" dirty="0" err="1">
                <a:ea typeface="휴먼매직체"/>
              </a:rPr>
              <a:t>Battey</a:t>
            </a:r>
            <a:r>
              <a:rPr lang="en-US" altLang="ko-KR" sz="1800" dirty="0">
                <a:ea typeface="휴먼매직체"/>
              </a:rPr>
              <a:t> Back-up Unit) </a:t>
            </a:r>
            <a:r>
              <a:rPr lang="ko-KR" dirty="0">
                <a:ea typeface="휴먼매직체"/>
              </a:rPr>
              <a:t>관련 </a:t>
            </a:r>
            <a:r>
              <a:rPr lang="en-US" altLang="ko-KR" dirty="0">
                <a:ea typeface="휴먼매직체"/>
              </a:rPr>
              <a:t>Cloud </a:t>
            </a:r>
            <a:r>
              <a:rPr lang="ko-KR" dirty="0">
                <a:ea typeface="휴먼매직체"/>
              </a:rPr>
              <a:t>서비스 업체들의 공격적인 인프라 투자 확대로 전망치가 상향되고 있고 올해 시장규모도 </a:t>
            </a:r>
            <a:r>
              <a:rPr lang="en-US" altLang="ko-KR" dirty="0">
                <a:ea typeface="휴먼매직체"/>
              </a:rPr>
              <a:t>8</a:t>
            </a:r>
            <a:r>
              <a:rPr lang="ko-KR" dirty="0">
                <a:ea typeface="휴먼매직체"/>
              </a:rPr>
              <a:t>억달러로 전년대비 </a:t>
            </a:r>
            <a:r>
              <a:rPr lang="en-US" altLang="ko-KR" dirty="0">
                <a:ea typeface="휴먼매직체"/>
              </a:rPr>
              <a:t>70%</a:t>
            </a:r>
            <a:r>
              <a:rPr lang="ko-KR" dirty="0">
                <a:ea typeface="휴먼매직체"/>
              </a:rPr>
              <a:t>확대 전망</a:t>
            </a:r>
            <a:endParaRPr lang="en-US" altLang="ko-KR" dirty="0">
              <a:ea typeface="휴먼매직체"/>
            </a:endParaRPr>
          </a:p>
          <a:p>
            <a:r>
              <a:rPr lang="en-US" altLang="ko-KR" dirty="0">
                <a:ea typeface="휴먼매직체"/>
              </a:rPr>
              <a:t>BBU</a:t>
            </a:r>
            <a:r>
              <a:rPr lang="ko-KR" altLang="en-US" dirty="0">
                <a:ea typeface="휴먼매직체"/>
              </a:rPr>
              <a:t>용 배터리 셀 시장이 </a:t>
            </a:r>
            <a:r>
              <a:rPr lang="en-US" altLang="ko-KR" dirty="0">
                <a:ea typeface="휴먼매직체"/>
              </a:rPr>
              <a:t>2025</a:t>
            </a:r>
            <a:r>
              <a:rPr lang="ko-KR" altLang="en-US" dirty="0">
                <a:ea typeface="휴먼매직체"/>
              </a:rPr>
              <a:t>년부터 </a:t>
            </a:r>
            <a:r>
              <a:rPr lang="en-US" altLang="ko-KR" dirty="0">
                <a:ea typeface="휴먼매직체"/>
              </a:rPr>
              <a:t>2030</a:t>
            </a:r>
            <a:r>
              <a:rPr lang="ko-KR" altLang="en-US" dirty="0">
                <a:ea typeface="휴먼매직체"/>
              </a:rPr>
              <a:t>년까지 연평균 약 </a:t>
            </a:r>
            <a:r>
              <a:rPr lang="en-US" altLang="ko-KR" dirty="0">
                <a:ea typeface="휴먼매직체"/>
              </a:rPr>
              <a:t>14% </a:t>
            </a:r>
            <a:r>
              <a:rPr lang="ko-KR" altLang="en-US" dirty="0">
                <a:ea typeface="휴먼매직체"/>
              </a:rPr>
              <a:t>성장할 것으로 예상</a:t>
            </a:r>
          </a:p>
          <a:p>
            <a:r>
              <a:rPr lang="ko-KR" dirty="0">
                <a:ea typeface="휴먼매직체"/>
              </a:rPr>
              <a:t>또한 주요 </a:t>
            </a:r>
            <a:r>
              <a:rPr lang="en-US" altLang="ko-KR" dirty="0">
                <a:ea typeface="휴먼매직체"/>
              </a:rPr>
              <a:t>Cloud </a:t>
            </a:r>
            <a:r>
              <a:rPr lang="ko-KR" dirty="0">
                <a:ea typeface="휴먼매직체"/>
              </a:rPr>
              <a:t>서비스 업체 들도 </a:t>
            </a:r>
            <a:r>
              <a:rPr lang="en-US" altLang="ko-KR" dirty="0">
                <a:ea typeface="휴먼매직체"/>
              </a:rPr>
              <a:t>BBU</a:t>
            </a:r>
            <a:r>
              <a:rPr lang="ko-KR" dirty="0">
                <a:ea typeface="휴먼매직체"/>
              </a:rPr>
              <a:t>의 안정적인 수급을 위해 직접 배터리 확보 노력중이라 추가적인 시장 확대 가능성이 있음</a:t>
            </a:r>
            <a:r>
              <a:rPr lang="en-US" altLang="ko-KR" dirty="0" smtClean="0">
                <a:ea typeface="휴먼매직체"/>
              </a:rPr>
              <a:t>.</a:t>
            </a:r>
          </a:p>
          <a:p>
            <a:r>
              <a:rPr lang="ko-KR" altLang="en-US" dirty="0" smtClean="0">
                <a:ea typeface="휴먼매직체"/>
              </a:rPr>
              <a:t>세계 최대 클라우드 사업자 </a:t>
            </a:r>
            <a:r>
              <a:rPr lang="en-US" altLang="ko-KR" dirty="0" smtClean="0">
                <a:ea typeface="휴먼매직체"/>
              </a:rPr>
              <a:t>A</a:t>
            </a:r>
            <a:r>
              <a:rPr lang="ko-KR" altLang="en-US" dirty="0" smtClean="0">
                <a:ea typeface="휴먼매직체"/>
              </a:rPr>
              <a:t>사와 </a:t>
            </a:r>
            <a:r>
              <a:rPr lang="en-US" altLang="ko-KR" dirty="0" smtClean="0">
                <a:ea typeface="휴먼매직체"/>
              </a:rPr>
              <a:t>BBU</a:t>
            </a:r>
            <a:r>
              <a:rPr lang="ko-KR" altLang="en-US" dirty="0">
                <a:ea typeface="휴먼매직체"/>
              </a:rPr>
              <a:t> </a:t>
            </a:r>
            <a:r>
              <a:rPr lang="ko-KR" altLang="en-US" dirty="0" smtClean="0">
                <a:ea typeface="휴먼매직체"/>
              </a:rPr>
              <a:t>및 </a:t>
            </a:r>
            <a:r>
              <a:rPr lang="en-US" altLang="ko-KR" dirty="0" smtClean="0">
                <a:ea typeface="휴먼매직체"/>
              </a:rPr>
              <a:t>UPS </a:t>
            </a:r>
            <a:r>
              <a:rPr lang="ko-KR" altLang="en-US" dirty="0" smtClean="0">
                <a:ea typeface="휴먼매직체"/>
              </a:rPr>
              <a:t>공급 논의 보도기사</a:t>
            </a:r>
            <a:endParaRPr lang="en-US" altLang="ko-KR" dirty="0">
              <a:ea typeface="휴먼매직체"/>
            </a:endParaRPr>
          </a:p>
        </p:txBody>
      </p:sp>
    </p:spTree>
    <p:extLst>
      <p:ext uri="{BB962C8B-B14F-4D97-AF65-F5344CB8AC3E}">
        <p14:creationId xmlns:p14="http://schemas.microsoft.com/office/powerpoint/2010/main" val="3591975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467600" cy="576064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BBU (Battery Back-up Unit)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24744"/>
            <a:ext cx="8020050" cy="531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638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91331"/>
          </a:xfrm>
        </p:spPr>
        <p:txBody>
          <a:bodyPr vert="horz" lIns="91440" tIns="45720" rIns="91440" bIns="45720" anchor="b">
            <a:norm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  <a:ea typeface="휴먼매직체"/>
              </a:rPr>
              <a:t>휴머노이드 로봇 </a:t>
            </a:r>
            <a:r>
              <a:rPr lang="ko-KR" altLang="en-US" dirty="0">
                <a:solidFill>
                  <a:schemeClr val="tx1"/>
                </a:solidFill>
                <a:ea typeface="휴먼매직체"/>
              </a:rPr>
              <a:t>(피지컬 ai)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47137"/>
            <a:ext cx="8029882" cy="5813960"/>
          </a:xfrm>
        </p:spPr>
        <p:txBody>
          <a:bodyPr vert="horz" lIns="91440" tIns="45720" rIns="91440" bIns="45720" anchor="t">
            <a:normAutofit fontScale="92500" lnSpcReduction="20000"/>
          </a:bodyPr>
          <a:lstStyle/>
          <a:p>
            <a:r>
              <a:rPr lang="ko-KR" altLang="en-US" dirty="0">
                <a:ea typeface="휴먼매직체"/>
              </a:rPr>
              <a:t>시장조사 업체인 포춘비즈니스인사이트는 전 세계 휴머노이드 로봇시장 규모가 </a:t>
            </a:r>
            <a:r>
              <a:rPr lang="en-US" altLang="ko-KR" dirty="0">
                <a:ea typeface="휴먼매직체"/>
              </a:rPr>
              <a:t>2023</a:t>
            </a:r>
            <a:r>
              <a:rPr lang="ko-KR" altLang="en-US" dirty="0">
                <a:ea typeface="휴먼매직체"/>
              </a:rPr>
              <a:t>년 </a:t>
            </a:r>
            <a:r>
              <a:rPr lang="en-US" altLang="ko-KR" dirty="0">
                <a:ea typeface="휴먼매직체"/>
              </a:rPr>
              <a:t>24</a:t>
            </a:r>
            <a:r>
              <a:rPr lang="ko-KR" altLang="en-US" dirty="0">
                <a:ea typeface="휴먼매직체"/>
              </a:rPr>
              <a:t>억 </a:t>
            </a:r>
            <a:r>
              <a:rPr lang="en-US" altLang="ko-KR" dirty="0">
                <a:ea typeface="휴먼매직체"/>
              </a:rPr>
              <a:t>3000</a:t>
            </a:r>
            <a:r>
              <a:rPr lang="ko-KR" altLang="en-US" dirty="0">
                <a:ea typeface="휴먼매직체"/>
              </a:rPr>
              <a:t>만 달러에서 </a:t>
            </a:r>
            <a:r>
              <a:rPr lang="en-US" altLang="ko-KR" dirty="0">
                <a:ea typeface="휴먼매직체"/>
              </a:rPr>
              <a:t>2032</a:t>
            </a:r>
            <a:r>
              <a:rPr lang="ko-KR" altLang="en-US" dirty="0">
                <a:ea typeface="휴먼매직체"/>
              </a:rPr>
              <a:t>년 </a:t>
            </a:r>
            <a:r>
              <a:rPr lang="en-US" altLang="ko-KR" dirty="0">
                <a:ea typeface="휴먼매직체"/>
              </a:rPr>
              <a:t>660</a:t>
            </a:r>
            <a:r>
              <a:rPr lang="ko-KR" altLang="en-US" dirty="0">
                <a:ea typeface="휴먼매직체"/>
              </a:rPr>
              <a:t>억 달러로 성장할 것으로 전망</a:t>
            </a:r>
          </a:p>
          <a:p>
            <a:r>
              <a:rPr lang="en-US" altLang="ko-KR" dirty="0">
                <a:ea typeface="휴먼매직체"/>
              </a:rPr>
              <a:t>SNE </a:t>
            </a:r>
            <a:r>
              <a:rPr lang="en-US" altLang="ko-KR" dirty="0" err="1">
                <a:ea typeface="휴먼매직체"/>
              </a:rPr>
              <a:t>리서치</a:t>
            </a:r>
            <a:r>
              <a:rPr lang="en-US" altLang="ko-KR" dirty="0">
                <a:ea typeface="휴먼매직체"/>
              </a:rPr>
              <a:t> </a:t>
            </a:r>
            <a:r>
              <a:rPr lang="en-US" altLang="ko-KR" dirty="0" err="1">
                <a:ea typeface="휴먼매직체"/>
              </a:rPr>
              <a:t>자료에</a:t>
            </a:r>
            <a:r>
              <a:rPr lang="en-US" altLang="ko-KR" dirty="0">
                <a:ea typeface="휴먼매직체"/>
              </a:rPr>
              <a:t> </a:t>
            </a:r>
            <a:r>
              <a:rPr lang="en-US" altLang="ko-KR" dirty="0" err="1">
                <a:ea typeface="휴먼매직체"/>
              </a:rPr>
              <a:t>따른면</a:t>
            </a:r>
            <a:r>
              <a:rPr lang="en-US" altLang="ko-KR" dirty="0">
                <a:ea typeface="휴먼매직체"/>
              </a:rPr>
              <a:t> 2025년 </a:t>
            </a:r>
            <a:r>
              <a:rPr lang="en-US" altLang="ko-KR" dirty="0" err="1">
                <a:ea typeface="휴먼매직체"/>
              </a:rPr>
              <a:t>시장규모는</a:t>
            </a:r>
            <a:r>
              <a:rPr lang="en-US" altLang="ko-KR" dirty="0">
                <a:ea typeface="휴먼매직체"/>
              </a:rPr>
              <a:t> 0.03GW, 2030</a:t>
            </a:r>
            <a:r>
              <a:rPr lang="ko-KR" altLang="en-US" dirty="0">
                <a:ea typeface="휴먼매직체"/>
              </a:rPr>
              <a:t>년 </a:t>
            </a:r>
            <a:r>
              <a:rPr lang="en-US" altLang="ko-KR" dirty="0">
                <a:ea typeface="휴먼매직체"/>
              </a:rPr>
              <a:t>1.37GWh</a:t>
            </a:r>
            <a:r>
              <a:rPr lang="ko-KR" altLang="en-US" dirty="0">
                <a:ea typeface="휴먼매직체"/>
              </a:rPr>
              <a:t>에서 </a:t>
            </a:r>
            <a:r>
              <a:rPr lang="en-US" altLang="ko-KR" dirty="0">
                <a:ea typeface="휴먼매직체"/>
              </a:rPr>
              <a:t>2040</a:t>
            </a:r>
            <a:r>
              <a:rPr lang="ko-KR" altLang="en-US" dirty="0">
                <a:ea typeface="휴먼매직체"/>
              </a:rPr>
              <a:t>년 </a:t>
            </a:r>
            <a:r>
              <a:rPr lang="en-US" altLang="ko-KR" dirty="0">
                <a:ea typeface="휴먼매직체"/>
              </a:rPr>
              <a:t>138.3GWh</a:t>
            </a:r>
            <a:r>
              <a:rPr lang="ko-KR" altLang="en-US" dirty="0">
                <a:ea typeface="휴먼매직체"/>
              </a:rPr>
              <a:t>로 성장 </a:t>
            </a:r>
            <a:r>
              <a:rPr lang="ko-KR" altLang="en-US" dirty="0" smtClean="0">
                <a:ea typeface="휴먼매직체"/>
              </a:rPr>
              <a:t>예상</a:t>
            </a:r>
            <a:endParaRPr lang="en-US" altLang="ko-KR" dirty="0" smtClean="0">
              <a:ea typeface="휴먼매직체"/>
            </a:endParaRPr>
          </a:p>
          <a:p>
            <a:r>
              <a:rPr lang="ko-KR" altLang="en-US" dirty="0" smtClean="0">
                <a:ea typeface="휴먼매직체"/>
              </a:rPr>
              <a:t>현재는 전해액이 액체인 기존 배터리가 적용 되고 있지만 전고체 배터리가 개발되면 전고체 배터리로 대체될 확률이 큼</a:t>
            </a:r>
            <a:endParaRPr lang="ko-KR" altLang="en-US" dirty="0">
              <a:ea typeface="휴먼매직체"/>
            </a:endParaRPr>
          </a:p>
          <a:p>
            <a:r>
              <a:rPr lang="ko-KR" altLang="en-US" dirty="0">
                <a:ea typeface="휴먼매직체"/>
              </a:rPr>
              <a:t>전기차와 달리 로봇은 원가 비중에서 배터리 비중이 </a:t>
            </a:r>
            <a:r>
              <a:rPr lang="en-US" altLang="ko-KR" dirty="0">
                <a:ea typeface="휴먼매직체"/>
              </a:rPr>
              <a:t>5% </a:t>
            </a:r>
            <a:r>
              <a:rPr lang="ko-KR" altLang="en-US" dirty="0">
                <a:ea typeface="휴먼매직체"/>
              </a:rPr>
              <a:t>이내로 낮아 성능은 강력하지만 상대적으로 가격이 높은 전고체 배터리가 로봇 부문에서 상용화하기가 쉬운 여건임</a:t>
            </a:r>
          </a:p>
          <a:p>
            <a:r>
              <a:rPr lang="ko-KR" altLang="en-US" dirty="0">
                <a:ea typeface="휴먼매직체"/>
              </a:rPr>
              <a:t>로봇에 들어가는 배터리 용량은 전기차에 필요한 배터리 용량의 1/20~에서 1/30배로 로봇에 전고체 배터리가 적용되더라도 로봇가격의 14~17% 오르는 수준임. 화재위험이 사라지고 액체 전해질 배터리 사용시간의 두배를 사용할 수 있다면 충분히 경쟁력이 있음</a:t>
            </a:r>
            <a:endParaRPr lang="ko-KR" dirty="0"/>
          </a:p>
          <a:p>
            <a:pPr marL="0" indent="0">
              <a:buNone/>
            </a:pPr>
            <a:r>
              <a:rPr lang="ko-KR" altLang="en-US" dirty="0">
                <a:ea typeface="휴먼매직체"/>
              </a:rPr>
              <a:t>    </a:t>
            </a:r>
            <a:r>
              <a:rPr lang="en-US" altLang="ko-KR" dirty="0">
                <a:ea typeface="휴먼매직체"/>
              </a:rPr>
              <a:t>(</a:t>
            </a:r>
            <a:r>
              <a:rPr lang="en-US" altLang="ko-KR" dirty="0" err="1">
                <a:ea typeface="휴먼매직체"/>
              </a:rPr>
              <a:t>전기차</a:t>
            </a:r>
            <a:r>
              <a:rPr lang="ko-KR" altLang="en-US" dirty="0">
                <a:ea typeface="휴먼매직체"/>
              </a:rPr>
              <a:t> : 50~70KWH, 로봇 2~3KWH)</a:t>
            </a:r>
            <a:endParaRPr lang="ko-KR" dirty="0">
              <a:ea typeface="휴먼매직체" panose="02030504000101010101" pitchFamily="18" charset="-127"/>
            </a:endParaRPr>
          </a:p>
          <a:p>
            <a:r>
              <a:rPr lang="ko-KR" altLang="en-US" dirty="0">
                <a:ea typeface="휴먼매직체"/>
              </a:rPr>
              <a:t>2026 인터배터리에서 파우치형 전고체 배터리를 공개 (로봇, 항공시스템, 차세대 웨어러블에 적용가능)</a:t>
            </a:r>
          </a:p>
          <a:p>
            <a:endParaRPr lang="ko-KR" altLang="en-US" dirty="0">
              <a:ea typeface="휴먼매직체"/>
            </a:endParaRPr>
          </a:p>
        </p:txBody>
      </p:sp>
    </p:spTree>
    <p:extLst>
      <p:ext uri="{BB962C8B-B14F-4D97-AF65-F5344CB8AC3E}">
        <p14:creationId xmlns:p14="http://schemas.microsoft.com/office/powerpoint/2010/main" val="2878348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5D2A034-9EFE-3849-843B-F715ACA95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 vert="horz" lIns="91440" tIns="45720" rIns="91440" bIns="45720" anchor="b">
            <a:norm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휴머노이드 </a:t>
            </a:r>
            <a:r>
              <a:rPr lang="ko-KR" dirty="0" smtClean="0">
                <a:solidFill>
                  <a:schemeClr val="tx1"/>
                </a:solidFill>
              </a:rPr>
              <a:t>로봇 </a:t>
            </a:r>
            <a:r>
              <a:rPr lang="ko-KR" dirty="0">
                <a:solidFill>
                  <a:schemeClr val="tx1"/>
                </a:solidFill>
              </a:rPr>
              <a:t>(피지컬 ai)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8FB42EF0-DA55-2FD3-57C9-4B89B8A6CEB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052736"/>
            <a:ext cx="7467600" cy="5421216"/>
          </a:xfrm>
        </p:spPr>
        <p:txBody>
          <a:bodyPr vert="horz" lIns="91440" tIns="45720" rIns="91440" bIns="45720" anchor="t">
            <a:normAutofit lnSpcReduction="10000"/>
          </a:bodyPr>
          <a:lstStyle/>
          <a:p>
            <a:r>
              <a:rPr lang="ko-KR" altLang="en-US" dirty="0">
                <a:ea typeface="휴먼매직체"/>
              </a:rPr>
              <a:t>파우치형 전고체의 장점은 로봇 내 좁고 불규칙한 공간에 설치 가능, 또한 에너지 밀도가 각형보다 높고 경량화 가능</a:t>
            </a:r>
            <a:endParaRPr lang="ko-KR" altLang="en-US" dirty="0">
              <a:ea typeface="휴먼매직체" panose="02030504000101010101" pitchFamily="18" charset="-127"/>
            </a:endParaRPr>
          </a:p>
          <a:p>
            <a:r>
              <a:rPr lang="ko-KR" altLang="en-US" dirty="0">
                <a:ea typeface="휴먼매직체"/>
              </a:rPr>
              <a:t>전고체 배터리로 로봇 가동 시간을 최대 8시간까지 확보, 현대 배터리로는 3~4시간 정도 가동 되는 수준임</a:t>
            </a:r>
          </a:p>
          <a:p>
            <a:r>
              <a:rPr lang="ko-KR" altLang="en-US" dirty="0">
                <a:ea typeface="휴먼매직체"/>
              </a:rPr>
              <a:t>현대차와의 로봇전용 배터리 개발 협력 </a:t>
            </a:r>
            <a:r>
              <a:rPr lang="ko-KR" altLang="en-US" dirty="0" smtClean="0">
                <a:ea typeface="휴먼매직체"/>
              </a:rPr>
              <a:t>언론 보도</a:t>
            </a:r>
            <a:endParaRPr lang="en-US" altLang="ko-KR" dirty="0" smtClean="0">
              <a:ea typeface="휴먼매직체"/>
            </a:endParaRPr>
          </a:p>
          <a:p>
            <a:r>
              <a:rPr lang="ko-KR" altLang="en-US" dirty="0" smtClean="0">
                <a:ea typeface="휴먼매직체"/>
              </a:rPr>
              <a:t>현대차는 아틀라스 휴머노이드 로봇을 </a:t>
            </a:r>
            <a:r>
              <a:rPr lang="en-US" altLang="ko-KR" dirty="0" smtClean="0">
                <a:ea typeface="휴먼매직체"/>
              </a:rPr>
              <a:t>2028</a:t>
            </a:r>
            <a:r>
              <a:rPr lang="ko-KR" altLang="en-US" dirty="0" smtClean="0">
                <a:ea typeface="휴먼매직체"/>
              </a:rPr>
              <a:t>년 연간 </a:t>
            </a:r>
            <a:r>
              <a:rPr lang="en-US" altLang="ko-KR" dirty="0" smtClean="0">
                <a:ea typeface="휴먼매직체"/>
              </a:rPr>
              <a:t>3</a:t>
            </a:r>
            <a:r>
              <a:rPr lang="ko-KR" altLang="en-US" dirty="0" smtClean="0">
                <a:ea typeface="휴먼매직체"/>
              </a:rPr>
              <a:t>만대 양산 및  상용화 목표로 준비 중</a:t>
            </a:r>
            <a:r>
              <a:rPr lang="en-US" altLang="ko-KR" dirty="0" smtClean="0">
                <a:ea typeface="휴먼매직체"/>
              </a:rPr>
              <a:t>, 2028</a:t>
            </a:r>
            <a:r>
              <a:rPr lang="ko-KR" altLang="en-US" dirty="0" smtClean="0">
                <a:ea typeface="휴먼매직체"/>
              </a:rPr>
              <a:t>년 미국 조지아주 현대차 신공장에 아틀라스 투입 예정</a:t>
            </a:r>
            <a:r>
              <a:rPr lang="en-US" altLang="ko-KR" dirty="0" smtClean="0">
                <a:ea typeface="휴먼매직체"/>
              </a:rPr>
              <a:t>, 2029</a:t>
            </a:r>
            <a:r>
              <a:rPr lang="ko-KR" altLang="en-US" dirty="0" smtClean="0">
                <a:ea typeface="휴먼매직체"/>
              </a:rPr>
              <a:t>년 하반기 기아차 조지아주 공장에 투입 계획임</a:t>
            </a:r>
            <a:endParaRPr lang="en-US" altLang="ko-KR" dirty="0" smtClean="0">
              <a:ea typeface="휴먼매직체"/>
            </a:endParaRPr>
          </a:p>
          <a:p>
            <a:r>
              <a:rPr lang="ko-KR" altLang="en-US" dirty="0" smtClean="0"/>
              <a:t>테슬라 옵티머스는 올해 </a:t>
            </a:r>
            <a:r>
              <a:rPr lang="en-US" altLang="ko-KR" dirty="0"/>
              <a:t>7~8</a:t>
            </a:r>
            <a:r>
              <a:rPr lang="ko-KR" altLang="en-US" dirty="0"/>
              <a:t>월 공식 데뷔 및 초기 양산에 돌입할 예정이며</a:t>
            </a:r>
            <a:r>
              <a:rPr lang="en-US" altLang="ko-KR" dirty="0"/>
              <a:t>, </a:t>
            </a:r>
            <a:r>
              <a:rPr lang="ko-KR" altLang="en-US" dirty="0"/>
              <a:t>본격적인 대량 생산 램프업은 </a:t>
            </a:r>
            <a:r>
              <a:rPr lang="en-US" altLang="ko-KR" dirty="0"/>
              <a:t>2027</a:t>
            </a:r>
            <a:r>
              <a:rPr lang="ko-KR" altLang="en-US" dirty="0"/>
              <a:t>년을 </a:t>
            </a:r>
            <a:r>
              <a:rPr lang="ko-KR" altLang="en-US" dirty="0" smtClean="0"/>
              <a:t>목표로 함</a:t>
            </a:r>
            <a:endParaRPr lang="ko-KR" altLang="en-US" dirty="0">
              <a:ea typeface="휴먼매직체"/>
            </a:endParaRPr>
          </a:p>
        </p:txBody>
      </p:sp>
    </p:spTree>
    <p:extLst>
      <p:ext uri="{BB962C8B-B14F-4D97-AF65-F5344CB8AC3E}">
        <p14:creationId xmlns:p14="http://schemas.microsoft.com/office/powerpoint/2010/main" val="2425911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오토마톤, 로봇, 기계, 메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xmlns="" id="{6EB73E76-B23E-A09B-7F6D-A95E68B96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60648"/>
            <a:ext cx="7488832" cy="634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155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전고체 배터리</a:t>
            </a:r>
            <a:r>
              <a:rPr lang="en-US" altLang="ko-KR" dirty="0">
                <a:solidFill>
                  <a:schemeClr val="tx1"/>
                </a:solidFill>
              </a:rPr>
              <a:t>(1)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52736"/>
            <a:ext cx="7467600" cy="5421216"/>
          </a:xfrm>
        </p:spPr>
        <p:txBody>
          <a:bodyPr>
            <a:normAutofit/>
          </a:bodyPr>
          <a:lstStyle/>
          <a:p>
            <a:r>
              <a:rPr lang="ko-KR" altLang="en-US" dirty="0"/>
              <a:t>전고체 배터리</a:t>
            </a:r>
            <a:r>
              <a:rPr lang="en-US" altLang="ko-KR" dirty="0"/>
              <a:t>(All-Solid-State Battery)</a:t>
            </a:r>
            <a:r>
              <a:rPr lang="ko-KR" altLang="en-US" dirty="0"/>
              <a:t>는 액체 전해질을 사용하는 기존 리튬이온 배터리와 달리</a:t>
            </a:r>
            <a:r>
              <a:rPr lang="en-US" altLang="ko-KR" dirty="0"/>
              <a:t>, </a:t>
            </a:r>
            <a:r>
              <a:rPr lang="ko-KR" altLang="en-US" dirty="0"/>
              <a:t>양극과 음극 사이의 전해질이 고체로 된 차세대 이차전지입니다</a:t>
            </a:r>
            <a:r>
              <a:rPr lang="en-US" altLang="ko-KR" dirty="0"/>
              <a:t>.</a:t>
            </a:r>
            <a:r>
              <a:rPr lang="ko-KR" altLang="en-US" dirty="0"/>
              <a:t> 화재 위험이 현저히 낮고 에너지 밀도가 </a:t>
            </a:r>
            <a:r>
              <a:rPr lang="ko-KR" altLang="en-US" dirty="0" smtClean="0"/>
              <a:t>높고 </a:t>
            </a:r>
            <a:r>
              <a:rPr lang="ko-KR" altLang="en-US" dirty="0"/>
              <a:t>수명의 길어 전기차</a:t>
            </a:r>
            <a:r>
              <a:rPr lang="en-US" altLang="ko-KR" dirty="0"/>
              <a:t>, </a:t>
            </a:r>
            <a:r>
              <a:rPr lang="ko-KR" altLang="en-US" dirty="0"/>
              <a:t>로봇</a:t>
            </a:r>
            <a:r>
              <a:rPr lang="en-US" altLang="ko-KR" dirty="0"/>
              <a:t>, </a:t>
            </a:r>
            <a:r>
              <a:rPr lang="ko-KR" altLang="en-US" dirty="0"/>
              <a:t>항공 모빌리티 등의 핵심 동력원으로 주목받고 있음</a:t>
            </a:r>
            <a:endParaRPr lang="en-US" altLang="ko-KR" dirty="0"/>
          </a:p>
          <a:p>
            <a:r>
              <a:rPr lang="ko-KR" altLang="en-US" dirty="0"/>
              <a:t>삼성 </a:t>
            </a:r>
            <a:r>
              <a:rPr lang="en-US" altLang="ko-KR" dirty="0"/>
              <a:t>SDI</a:t>
            </a:r>
            <a:r>
              <a:rPr lang="ko-KR" altLang="en-US" dirty="0"/>
              <a:t>가 개발중인 무음극 전고체 배터리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861048"/>
            <a:ext cx="5743575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xmlns="" id="{DCEEFB7D-5778-B371-D5BA-09BE28D1A150}"/>
              </a:ext>
            </a:extLst>
          </p:cNvPr>
          <p:cNvSpPr/>
          <p:nvPr/>
        </p:nvSpPr>
        <p:spPr>
          <a:xfrm>
            <a:off x="4800859" y="4010610"/>
            <a:ext cx="2422397" cy="24621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xmlns="" id="{B75A569C-2933-2E27-F05F-49570213D09D}"/>
              </a:ext>
            </a:extLst>
          </p:cNvPr>
          <p:cNvCxnSpPr/>
          <p:nvPr/>
        </p:nvCxnSpPr>
        <p:spPr>
          <a:xfrm>
            <a:off x="5148064" y="3715236"/>
            <a:ext cx="555989" cy="3558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6483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78098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전고체 배터리</a:t>
            </a:r>
            <a:r>
              <a:rPr lang="en-US" altLang="ko-KR" dirty="0">
                <a:solidFill>
                  <a:schemeClr val="tx1"/>
                </a:solidFill>
              </a:rPr>
              <a:t>(2)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1196752"/>
            <a:ext cx="8208912" cy="5277200"/>
          </a:xfrm>
        </p:spPr>
        <p:txBody>
          <a:bodyPr vert="horz" lIns="91440" tIns="45720" rIns="91440" bIns="45720" anchor="t">
            <a:normAutofit fontScale="92500" lnSpcReduction="20000"/>
          </a:bodyPr>
          <a:lstStyle/>
          <a:p>
            <a:r>
              <a:rPr lang="ko-KR" altLang="en-US" dirty="0"/>
              <a:t>무음극 전고체 배터리의 기술적 해결 과제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</a:t>
            </a:r>
            <a:r>
              <a:rPr lang="en-US" altLang="ko-KR" dirty="0"/>
              <a:t>- </a:t>
            </a:r>
            <a:r>
              <a:rPr lang="ko-KR" altLang="en-US" dirty="0"/>
              <a:t>충</a:t>
            </a:r>
            <a:r>
              <a:rPr lang="en-US" altLang="ko-KR" dirty="0"/>
              <a:t>·</a:t>
            </a:r>
            <a:r>
              <a:rPr lang="ko-KR" altLang="en-US" dirty="0"/>
              <a:t>방전이 반복되면서 리튬이 음극역할을 하는 집전체 위에 고르게 쌓이지 못하고 뾰족한 가지 모양의 덴드라이트가 생겨 내부 고체 전해질을 뚫고 들어가 양극에 닿아 단락 가능성이 존재함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ea typeface="휴먼매직체"/>
              </a:rPr>
              <a:t>   - </a:t>
            </a:r>
            <a:r>
              <a:rPr lang="ko-KR" altLang="en-US" dirty="0">
                <a:ea typeface="휴먼매직체"/>
              </a:rPr>
              <a:t>고체 전해질과 집전체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사이에 빈 공간이 생겨 접촉 면적이 줄어들어 리튬이온 이동을 방해해 배터리 출력을 저하시키고 발열을 일으킴 </a:t>
            </a:r>
            <a:r>
              <a:rPr lang="en-US" altLang="ko-KR" dirty="0">
                <a:ea typeface="휴먼매직체"/>
              </a:rPr>
              <a:t>(</a:t>
            </a:r>
            <a:r>
              <a:rPr lang="ko-KR" altLang="en-US" dirty="0">
                <a:ea typeface="휴먼매직체"/>
              </a:rPr>
              <a:t>높은 계면 저항</a:t>
            </a:r>
            <a:r>
              <a:rPr lang="en-US" altLang="ko-KR" dirty="0" smtClean="0">
                <a:ea typeface="휴먼매직체"/>
              </a:rPr>
              <a:t>)</a:t>
            </a:r>
          </a:p>
          <a:p>
            <a:pPr marL="0" indent="0">
              <a:buNone/>
            </a:pPr>
            <a:r>
              <a:rPr lang="en-US" altLang="ko-KR" dirty="0">
                <a:ea typeface="휴먼매직체"/>
              </a:rPr>
              <a:t> </a:t>
            </a:r>
            <a:r>
              <a:rPr lang="en-US" altLang="ko-KR" dirty="0" smtClean="0">
                <a:ea typeface="휴먼매직체"/>
              </a:rPr>
              <a:t> - </a:t>
            </a:r>
            <a:r>
              <a:rPr lang="ko-KR" altLang="en-US" dirty="0" smtClean="0">
                <a:ea typeface="휴먼매직체"/>
              </a:rPr>
              <a:t>황화물계 고체전해질을 생산시 공기중의 수분에 접촉하게 되면 황화수소</a:t>
            </a:r>
            <a:r>
              <a:rPr lang="en-US" altLang="ko-KR" dirty="0" smtClean="0">
                <a:ea typeface="휴먼매직체"/>
              </a:rPr>
              <a:t>(</a:t>
            </a:r>
            <a:r>
              <a:rPr lang="ko-KR" altLang="en-US" dirty="0" smtClean="0">
                <a:ea typeface="휴먼매직체"/>
              </a:rPr>
              <a:t>독성</a:t>
            </a:r>
            <a:r>
              <a:rPr lang="en-US" altLang="ko-KR" dirty="0" smtClean="0">
                <a:ea typeface="휴먼매직체"/>
              </a:rPr>
              <a:t>)</a:t>
            </a:r>
            <a:r>
              <a:rPr lang="ko-KR" altLang="en-US" dirty="0" smtClean="0">
                <a:ea typeface="휴먼매직체"/>
              </a:rPr>
              <a:t>물질이 발생되어 추가적인 설비투자비용이 많이 듬 </a:t>
            </a:r>
            <a:endParaRPr lang="en-US" altLang="ko-KR" dirty="0">
              <a:ea typeface="휴먼매직체"/>
            </a:endParaRPr>
          </a:p>
          <a:p>
            <a:pPr marL="0" indent="0">
              <a:buNone/>
            </a:pPr>
            <a:r>
              <a:rPr lang="en-US" altLang="ko-KR" dirty="0">
                <a:ea typeface="휴먼매직체"/>
              </a:rPr>
              <a:t>  - </a:t>
            </a:r>
            <a:r>
              <a:rPr lang="ko-KR" altLang="en-US" dirty="0">
                <a:ea typeface="휴먼매직체"/>
              </a:rPr>
              <a:t>위와 같은 문제로 대량 생산 시 수율 확보 및 양산 실현 가능성</a:t>
            </a:r>
            <a:endParaRPr lang="en-US" altLang="ko-KR" dirty="0">
              <a:ea typeface="휴먼매직체"/>
            </a:endParaRPr>
          </a:p>
          <a:p>
            <a:pPr marL="0" indent="0">
              <a:buNone/>
            </a:pPr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황화물계 고체전해질은 이온 전도도가 높아 리튬이온을 비교적 빠르게 이동시킴</a:t>
            </a:r>
            <a:r>
              <a:rPr lang="en-US" altLang="ko-KR" dirty="0"/>
              <a:t>.</a:t>
            </a:r>
            <a:r>
              <a:rPr lang="ko-KR" altLang="en-US" dirty="0"/>
              <a:t> 단</a:t>
            </a:r>
            <a:r>
              <a:rPr lang="en-US" altLang="ko-KR" dirty="0"/>
              <a:t>, </a:t>
            </a:r>
            <a:r>
              <a:rPr lang="ko-KR" altLang="en-US" dirty="0"/>
              <a:t>고체 전해질의 원료인 황화리튬은 가격은 </a:t>
            </a:r>
            <a:r>
              <a:rPr lang="en-US" altLang="ko-KR" dirty="0"/>
              <a:t>KG</a:t>
            </a:r>
            <a:r>
              <a:rPr lang="ko-KR" altLang="en-US" dirty="0"/>
              <a:t>당 </a:t>
            </a:r>
            <a:r>
              <a:rPr lang="en-US" altLang="ko-KR" dirty="0"/>
              <a:t>700</a:t>
            </a:r>
            <a:r>
              <a:rPr lang="ko-KR" altLang="en-US" dirty="0"/>
              <a:t>불로 액체 전해질 보다 </a:t>
            </a:r>
            <a:r>
              <a:rPr lang="en-US" altLang="ko-KR" dirty="0"/>
              <a:t>50~60</a:t>
            </a:r>
            <a:r>
              <a:rPr lang="ko-KR" altLang="en-US" dirty="0"/>
              <a:t>배 비쌈</a:t>
            </a:r>
            <a:r>
              <a:rPr lang="en-US" altLang="ko-KR" dirty="0"/>
              <a:t>, </a:t>
            </a:r>
            <a:r>
              <a:rPr lang="ko-KR" altLang="en-US" dirty="0"/>
              <a:t>가격 경쟁력 확보가 상용화의 최대 관건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01035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06090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전고체 배터리</a:t>
            </a:r>
            <a:r>
              <a:rPr lang="en-US" altLang="ko-KR" dirty="0">
                <a:solidFill>
                  <a:schemeClr val="tx1"/>
                </a:solidFill>
              </a:rPr>
              <a:t>(3)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52" y="1599132"/>
            <a:ext cx="7848872" cy="3816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6988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2074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전고체 배터리</a:t>
            </a:r>
            <a:r>
              <a:rPr lang="en-US" altLang="ko-KR" dirty="0">
                <a:solidFill>
                  <a:schemeClr val="tx1"/>
                </a:solidFill>
              </a:rPr>
              <a:t>(4)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08720"/>
            <a:ext cx="8075604" cy="5795675"/>
          </a:xfrm>
        </p:spPr>
        <p:txBody>
          <a:bodyPr vert="horz" lIns="91440" tIns="45720" rIns="91440" bIns="45720" anchor="t">
            <a:normAutofit fontScale="77500" lnSpcReduction="20000"/>
          </a:bodyPr>
          <a:lstStyle/>
          <a:p>
            <a:r>
              <a:rPr lang="ko-KR" altLang="en-US" dirty="0"/>
              <a:t>삼성 </a:t>
            </a:r>
            <a:r>
              <a:rPr lang="en-US" altLang="ko-KR" dirty="0"/>
              <a:t>SDI </a:t>
            </a:r>
            <a:r>
              <a:rPr lang="ko-KR" altLang="en-US" dirty="0"/>
              <a:t>전고체 배터리 개발 상황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ea typeface="휴먼매직체"/>
              </a:rPr>
              <a:t>    1. 2027</a:t>
            </a:r>
            <a:r>
              <a:rPr lang="ko-KR" altLang="en-US" dirty="0">
                <a:ea typeface="휴먼매직체"/>
              </a:rPr>
              <a:t>년 하반기 양산 목표로 진행 중</a:t>
            </a:r>
            <a:r>
              <a:rPr lang="en-US" altLang="ko-KR" dirty="0">
                <a:ea typeface="휴먼매직체"/>
              </a:rPr>
              <a:t>, LG </a:t>
            </a:r>
            <a:r>
              <a:rPr lang="ko-KR" altLang="en-US" dirty="0">
                <a:ea typeface="휴먼매직체"/>
              </a:rPr>
              <a:t>에너지솔류션과 </a:t>
            </a:r>
            <a:r>
              <a:rPr lang="en-US" altLang="ko-KR" dirty="0">
                <a:ea typeface="휴먼매직체"/>
              </a:rPr>
              <a:t>SK </a:t>
            </a:r>
            <a:r>
              <a:rPr lang="ko-KR" altLang="en-US" dirty="0">
                <a:ea typeface="휴먼매직체"/>
              </a:rPr>
              <a:t>온은 </a:t>
            </a:r>
            <a:r>
              <a:rPr lang="en-US" altLang="ko-KR" dirty="0">
                <a:ea typeface="휴먼매직체"/>
              </a:rPr>
              <a:t>2029</a:t>
            </a:r>
            <a:r>
              <a:rPr lang="ko-KR" altLang="en-US" dirty="0">
                <a:ea typeface="휴먼매직체"/>
              </a:rPr>
              <a:t>년 목표로 개발 진행, 도요타는 2027~2028년 상용화, CATL은 2027년 소량생산 후 2030년 대량샌산 체재 구축 목표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2600" dirty="0">
                <a:ea typeface="휴먼매직체"/>
              </a:rPr>
              <a:t>   </a:t>
            </a:r>
            <a:r>
              <a:rPr lang="en-US" altLang="ko-KR" dirty="0">
                <a:ea typeface="휴먼매직체"/>
              </a:rPr>
              <a:t> 2. </a:t>
            </a:r>
            <a:r>
              <a:rPr lang="en-US" dirty="0" err="1">
                <a:ea typeface="휴먼매직체"/>
              </a:rPr>
              <a:t>샘플</a:t>
            </a:r>
            <a:r>
              <a:rPr lang="en-US" dirty="0">
                <a:ea typeface="휴먼매직체"/>
              </a:rPr>
              <a:t> </a:t>
            </a:r>
            <a:r>
              <a:rPr lang="en-US" dirty="0" err="1">
                <a:ea typeface="휴먼매직체"/>
              </a:rPr>
              <a:t>개발</a:t>
            </a:r>
            <a:r>
              <a:rPr lang="en-US" dirty="0">
                <a:ea typeface="휴먼매직체"/>
              </a:rPr>
              <a:t> </a:t>
            </a:r>
            <a:r>
              <a:rPr lang="en-US" dirty="0" err="1">
                <a:ea typeface="휴먼매직체"/>
              </a:rPr>
              <a:t>일정</a:t>
            </a:r>
            <a:endParaRPr lang="en-US" altLang="ko-KR" dirty="0">
              <a:ea typeface="휴먼매직체"/>
            </a:endParaRPr>
          </a:p>
          <a:p>
            <a:pPr marL="0" indent="0">
              <a:buNone/>
            </a:pPr>
            <a:r>
              <a:rPr lang="en-US" dirty="0">
                <a:ea typeface="휴먼매직체"/>
              </a:rPr>
              <a:t>      2024년: </a:t>
            </a:r>
            <a:r>
              <a:rPr lang="en-US" dirty="0" err="1">
                <a:ea typeface="휴먼매직체"/>
              </a:rPr>
              <a:t>A샘플</a:t>
            </a:r>
            <a:r>
              <a:rPr lang="en-US" dirty="0">
                <a:ea typeface="휴먼매직체"/>
              </a:rPr>
              <a:t>(</a:t>
            </a:r>
            <a:r>
              <a:rPr lang="en-US" dirty="0" err="1">
                <a:ea typeface="휴먼매직체"/>
              </a:rPr>
              <a:t>프로토타입</a:t>
            </a:r>
            <a:r>
              <a:rPr lang="en-US" dirty="0">
                <a:ea typeface="휴먼매직체"/>
              </a:rPr>
              <a:t>) </a:t>
            </a:r>
            <a:r>
              <a:rPr lang="en-US" dirty="0" err="1">
                <a:ea typeface="휴먼매직체"/>
              </a:rPr>
              <a:t>개발</a:t>
            </a:r>
            <a:endParaRPr lang="en-US" dirty="0">
              <a:ea typeface="휴먼매직체"/>
            </a:endParaRPr>
          </a:p>
          <a:p>
            <a:pPr marL="0" indent="0">
              <a:buNone/>
            </a:pPr>
            <a:r>
              <a:rPr lang="en-US" dirty="0">
                <a:ea typeface="휴먼매직체"/>
              </a:rPr>
              <a:t>      2025년: </a:t>
            </a:r>
            <a:r>
              <a:rPr lang="en-US" dirty="0" err="1">
                <a:ea typeface="휴먼매직체"/>
              </a:rPr>
              <a:t>B샘플</a:t>
            </a:r>
            <a:r>
              <a:rPr lang="en-US" dirty="0">
                <a:ea typeface="휴먼매직체"/>
              </a:rPr>
              <a:t>(</a:t>
            </a:r>
            <a:r>
              <a:rPr lang="en-US" dirty="0" err="1">
                <a:ea typeface="휴먼매직체"/>
              </a:rPr>
              <a:t>완성</a:t>
            </a:r>
            <a:r>
              <a:rPr lang="en-US" dirty="0">
                <a:ea typeface="휴먼매직체"/>
              </a:rPr>
              <a:t> </a:t>
            </a:r>
            <a:r>
              <a:rPr lang="en-US" dirty="0" err="1">
                <a:ea typeface="휴먼매직체"/>
              </a:rPr>
              <a:t>단계</a:t>
            </a:r>
            <a:r>
              <a:rPr lang="en-US" dirty="0">
                <a:ea typeface="휴먼매직체"/>
              </a:rPr>
              <a:t>) </a:t>
            </a:r>
            <a:r>
              <a:rPr lang="en-US" dirty="0" err="1">
                <a:ea typeface="휴먼매직체"/>
              </a:rPr>
              <a:t>개발</a:t>
            </a:r>
            <a:endParaRPr lang="en-US" dirty="0">
              <a:ea typeface="휴먼매직체"/>
            </a:endParaRPr>
          </a:p>
          <a:p>
            <a:pPr marL="0" indent="0">
              <a:buNone/>
            </a:pPr>
            <a:r>
              <a:rPr lang="en-US" dirty="0">
                <a:ea typeface="휴먼매직체"/>
              </a:rPr>
              <a:t>      2026년: </a:t>
            </a:r>
            <a:r>
              <a:rPr lang="en-US" dirty="0" err="1">
                <a:ea typeface="휴먼매직체"/>
              </a:rPr>
              <a:t>C샘플</a:t>
            </a:r>
            <a:r>
              <a:rPr lang="en-US" dirty="0">
                <a:ea typeface="휴먼매직체"/>
              </a:rPr>
              <a:t>(</a:t>
            </a:r>
            <a:r>
              <a:rPr lang="en-US" dirty="0" err="1">
                <a:ea typeface="휴먼매직체"/>
              </a:rPr>
              <a:t>대량생산</a:t>
            </a:r>
            <a:r>
              <a:rPr lang="en-US" dirty="0">
                <a:ea typeface="휴먼매직체"/>
              </a:rPr>
              <a:t> </a:t>
            </a:r>
            <a:r>
              <a:rPr lang="en-US" dirty="0" err="1">
                <a:ea typeface="휴먼매직체"/>
              </a:rPr>
              <a:t>가능</a:t>
            </a:r>
            <a:r>
              <a:rPr lang="en-US" dirty="0">
                <a:ea typeface="휴먼매직체"/>
              </a:rPr>
              <a:t>) </a:t>
            </a:r>
            <a:r>
              <a:rPr lang="en-US" dirty="0" err="1">
                <a:ea typeface="휴먼매직체"/>
              </a:rPr>
              <a:t>개발</a:t>
            </a:r>
            <a:r>
              <a:rPr lang="en-US" dirty="0">
                <a:ea typeface="휴먼매직체"/>
              </a:rPr>
              <a:t> </a:t>
            </a:r>
          </a:p>
          <a:p>
            <a:pPr marL="0" indent="0">
              <a:buNone/>
            </a:pPr>
            <a:r>
              <a:rPr lang="en-US" dirty="0">
                <a:ea typeface="휴먼매직체"/>
              </a:rPr>
              <a:t>  </a:t>
            </a:r>
            <a:r>
              <a:rPr lang="en-US" sz="1600" dirty="0">
                <a:ea typeface="휴먼매직체"/>
              </a:rPr>
              <a:t>                (</a:t>
            </a:r>
            <a:r>
              <a:rPr lang="ko-KR" altLang="en-US" sz="1800" dirty="0">
                <a:ea typeface="휴먼매직체"/>
              </a:rPr>
              <a:t>전고체배터리</a:t>
            </a:r>
            <a:r>
              <a:rPr lang="en-US" altLang="ko-KR" sz="1800" dirty="0">
                <a:ea typeface="휴먼매직체"/>
              </a:rPr>
              <a:t> </a:t>
            </a:r>
            <a:r>
              <a:rPr lang="ko-KR" altLang="en-US" sz="1800" dirty="0">
                <a:ea typeface="휴먼매직체"/>
              </a:rPr>
              <a:t>상용화</a:t>
            </a:r>
            <a:r>
              <a:rPr lang="en-US" altLang="ko-KR" sz="1800" dirty="0">
                <a:ea typeface="휴먼매직체"/>
              </a:rPr>
              <a:t> </a:t>
            </a:r>
            <a:r>
              <a:rPr lang="ko-KR" altLang="en-US" sz="1800" dirty="0">
                <a:ea typeface="휴먼매직체"/>
              </a:rPr>
              <a:t>핵심</a:t>
            </a:r>
            <a:r>
              <a:rPr lang="en-US" altLang="ko-KR" sz="1800" dirty="0">
                <a:ea typeface="휴먼매직체"/>
              </a:rPr>
              <a:t> </a:t>
            </a:r>
            <a:r>
              <a:rPr lang="ko-KR" altLang="en-US" sz="1800" dirty="0">
                <a:ea typeface="휴먼매직체"/>
              </a:rPr>
              <a:t>조직</a:t>
            </a:r>
            <a:r>
              <a:rPr lang="en-US" altLang="ko-KR" sz="1800" dirty="0">
                <a:ea typeface="휴먼매직체"/>
              </a:rPr>
              <a:t> </a:t>
            </a:r>
            <a:r>
              <a:rPr lang="ko-KR" altLang="en-US" sz="1800" dirty="0">
                <a:ea typeface="휴먼매직체"/>
              </a:rPr>
              <a:t>인력의</a:t>
            </a:r>
            <a:r>
              <a:rPr lang="en-US" altLang="ko-KR" sz="1800" dirty="0">
                <a:ea typeface="휴먼매직체"/>
              </a:rPr>
              <a:t> </a:t>
            </a:r>
            <a:r>
              <a:rPr lang="ko-KR" altLang="en-US" sz="1800" dirty="0">
                <a:ea typeface="휴먼매직체"/>
              </a:rPr>
              <a:t>절반가량을</a:t>
            </a:r>
            <a:r>
              <a:rPr lang="en-US" altLang="ko-KR" sz="1800" dirty="0">
                <a:ea typeface="휴먼매직체"/>
              </a:rPr>
              <a:t> </a:t>
            </a:r>
            <a:r>
              <a:rPr lang="ko-KR" altLang="en-US" sz="1800" dirty="0">
                <a:ea typeface="휴먼매직체"/>
              </a:rPr>
              <a:t>연구개발</a:t>
            </a:r>
            <a:r>
              <a:rPr lang="en-US" altLang="ko-KR" sz="1800" dirty="0">
                <a:ea typeface="휴먼매직체"/>
              </a:rPr>
              <a:t>(R&amp;D)</a:t>
            </a:r>
            <a:r>
              <a:rPr lang="ko-KR" altLang="en-US" sz="1800" dirty="0">
                <a:ea typeface="휴먼매직체"/>
              </a:rPr>
              <a:t>에서</a:t>
            </a:r>
            <a:r>
              <a:rPr lang="en-US" altLang="ko-KR" sz="1800" dirty="0">
                <a:ea typeface="휴먼매직체"/>
              </a:rPr>
              <a:t> </a:t>
            </a:r>
            <a:r>
              <a:rPr lang="ko-KR" altLang="en-US" sz="1800" dirty="0">
                <a:ea typeface="휴먼매직체"/>
              </a:rPr>
              <a:t>양산</a:t>
            </a:r>
            <a:r>
              <a:rPr lang="en-US" altLang="ko-KR" sz="1800" dirty="0">
                <a:ea typeface="휴먼매직체"/>
              </a:rPr>
              <a:t> </a:t>
            </a:r>
            <a:r>
              <a:rPr lang="ko-KR" altLang="en-US" sz="1800" dirty="0">
                <a:ea typeface="휴먼매직체"/>
              </a:rPr>
              <a:t>단계로</a:t>
            </a:r>
            <a:r>
              <a:rPr lang="en-US" altLang="ko-KR" sz="1800" dirty="0">
                <a:ea typeface="휴먼매직체"/>
              </a:rPr>
              <a:t> </a:t>
            </a:r>
            <a:r>
              <a:rPr lang="ko-KR" altLang="en-US" sz="1800" dirty="0">
                <a:ea typeface="휴먼매직체"/>
              </a:rPr>
              <a:t>이동시킨</a:t>
            </a:r>
            <a:r>
              <a:rPr lang="en-US" altLang="ko-KR" sz="1800" dirty="0">
                <a:ea typeface="휴먼매직체"/>
              </a:rPr>
              <a:t> </a:t>
            </a:r>
            <a:r>
              <a:rPr lang="ko-KR" altLang="en-US" sz="1800" dirty="0">
                <a:ea typeface="휴먼매직체"/>
              </a:rPr>
              <a:t>것으로</a:t>
            </a:r>
            <a:r>
              <a:rPr lang="en-US" altLang="ko-KR" sz="1800" dirty="0">
                <a:ea typeface="휴먼매직체"/>
              </a:rPr>
              <a:t> </a:t>
            </a:r>
            <a:r>
              <a:rPr lang="ko-KR" altLang="en-US" sz="1800" dirty="0">
                <a:ea typeface="휴먼매직체"/>
              </a:rPr>
              <a:t>확인)</a:t>
            </a:r>
          </a:p>
          <a:p>
            <a:pPr marL="0" indent="0">
              <a:buNone/>
            </a:pPr>
            <a:r>
              <a:rPr lang="en-US" sz="2500" dirty="0">
                <a:ea typeface="휴먼매직체"/>
              </a:rPr>
              <a:t>      2027년:</a:t>
            </a:r>
            <a:r>
              <a:rPr lang="en-US" dirty="0">
                <a:ea typeface="휴먼매직체"/>
              </a:rPr>
              <a:t> </a:t>
            </a:r>
            <a:r>
              <a:rPr lang="en-US" dirty="0" err="1">
                <a:ea typeface="휴먼매직체"/>
              </a:rPr>
              <a:t>양산</a:t>
            </a:r>
            <a:r>
              <a:rPr lang="en-US" dirty="0">
                <a:ea typeface="휴먼매직체"/>
              </a:rPr>
              <a:t> </a:t>
            </a:r>
            <a:r>
              <a:rPr lang="en-US" dirty="0" err="1">
                <a:ea typeface="휴먼매직체"/>
              </a:rPr>
              <a:t>시작</a:t>
            </a:r>
            <a:endParaRPr lang="en-US" dirty="0">
              <a:ea typeface="휴먼매직체"/>
            </a:endParaRPr>
          </a:p>
          <a:p>
            <a:pPr>
              <a:buNone/>
            </a:pPr>
            <a:r>
              <a:rPr lang="en-US" altLang="ko-KR" dirty="0">
                <a:ea typeface="휴먼매직체"/>
              </a:rPr>
              <a:t>    3. </a:t>
            </a:r>
            <a:r>
              <a:rPr lang="ko-KR" altLang="en-US" dirty="0">
                <a:ea typeface="휴먼매직체"/>
              </a:rPr>
              <a:t>생산 인프라</a:t>
            </a:r>
            <a:endParaRPr lang="en-US" altLang="ko-KR" dirty="0">
              <a:ea typeface="휴먼매직체"/>
            </a:endParaRPr>
          </a:p>
          <a:p>
            <a:pPr marL="0" indent="0">
              <a:buNone/>
            </a:pPr>
            <a:r>
              <a:rPr lang="ko-KR" altLang="en-US" dirty="0">
                <a:ea typeface="휴먼매직체"/>
              </a:rPr>
              <a:t>      파일럿 라인</a:t>
            </a:r>
            <a:r>
              <a:rPr lang="en-US" altLang="ko-KR" dirty="0">
                <a:ea typeface="휴먼매직체"/>
              </a:rPr>
              <a:t>: </a:t>
            </a:r>
            <a:r>
              <a:rPr lang="ko-KR" altLang="en-US" dirty="0">
                <a:ea typeface="휴먼매직체"/>
              </a:rPr>
              <a:t>경기 수원 연구소 </a:t>
            </a:r>
            <a:r>
              <a:rPr lang="en-US" altLang="ko-KR" dirty="0">
                <a:ea typeface="휴먼매직체"/>
              </a:rPr>
              <a:t>'S'</a:t>
            </a:r>
            <a:r>
              <a:rPr lang="ko-KR" altLang="en-US" dirty="0">
                <a:ea typeface="휴먼매직체"/>
              </a:rPr>
              <a:t>라인</a:t>
            </a:r>
            <a:r>
              <a:rPr lang="en-US" altLang="ko-KR" dirty="0">
                <a:ea typeface="휴먼매직체"/>
              </a:rPr>
              <a:t> </a:t>
            </a:r>
            <a:r>
              <a:rPr lang="ko-KR" altLang="en-US" dirty="0">
                <a:ea typeface="휴먼매직체"/>
              </a:rPr>
              <a:t>가동 중</a:t>
            </a:r>
          </a:p>
          <a:p>
            <a:pPr marL="0" indent="0">
              <a:buNone/>
            </a:pPr>
            <a:r>
              <a:rPr lang="ko-KR" altLang="en-US" dirty="0">
                <a:ea typeface="휴먼매직체"/>
              </a:rPr>
              <a:t>      양산 거점</a:t>
            </a:r>
            <a:r>
              <a:rPr lang="en-US" altLang="ko-KR" dirty="0">
                <a:ea typeface="휴먼매직체"/>
              </a:rPr>
              <a:t>: </a:t>
            </a:r>
            <a:r>
              <a:rPr lang="ko-KR" altLang="en-US" dirty="0">
                <a:ea typeface="휴먼매직체"/>
              </a:rPr>
              <a:t>울산 공장 전환</a:t>
            </a:r>
            <a:r>
              <a:rPr lang="en-US" altLang="ko-KR" dirty="0">
                <a:ea typeface="휴먼매직체"/>
              </a:rPr>
              <a:t>·</a:t>
            </a:r>
            <a:r>
              <a:rPr lang="ko-KR" altLang="en-US" dirty="0">
                <a:ea typeface="휴먼매직체"/>
              </a:rPr>
              <a:t>증설 검토 중</a:t>
            </a:r>
          </a:p>
          <a:p>
            <a:pPr marL="0" indent="0">
              <a:buNone/>
            </a:pPr>
            <a:r>
              <a:rPr lang="ko-KR" altLang="en-US" dirty="0">
                <a:ea typeface="휴먼매직체"/>
              </a:rPr>
              <a:t>      투자 규모</a:t>
            </a:r>
            <a:r>
              <a:rPr lang="en-US" altLang="ko-KR" dirty="0">
                <a:ea typeface="휴먼매직체"/>
              </a:rPr>
              <a:t>: </a:t>
            </a:r>
            <a:r>
              <a:rPr lang="ko-KR" altLang="en-US" dirty="0">
                <a:ea typeface="휴먼매직체"/>
              </a:rPr>
              <a:t>유상증자 자금 중 약 </a:t>
            </a:r>
            <a:r>
              <a:rPr lang="en-US" altLang="ko-KR" dirty="0">
                <a:ea typeface="휴먼매직체"/>
              </a:rPr>
              <a:t>3,500</a:t>
            </a:r>
            <a:r>
              <a:rPr lang="ko-KR" altLang="en-US" dirty="0">
                <a:ea typeface="휴먼매직체"/>
              </a:rPr>
              <a:t>억 원 전고체 라인 투입 예정</a:t>
            </a:r>
          </a:p>
          <a:p>
            <a:pPr>
              <a:buNone/>
            </a:pPr>
            <a:r>
              <a:rPr lang="en-US" dirty="0">
                <a:ea typeface="휴먼매직체"/>
              </a:rPr>
              <a:t>     4. BMW </a:t>
            </a:r>
            <a:r>
              <a:rPr lang="en-US" dirty="0" err="1">
                <a:ea typeface="휴먼매직체"/>
              </a:rPr>
              <a:t>협력</a:t>
            </a:r>
            <a:r>
              <a:rPr lang="en-US" dirty="0">
                <a:ea typeface="휴먼매직체"/>
              </a:rPr>
              <a:t> </a:t>
            </a:r>
            <a:r>
              <a:rPr lang="en-US" dirty="0" err="1">
                <a:ea typeface="휴먼매직체"/>
              </a:rPr>
              <a:t>일정</a:t>
            </a:r>
            <a:endParaRPr lang="en-US" dirty="0">
              <a:ea typeface="휴먼매직체"/>
            </a:endParaRPr>
          </a:p>
          <a:p>
            <a:pPr marL="0" indent="0">
              <a:buNone/>
            </a:pPr>
            <a:r>
              <a:rPr lang="en-US" dirty="0">
                <a:ea typeface="휴먼매직체"/>
              </a:rPr>
              <a:t>       2025년 10월: </a:t>
            </a:r>
            <a:r>
              <a:rPr lang="en-US" dirty="0" err="1">
                <a:ea typeface="휴먼매직체"/>
              </a:rPr>
              <a:t>BMW와</a:t>
            </a:r>
            <a:r>
              <a:rPr lang="en-US" dirty="0">
                <a:ea typeface="휴먼매직체"/>
              </a:rPr>
              <a:t> </a:t>
            </a:r>
            <a:r>
              <a:rPr lang="en-US" dirty="0" err="1">
                <a:ea typeface="휴먼매직체"/>
              </a:rPr>
              <a:t>업무협약</a:t>
            </a:r>
            <a:r>
              <a:rPr lang="en-US" dirty="0">
                <a:ea typeface="휴먼매직체"/>
              </a:rPr>
              <a:t>(MOU) </a:t>
            </a:r>
            <a:r>
              <a:rPr lang="en-US" dirty="0" err="1">
                <a:ea typeface="휴먼매직체"/>
              </a:rPr>
              <a:t>체결</a:t>
            </a:r>
            <a:endParaRPr lang="en-US" dirty="0">
              <a:ea typeface="휴먼매직체"/>
            </a:endParaRPr>
          </a:p>
          <a:p>
            <a:pPr marL="0" indent="0">
              <a:buNone/>
            </a:pPr>
            <a:r>
              <a:rPr lang="en-US" dirty="0">
                <a:ea typeface="휴먼매직체"/>
              </a:rPr>
              <a:t>       2026년 말: BMW </a:t>
            </a:r>
            <a:r>
              <a:rPr lang="en-US" dirty="0" err="1">
                <a:ea typeface="휴먼매직체"/>
              </a:rPr>
              <a:t>평가용</a:t>
            </a:r>
            <a:r>
              <a:rPr lang="en-US" dirty="0">
                <a:ea typeface="휴먼매직체"/>
              </a:rPr>
              <a:t> </a:t>
            </a:r>
            <a:r>
              <a:rPr lang="en-US" dirty="0" err="1">
                <a:ea typeface="휴먼매직체"/>
              </a:rPr>
              <a:t>차량에</a:t>
            </a:r>
            <a:r>
              <a:rPr lang="en-US" dirty="0">
                <a:ea typeface="휴먼매직체"/>
              </a:rPr>
              <a:t> </a:t>
            </a:r>
            <a:r>
              <a:rPr lang="en-US" dirty="0" err="1">
                <a:ea typeface="휴먼매직체"/>
              </a:rPr>
              <a:t>전고체</a:t>
            </a:r>
            <a:r>
              <a:rPr lang="en-US" dirty="0">
                <a:ea typeface="휴먼매직체"/>
              </a:rPr>
              <a:t> </a:t>
            </a:r>
            <a:r>
              <a:rPr lang="en-US" dirty="0" err="1">
                <a:ea typeface="휴먼매직체"/>
              </a:rPr>
              <a:t>배터리</a:t>
            </a:r>
            <a:r>
              <a:rPr lang="en-US" dirty="0">
                <a:ea typeface="휴먼매직체"/>
              </a:rPr>
              <a:t> </a:t>
            </a:r>
            <a:r>
              <a:rPr lang="en-US" dirty="0" err="1">
                <a:ea typeface="휴먼매직체"/>
              </a:rPr>
              <a:t>탑재</a:t>
            </a:r>
            <a:endParaRPr lang="en-US" dirty="0">
              <a:ea typeface="휴먼매직체"/>
            </a:endParaRPr>
          </a:p>
          <a:p>
            <a:pPr marL="0" indent="0">
              <a:buNone/>
            </a:pPr>
            <a:r>
              <a:rPr lang="en-US" dirty="0">
                <a:ea typeface="휴먼매직체"/>
              </a:rPr>
              <a:t>       2027년: </a:t>
            </a:r>
            <a:r>
              <a:rPr lang="en-US" dirty="0" err="1">
                <a:ea typeface="휴먼매직체"/>
              </a:rPr>
              <a:t>실제</a:t>
            </a:r>
            <a:r>
              <a:rPr lang="en-US" dirty="0">
                <a:ea typeface="휴먼매직체"/>
              </a:rPr>
              <a:t> </a:t>
            </a:r>
            <a:r>
              <a:rPr lang="en-US" dirty="0" err="1">
                <a:ea typeface="휴먼매직체"/>
              </a:rPr>
              <a:t>주행</a:t>
            </a:r>
            <a:r>
              <a:rPr lang="en-US" dirty="0">
                <a:ea typeface="휴먼매직체"/>
              </a:rPr>
              <a:t> </a:t>
            </a:r>
            <a:r>
              <a:rPr lang="en-US" dirty="0" err="1">
                <a:ea typeface="휴먼매직체"/>
              </a:rPr>
              <a:t>검증</a:t>
            </a:r>
            <a:r>
              <a:rPr lang="en-US" dirty="0">
                <a:ea typeface="휴먼매직체"/>
              </a:rPr>
              <a:t> 후 </a:t>
            </a:r>
            <a:r>
              <a:rPr lang="en-US" dirty="0" err="1">
                <a:ea typeface="휴먼매직체"/>
              </a:rPr>
              <a:t>본격</a:t>
            </a:r>
            <a:r>
              <a:rPr lang="en-US" dirty="0">
                <a:ea typeface="휴먼매직체"/>
              </a:rPr>
              <a:t> </a:t>
            </a:r>
            <a:r>
              <a:rPr lang="en-US" dirty="0" err="1">
                <a:ea typeface="휴먼매직체"/>
              </a:rPr>
              <a:t>양산</a:t>
            </a:r>
            <a:endParaRPr lang="en-US" altLang="ko-KR" dirty="0" err="1">
              <a:ea typeface="휴먼매직체"/>
            </a:endParaRPr>
          </a:p>
          <a:p>
            <a:pPr marL="0" indent="0">
              <a:buNone/>
            </a:pPr>
            <a:endParaRPr lang="ko-KR" altLang="en-US" dirty="0">
              <a:ea typeface="휴먼매직체"/>
            </a:endParaRPr>
          </a:p>
        </p:txBody>
      </p:sp>
    </p:spTree>
    <p:extLst>
      <p:ext uri="{BB962C8B-B14F-4D97-AF65-F5344CB8AC3E}">
        <p14:creationId xmlns:p14="http://schemas.microsoft.com/office/powerpoint/2010/main" val="3417028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전고체 배터리</a:t>
            </a:r>
            <a:r>
              <a:rPr lang="en-US" altLang="ko-KR" dirty="0" smtClean="0">
                <a:solidFill>
                  <a:schemeClr val="tx1"/>
                </a:solidFill>
              </a:rPr>
              <a:t>(5)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24744"/>
            <a:ext cx="7467600" cy="5349208"/>
          </a:xfrm>
        </p:spPr>
        <p:txBody>
          <a:bodyPr/>
          <a:lstStyle/>
          <a:p>
            <a:r>
              <a:rPr lang="ko-KR" altLang="en-US" dirty="0" smtClean="0"/>
              <a:t>전고체 배터리 활용 범위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  1. </a:t>
            </a:r>
            <a:r>
              <a:rPr lang="ko-KR" altLang="en-US" dirty="0"/>
              <a:t>전기차 </a:t>
            </a:r>
            <a:r>
              <a:rPr lang="en-US" altLang="ko-KR" dirty="0"/>
              <a:t>(EV) :</a:t>
            </a:r>
            <a:r>
              <a:rPr lang="ko-KR" altLang="en-US" dirty="0"/>
              <a:t>높은 에너지 밀도로 </a:t>
            </a:r>
            <a:r>
              <a:rPr lang="en-US" altLang="ko-KR" dirty="0"/>
              <a:t>1</a:t>
            </a:r>
            <a:r>
              <a:rPr lang="ko-KR" altLang="en-US" dirty="0"/>
              <a:t>회 충전 시 </a:t>
            </a:r>
            <a:r>
              <a:rPr lang="en-US" altLang="ko-KR" dirty="0"/>
              <a:t>800~1,000km </a:t>
            </a:r>
            <a:r>
              <a:rPr lang="ko-KR" altLang="en-US" dirty="0"/>
              <a:t>이상 주행이 가능하며</a:t>
            </a:r>
            <a:r>
              <a:rPr lang="en-US" altLang="ko-KR" dirty="0"/>
              <a:t>, </a:t>
            </a:r>
            <a:r>
              <a:rPr lang="ko-KR" altLang="en-US" dirty="0"/>
              <a:t>폭발 위험이 없어 안전성이 극대화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2. </a:t>
            </a:r>
            <a:r>
              <a:rPr lang="ko-KR" altLang="en-US" dirty="0"/>
              <a:t>로보틱스 및 미래 모빌리티</a:t>
            </a:r>
            <a:r>
              <a:rPr lang="en-US" altLang="ko-KR" dirty="0"/>
              <a:t>: </a:t>
            </a:r>
            <a:r>
              <a:rPr lang="ko-KR" altLang="en-US" dirty="0"/>
              <a:t>휴머노이드 로봇이나 산업용 로봇 등 제한된 공간에서 고출력과 경량화가 필수적인 기기에 최적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3. </a:t>
            </a:r>
            <a:r>
              <a:rPr lang="ko-KR" altLang="en-US" dirty="0"/>
              <a:t>우주</a:t>
            </a:r>
            <a:r>
              <a:rPr lang="en-US" altLang="ko-KR" dirty="0"/>
              <a:t>·</a:t>
            </a:r>
            <a:r>
              <a:rPr lang="ko-KR" altLang="en-US" dirty="0"/>
              <a:t>항공 및 군수 산업</a:t>
            </a:r>
            <a:r>
              <a:rPr lang="en-US" altLang="ko-KR" dirty="0"/>
              <a:t>: </a:t>
            </a:r>
            <a:r>
              <a:rPr lang="ko-KR" altLang="en-US" dirty="0"/>
              <a:t>극한의 온도 변화</a:t>
            </a:r>
            <a:r>
              <a:rPr lang="en-US" altLang="ko-KR" dirty="0"/>
              <a:t>(</a:t>
            </a:r>
            <a:r>
              <a:rPr lang="ko-KR" altLang="en-US" dirty="0"/>
              <a:t>영하 </a:t>
            </a:r>
            <a:r>
              <a:rPr lang="en-US" altLang="ko-KR" dirty="0"/>
              <a:t>50</a:t>
            </a:r>
            <a:r>
              <a:rPr lang="ko-KR" altLang="en-US" dirty="0"/>
              <a:t>도 등</a:t>
            </a:r>
            <a:r>
              <a:rPr lang="en-US" altLang="ko-KR" dirty="0"/>
              <a:t>)</a:t>
            </a:r>
            <a:r>
              <a:rPr lang="ko-KR" altLang="en-US" dirty="0"/>
              <a:t>나 진동이 심한 환경에서도 안정적으로 작동하여 드론</a:t>
            </a:r>
            <a:r>
              <a:rPr lang="en-US" altLang="ko-KR" dirty="0"/>
              <a:t>, </a:t>
            </a:r>
            <a:r>
              <a:rPr lang="ko-KR" altLang="en-US" dirty="0"/>
              <a:t>항공기</a:t>
            </a:r>
            <a:r>
              <a:rPr lang="en-US" altLang="ko-KR" dirty="0"/>
              <a:t>, </a:t>
            </a:r>
            <a:r>
              <a:rPr lang="ko-KR" altLang="en-US" dirty="0"/>
              <a:t>군사 장비에 활용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4. </a:t>
            </a:r>
            <a:r>
              <a:rPr lang="ko-KR" altLang="en-US" dirty="0"/>
              <a:t>에너지 저장 장치 </a:t>
            </a:r>
            <a:r>
              <a:rPr lang="en-US" altLang="ko-KR" dirty="0"/>
              <a:t>(ESS): </a:t>
            </a:r>
            <a:r>
              <a:rPr lang="ko-KR" altLang="en-US" dirty="0"/>
              <a:t>대규모 전력을 저장할 때 화재 위험을 제거하고</a:t>
            </a:r>
            <a:r>
              <a:rPr lang="en-US" altLang="ko-KR" dirty="0"/>
              <a:t>, </a:t>
            </a:r>
            <a:r>
              <a:rPr lang="ko-KR" altLang="en-US" dirty="0"/>
              <a:t>장기적인 전력망 안정성을 높이는 데 기여</a:t>
            </a:r>
          </a:p>
        </p:txBody>
      </p:sp>
    </p:spTree>
    <p:extLst>
      <p:ext uri="{BB962C8B-B14F-4D97-AF65-F5344CB8AC3E}">
        <p14:creationId xmlns:p14="http://schemas.microsoft.com/office/powerpoint/2010/main" val="3366317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6A48CD1-BD4A-0747-19F8-33E179D4E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2074"/>
          </a:xfrm>
        </p:spPr>
        <p:txBody>
          <a:bodyPr vert="horz" lIns="91440" tIns="45720" rIns="91440" bIns="45720" anchor="b">
            <a:normAutofit/>
          </a:bodyPr>
          <a:lstStyle/>
          <a:p>
            <a:r>
              <a:rPr lang="ko-KR" altLang="en-US" dirty="0">
                <a:solidFill>
                  <a:schemeClr val="tx1"/>
                </a:solidFill>
                <a:ea typeface="휴먼매직체"/>
              </a:rPr>
              <a:t>삼성 디스플레이 지분 매각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F12BEC9C-B40E-77CC-A1F3-126C6D35CB9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36355" y="836712"/>
            <a:ext cx="8268093" cy="5637240"/>
          </a:xfrm>
        </p:spPr>
        <p:txBody>
          <a:bodyPr vert="horz" lIns="91440" tIns="45720" rIns="91440" bIns="45720" anchor="t">
            <a:normAutofit/>
          </a:bodyPr>
          <a:lstStyle/>
          <a:p>
            <a:pPr>
              <a:lnSpc>
                <a:spcPts val="2475"/>
              </a:lnSpc>
            </a:pPr>
            <a:r>
              <a:rPr lang="ko-KR" altLang="en-US" sz="2200" dirty="0">
                <a:ea typeface="휴먼매직체"/>
              </a:rPr>
              <a:t>삼성디스플레이 지분매각 추진 공시 </a:t>
            </a:r>
            <a:r>
              <a:rPr lang="en-US" sz="2200" dirty="0">
                <a:ea typeface="휴먼매직체"/>
              </a:rPr>
              <a:t>(2026</a:t>
            </a:r>
            <a:r>
              <a:rPr lang="ko-KR" altLang="en-US" sz="2200" dirty="0">
                <a:ea typeface="휴먼매직체"/>
              </a:rPr>
              <a:t>년 </a:t>
            </a:r>
            <a:r>
              <a:rPr lang="en-US" sz="2200" dirty="0">
                <a:ea typeface="휴먼매직체"/>
              </a:rPr>
              <a:t>2</a:t>
            </a:r>
            <a:r>
              <a:rPr lang="ko-KR" altLang="en-US" sz="2200" dirty="0">
                <a:ea typeface="휴먼매직체"/>
              </a:rPr>
              <a:t>월 </a:t>
            </a:r>
            <a:r>
              <a:rPr lang="en-US" sz="2200" dirty="0">
                <a:ea typeface="휴먼매직체"/>
              </a:rPr>
              <a:t>19</a:t>
            </a:r>
            <a:r>
              <a:rPr lang="ko-KR" altLang="en-US" sz="2200" dirty="0">
                <a:ea typeface="휴먼매직체"/>
              </a:rPr>
              <a:t>일</a:t>
            </a:r>
            <a:r>
              <a:rPr lang="en-US" sz="2200" dirty="0">
                <a:ea typeface="휴먼매직체"/>
              </a:rPr>
              <a:t>)​</a:t>
            </a:r>
            <a:br>
              <a:rPr lang="en-US" sz="2200" dirty="0">
                <a:ea typeface="휴먼매직체"/>
              </a:rPr>
            </a:br>
            <a:r>
              <a:rPr lang="en-US" sz="2200" dirty="0">
                <a:ea typeface="휴먼매직체"/>
              </a:rPr>
              <a:t>- </a:t>
            </a:r>
            <a:r>
              <a:rPr lang="ko-KR" altLang="en-US" sz="2200" dirty="0">
                <a:ea typeface="휴먼매직체"/>
              </a:rPr>
              <a:t>삼성디스플레이 지분 </a:t>
            </a:r>
            <a:r>
              <a:rPr lang="en-US" sz="2200" dirty="0">
                <a:ea typeface="휴먼매직체"/>
              </a:rPr>
              <a:t>15.2% </a:t>
            </a:r>
            <a:r>
              <a:rPr lang="ko-KR" altLang="en-US" sz="2200" dirty="0">
                <a:ea typeface="휴먼매직체"/>
              </a:rPr>
              <a:t>보유</a:t>
            </a:r>
            <a:r>
              <a:rPr lang="en-US" sz="2200" dirty="0">
                <a:ea typeface="휴먼매직체"/>
              </a:rPr>
              <a:t>​</a:t>
            </a:r>
            <a:br>
              <a:rPr lang="en-US" sz="2200" dirty="0">
                <a:ea typeface="휴먼매직체"/>
              </a:rPr>
            </a:br>
            <a:r>
              <a:rPr lang="en-US" sz="2200" dirty="0">
                <a:ea typeface="휴먼매직체"/>
              </a:rPr>
              <a:t>- </a:t>
            </a:r>
            <a:r>
              <a:rPr lang="ko-KR" altLang="en-US" sz="2200" dirty="0">
                <a:ea typeface="휴먼매직체"/>
              </a:rPr>
              <a:t>지분가치 약 </a:t>
            </a:r>
            <a:r>
              <a:rPr lang="en-US" sz="2200" dirty="0" smtClean="0">
                <a:ea typeface="휴먼매직체"/>
              </a:rPr>
              <a:t>11</a:t>
            </a:r>
            <a:r>
              <a:rPr lang="ko-KR" altLang="en-US" sz="2200" dirty="0" smtClean="0">
                <a:ea typeface="휴먼매직체"/>
              </a:rPr>
              <a:t>조 </a:t>
            </a:r>
            <a:r>
              <a:rPr lang="ko-KR" altLang="en-US" sz="2200" dirty="0">
                <a:ea typeface="휴먼매직체"/>
              </a:rPr>
              <a:t>내외 추정</a:t>
            </a:r>
            <a:r>
              <a:rPr lang="en-US" sz="2200" dirty="0">
                <a:ea typeface="휴먼매직체"/>
              </a:rPr>
              <a:t>​</a:t>
            </a:r>
            <a:br>
              <a:rPr lang="en-US" sz="2200" dirty="0">
                <a:ea typeface="휴먼매직체"/>
              </a:rPr>
            </a:br>
            <a:r>
              <a:rPr lang="ko-KR" altLang="en-US" sz="2200" dirty="0">
                <a:ea typeface="휴먼매직체"/>
              </a:rPr>
              <a:t>참고</a:t>
            </a:r>
            <a:r>
              <a:rPr lang="en-US" sz="2200" dirty="0">
                <a:ea typeface="휴먼매직체"/>
              </a:rPr>
              <a:t>)</a:t>
            </a:r>
            <a:r>
              <a:rPr lang="ko-KR" altLang="en-US" sz="2200" dirty="0">
                <a:ea typeface="휴먼매직체"/>
              </a:rPr>
              <a:t> 삼성디스플레이 </a:t>
            </a:r>
            <a:r>
              <a:rPr lang="en-US" sz="2200" dirty="0">
                <a:ea typeface="휴먼매직체"/>
              </a:rPr>
              <a:t>2025</a:t>
            </a:r>
            <a:r>
              <a:rPr lang="ko-KR" altLang="en-US" sz="2200" dirty="0">
                <a:ea typeface="휴먼매직체"/>
              </a:rPr>
              <a:t>년 실적</a:t>
            </a:r>
            <a:r>
              <a:rPr lang="en-US" sz="2200" dirty="0">
                <a:ea typeface="휴먼매직체"/>
              </a:rPr>
              <a:t>​</a:t>
            </a:r>
            <a:br>
              <a:rPr lang="en-US" sz="2200" dirty="0">
                <a:ea typeface="휴먼매직체"/>
              </a:rPr>
            </a:br>
            <a:r>
              <a:rPr lang="en-US" sz="2200" dirty="0">
                <a:ea typeface="휴먼매직체"/>
              </a:rPr>
              <a:t>☞ </a:t>
            </a:r>
            <a:r>
              <a:rPr lang="ko-KR" altLang="en-US" sz="2200" dirty="0">
                <a:ea typeface="휴먼매직체"/>
              </a:rPr>
              <a:t>매출 </a:t>
            </a:r>
            <a:r>
              <a:rPr lang="en-US" sz="2200" dirty="0">
                <a:ea typeface="휴먼매직체"/>
              </a:rPr>
              <a:t>29</a:t>
            </a:r>
            <a:r>
              <a:rPr lang="ko-KR" altLang="en-US" sz="2200" dirty="0">
                <a:ea typeface="휴먼매직체"/>
              </a:rPr>
              <a:t>조 7</a:t>
            </a:r>
            <a:r>
              <a:rPr lang="en-US" sz="2200" dirty="0">
                <a:ea typeface="휴먼매직체"/>
              </a:rPr>
              <a:t>000</a:t>
            </a:r>
            <a:r>
              <a:rPr lang="ko-KR" altLang="en-US" sz="2200" dirty="0">
                <a:ea typeface="휴먼매직체"/>
              </a:rPr>
              <a:t>여억</a:t>
            </a:r>
            <a:r>
              <a:rPr lang="en-US" sz="2200" dirty="0">
                <a:ea typeface="휴먼매직체"/>
              </a:rPr>
              <a:t>, </a:t>
            </a:r>
            <a:r>
              <a:rPr lang="ko-KR" altLang="en-US" sz="2200" dirty="0">
                <a:ea typeface="휴먼매직체"/>
              </a:rPr>
              <a:t>영업이익 </a:t>
            </a:r>
            <a:r>
              <a:rPr lang="en-US" sz="2200" dirty="0">
                <a:ea typeface="휴먼매직체"/>
              </a:rPr>
              <a:t>4</a:t>
            </a:r>
            <a:r>
              <a:rPr lang="ko-KR" altLang="en-US" sz="2200" dirty="0">
                <a:ea typeface="휴먼매직체"/>
              </a:rPr>
              <a:t>조 7</a:t>
            </a:r>
            <a:r>
              <a:rPr lang="en-US" sz="2200" dirty="0">
                <a:ea typeface="휴먼매직체"/>
              </a:rPr>
              <a:t>00</a:t>
            </a:r>
            <a:r>
              <a:rPr lang="ko-KR" altLang="en-US" sz="2200" dirty="0">
                <a:ea typeface="휴먼매직체"/>
              </a:rPr>
              <a:t>억원</a:t>
            </a:r>
            <a:r>
              <a:rPr lang="en-US" sz="2200" dirty="0">
                <a:ea typeface="휴먼매직체"/>
              </a:rPr>
              <a:t>​, </a:t>
            </a:r>
            <a:r>
              <a:rPr lang="ko-KR" altLang="en-US" sz="2200" dirty="0" smtClean="0">
                <a:ea typeface="휴먼매직체"/>
              </a:rPr>
              <a:t>당기순이익 </a:t>
            </a:r>
            <a:r>
              <a:rPr lang="ko-KR" altLang="en-US" sz="2200" dirty="0">
                <a:ea typeface="휴먼매직체"/>
              </a:rPr>
              <a:t>5조3700억</a:t>
            </a:r>
          </a:p>
          <a:p>
            <a:pPr marL="0" indent="0">
              <a:lnSpc>
                <a:spcPts val="2475"/>
              </a:lnSpc>
              <a:buNone/>
            </a:pPr>
            <a:r>
              <a:rPr lang="en-US" sz="2200" dirty="0">
                <a:ea typeface="휴먼매직체"/>
              </a:rPr>
              <a:t>  </a:t>
            </a:r>
            <a:r>
              <a:rPr lang="en-US" sz="2200" dirty="0" smtClean="0">
                <a:ea typeface="휴먼매직체"/>
              </a:rPr>
              <a:t>  </a:t>
            </a:r>
            <a:r>
              <a:rPr lang="en-US" sz="2200" dirty="0">
                <a:ea typeface="휴먼매직체"/>
              </a:rPr>
              <a:t>  </a:t>
            </a:r>
            <a:r>
              <a:rPr lang="ko-KR" altLang="en-US" sz="2200" dirty="0">
                <a:latin typeface="HY강B"/>
                <a:ea typeface="HY강B"/>
              </a:rPr>
              <a:t>☞ </a:t>
            </a:r>
            <a:r>
              <a:rPr lang="ko-KR" altLang="en-US" sz="2200" dirty="0" smtClean="0">
                <a:ea typeface="휴먼매직체"/>
              </a:rPr>
              <a:t>차입금 </a:t>
            </a:r>
            <a:r>
              <a:rPr lang="ko-KR" altLang="en-US" sz="2200" dirty="0">
                <a:ea typeface="휴먼매직체"/>
              </a:rPr>
              <a:t>감소 기대</a:t>
            </a:r>
            <a:r>
              <a:rPr lang="en-US" sz="2200" dirty="0">
                <a:ea typeface="휴먼매직체"/>
              </a:rPr>
              <a:t>, </a:t>
            </a:r>
            <a:r>
              <a:rPr lang="ko-KR" altLang="en-US" sz="2200" dirty="0">
                <a:ea typeface="휴먼매직체"/>
              </a:rPr>
              <a:t>재무건전성 </a:t>
            </a:r>
            <a:r>
              <a:rPr lang="ko-KR" altLang="en-US" sz="2200" dirty="0" smtClean="0">
                <a:ea typeface="휴먼매직체"/>
              </a:rPr>
              <a:t>개선</a:t>
            </a:r>
            <a:endParaRPr lang="en-US" sz="2200" dirty="0">
              <a:ea typeface="휴먼매직체"/>
            </a:endParaRPr>
          </a:p>
          <a:p>
            <a:pPr marL="0" indent="0">
              <a:lnSpc>
                <a:spcPts val="2475"/>
              </a:lnSpc>
              <a:buNone/>
            </a:pPr>
            <a:r>
              <a:rPr lang="en-US" sz="2200" dirty="0">
                <a:ea typeface="휴먼매직체"/>
              </a:rPr>
              <a:t>      </a:t>
            </a:r>
            <a:r>
              <a:rPr lang="en-US" sz="2200" dirty="0" smtClean="0">
                <a:ea typeface="휴먼매직체"/>
              </a:rPr>
              <a:t>     (</a:t>
            </a:r>
            <a:r>
              <a:rPr lang="ko-KR" altLang="en-US" sz="2200" dirty="0">
                <a:ea typeface="휴먼매직체"/>
              </a:rPr>
              <a:t>총 차입금 규모 </a:t>
            </a:r>
            <a:r>
              <a:rPr lang="en-US" sz="2200" dirty="0">
                <a:ea typeface="휴먼매직체"/>
              </a:rPr>
              <a:t>: </a:t>
            </a:r>
            <a:r>
              <a:rPr lang="ko-KR" altLang="en-US" sz="2200" dirty="0">
                <a:ea typeface="휴먼매직체"/>
              </a:rPr>
              <a:t>약 </a:t>
            </a:r>
            <a:r>
              <a:rPr lang="en-US" sz="2200" dirty="0" smtClean="0">
                <a:ea typeface="휴먼매직체"/>
              </a:rPr>
              <a:t>11</a:t>
            </a:r>
            <a:r>
              <a:rPr lang="ko-KR" altLang="en-US" sz="2200" dirty="0" smtClean="0">
                <a:ea typeface="휴먼매직체"/>
              </a:rPr>
              <a:t>조원</a:t>
            </a:r>
            <a:r>
              <a:rPr lang="en-US" sz="2200" dirty="0">
                <a:ea typeface="휴먼매직체"/>
              </a:rPr>
              <a:t>)</a:t>
            </a:r>
            <a:r>
              <a:rPr lang="ko-KR" altLang="en-US" sz="2200" dirty="0" smtClean="0">
                <a:ea typeface="휴먼매직체"/>
              </a:rPr>
              <a:t>​</a:t>
            </a:r>
            <a:endParaRPr lang="en-US" altLang="ko-KR" sz="2200" dirty="0" smtClean="0">
              <a:ea typeface="휴먼매직체"/>
            </a:endParaRPr>
          </a:p>
          <a:p>
            <a:pPr marL="0" indent="0">
              <a:lnSpc>
                <a:spcPts val="2475"/>
              </a:lnSpc>
              <a:buNone/>
            </a:pPr>
            <a:r>
              <a:rPr lang="ko-KR" altLang="en-US" sz="2200" dirty="0" smtClean="0"/>
              <a:t>      </a:t>
            </a:r>
            <a:r>
              <a:rPr lang="ko-KR" altLang="en-US" sz="2200" dirty="0" smtClean="0">
                <a:latin typeface="HY강B"/>
                <a:ea typeface="HY강B"/>
              </a:rPr>
              <a:t>☞</a:t>
            </a:r>
            <a:r>
              <a:rPr lang="ko-KR" altLang="en-US" sz="2200" dirty="0" smtClean="0"/>
              <a:t>투자재원여력 확보</a:t>
            </a:r>
            <a:endParaRPr lang="en-US" altLang="ko-KR" sz="2200" dirty="0" smtClean="0"/>
          </a:p>
          <a:p>
            <a:pPr marL="0" indent="0">
              <a:lnSpc>
                <a:spcPts val="2475"/>
              </a:lnSpc>
              <a:buNone/>
            </a:pPr>
            <a:r>
              <a:rPr lang="en-US" altLang="ko-KR" sz="2200" dirty="0">
                <a:ea typeface="휴먼매직체"/>
              </a:rPr>
              <a:t> </a:t>
            </a:r>
            <a:r>
              <a:rPr lang="en-US" altLang="ko-KR" sz="2200" dirty="0" smtClean="0">
                <a:ea typeface="휴먼매직체"/>
              </a:rPr>
              <a:t>          (</a:t>
            </a:r>
            <a:r>
              <a:rPr lang="ko-KR" altLang="en-US" sz="2200" dirty="0" smtClean="0">
                <a:ea typeface="휴먼매직체"/>
              </a:rPr>
              <a:t>공장건</a:t>
            </a:r>
            <a:r>
              <a:rPr lang="ko-KR" altLang="en-US" sz="2200" dirty="0">
                <a:ea typeface="휴먼매직체"/>
              </a:rPr>
              <a:t>설</a:t>
            </a:r>
            <a:r>
              <a:rPr lang="en-US" altLang="ko-KR" sz="2200" dirty="0" smtClean="0">
                <a:ea typeface="휴먼매직체"/>
              </a:rPr>
              <a:t>, ESS</a:t>
            </a:r>
            <a:r>
              <a:rPr lang="ko-KR" altLang="en-US" sz="2200" dirty="0" smtClean="0">
                <a:ea typeface="휴먼매직체"/>
              </a:rPr>
              <a:t>용 생산라인 증설</a:t>
            </a:r>
            <a:r>
              <a:rPr lang="en-US" altLang="ko-KR" sz="2200" dirty="0" smtClean="0">
                <a:ea typeface="휴먼매직체"/>
              </a:rPr>
              <a:t> </a:t>
            </a:r>
            <a:r>
              <a:rPr lang="ko-KR" altLang="en-US" sz="2200" dirty="0" smtClean="0">
                <a:ea typeface="휴먼매직체"/>
              </a:rPr>
              <a:t>전고체 배터리 투자</a:t>
            </a:r>
            <a:r>
              <a:rPr lang="en-US" altLang="ko-KR" sz="2200" dirty="0" smtClean="0">
                <a:ea typeface="휴먼매직체"/>
              </a:rPr>
              <a:t>)</a:t>
            </a:r>
            <a:endParaRPr lang="ko-KR" altLang="en-US" sz="2200" dirty="0">
              <a:ea typeface="휴먼매직체"/>
            </a:endParaRPr>
          </a:p>
          <a:p>
            <a:pPr>
              <a:lnSpc>
                <a:spcPts val="2475"/>
              </a:lnSpc>
            </a:pPr>
            <a:r>
              <a:rPr lang="ko-KR" altLang="en-US" sz="2200" dirty="0" smtClean="0">
                <a:ea typeface="휴먼매직체"/>
              </a:rPr>
              <a:t>삼성 </a:t>
            </a:r>
            <a:r>
              <a:rPr lang="en-US" altLang="ko-KR" sz="2200" dirty="0" smtClean="0">
                <a:ea typeface="휴먼매직체"/>
              </a:rPr>
              <a:t>SDI</a:t>
            </a:r>
            <a:r>
              <a:rPr lang="ko-KR" altLang="en-US" sz="2200" dirty="0" smtClean="0">
                <a:ea typeface="휴먼매직체"/>
              </a:rPr>
              <a:t>의 히든카드이자 벨류에이션 재 평가의 핵심이 될 수 있음</a:t>
            </a:r>
            <a:endParaRPr lang="en-US" altLang="ko-KR" sz="2200" dirty="0" smtClean="0">
              <a:ea typeface="휴먼매직체"/>
            </a:endParaRPr>
          </a:p>
          <a:p>
            <a:pPr>
              <a:lnSpc>
                <a:spcPts val="2475"/>
              </a:lnSpc>
            </a:pPr>
            <a:r>
              <a:rPr lang="ko-KR" altLang="en-US" sz="2200" dirty="0" smtClean="0">
                <a:ea typeface="휴먼매직체"/>
              </a:rPr>
              <a:t>​</a:t>
            </a:r>
            <a:r>
              <a:rPr lang="ko-KR" altLang="en-US" sz="2200" dirty="0">
                <a:ea typeface="휴먼매직체"/>
              </a:rPr>
              <a:t>연내 지분 매각 마무리 예정 (by 1분기 컨퍼런스 콜</a:t>
            </a:r>
            <a:r>
              <a:rPr lang="ko-KR" altLang="en-US" sz="2200" dirty="0" smtClean="0">
                <a:ea typeface="휴먼매직체"/>
              </a:rPr>
              <a:t>)</a:t>
            </a:r>
            <a:endParaRPr lang="en-US" altLang="ko-KR" sz="2200" dirty="0" smtClean="0">
              <a:ea typeface="휴먼매직체"/>
            </a:endParaRPr>
          </a:p>
          <a:p>
            <a:pPr marL="0" indent="0">
              <a:lnSpc>
                <a:spcPts val="2475"/>
              </a:lnSpc>
              <a:buNone/>
            </a:pPr>
            <a:endParaRPr lang="ko-KR" altLang="en-US" sz="2200" dirty="0">
              <a:ea typeface="휴먼매직체"/>
            </a:endParaRPr>
          </a:p>
        </p:txBody>
      </p:sp>
    </p:spTree>
    <p:extLst>
      <p:ext uri="{BB962C8B-B14F-4D97-AF65-F5344CB8AC3E}">
        <p14:creationId xmlns:p14="http://schemas.microsoft.com/office/powerpoint/2010/main" val="2737556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7467600" cy="648072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국내 </a:t>
            </a:r>
            <a:r>
              <a:rPr lang="en-US" altLang="ko-KR" dirty="0" smtClean="0">
                <a:solidFill>
                  <a:schemeClr val="tx1"/>
                </a:solidFill>
              </a:rPr>
              <a:t>3</a:t>
            </a:r>
            <a:r>
              <a:rPr lang="ko-KR" altLang="en-US" dirty="0" smtClean="0">
                <a:solidFill>
                  <a:schemeClr val="tx1"/>
                </a:solidFill>
              </a:rPr>
              <a:t>사 경쟁사 비교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046657576"/>
              </p:ext>
            </p:extLst>
          </p:nvPr>
        </p:nvGraphicFramePr>
        <p:xfrm>
          <a:off x="251520" y="1052736"/>
          <a:ext cx="8424936" cy="53442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7292"/>
                <a:gridCol w="2087595"/>
                <a:gridCol w="2461777"/>
                <a:gridCol w="2448272"/>
              </a:tblGrid>
              <a:tr h="3773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LG</a:t>
                      </a:r>
                      <a:r>
                        <a:rPr lang="ko-KR" altLang="en-US" dirty="0" smtClean="0"/>
                        <a:t>에너지솔루션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삼성</a:t>
                      </a:r>
                      <a:r>
                        <a:rPr lang="en-US" altLang="ko-KR" dirty="0" smtClean="0"/>
                        <a:t>SDI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SK on</a:t>
                      </a:r>
                      <a:endParaRPr lang="ko-KR" altLang="en-US" dirty="0"/>
                    </a:p>
                  </a:txBody>
                  <a:tcPr/>
                </a:tc>
              </a:tr>
              <a:tr h="3773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시 총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약 </a:t>
                      </a:r>
                      <a:r>
                        <a:rPr lang="en-US" altLang="ko-KR" sz="1400" dirty="0" smtClean="0"/>
                        <a:t>90</a:t>
                      </a:r>
                      <a:r>
                        <a:rPr lang="ko-KR" altLang="en-US" sz="1400" dirty="0" smtClean="0"/>
                        <a:t>조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약 </a:t>
                      </a:r>
                      <a:r>
                        <a:rPr lang="en-US" altLang="ko-KR" sz="1400" dirty="0" smtClean="0"/>
                        <a:t>40</a:t>
                      </a:r>
                      <a:r>
                        <a:rPr lang="ko-KR" altLang="en-US" sz="1400" dirty="0" smtClean="0"/>
                        <a:t>조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-</a:t>
                      </a:r>
                      <a:endParaRPr lang="ko-KR" altLang="en-US" sz="1400" dirty="0"/>
                    </a:p>
                  </a:txBody>
                  <a:tcPr/>
                </a:tc>
              </a:tr>
              <a:tr h="5893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26</a:t>
                      </a:r>
                      <a:r>
                        <a:rPr lang="ko-KR" altLang="en-US" sz="1400" dirty="0" smtClean="0"/>
                        <a:t>년 </a:t>
                      </a:r>
                      <a:r>
                        <a:rPr lang="en-US" altLang="ko-KR" sz="1400" dirty="0" smtClean="0"/>
                        <a:t>1</a:t>
                      </a:r>
                      <a:r>
                        <a:rPr lang="ko-KR" altLang="en-US" sz="1400" dirty="0" smtClean="0"/>
                        <a:t>분기 실적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매출 </a:t>
                      </a:r>
                      <a:r>
                        <a:rPr lang="en-US" altLang="ko-KR" sz="1400" dirty="0" smtClean="0"/>
                        <a:t>: </a:t>
                      </a:r>
                      <a:r>
                        <a:rPr lang="ko-KR" altLang="en-US" sz="1400" dirty="0" smtClean="0"/>
                        <a:t>약</a:t>
                      </a:r>
                      <a:r>
                        <a:rPr lang="en-US" altLang="ko-KR" sz="1400" dirty="0" smtClean="0"/>
                        <a:t> 6.5</a:t>
                      </a:r>
                      <a:r>
                        <a:rPr lang="ko-KR" altLang="en-US" sz="1400" dirty="0" smtClean="0"/>
                        <a:t>조</a:t>
                      </a:r>
                      <a:endParaRPr lang="en-US" altLang="ko-KR" sz="1400" dirty="0" smtClean="0"/>
                    </a:p>
                    <a:p>
                      <a:pPr algn="ctr" latinLnBrk="1"/>
                      <a:r>
                        <a:rPr lang="ko-KR" altLang="en-US" sz="1400" dirty="0" smtClean="0"/>
                        <a:t>영업손실 </a:t>
                      </a:r>
                      <a:r>
                        <a:rPr lang="en-US" altLang="ko-KR" sz="1400" dirty="0" smtClean="0"/>
                        <a:t>: </a:t>
                      </a:r>
                      <a:r>
                        <a:rPr lang="ko-KR" altLang="en-US" sz="1400" dirty="0" smtClean="0"/>
                        <a:t>약 </a:t>
                      </a:r>
                      <a:r>
                        <a:rPr lang="en-US" altLang="ko-KR" sz="1400" dirty="0" smtClean="0"/>
                        <a:t>-2000</a:t>
                      </a:r>
                      <a:r>
                        <a:rPr lang="ko-KR" altLang="en-US" sz="1400" dirty="0" smtClean="0"/>
                        <a:t>억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매출 </a:t>
                      </a:r>
                      <a:r>
                        <a:rPr lang="en-US" altLang="ko-KR" sz="1400" dirty="0" smtClean="0"/>
                        <a:t>: </a:t>
                      </a:r>
                      <a:r>
                        <a:rPr lang="ko-KR" altLang="en-US" sz="1400" dirty="0" smtClean="0"/>
                        <a:t>약</a:t>
                      </a:r>
                      <a:r>
                        <a:rPr lang="en-US" altLang="ko-KR" sz="1400" dirty="0" smtClean="0"/>
                        <a:t> 3.5</a:t>
                      </a:r>
                      <a:r>
                        <a:rPr lang="ko-KR" altLang="en-US" sz="1400" dirty="0" smtClean="0"/>
                        <a:t>조</a:t>
                      </a:r>
                      <a:endParaRPr lang="en-US" altLang="ko-KR" sz="1400" dirty="0" smtClean="0"/>
                    </a:p>
                    <a:p>
                      <a:pPr algn="ctr" latinLnBrk="1"/>
                      <a:r>
                        <a:rPr lang="ko-KR" altLang="en-US" sz="1400" dirty="0" smtClean="0"/>
                        <a:t>영업손실 </a:t>
                      </a:r>
                      <a:r>
                        <a:rPr lang="en-US" altLang="ko-KR" sz="1400" dirty="0" smtClean="0"/>
                        <a:t>: </a:t>
                      </a:r>
                      <a:r>
                        <a:rPr lang="ko-KR" altLang="en-US" sz="1400" dirty="0" smtClean="0"/>
                        <a:t>약 </a:t>
                      </a:r>
                      <a:r>
                        <a:rPr lang="en-US" altLang="ko-KR" sz="1400" dirty="0" smtClean="0"/>
                        <a:t>-1500</a:t>
                      </a:r>
                      <a:r>
                        <a:rPr lang="ko-KR" altLang="en-US" sz="1400" dirty="0" smtClean="0"/>
                        <a:t>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매출 </a:t>
                      </a:r>
                      <a:r>
                        <a:rPr lang="en-US" altLang="ko-KR" sz="1400" dirty="0" smtClean="0"/>
                        <a:t>: </a:t>
                      </a:r>
                      <a:r>
                        <a:rPr lang="ko-KR" altLang="en-US" sz="1400" dirty="0" smtClean="0"/>
                        <a:t>약</a:t>
                      </a:r>
                      <a:r>
                        <a:rPr lang="en-US" altLang="ko-KR" sz="1400" dirty="0" smtClean="0"/>
                        <a:t> 1.8</a:t>
                      </a:r>
                      <a:r>
                        <a:rPr lang="ko-KR" altLang="en-US" sz="1400" dirty="0" smtClean="0"/>
                        <a:t>조</a:t>
                      </a:r>
                      <a:endParaRPr lang="en-US" altLang="ko-KR" sz="1400" dirty="0" smtClean="0"/>
                    </a:p>
                    <a:p>
                      <a:pPr algn="ctr" latinLnBrk="1"/>
                      <a:r>
                        <a:rPr lang="ko-KR" altLang="en-US" sz="1400" dirty="0" smtClean="0"/>
                        <a:t>영업손실 </a:t>
                      </a:r>
                      <a:r>
                        <a:rPr lang="en-US" altLang="ko-KR" sz="1400" dirty="0" smtClean="0"/>
                        <a:t>: </a:t>
                      </a:r>
                      <a:r>
                        <a:rPr lang="ko-KR" altLang="en-US" sz="1400" dirty="0" smtClean="0"/>
                        <a:t>약 </a:t>
                      </a:r>
                      <a:r>
                        <a:rPr lang="en-US" altLang="ko-KR" sz="1400" dirty="0" smtClean="0"/>
                        <a:t>-3500</a:t>
                      </a:r>
                      <a:r>
                        <a:rPr lang="ko-KR" altLang="en-US" sz="1400" dirty="0" smtClean="0"/>
                        <a:t>억</a:t>
                      </a:r>
                    </a:p>
                  </a:txBody>
                  <a:tcPr/>
                </a:tc>
              </a:tr>
              <a:tr h="5893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연간 생산 능력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약 </a:t>
                      </a:r>
                      <a:r>
                        <a:rPr lang="en-US" altLang="ko-KR" sz="1400" dirty="0" smtClean="0"/>
                        <a:t>300GWh(26</a:t>
                      </a:r>
                      <a:r>
                        <a:rPr lang="ko-KR" altLang="en-US" sz="1400" dirty="0" smtClean="0"/>
                        <a:t>년말까지 </a:t>
                      </a:r>
                      <a:r>
                        <a:rPr lang="en-US" altLang="ko-KR" sz="1400" dirty="0" smtClean="0"/>
                        <a:t>ESS</a:t>
                      </a:r>
                      <a:r>
                        <a:rPr lang="ko-KR" altLang="en-US" sz="1400" dirty="0" smtClean="0"/>
                        <a:t>생산능력</a:t>
                      </a:r>
                      <a:r>
                        <a:rPr lang="en-US" altLang="ko-KR" sz="1400" dirty="0" smtClean="0"/>
                        <a:t>60GWh</a:t>
                      </a:r>
                      <a:r>
                        <a:rPr lang="ko-KR" altLang="en-US" sz="1400" dirty="0" smtClean="0"/>
                        <a:t>로 확보</a:t>
                      </a:r>
                      <a:r>
                        <a:rPr lang="en-US" altLang="ko-KR" sz="1400" dirty="0" smtClean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약</a:t>
                      </a:r>
                      <a:r>
                        <a:rPr lang="en-US" altLang="ko-KR" sz="1400" dirty="0" smtClean="0"/>
                        <a:t>100GWh</a:t>
                      </a:r>
                      <a:r>
                        <a:rPr lang="en-US" altLang="ko-KR" sz="1400" baseline="0" dirty="0" smtClean="0"/>
                        <a:t> (</a:t>
                      </a:r>
                      <a:r>
                        <a:rPr lang="en-US" altLang="ko-KR" sz="1400" dirty="0" smtClean="0"/>
                        <a:t>26</a:t>
                      </a:r>
                      <a:r>
                        <a:rPr lang="ko-KR" altLang="en-US" sz="1400" dirty="0" smtClean="0"/>
                        <a:t>년말까지 </a:t>
                      </a:r>
                      <a:r>
                        <a:rPr lang="en-US" altLang="ko-KR" sz="1400" dirty="0" smtClean="0"/>
                        <a:t>ESS</a:t>
                      </a:r>
                      <a:r>
                        <a:rPr lang="ko-KR" altLang="en-US" sz="1400" baseline="0" dirty="0" smtClean="0"/>
                        <a:t>생산능력</a:t>
                      </a:r>
                      <a:r>
                        <a:rPr lang="en-US" altLang="ko-KR" sz="1400" baseline="0" dirty="0" smtClean="0"/>
                        <a:t>30GWh </a:t>
                      </a:r>
                      <a:r>
                        <a:rPr lang="ko-KR" altLang="en-US" sz="1400" baseline="0" dirty="0" smtClean="0"/>
                        <a:t>확보</a:t>
                      </a:r>
                      <a:r>
                        <a:rPr lang="en-US" altLang="ko-KR" sz="1400" baseline="0" dirty="0" smtClean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약</a:t>
                      </a:r>
                      <a:r>
                        <a:rPr lang="en-US" altLang="ko-KR" sz="1400" dirty="0" smtClean="0"/>
                        <a:t>90GWh(</a:t>
                      </a:r>
                      <a:r>
                        <a:rPr lang="ko-KR" altLang="en-US" sz="1400" dirty="0" smtClean="0"/>
                        <a:t>국내 </a:t>
                      </a:r>
                      <a:r>
                        <a:rPr lang="en-US" altLang="ko-KR" sz="1400" dirty="0" smtClean="0"/>
                        <a:t>3GWh</a:t>
                      </a:r>
                      <a:r>
                        <a:rPr lang="en-US" altLang="ko-KR" sz="1400" baseline="0" dirty="0" smtClean="0"/>
                        <a:t> ESS </a:t>
                      </a:r>
                      <a:r>
                        <a:rPr lang="ko-KR" altLang="en-US" sz="1400" baseline="0" dirty="0" smtClean="0"/>
                        <a:t>생산능력확보</a:t>
                      </a:r>
                      <a:r>
                        <a:rPr lang="en-US" altLang="ko-KR" sz="1400" baseline="0" dirty="0" smtClean="0"/>
                        <a:t>,</a:t>
                      </a:r>
                      <a:r>
                        <a:rPr lang="ko-KR" altLang="en-US" sz="1400" baseline="0" dirty="0" smtClean="0"/>
                        <a:t>미국공장도개조를통해</a:t>
                      </a:r>
                      <a:r>
                        <a:rPr lang="en-US" altLang="ko-KR" sz="1400" baseline="0" dirty="0" smtClean="0"/>
                        <a:t>ESS</a:t>
                      </a:r>
                      <a:r>
                        <a:rPr lang="ko-KR" altLang="en-US" sz="1400" baseline="0" dirty="0" smtClean="0"/>
                        <a:t>생산능력 확보계획</a:t>
                      </a:r>
                      <a:r>
                        <a:rPr lang="en-US" altLang="ko-KR" sz="1400" baseline="0" dirty="0" smtClean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</a:tr>
              <a:tr h="5893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26</a:t>
                      </a:r>
                      <a:r>
                        <a:rPr lang="ko-KR" altLang="en-US" sz="1400" dirty="0" smtClean="0"/>
                        <a:t>년 </a:t>
                      </a:r>
                      <a:r>
                        <a:rPr lang="en-US" altLang="ko-KR" sz="1400" dirty="0" smtClean="0"/>
                        <a:t>1</a:t>
                      </a:r>
                      <a:r>
                        <a:rPr lang="ko-KR" altLang="en-US" sz="1400" dirty="0" smtClean="0"/>
                        <a:t>분기 공장가동률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약 </a:t>
                      </a:r>
                      <a:r>
                        <a:rPr lang="en-US" altLang="ko-KR" sz="1400" dirty="0" smtClean="0"/>
                        <a:t>46.9%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약 </a:t>
                      </a:r>
                      <a:r>
                        <a:rPr lang="en-US" altLang="ko-KR" sz="1400" dirty="0" smtClean="0"/>
                        <a:t>65%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약 </a:t>
                      </a:r>
                      <a:r>
                        <a:rPr lang="en-US" altLang="ko-KR" sz="1400" dirty="0" smtClean="0"/>
                        <a:t>36.5%</a:t>
                      </a:r>
                      <a:endParaRPr lang="ko-KR" altLang="en-US" sz="1400" dirty="0"/>
                    </a:p>
                  </a:txBody>
                  <a:tcPr/>
                </a:tc>
              </a:tr>
              <a:tr h="6692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기 설비 투자금액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약 </a:t>
                      </a:r>
                      <a:r>
                        <a:rPr lang="en-US" altLang="ko-KR" sz="1400" dirty="0" smtClean="0"/>
                        <a:t>17</a:t>
                      </a:r>
                      <a:r>
                        <a:rPr lang="ko-KR" altLang="en-US" sz="1400" dirty="0" smtClean="0"/>
                        <a:t>조원 내외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약 </a:t>
                      </a:r>
                      <a:r>
                        <a:rPr lang="en-US" altLang="ko-KR" sz="1400" dirty="0" smtClean="0"/>
                        <a:t>5</a:t>
                      </a:r>
                      <a:r>
                        <a:rPr lang="ko-KR" altLang="en-US" sz="1400" dirty="0" smtClean="0"/>
                        <a:t>조원 내외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약 </a:t>
                      </a:r>
                      <a:r>
                        <a:rPr lang="en-US" altLang="ko-KR" sz="1400" dirty="0" smtClean="0"/>
                        <a:t>6</a:t>
                      </a:r>
                      <a:r>
                        <a:rPr lang="ko-KR" altLang="en-US" sz="1400" dirty="0" smtClean="0"/>
                        <a:t>조원 내외</a:t>
                      </a:r>
                      <a:endParaRPr lang="ko-KR" altLang="en-US" sz="1400" dirty="0"/>
                    </a:p>
                  </a:txBody>
                  <a:tcPr/>
                </a:tc>
              </a:tr>
              <a:tr h="3773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주력 배터리 형태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파우치 형</a:t>
                      </a:r>
                      <a:r>
                        <a:rPr lang="en-US" altLang="ko-KR" sz="1400" dirty="0" smtClean="0"/>
                        <a:t>,</a:t>
                      </a:r>
                      <a:r>
                        <a:rPr lang="en-US" altLang="ko-KR" sz="1400" baseline="0" dirty="0" smtClean="0"/>
                        <a:t> </a:t>
                      </a:r>
                      <a:r>
                        <a:rPr lang="ko-KR" altLang="en-US" sz="1400" baseline="0" dirty="0" smtClean="0"/>
                        <a:t>원통형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각형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원통형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파우치 형</a:t>
                      </a:r>
                      <a:endParaRPr lang="ko-KR" altLang="en-US" sz="1400" dirty="0"/>
                    </a:p>
                  </a:txBody>
                  <a:tcPr/>
                </a:tc>
              </a:tr>
              <a:tr h="37738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전고체 배터리 양산 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2029</a:t>
                      </a:r>
                      <a:r>
                        <a:rPr lang="ko-KR" altLang="en-US" sz="1400" dirty="0" smtClean="0"/>
                        <a:t>년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2027</a:t>
                      </a:r>
                      <a:r>
                        <a:rPr lang="ko-KR" altLang="en-US" sz="1400" dirty="0" smtClean="0"/>
                        <a:t>년 하반기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2029</a:t>
                      </a:r>
                      <a:r>
                        <a:rPr lang="ko-KR" altLang="en-US" sz="1400" dirty="0" smtClean="0"/>
                        <a:t>년</a:t>
                      </a:r>
                      <a:endParaRPr lang="ko-KR" altLang="en-US" sz="1400" dirty="0"/>
                    </a:p>
                  </a:txBody>
                  <a:tcPr/>
                </a:tc>
              </a:tr>
              <a:tr h="7603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REMARK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본격적인 매출증가 전까지 공장 유지관리비용 부담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삼성</a:t>
                      </a:r>
                      <a:r>
                        <a:rPr lang="en-US" altLang="ko-KR" sz="1400" dirty="0" smtClean="0"/>
                        <a:t>DISPLAY</a:t>
                      </a:r>
                      <a:r>
                        <a:rPr lang="ko-KR" altLang="en-US" sz="1400" dirty="0" smtClean="0"/>
                        <a:t>지분 매각</a:t>
                      </a:r>
                      <a:r>
                        <a:rPr lang="en-US" altLang="ko-KR" sz="1400" dirty="0" smtClean="0"/>
                        <a:t>,</a:t>
                      </a:r>
                      <a:r>
                        <a:rPr lang="ko-KR" altLang="en-US" sz="1400" baseline="0" dirty="0" smtClean="0"/>
                        <a:t> </a:t>
                      </a:r>
                      <a:r>
                        <a:rPr lang="en-US" altLang="ko-KR" sz="1400" baseline="0" dirty="0" smtClean="0"/>
                        <a:t>11</a:t>
                      </a:r>
                      <a:r>
                        <a:rPr lang="ko-KR" altLang="en-US" sz="1400" baseline="0" dirty="0" smtClean="0"/>
                        <a:t>조원 이상 투자재원 확보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6642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516" y="4489"/>
            <a:ext cx="8352928" cy="576064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삼성 </a:t>
            </a:r>
            <a:r>
              <a:rPr lang="en-US" altLang="ko-KR" dirty="0" err="1" smtClean="0">
                <a:solidFill>
                  <a:schemeClr val="tx1"/>
                </a:solidFill>
              </a:rPr>
              <a:t>sdi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투자로드맵 </a:t>
            </a:r>
            <a:r>
              <a:rPr lang="en-US" altLang="ko-KR" sz="2000" dirty="0" smtClean="0">
                <a:solidFill>
                  <a:schemeClr val="tx1"/>
                </a:solidFill>
              </a:rPr>
              <a:t>(       :</a:t>
            </a:r>
            <a:r>
              <a:rPr lang="ko-KR" altLang="en-US" sz="2000" dirty="0" smtClean="0">
                <a:solidFill>
                  <a:schemeClr val="tx1"/>
                </a:solidFill>
              </a:rPr>
              <a:t>성</a:t>
            </a:r>
            <a:r>
              <a:rPr lang="ko-KR" altLang="en-US" sz="2000" dirty="0">
                <a:solidFill>
                  <a:schemeClr val="tx1"/>
                </a:solidFill>
              </a:rPr>
              <a:t>장</a:t>
            </a:r>
            <a:r>
              <a:rPr lang="ko-KR" altLang="en-US" sz="2000" dirty="0" smtClean="0">
                <a:solidFill>
                  <a:schemeClr val="tx1"/>
                </a:solidFill>
              </a:rPr>
              <a:t>예상 </a:t>
            </a:r>
            <a:r>
              <a:rPr lang="en-US" altLang="ko-KR" sz="2000" dirty="0" smtClean="0">
                <a:solidFill>
                  <a:schemeClr val="tx1"/>
                </a:solidFill>
              </a:rPr>
              <a:t>           :</a:t>
            </a:r>
            <a:r>
              <a:rPr lang="ko-KR" altLang="en-US" sz="2000" smtClean="0">
                <a:solidFill>
                  <a:schemeClr val="tx1"/>
                </a:solidFill>
              </a:rPr>
              <a:t>폭발적성장예상</a:t>
            </a:r>
            <a:r>
              <a:rPr lang="en-US" altLang="ko-KR" sz="2000" dirty="0" smtClean="0">
                <a:solidFill>
                  <a:schemeClr val="tx1"/>
                </a:solidFill>
              </a:rPr>
              <a:t>) 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356225363"/>
              </p:ext>
            </p:extLst>
          </p:nvPr>
        </p:nvGraphicFramePr>
        <p:xfrm>
          <a:off x="70000" y="592488"/>
          <a:ext cx="8750472" cy="6226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87"/>
                <a:gridCol w="2037890"/>
                <a:gridCol w="1567607"/>
                <a:gridCol w="1664284"/>
                <a:gridCol w="1834704"/>
              </a:tblGrid>
              <a:tr h="299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분 류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2025</a:t>
                      </a:r>
                      <a:r>
                        <a:rPr lang="ko-KR" altLang="en-US" sz="1400" dirty="0" smtClean="0"/>
                        <a:t>년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2026</a:t>
                      </a:r>
                      <a:r>
                        <a:rPr lang="ko-KR" altLang="en-US" sz="1400" dirty="0" smtClean="0"/>
                        <a:t>년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2027&amp;2028</a:t>
                      </a:r>
                      <a:r>
                        <a:rPr lang="ko-KR" altLang="en-US" sz="1400" dirty="0" smtClean="0"/>
                        <a:t>년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2030</a:t>
                      </a:r>
                      <a:r>
                        <a:rPr lang="ko-KR" altLang="en-US" sz="1400" dirty="0" smtClean="0"/>
                        <a:t>년</a:t>
                      </a:r>
                      <a:endParaRPr lang="ko-KR" altLang="en-US" sz="1400" dirty="0"/>
                    </a:p>
                  </a:txBody>
                  <a:tcPr/>
                </a:tc>
              </a:tr>
              <a:tr h="547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EV</a:t>
                      </a:r>
                      <a:r>
                        <a:rPr lang="en-US" altLang="ko-KR" sz="1400" baseline="0" dirty="0" smtClean="0"/>
                        <a:t> </a:t>
                      </a:r>
                      <a:r>
                        <a:rPr lang="ko-KR" altLang="en-US" sz="1400" baseline="0" dirty="0" smtClean="0"/>
                        <a:t>배터리</a:t>
                      </a:r>
                      <a:endParaRPr lang="en-US" altLang="ko-KR" sz="1400" baseline="0" dirty="0" smtClean="0"/>
                    </a:p>
                    <a:p>
                      <a:pPr algn="ctr" latinLnBrk="1"/>
                      <a:r>
                        <a:rPr lang="en-US" altLang="ko-KR" sz="1400" baseline="0" dirty="0" smtClean="0"/>
                        <a:t>(</a:t>
                      </a:r>
                      <a:r>
                        <a:rPr lang="ko-KR" altLang="en-US" sz="1400" baseline="0" dirty="0" smtClean="0"/>
                        <a:t>삼성</a:t>
                      </a:r>
                      <a:r>
                        <a:rPr lang="en-US" altLang="ko-KR" sz="1400" baseline="0" dirty="0" smtClean="0"/>
                        <a:t>SDI)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28.9GWh</a:t>
                      </a:r>
                    </a:p>
                    <a:p>
                      <a:pPr algn="ctr" latinLnBrk="1"/>
                      <a:r>
                        <a:rPr lang="ko-KR" altLang="en-US" sz="1400" dirty="0" smtClean="0"/>
                        <a:t>약 </a:t>
                      </a:r>
                      <a:r>
                        <a:rPr lang="en-US" altLang="ko-KR" sz="1400" dirty="0" smtClean="0"/>
                        <a:t>8</a:t>
                      </a:r>
                      <a:r>
                        <a:rPr lang="ko-KR" altLang="en-US" sz="1400" dirty="0" smtClean="0"/>
                        <a:t>조</a:t>
                      </a:r>
                      <a:r>
                        <a:rPr lang="en-US" altLang="ko-KR" sz="1400" dirty="0" smtClean="0"/>
                        <a:t>3000</a:t>
                      </a:r>
                      <a:r>
                        <a:rPr lang="ko-KR" altLang="en-US" sz="1400" dirty="0" smtClean="0"/>
                        <a:t>억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 25GWh </a:t>
                      </a:r>
                      <a:r>
                        <a:rPr lang="ko-KR" altLang="en-US" sz="1400" dirty="0" smtClean="0"/>
                        <a:t>예상</a:t>
                      </a:r>
                      <a:endParaRPr lang="en-US" altLang="ko-KR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</a:tr>
              <a:tr h="547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ESS</a:t>
                      </a:r>
                    </a:p>
                    <a:p>
                      <a:pPr algn="ctr" latinLnBrk="1"/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삼성</a:t>
                      </a:r>
                      <a:r>
                        <a:rPr lang="en-US" altLang="ko-KR" sz="1400" dirty="0" smtClean="0"/>
                        <a:t>SDI)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12GWh</a:t>
                      </a:r>
                    </a:p>
                    <a:p>
                      <a:pPr algn="ctr" latinLnBrk="1"/>
                      <a:r>
                        <a:rPr lang="ko-KR" altLang="en-US" sz="1400" dirty="0" smtClean="0"/>
                        <a:t>약 </a:t>
                      </a:r>
                      <a:r>
                        <a:rPr lang="en-US" altLang="ko-KR" sz="1400" dirty="0" smtClean="0"/>
                        <a:t>2</a:t>
                      </a:r>
                      <a:r>
                        <a:rPr lang="ko-KR" altLang="en-US" sz="1400" dirty="0" smtClean="0"/>
                        <a:t>조</a:t>
                      </a:r>
                      <a:r>
                        <a:rPr lang="en-US" altLang="ko-KR" sz="1400" dirty="0" smtClean="0"/>
                        <a:t>9000</a:t>
                      </a:r>
                      <a:r>
                        <a:rPr lang="ko-KR" altLang="en-US" sz="1400" dirty="0" smtClean="0"/>
                        <a:t>억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20GWh </a:t>
                      </a:r>
                      <a:r>
                        <a:rPr lang="ko-KR" altLang="en-US" sz="1400" dirty="0" smtClean="0"/>
                        <a:t>예상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</a:tr>
              <a:tr h="547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BBU</a:t>
                      </a:r>
                    </a:p>
                    <a:p>
                      <a:pPr algn="ctr" latinLnBrk="1"/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삼성</a:t>
                      </a:r>
                      <a:r>
                        <a:rPr lang="en-US" altLang="ko-KR" sz="1400" dirty="0" smtClean="0"/>
                        <a:t>SDI)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약 </a:t>
                      </a:r>
                      <a:r>
                        <a:rPr lang="en-US" altLang="ko-KR" sz="1400" dirty="0" smtClean="0"/>
                        <a:t>2.5</a:t>
                      </a:r>
                      <a:r>
                        <a:rPr lang="ko-KR" altLang="en-US" sz="1400" dirty="0" smtClean="0"/>
                        <a:t>억불</a:t>
                      </a:r>
                      <a:endParaRPr lang="en-US" altLang="ko-KR" sz="1400" dirty="0" smtClean="0"/>
                    </a:p>
                    <a:p>
                      <a:pPr algn="ctr" latinLnBrk="1"/>
                      <a:r>
                        <a:rPr lang="ko-KR" altLang="en-US" sz="1400" dirty="0" smtClean="0"/>
                        <a:t>약 </a:t>
                      </a:r>
                      <a:r>
                        <a:rPr lang="en-US" altLang="ko-KR" sz="1400" dirty="0" smtClean="0"/>
                        <a:t>3500</a:t>
                      </a:r>
                      <a:r>
                        <a:rPr lang="ko-KR" altLang="en-US" sz="1400" dirty="0" smtClean="0"/>
                        <a:t>억원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약 </a:t>
                      </a:r>
                      <a:r>
                        <a:rPr lang="en-US" altLang="ko-KR" sz="1400" dirty="0" smtClean="0"/>
                        <a:t>4</a:t>
                      </a:r>
                      <a:r>
                        <a:rPr lang="ko-KR" altLang="en-US" sz="1400" dirty="0" smtClean="0"/>
                        <a:t>억불 예상</a:t>
                      </a:r>
                      <a:endParaRPr lang="en-US" altLang="ko-KR" sz="1400" dirty="0" smtClean="0"/>
                    </a:p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 smtClean="0"/>
                    </a:p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</a:tr>
              <a:tr h="7198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로봇시장</a:t>
                      </a:r>
                      <a:endParaRPr lang="en-US" altLang="ko-KR" sz="1400" dirty="0" smtClean="0"/>
                    </a:p>
                    <a:p>
                      <a:pPr algn="ctr" latinLnBrk="1"/>
                      <a:r>
                        <a:rPr lang="ko-KR" altLang="en-US" sz="1400" dirty="0" smtClean="0"/>
                        <a:t>규모예상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0.03GWh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 smtClean="0"/>
                        <a:t>1.37GWh</a:t>
                      </a:r>
                      <a:r>
                        <a:rPr lang="ko-KR" altLang="en-US" sz="1400" baseline="0" dirty="0" smtClean="0"/>
                        <a:t> 예상</a:t>
                      </a:r>
                      <a:endParaRPr lang="en-US" altLang="ko-KR" sz="1400" dirty="0" smtClean="0"/>
                    </a:p>
                    <a:p>
                      <a:pPr algn="r" latinLnBrk="1"/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전고체배터리</a:t>
                      </a:r>
                      <a:endParaRPr lang="en-US" altLang="ko-KR" sz="1200" dirty="0" smtClean="0"/>
                    </a:p>
                    <a:p>
                      <a:pPr algn="r" latinLnBrk="1"/>
                      <a:r>
                        <a:rPr lang="ko-KR" altLang="en-US" sz="1200" dirty="0" smtClean="0"/>
                        <a:t> 적용가능성 큼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</a:tr>
              <a:tr h="5448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옵티머스 양산</a:t>
                      </a:r>
                      <a:r>
                        <a:rPr lang="en-US" altLang="ko-KR" sz="1400" dirty="0" smtClean="0"/>
                        <a:t>/</a:t>
                      </a:r>
                    </a:p>
                    <a:p>
                      <a:pPr algn="ctr" latinLnBrk="1"/>
                      <a:r>
                        <a:rPr lang="ko-KR" altLang="en-US" sz="1400" dirty="0" smtClean="0"/>
                        <a:t>아틀라스 양산</a:t>
                      </a:r>
                      <a:endParaRPr lang="en-US" altLang="ko-KR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2027</a:t>
                      </a:r>
                      <a:r>
                        <a:rPr lang="ko-KR" altLang="en-US" sz="1400" dirty="0" smtClean="0"/>
                        <a:t>년 목표</a:t>
                      </a:r>
                      <a:r>
                        <a:rPr lang="en-US" altLang="ko-KR" sz="1400" dirty="0" smtClean="0"/>
                        <a:t>/</a:t>
                      </a:r>
                    </a:p>
                    <a:p>
                      <a:pPr algn="ctr" latinLnBrk="1"/>
                      <a:r>
                        <a:rPr lang="en-US" altLang="ko-KR" sz="1400" dirty="0" smtClean="0"/>
                        <a:t>2028</a:t>
                      </a:r>
                      <a:r>
                        <a:rPr lang="ko-KR" altLang="en-US" sz="1400" dirty="0" smtClean="0"/>
                        <a:t>년 목표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400" dirty="0"/>
                    </a:p>
                  </a:txBody>
                  <a:tcPr/>
                </a:tc>
              </a:tr>
              <a:tr h="501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전고체 개발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-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-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2027</a:t>
                      </a:r>
                      <a:r>
                        <a:rPr lang="ko-KR" altLang="en-US" sz="1400" dirty="0" smtClean="0"/>
                        <a:t>년하반기 개발 목표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</a:tr>
              <a:tr h="2920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AMPC </a:t>
                      </a:r>
                      <a:r>
                        <a:rPr lang="ko-KR" altLang="en-US" sz="1400" dirty="0" smtClean="0"/>
                        <a:t>수령액</a:t>
                      </a:r>
                      <a:endParaRPr lang="en-US" altLang="ko-KR" sz="1400" dirty="0" smtClean="0"/>
                    </a:p>
                    <a:p>
                      <a:pPr algn="ctr" latinLnBrk="1"/>
                      <a:r>
                        <a:rPr lang="en-US" altLang="ko-KR" sz="1400" dirty="0" smtClean="0"/>
                        <a:t>(~32</a:t>
                      </a:r>
                      <a:r>
                        <a:rPr lang="ko-KR" altLang="en-US" sz="1400" dirty="0" smtClean="0"/>
                        <a:t>년까지 유지</a:t>
                      </a:r>
                      <a:r>
                        <a:rPr lang="en-US" altLang="ko-KR" sz="1400" dirty="0" smtClean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약 </a:t>
                      </a:r>
                      <a:r>
                        <a:rPr lang="en-US" altLang="ko-KR" sz="1400" dirty="0" smtClean="0"/>
                        <a:t>2700</a:t>
                      </a:r>
                      <a:r>
                        <a:rPr lang="ko-KR" altLang="en-US" sz="1400" dirty="0" smtClean="0"/>
                        <a:t>억원</a:t>
                      </a:r>
                      <a:endParaRPr lang="en-US" altLang="ko-KR" sz="1400" dirty="0" smtClean="0"/>
                    </a:p>
                    <a:p>
                      <a:pPr algn="ctr" latinLnBrk="1"/>
                      <a:r>
                        <a:rPr lang="en-US" altLang="ko-KR" sz="1400" dirty="0" smtClean="0"/>
                        <a:t>(5.8GWh)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약 </a:t>
                      </a:r>
                      <a:r>
                        <a:rPr lang="en-US" altLang="ko-KR" sz="1400" dirty="0" smtClean="0"/>
                        <a:t>6700 </a:t>
                      </a:r>
                      <a:r>
                        <a:rPr lang="ko-KR" altLang="en-US" sz="1400" smtClean="0"/>
                        <a:t>억원예상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+@</a:t>
                      </a:r>
                      <a:endParaRPr lang="ko-KR" altLang="en-US" sz="1400" dirty="0" smtClean="0"/>
                    </a:p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+@</a:t>
                      </a:r>
                      <a:endParaRPr lang="ko-KR" altLang="en-US" sz="1400" dirty="0" smtClean="0"/>
                    </a:p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</a:tr>
              <a:tr h="4447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중국배터리규제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OBBBA(</a:t>
                      </a:r>
                      <a:r>
                        <a:rPr lang="ko-KR" altLang="en-US" sz="1400" dirty="0" smtClean="0"/>
                        <a:t>미국</a:t>
                      </a:r>
                      <a:r>
                        <a:rPr lang="en-US" altLang="ko-KR" sz="1400" dirty="0" smtClean="0"/>
                        <a:t>) </a:t>
                      </a:r>
                      <a:r>
                        <a:rPr lang="ko-KR" altLang="en-US" sz="1400" dirty="0" smtClean="0"/>
                        <a:t>발효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IAA(</a:t>
                      </a:r>
                      <a:r>
                        <a:rPr lang="ko-KR" altLang="en-US" sz="1400" dirty="0" smtClean="0"/>
                        <a:t>유럽</a:t>
                      </a:r>
                      <a:r>
                        <a:rPr lang="en-US" altLang="ko-KR" sz="1400" dirty="0" smtClean="0"/>
                        <a:t>)</a:t>
                      </a:r>
                      <a:r>
                        <a:rPr lang="ko-KR" altLang="en-US" sz="1400" dirty="0" smtClean="0"/>
                        <a:t>발의</a:t>
                      </a:r>
                      <a:endParaRPr lang="en-US" altLang="ko-KR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OBBBA(</a:t>
                      </a:r>
                      <a:r>
                        <a:rPr lang="ko-KR" altLang="en-US" sz="1400" dirty="0" smtClean="0"/>
                        <a:t>미국</a:t>
                      </a:r>
                      <a:r>
                        <a:rPr lang="en-US" altLang="ko-KR" sz="1400" dirty="0" smtClean="0"/>
                        <a:t>) </a:t>
                      </a:r>
                    </a:p>
                    <a:p>
                      <a:pPr algn="ctr" latinLnBrk="1"/>
                      <a:r>
                        <a:rPr lang="ko-KR" altLang="en-US" sz="1400" baseline="0" dirty="0" smtClean="0"/>
                        <a:t>유예기한 만료</a:t>
                      </a:r>
                      <a:r>
                        <a:rPr lang="en-US" altLang="ko-KR" sz="1400" baseline="0" dirty="0" smtClean="0"/>
                        <a:t> </a:t>
                      </a:r>
                      <a:endParaRPr lang="ko-KR" altLang="en-US" sz="1400" dirty="0"/>
                    </a:p>
                  </a:txBody>
                  <a:tcPr/>
                </a:tc>
              </a:tr>
              <a:tr h="547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삼성 디스플레이</a:t>
                      </a:r>
                      <a:endParaRPr lang="en-US" altLang="ko-KR" sz="1400" dirty="0" smtClean="0"/>
                    </a:p>
                    <a:p>
                      <a:pPr algn="ctr" latinLnBrk="1"/>
                      <a:r>
                        <a:rPr lang="ko-KR" altLang="en-US" sz="1400" dirty="0" smtClean="0"/>
                        <a:t>지분 매각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26</a:t>
                      </a:r>
                      <a:r>
                        <a:rPr lang="ko-KR" altLang="en-US" sz="1400" dirty="0" smtClean="0"/>
                        <a:t>년 내 매각 예정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</a:tr>
              <a:tr h="4368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시총</a:t>
                      </a:r>
                      <a:endParaRPr lang="en-US" altLang="ko-KR" sz="1200" dirty="0" smtClean="0"/>
                    </a:p>
                    <a:p>
                      <a:pPr algn="ctr" latinLnBrk="1"/>
                      <a:r>
                        <a:rPr lang="ko-KR" altLang="en-US" sz="1200" dirty="0" smtClean="0"/>
                        <a:t> 주가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약 </a:t>
                      </a:r>
                      <a:r>
                        <a:rPr lang="en-US" altLang="ko-KR" sz="1200" dirty="0" smtClean="0"/>
                        <a:t>21</a:t>
                      </a:r>
                      <a:r>
                        <a:rPr lang="ko-KR" altLang="en-US" sz="1200" dirty="0" smtClean="0"/>
                        <a:t>조 </a:t>
                      </a:r>
                      <a:r>
                        <a:rPr lang="en-US" altLang="ko-KR" sz="1200" dirty="0" smtClean="0"/>
                        <a:t>7000</a:t>
                      </a:r>
                      <a:r>
                        <a:rPr lang="ko-KR" altLang="en-US" sz="1200" dirty="0" smtClean="0"/>
                        <a:t>억원</a:t>
                      </a:r>
                      <a:endParaRPr lang="en-US" altLang="ko-KR" sz="1200" dirty="0" smtClean="0"/>
                    </a:p>
                    <a:p>
                      <a:pPr algn="ctr" latinLnBrk="1"/>
                      <a:r>
                        <a:rPr lang="en-US" altLang="ko-KR" sz="1200" dirty="0" smtClean="0"/>
                        <a:t>269,500</a:t>
                      </a:r>
                      <a:r>
                        <a:rPr lang="ko-KR" altLang="en-US" sz="1200" dirty="0" smtClean="0"/>
                        <a:t>원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?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?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?</a:t>
                      </a:r>
                      <a:endParaRPr lang="ko-KR" altLang="en-US" sz="1200" dirty="0"/>
                    </a:p>
                  </a:txBody>
                  <a:tcPr/>
                </a:tc>
              </a:tr>
              <a:tr h="4116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매출 </a:t>
                      </a:r>
                      <a:endParaRPr lang="en-US" altLang="ko-KR" sz="1200" dirty="0" smtClean="0"/>
                    </a:p>
                    <a:p>
                      <a:pPr algn="ctr" latinLnBrk="1"/>
                      <a:r>
                        <a:rPr lang="ko-KR" altLang="en-US" sz="1200" dirty="0" smtClean="0"/>
                        <a:t>영업이익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13.3</a:t>
                      </a:r>
                      <a:r>
                        <a:rPr lang="ko-KR" altLang="en-US" sz="1200" dirty="0" smtClean="0"/>
                        <a:t>조</a:t>
                      </a: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전자재료</a:t>
                      </a:r>
                      <a:r>
                        <a:rPr lang="en-US" altLang="ko-KR" sz="1200" dirty="0" smtClean="0"/>
                        <a:t>)</a:t>
                      </a:r>
                    </a:p>
                    <a:p>
                      <a:pPr algn="ctr" latinLnBrk="1"/>
                      <a:r>
                        <a:rPr lang="en-US" altLang="ko-KR" sz="1200" dirty="0" smtClean="0"/>
                        <a:t>-2</a:t>
                      </a:r>
                      <a:r>
                        <a:rPr lang="ko-KR" altLang="en-US" sz="1200" dirty="0" smtClean="0"/>
                        <a:t>조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약 </a:t>
                      </a:r>
                      <a:r>
                        <a:rPr lang="en-US" altLang="ko-KR" sz="1200" dirty="0" smtClean="0"/>
                        <a:t>15</a:t>
                      </a:r>
                      <a:r>
                        <a:rPr lang="ko-KR" altLang="en-US" sz="1200" dirty="0" smtClean="0"/>
                        <a:t>조 예상</a:t>
                      </a:r>
                      <a:endParaRPr lang="en-US" altLang="ko-KR" sz="1200" dirty="0" smtClean="0"/>
                    </a:p>
                    <a:p>
                      <a:pPr algn="ctr" latinLnBrk="1"/>
                      <a:r>
                        <a:rPr lang="ko-KR" altLang="en-US" sz="1200" dirty="0" smtClean="0"/>
                        <a:t>영업손실지속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?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?</a:t>
                      </a:r>
                      <a:endParaRPr lang="ko-KR" altLang="en-US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Up Arrow 4"/>
          <p:cNvSpPr/>
          <p:nvPr/>
        </p:nvSpPr>
        <p:spPr>
          <a:xfrm>
            <a:off x="5983998" y="1580677"/>
            <a:ext cx="288032" cy="288032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Up Arrow 5"/>
          <p:cNvSpPr/>
          <p:nvPr/>
        </p:nvSpPr>
        <p:spPr>
          <a:xfrm>
            <a:off x="7712190" y="1580677"/>
            <a:ext cx="288032" cy="288032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Up Arrow 11"/>
          <p:cNvSpPr/>
          <p:nvPr/>
        </p:nvSpPr>
        <p:spPr>
          <a:xfrm>
            <a:off x="6000921" y="2119237"/>
            <a:ext cx="288032" cy="288032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Up Arrow 12"/>
          <p:cNvSpPr/>
          <p:nvPr/>
        </p:nvSpPr>
        <p:spPr>
          <a:xfrm>
            <a:off x="7712190" y="2119237"/>
            <a:ext cx="288032" cy="288032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Isosceles Triangle 16"/>
          <p:cNvSpPr/>
          <p:nvPr/>
        </p:nvSpPr>
        <p:spPr>
          <a:xfrm>
            <a:off x="6021502" y="1113395"/>
            <a:ext cx="216024" cy="144016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Isosceles Triangle 18"/>
          <p:cNvSpPr/>
          <p:nvPr/>
        </p:nvSpPr>
        <p:spPr>
          <a:xfrm>
            <a:off x="4448578" y="2827691"/>
            <a:ext cx="216024" cy="144016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Up Arrow 19"/>
          <p:cNvSpPr/>
          <p:nvPr/>
        </p:nvSpPr>
        <p:spPr>
          <a:xfrm>
            <a:off x="7205094" y="2755683"/>
            <a:ext cx="288032" cy="288032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Isosceles Triangle 13"/>
          <p:cNvSpPr/>
          <p:nvPr/>
        </p:nvSpPr>
        <p:spPr>
          <a:xfrm>
            <a:off x="4067944" y="260648"/>
            <a:ext cx="216024" cy="144016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Up Arrow 14"/>
          <p:cNvSpPr/>
          <p:nvPr/>
        </p:nvSpPr>
        <p:spPr>
          <a:xfrm>
            <a:off x="5965567" y="172426"/>
            <a:ext cx="288032" cy="288032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Up Arrow 15"/>
          <p:cNvSpPr/>
          <p:nvPr/>
        </p:nvSpPr>
        <p:spPr>
          <a:xfrm>
            <a:off x="7712190" y="1000662"/>
            <a:ext cx="288032" cy="288032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Isosceles Triangle 20"/>
          <p:cNvSpPr/>
          <p:nvPr/>
        </p:nvSpPr>
        <p:spPr>
          <a:xfrm>
            <a:off x="6021502" y="2827691"/>
            <a:ext cx="216024" cy="144016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103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79758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증권사별 목표 </a:t>
            </a:r>
            <a:r>
              <a:rPr lang="ko-KR" altLang="en-US" dirty="0" smtClean="0">
                <a:solidFill>
                  <a:schemeClr val="tx1"/>
                </a:solidFill>
              </a:rPr>
              <a:t>주가 </a:t>
            </a:r>
            <a:r>
              <a:rPr lang="en-US" altLang="ko-KR" dirty="0" smtClean="0">
                <a:solidFill>
                  <a:schemeClr val="tx1"/>
                </a:solidFill>
              </a:rPr>
              <a:t>(2026</a:t>
            </a:r>
            <a:r>
              <a:rPr lang="ko-KR" altLang="en-US" dirty="0" smtClean="0">
                <a:solidFill>
                  <a:schemeClr val="tx1"/>
                </a:solidFill>
              </a:rPr>
              <a:t>년도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97381"/>
            <a:ext cx="7467600" cy="5276571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rPr lang="en-US" altLang="ko-KR" dirty="0"/>
              <a:t>LS </a:t>
            </a:r>
            <a:r>
              <a:rPr lang="ko-KR" altLang="en-US" dirty="0"/>
              <a:t>증권 </a:t>
            </a:r>
            <a:r>
              <a:rPr lang="en-US" altLang="ko-KR" dirty="0"/>
              <a:t>531,000</a:t>
            </a:r>
            <a:r>
              <a:rPr lang="ko-KR" altLang="en-US" dirty="0"/>
              <a:t>원 </a:t>
            </a:r>
            <a:r>
              <a:rPr lang="en-US" altLang="ko-KR"/>
              <a:t>(06.Jun.2026)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   </a:t>
            </a:r>
            <a:r>
              <a:rPr lang="en-US" sz="2000" dirty="0">
                <a:ea typeface="+mn-lt"/>
                <a:cs typeface="+mn-lt"/>
              </a:rPr>
              <a:t>- 4월 </a:t>
            </a:r>
            <a:r>
              <a:rPr lang="en-US" sz="2000" dirty="0" err="1">
                <a:ea typeface="+mn-lt"/>
                <a:cs typeface="+mn-lt"/>
              </a:rPr>
              <a:t>EV향</a:t>
            </a:r>
            <a:r>
              <a:rPr lang="en-US" sz="2000" dirty="0">
                <a:ea typeface="+mn-lt"/>
                <a:cs typeface="+mn-lt"/>
              </a:rPr>
              <a:t> data, </a:t>
            </a:r>
            <a:r>
              <a:rPr lang="en-US" sz="2000" dirty="0" err="1">
                <a:ea typeface="+mn-lt"/>
                <a:cs typeface="+mn-lt"/>
              </a:rPr>
              <a:t>역성장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지속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우려</a:t>
            </a:r>
            <a:endParaRPr lang="en-US" altLang="ko-KR" sz="2000" dirty="0">
              <a:ea typeface="휴먼매직체"/>
            </a:endParaRPr>
          </a:p>
          <a:p>
            <a:r>
              <a:rPr lang="en-US" altLang="ko-KR" dirty="0">
                <a:ea typeface="휴먼매직체"/>
              </a:rPr>
              <a:t>IM </a:t>
            </a:r>
            <a:r>
              <a:rPr lang="en-US" altLang="ko-KR" dirty="0" err="1">
                <a:ea typeface="휴먼매직체"/>
              </a:rPr>
              <a:t>증권</a:t>
            </a:r>
            <a:r>
              <a:rPr lang="en-US" altLang="ko-KR" dirty="0">
                <a:ea typeface="휴먼매직체"/>
              </a:rPr>
              <a:t> 800,000원 (11.May.2026)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  </a:t>
            </a:r>
            <a:r>
              <a:rPr lang="en-US" sz="2000" dirty="0">
                <a:ea typeface="+mn-lt"/>
                <a:cs typeface="+mn-lt"/>
              </a:rPr>
              <a:t> - </a:t>
            </a:r>
            <a:r>
              <a:rPr lang="en-US" sz="2000" dirty="0" err="1">
                <a:ea typeface="+mn-lt"/>
                <a:cs typeface="+mn-lt"/>
              </a:rPr>
              <a:t>AIDC향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ESS의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중장기적인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성장성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확보</a:t>
            </a:r>
            <a:endParaRPr lang="en-US" altLang="ko-KR" sz="2000" dirty="0" err="1">
              <a:ea typeface="+mn-lt"/>
              <a:cs typeface="+mn-lt"/>
            </a:endParaRPr>
          </a:p>
          <a:p>
            <a:r>
              <a:rPr lang="en-US" altLang="ko-KR" dirty="0" err="1">
                <a:ea typeface="휴먼매직체"/>
              </a:rPr>
              <a:t>한화투자증권</a:t>
            </a:r>
            <a:r>
              <a:rPr lang="en-US" altLang="ko-KR" dirty="0">
                <a:ea typeface="휴먼매직체"/>
              </a:rPr>
              <a:t> 430,000원 (3.Feb.2026)</a:t>
            </a:r>
          </a:p>
          <a:p>
            <a:pPr marL="0" indent="0">
              <a:buNone/>
            </a:pPr>
            <a:r>
              <a:rPr lang="en-US" altLang="ko-KR" dirty="0">
                <a:ea typeface="휴먼매직체"/>
              </a:rPr>
              <a:t> </a:t>
            </a:r>
            <a:r>
              <a:rPr lang="en-US" altLang="ko-KR" sz="2000" dirty="0">
                <a:ea typeface="휴먼매직체"/>
              </a:rPr>
              <a:t>  - </a:t>
            </a:r>
            <a:r>
              <a:rPr lang="en-US" sz="2000" dirty="0">
                <a:ea typeface="+mn-lt"/>
                <a:cs typeface="+mn-lt"/>
              </a:rPr>
              <a:t>더 </a:t>
            </a:r>
            <a:r>
              <a:rPr lang="en-US" sz="2000" dirty="0" err="1">
                <a:ea typeface="+mn-lt"/>
                <a:cs typeface="+mn-lt"/>
              </a:rPr>
              <a:t>나빠질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것은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없다</a:t>
            </a:r>
            <a:endParaRPr lang="en-US" altLang="ko-KR" sz="2000" dirty="0" err="1">
              <a:ea typeface="휴먼매직체"/>
            </a:endParaRPr>
          </a:p>
          <a:p>
            <a:r>
              <a:rPr lang="en-US" altLang="ko-KR" dirty="0" err="1">
                <a:ea typeface="휴먼매직체"/>
              </a:rPr>
              <a:t>SK증권</a:t>
            </a:r>
            <a:r>
              <a:rPr lang="en-US" altLang="ko-KR" dirty="0">
                <a:ea typeface="휴먼매직체"/>
              </a:rPr>
              <a:t> 450,000원 (3.Feb.2026)</a:t>
            </a:r>
          </a:p>
          <a:p>
            <a:pPr marL="0" indent="0">
              <a:buNone/>
            </a:pPr>
            <a:r>
              <a:rPr lang="en-US" altLang="ko-KR" sz="2000" dirty="0">
                <a:ea typeface="휴먼매직체"/>
              </a:rPr>
              <a:t>   - </a:t>
            </a:r>
            <a:r>
              <a:rPr lang="en-US" sz="2000" dirty="0" err="1">
                <a:ea typeface="+mn-lt"/>
                <a:cs typeface="+mn-lt"/>
              </a:rPr>
              <a:t>업황부진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지속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그러나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돋보이는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기저효과</a:t>
            </a:r>
            <a:endParaRPr lang="en-US" sz="2000">
              <a:ea typeface="+mn-lt"/>
              <a:cs typeface="+mn-lt"/>
            </a:endParaRPr>
          </a:p>
          <a:p>
            <a:r>
              <a:rPr lang="en-US" altLang="ko-KR" dirty="0">
                <a:ea typeface="휴먼매직체"/>
              </a:rPr>
              <a:t>IBK </a:t>
            </a:r>
            <a:r>
              <a:rPr lang="en-US" altLang="ko-KR" dirty="0" err="1">
                <a:ea typeface="휴먼매직체"/>
              </a:rPr>
              <a:t>투자증권</a:t>
            </a:r>
            <a:r>
              <a:rPr lang="en-US" altLang="ko-KR" dirty="0">
                <a:ea typeface="휴먼매직체"/>
              </a:rPr>
              <a:t> 410,000원 (3.Feb.2026)</a:t>
            </a:r>
          </a:p>
          <a:p>
            <a:pPr marL="0" indent="0">
              <a:buNone/>
            </a:pPr>
            <a:r>
              <a:rPr lang="en-US" altLang="ko-KR" sz="2000" dirty="0">
                <a:ea typeface="+mn-lt"/>
                <a:cs typeface="+mn-lt"/>
              </a:rPr>
              <a:t>   - </a:t>
            </a:r>
            <a:r>
              <a:rPr lang="en-US" altLang="ko-KR" sz="2000" dirty="0" err="1">
                <a:ea typeface="+mn-lt"/>
                <a:cs typeface="+mn-lt"/>
              </a:rPr>
              <a:t>아직</a:t>
            </a:r>
            <a:r>
              <a:rPr lang="en-US" altLang="ko-KR" sz="2000" dirty="0">
                <a:ea typeface="+mn-lt"/>
                <a:cs typeface="+mn-lt"/>
              </a:rPr>
              <a:t> </a:t>
            </a:r>
            <a:r>
              <a:rPr lang="en-US" altLang="ko-KR" sz="2000" dirty="0" err="1">
                <a:ea typeface="+mn-lt"/>
                <a:cs typeface="+mn-lt"/>
              </a:rPr>
              <a:t>세발</a:t>
            </a:r>
            <a:r>
              <a:rPr lang="en-US" altLang="ko-KR" sz="2000" dirty="0">
                <a:ea typeface="+mn-lt"/>
                <a:cs typeface="+mn-lt"/>
              </a:rPr>
              <a:t> 더 </a:t>
            </a:r>
            <a:r>
              <a:rPr lang="en-US" altLang="ko-KR" sz="2000" dirty="0" err="1">
                <a:ea typeface="+mn-lt"/>
                <a:cs typeface="+mn-lt"/>
              </a:rPr>
              <a:t>남았</a:t>
            </a:r>
            <a:r>
              <a:rPr lang="en-US" altLang="ko-KR" sz="2000" dirty="0">
                <a:ea typeface="+mn-lt"/>
                <a:cs typeface="+mn-lt"/>
              </a:rPr>
              <a:t>다</a:t>
            </a:r>
          </a:p>
          <a:p>
            <a:endParaRPr lang="en-US">
              <a:ea typeface="휴먼매직체"/>
            </a:endParaRPr>
          </a:p>
        </p:txBody>
      </p:sp>
    </p:spTree>
    <p:extLst>
      <p:ext uri="{BB962C8B-B14F-4D97-AF65-F5344CB8AC3E}">
        <p14:creationId xmlns:p14="http://schemas.microsoft.com/office/powerpoint/2010/main" val="295837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2074"/>
          </a:xfrm>
        </p:spPr>
        <p:txBody>
          <a:bodyPr/>
          <a:lstStyle/>
          <a:p>
            <a:r>
              <a:rPr lang="en-US" altLang="ko-KR" dirty="0"/>
              <a:t>RISK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836712"/>
            <a:ext cx="8064896" cy="5877272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2026</a:t>
            </a:r>
            <a:r>
              <a:rPr lang="ko-KR" altLang="en-US" dirty="0" smtClean="0"/>
              <a:t>년 하반기 흑자 전환 여부</a:t>
            </a:r>
            <a:endParaRPr lang="en-US" altLang="ko-KR" dirty="0" smtClean="0"/>
          </a:p>
          <a:p>
            <a:r>
              <a:rPr lang="ko-KR" altLang="en-US" dirty="0" smtClean="0"/>
              <a:t>전기차 매출 회복 여부</a:t>
            </a:r>
            <a:endParaRPr lang="en-US" altLang="ko-KR" dirty="0"/>
          </a:p>
          <a:p>
            <a:r>
              <a:rPr lang="en-US" altLang="ko-KR" dirty="0" smtClean="0"/>
              <a:t>ESS </a:t>
            </a:r>
            <a:r>
              <a:rPr lang="en-US" altLang="ko-KR" dirty="0"/>
              <a:t>2026</a:t>
            </a:r>
            <a:r>
              <a:rPr lang="ko-KR" altLang="en-US" dirty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분기부터 </a:t>
            </a:r>
            <a:r>
              <a:rPr lang="en-US" altLang="ko-KR" dirty="0" smtClean="0"/>
              <a:t>LFP</a:t>
            </a:r>
            <a:r>
              <a:rPr lang="ko-KR" altLang="en-US" dirty="0" smtClean="0"/>
              <a:t>배터리관련 매출 </a:t>
            </a:r>
            <a:r>
              <a:rPr lang="ko-KR" altLang="en-US" dirty="0"/>
              <a:t>증가 </a:t>
            </a:r>
            <a:r>
              <a:rPr lang="ko-KR" altLang="en-US" dirty="0" smtClean="0"/>
              <a:t>및 추가 수주 확인</a:t>
            </a:r>
            <a:endParaRPr lang="en-US" altLang="ko-KR" dirty="0" smtClean="0"/>
          </a:p>
          <a:p>
            <a:r>
              <a:rPr lang="ko-KR" altLang="en-US" dirty="0" smtClean="0"/>
              <a:t>전고체 </a:t>
            </a:r>
            <a:r>
              <a:rPr lang="ko-KR" altLang="en-US" dirty="0"/>
              <a:t>배터리 </a:t>
            </a:r>
            <a:r>
              <a:rPr lang="en-US" altLang="ko-KR" dirty="0"/>
              <a:t>2027</a:t>
            </a:r>
            <a:r>
              <a:rPr lang="ko-KR" altLang="en-US" dirty="0"/>
              <a:t>년 하반기 </a:t>
            </a:r>
            <a:r>
              <a:rPr lang="ko-KR" altLang="en-US" dirty="0" smtClean="0"/>
              <a:t>성공적 개발 여부 </a:t>
            </a:r>
            <a:endParaRPr lang="en-US" altLang="ko-KR" dirty="0" smtClean="0"/>
          </a:p>
          <a:p>
            <a:r>
              <a:rPr lang="ko-KR" altLang="en-US" dirty="0"/>
              <a:t>유상증자 우리사주 물량 출회</a:t>
            </a:r>
            <a:r>
              <a:rPr lang="en-US" altLang="ko-KR" dirty="0"/>
              <a:t>,235</a:t>
            </a:r>
            <a:r>
              <a:rPr lang="ko-KR" altLang="en-US" dirty="0"/>
              <a:t>만주 </a:t>
            </a:r>
            <a:r>
              <a:rPr lang="en-US" altLang="ko-KR" dirty="0"/>
              <a:t>(2026</a:t>
            </a:r>
            <a:r>
              <a:rPr lang="ko-KR" altLang="en-US" dirty="0"/>
              <a:t>년 </a:t>
            </a:r>
            <a:r>
              <a:rPr lang="en-US" altLang="ko-KR" dirty="0"/>
              <a:t>6</a:t>
            </a:r>
            <a:r>
              <a:rPr lang="ko-KR" altLang="en-US" dirty="0"/>
              <a:t>월</a:t>
            </a:r>
            <a:r>
              <a:rPr lang="en-US" altLang="ko-KR" dirty="0"/>
              <a:t>15</a:t>
            </a:r>
            <a:r>
              <a:rPr lang="ko-KR" altLang="en-US" dirty="0"/>
              <a:t>일</a:t>
            </a:r>
            <a:r>
              <a:rPr lang="en-US" altLang="ko-KR" dirty="0" smtClean="0"/>
              <a:t>)</a:t>
            </a:r>
          </a:p>
          <a:p>
            <a:r>
              <a:rPr lang="ko-KR" altLang="en-US" dirty="0" smtClean="0"/>
              <a:t>중국 나트륨배터리 개발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ko-KR" altLang="en-US" dirty="0"/>
          </a:p>
          <a:p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3128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삼성</a:t>
            </a:r>
            <a:r>
              <a:rPr lang="en-US" altLang="ko-KR" dirty="0" smtClean="0">
                <a:solidFill>
                  <a:schemeClr val="tx1"/>
                </a:solidFill>
              </a:rPr>
              <a:t>SDI IR </a:t>
            </a:r>
            <a:r>
              <a:rPr lang="ko-KR" altLang="en-US" dirty="0" smtClean="0">
                <a:solidFill>
                  <a:schemeClr val="tx1"/>
                </a:solidFill>
              </a:rPr>
              <a:t>담당자</a:t>
            </a:r>
            <a:r>
              <a:rPr lang="en-US" altLang="ko-KR" dirty="0" smtClean="0">
                <a:solidFill>
                  <a:schemeClr val="tx1"/>
                </a:solidFill>
              </a:rPr>
              <a:t>(02-2255-2660)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980728"/>
            <a:ext cx="8208912" cy="5493224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최근 LS증권 </a:t>
            </a:r>
            <a:r>
              <a:rPr lang="ko-KR" altLang="en-US" dirty="0" smtClean="0"/>
              <a:t>리포트를 참고하면 </a:t>
            </a:r>
            <a:r>
              <a:rPr lang="ko-KR" altLang="en-US" dirty="0"/>
              <a:t>26년 </a:t>
            </a:r>
            <a:r>
              <a:rPr lang="en-US" altLang="ko-KR" dirty="0"/>
              <a:t>1</a:t>
            </a:r>
            <a:r>
              <a:rPr lang="ko-KR" altLang="en-US" dirty="0"/>
              <a:t>월</a:t>
            </a:r>
            <a:r>
              <a:rPr lang="en-US" altLang="ko-KR" dirty="0"/>
              <a:t>~</a:t>
            </a:r>
            <a:r>
              <a:rPr lang="ko-KR" altLang="en-US" dirty="0"/>
              <a:t> 4월 EV 차량용 배터리 탑재량이 전년대비 </a:t>
            </a:r>
            <a:r>
              <a:rPr lang="en-US" altLang="ko-KR" dirty="0"/>
              <a:t>20~30%</a:t>
            </a:r>
            <a:r>
              <a:rPr lang="ko-KR" altLang="en-US" dirty="0"/>
              <a:t>를 기록했다고 합니다. 삼성 SDI 관련기사를 보면 올해부터 현대차(</a:t>
            </a:r>
            <a:r>
              <a:rPr lang="ko-KR" altLang="en-US" dirty="0" smtClean="0"/>
              <a:t>유럽향) </a:t>
            </a:r>
            <a:r>
              <a:rPr lang="ko-KR" altLang="en-US" dirty="0"/>
              <a:t>전기차에 배터리 공급, 벤츠, 폭스바겐</a:t>
            </a:r>
            <a:r>
              <a:rPr lang="en-US" altLang="ko-KR" dirty="0"/>
              <a:t>,</a:t>
            </a:r>
            <a:r>
              <a:rPr lang="ko-KR" altLang="en-US" dirty="0"/>
              <a:t>스코다 세아트 </a:t>
            </a:r>
            <a:r>
              <a:rPr lang="ko-KR" altLang="en-US" dirty="0" smtClean="0"/>
              <a:t>등 대중모델에도 배터리 </a:t>
            </a:r>
            <a:r>
              <a:rPr lang="ko-KR" altLang="en-US" dirty="0"/>
              <a:t>납품계약을 맺은 것으로 나오는데 이 같은 수주 효과로 인한 EV 용 차량용 배터리 매출 회복이 언제 부터 반영될 수 있는것으로 예상될까요</a:t>
            </a:r>
            <a:r>
              <a:rPr lang="ko-KR" altLang="en-US" dirty="0" smtClean="0"/>
              <a:t>?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삼성</a:t>
            </a:r>
            <a:r>
              <a:rPr lang="en-US" altLang="ko-KR" dirty="0" smtClean="0"/>
              <a:t>SDI) </a:t>
            </a:r>
            <a:r>
              <a:rPr lang="ko-KR" altLang="en-US" dirty="0" smtClean="0"/>
              <a:t>작년 및 올해 자동차 쪽 부진했던 이유는 미국 같은 경우 전기차 보조금 없어지고</a:t>
            </a:r>
            <a:r>
              <a:rPr lang="en-US" altLang="ko-KR" dirty="0"/>
              <a:t> </a:t>
            </a:r>
            <a:r>
              <a:rPr lang="ko-KR" altLang="en-US" dirty="0" smtClean="0"/>
              <a:t>스텔란티스 고객이 있지만 물량이 거의 없는 상황이고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유럽쪽</a:t>
            </a:r>
            <a:r>
              <a:rPr lang="en-US" altLang="ko-KR" dirty="0" smtClean="0"/>
              <a:t> </a:t>
            </a:r>
            <a:r>
              <a:rPr lang="ko-KR" altLang="en-US" dirty="0" smtClean="0"/>
              <a:t>주요고객인 </a:t>
            </a:r>
            <a:r>
              <a:rPr lang="en-US" altLang="ko-KR" dirty="0" smtClean="0"/>
              <a:t>BMW, </a:t>
            </a:r>
            <a:r>
              <a:rPr lang="ko-KR" altLang="en-US" dirty="0" smtClean="0"/>
              <a:t>아우디</a:t>
            </a:r>
            <a:r>
              <a:rPr lang="en-US" altLang="ko-KR" dirty="0" smtClean="0"/>
              <a:t>, </a:t>
            </a:r>
            <a:r>
              <a:rPr lang="ko-KR" altLang="en-US" dirty="0" smtClean="0"/>
              <a:t>포르쉐 등 고가 프리미엄쪽 수요가 있긴 하지만 한정적이었음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유럽 쪽 보조금 재 도입 및</a:t>
            </a:r>
            <a:r>
              <a:rPr lang="en-US" altLang="ko-KR" dirty="0" smtClean="0"/>
              <a:t> </a:t>
            </a:r>
            <a:r>
              <a:rPr lang="ko-KR" altLang="en-US" dirty="0" smtClean="0"/>
              <a:t>확대하고 있는 부분들이 저소득층 구매력에 영향을 주고 있는 상황에서 볼륨모델 쪽 중심으로 판매가 늘어나는 상황임</a:t>
            </a:r>
            <a:r>
              <a:rPr lang="en-US" altLang="ko-KR" dirty="0" smtClean="0"/>
              <a:t>, </a:t>
            </a:r>
            <a:r>
              <a:rPr lang="ko-KR" altLang="en-US" dirty="0" smtClean="0"/>
              <a:t>현재까진 프리미엄 모델 중심으로 납품하다 보니 매출이 늘어나지 않는 상황이었으나</a:t>
            </a:r>
            <a:r>
              <a:rPr lang="en-US" altLang="ko-KR" dirty="0" smtClean="0"/>
              <a:t> </a:t>
            </a:r>
            <a:r>
              <a:rPr lang="ko-KR" altLang="en-US" dirty="0" smtClean="0"/>
              <a:t>저희가 </a:t>
            </a:r>
            <a:r>
              <a:rPr lang="en-US" altLang="ko-KR" dirty="0" smtClean="0"/>
              <a:t>2</a:t>
            </a:r>
            <a:r>
              <a:rPr lang="ko-KR" altLang="en-US" dirty="0" smtClean="0"/>
              <a:t>분기 부터 볼륨모델쪽으로도 납품하고 있는 상황이라 하반기 부터 매출증대를 기대하고 있는 상황입니다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9877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삼성</a:t>
            </a:r>
            <a:r>
              <a:rPr lang="en-US" altLang="ko-KR" dirty="0">
                <a:solidFill>
                  <a:schemeClr val="tx1"/>
                </a:solidFill>
              </a:rPr>
              <a:t>SDI IR </a:t>
            </a:r>
            <a:r>
              <a:rPr lang="ko-KR" altLang="en-US" dirty="0">
                <a:solidFill>
                  <a:schemeClr val="tx1"/>
                </a:solidFill>
              </a:rPr>
              <a:t>담당자</a:t>
            </a:r>
            <a:r>
              <a:rPr lang="en-US" altLang="ko-KR" dirty="0">
                <a:solidFill>
                  <a:schemeClr val="tx1"/>
                </a:solidFill>
              </a:rPr>
              <a:t>(02-2255-2660)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24744"/>
            <a:ext cx="7931224" cy="5349208"/>
          </a:xfrm>
        </p:spPr>
        <p:txBody>
          <a:bodyPr/>
          <a:lstStyle/>
          <a:p>
            <a:r>
              <a:rPr lang="ko-KR" altLang="en-US" dirty="0"/>
              <a:t>작년부터 여러 미국 </a:t>
            </a:r>
            <a:r>
              <a:rPr lang="en-US" altLang="ko-KR" dirty="0"/>
              <a:t>ESS</a:t>
            </a:r>
            <a:r>
              <a:rPr lang="ko-KR" altLang="en-US" dirty="0"/>
              <a:t>관련</a:t>
            </a:r>
            <a:r>
              <a:rPr lang="en-US" altLang="ko-KR" dirty="0"/>
              <a:t> </a:t>
            </a:r>
            <a:r>
              <a:rPr lang="ko-KR" altLang="en-US" dirty="0"/>
              <a:t>발주처와의 </a:t>
            </a:r>
            <a:r>
              <a:rPr lang="en-US" altLang="ko-KR" dirty="0"/>
              <a:t>ESS </a:t>
            </a:r>
            <a:r>
              <a:rPr lang="ko-KR" altLang="en-US" dirty="0"/>
              <a:t>공급계약 뉴스가 있던데 이와 관련된 매출이 미국 인디애나주 스텔란티스 합작 공장내 배터리 라인 </a:t>
            </a:r>
            <a:r>
              <a:rPr lang="en-US" altLang="ko-KR" dirty="0"/>
              <a:t>LFP </a:t>
            </a:r>
            <a:r>
              <a:rPr lang="ko-KR" altLang="en-US" dirty="0"/>
              <a:t>개조 작업이 완료되는 올해 </a:t>
            </a:r>
            <a:r>
              <a:rPr lang="en-US" altLang="ko-KR" dirty="0"/>
              <a:t>4</a:t>
            </a:r>
            <a:r>
              <a:rPr lang="ko-KR" altLang="en-US" dirty="0"/>
              <a:t>분기부터 본격적으로 잡힌다고 보면 </a:t>
            </a:r>
            <a:r>
              <a:rPr lang="ko-KR" altLang="en-US" dirty="0" smtClean="0"/>
              <a:t>될까</a:t>
            </a:r>
            <a:r>
              <a:rPr lang="ko-KR" altLang="en-US" dirty="0"/>
              <a:t>요</a:t>
            </a:r>
            <a:r>
              <a:rPr lang="en-US" altLang="ko-KR" dirty="0" smtClean="0"/>
              <a:t>?</a:t>
            </a:r>
          </a:p>
          <a:p>
            <a:pPr marL="0" indent="0">
              <a:buNone/>
            </a:pPr>
            <a:r>
              <a:rPr lang="ko-KR" altLang="en-US" dirty="0" smtClean="0"/>
              <a:t>삼성</a:t>
            </a:r>
            <a:r>
              <a:rPr lang="en-US" altLang="ko-KR" dirty="0"/>
              <a:t>SDI</a:t>
            </a:r>
            <a:r>
              <a:rPr lang="en-US" altLang="ko-KR" dirty="0" smtClean="0"/>
              <a:t>) </a:t>
            </a:r>
            <a:r>
              <a:rPr lang="ko-KR" altLang="en-US" dirty="0" smtClean="0"/>
              <a:t>미주 현지공장에서 작년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분기 부터 </a:t>
            </a:r>
            <a:r>
              <a:rPr lang="en-US" altLang="ko-KR" dirty="0" smtClean="0"/>
              <a:t>NCA </a:t>
            </a:r>
            <a:r>
              <a:rPr lang="ko-KR" altLang="en-US" dirty="0" smtClean="0"/>
              <a:t>배터리 셀로 </a:t>
            </a:r>
            <a:r>
              <a:rPr lang="en-US" altLang="ko-KR" dirty="0" smtClean="0"/>
              <a:t>ESS </a:t>
            </a:r>
            <a:r>
              <a:rPr lang="ko-KR" altLang="en-US" dirty="0" smtClean="0"/>
              <a:t>공급을 시작하고 있고 올해 </a:t>
            </a:r>
            <a:r>
              <a:rPr lang="en-US" altLang="ko-KR" dirty="0" smtClean="0"/>
              <a:t>4</a:t>
            </a:r>
            <a:r>
              <a:rPr lang="ko-KR" altLang="en-US" dirty="0" smtClean="0"/>
              <a:t>분기엔 한개 라인을 전환해서 </a:t>
            </a:r>
            <a:r>
              <a:rPr lang="en-US" altLang="ko-KR" dirty="0" smtClean="0"/>
              <a:t>LFP</a:t>
            </a:r>
            <a:r>
              <a:rPr lang="ko-KR" altLang="en-US" dirty="0" smtClean="0"/>
              <a:t>로 생산 예정</a:t>
            </a:r>
            <a:r>
              <a:rPr lang="en-US" altLang="ko-KR" dirty="0" smtClean="0"/>
              <a:t>, </a:t>
            </a:r>
            <a:r>
              <a:rPr lang="ko-KR" altLang="en-US" dirty="0" smtClean="0"/>
              <a:t>내년 초에도 추가적으로 한개 라인을 추가전환해 </a:t>
            </a:r>
            <a:r>
              <a:rPr lang="en-US" altLang="ko-KR" dirty="0" smtClean="0"/>
              <a:t>LFP</a:t>
            </a:r>
            <a:r>
              <a:rPr lang="ko-KR" altLang="en-US" dirty="0" smtClean="0"/>
              <a:t>로 공급량을 늘려 계약물량에 대해 생산예정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여기서 생산된 셀이 </a:t>
            </a:r>
            <a:r>
              <a:rPr lang="en-US" altLang="ko-KR" dirty="0" smtClean="0"/>
              <a:t>SBB </a:t>
            </a:r>
            <a:r>
              <a:rPr lang="ko-KR" altLang="en-US" dirty="0" smtClean="0"/>
              <a:t>같은 컨테이너 박스형 </a:t>
            </a:r>
            <a:r>
              <a:rPr lang="en-US" altLang="ko-KR" dirty="0" smtClean="0"/>
              <a:t>ESS </a:t>
            </a:r>
            <a:r>
              <a:rPr lang="ko-KR" altLang="en-US" dirty="0" smtClean="0"/>
              <a:t>완제품에도 설치되고 납품될 예정 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7831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삼성</a:t>
            </a:r>
            <a:r>
              <a:rPr lang="en-US" altLang="ko-KR" dirty="0">
                <a:solidFill>
                  <a:schemeClr val="tx1"/>
                </a:solidFill>
              </a:rPr>
              <a:t>SDI IR </a:t>
            </a:r>
            <a:r>
              <a:rPr lang="ko-KR" altLang="en-US" dirty="0">
                <a:solidFill>
                  <a:schemeClr val="tx1"/>
                </a:solidFill>
              </a:rPr>
              <a:t>담당자</a:t>
            </a:r>
            <a:r>
              <a:rPr lang="en-US" altLang="ko-KR" dirty="0">
                <a:solidFill>
                  <a:schemeClr val="tx1"/>
                </a:solidFill>
              </a:rPr>
              <a:t>(02-2255-2660)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52736"/>
            <a:ext cx="7467600" cy="5421216"/>
          </a:xfrm>
        </p:spPr>
        <p:txBody>
          <a:bodyPr/>
          <a:lstStyle/>
          <a:p>
            <a:r>
              <a:rPr lang="ko-KR" altLang="ko-KR" dirty="0"/>
              <a:t>2026 인터배터리에서 공개한 </a:t>
            </a:r>
            <a:r>
              <a:rPr lang="ko-KR" altLang="en-US" dirty="0"/>
              <a:t>파우치형 전고체 배터리는 </a:t>
            </a:r>
            <a:r>
              <a:rPr lang="ko-KR" altLang="ko-KR" dirty="0"/>
              <a:t>올해 초 </a:t>
            </a:r>
            <a:r>
              <a:rPr lang="ko-KR" altLang="en-US" dirty="0"/>
              <a:t>언론보도중 현대차와 로봇전용 배터리 공동개발이라는 기사가 있었는데 이와 관련하여 현대차와 로봇전용 배터리 개발을 협력해 파우치형 전고체 배터리를 선보이신 건가요?</a:t>
            </a:r>
          </a:p>
          <a:p>
            <a:pPr marL="0" indent="0">
              <a:buNone/>
            </a:pPr>
            <a:r>
              <a:rPr lang="ko-KR" altLang="en-US" dirty="0"/>
              <a:t>삼성</a:t>
            </a:r>
            <a:r>
              <a:rPr lang="en-US" altLang="ko-KR" dirty="0"/>
              <a:t>SDI</a:t>
            </a:r>
            <a:r>
              <a:rPr lang="en-US" altLang="ko-KR" dirty="0" smtClean="0"/>
              <a:t>) </a:t>
            </a:r>
            <a:r>
              <a:rPr lang="ko-KR" altLang="en-US" dirty="0" smtClean="0"/>
              <a:t>현대차그룹과 로봇용 배터리 공동개발 협약맺은 건 작년이고 관련해서 배터리 개발협력은 하고 있는 상황임</a:t>
            </a:r>
            <a:r>
              <a:rPr lang="en-US" altLang="ko-KR" dirty="0" smtClean="0"/>
              <a:t>. </a:t>
            </a:r>
            <a:r>
              <a:rPr lang="ko-KR" altLang="en-US" dirty="0" smtClean="0"/>
              <a:t>전고체 배터리 관련해서는 현재 고객협의는 계속상황이고 어디라고 얘기하긴 어렵고 국내외 여러 고객과 협의하고 있다</a:t>
            </a:r>
            <a:r>
              <a:rPr lang="en-US" altLang="ko-KR" dirty="0" smtClean="0"/>
              <a:t>. 2027</a:t>
            </a:r>
            <a:r>
              <a:rPr lang="ko-KR" altLang="en-US" dirty="0" smtClean="0"/>
              <a:t>년 하반기 양산목표에 따라 고객들과 협의하고 있고 수주도 확정을 지어야 되는 과정속에 있습니다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57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2074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삼성</a:t>
            </a:r>
            <a:r>
              <a:rPr lang="en-US" altLang="ko-KR" dirty="0">
                <a:solidFill>
                  <a:schemeClr val="tx1"/>
                </a:solidFill>
              </a:rPr>
              <a:t>SDI IR </a:t>
            </a:r>
            <a:r>
              <a:rPr lang="ko-KR" altLang="en-US" dirty="0">
                <a:solidFill>
                  <a:schemeClr val="tx1"/>
                </a:solidFill>
              </a:rPr>
              <a:t>담당자</a:t>
            </a:r>
            <a:r>
              <a:rPr lang="en-US" altLang="ko-KR" dirty="0">
                <a:solidFill>
                  <a:schemeClr val="tx1"/>
                </a:solidFill>
              </a:rPr>
              <a:t>(02-2255-2660)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24744"/>
            <a:ext cx="7931224" cy="5349208"/>
          </a:xfrm>
        </p:spPr>
        <p:txBody>
          <a:bodyPr/>
          <a:lstStyle/>
          <a:p>
            <a:r>
              <a:rPr lang="ko-KR" altLang="en-US" dirty="0"/>
              <a:t>최근 중국에서 나트륨 배터리 개발 소식과 성능도 LFP배터리 만큼 개발되었다는 기사가 있는데 삼성 SDI에서 바라보는 중국 업체 나트륨 배터리 양산 및 상용화 가능성과 삼성 SDI도 나트륨 배터리 개발을 하고 있는지에 대해 궁금합니다</a:t>
            </a:r>
            <a:r>
              <a:rPr lang="ko-KR" altLang="en-US" dirty="0" smtClean="0"/>
              <a:t>.</a:t>
            </a: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삼성</a:t>
            </a:r>
            <a:r>
              <a:rPr lang="en-US" altLang="ko-KR" dirty="0" smtClean="0"/>
              <a:t>SDI)</a:t>
            </a:r>
            <a:r>
              <a:rPr lang="ko-KR" altLang="en-US" dirty="0" smtClean="0"/>
              <a:t>경쟁사제품에</a:t>
            </a:r>
            <a:r>
              <a:rPr lang="en-US" altLang="ko-KR" dirty="0"/>
              <a:t> </a:t>
            </a:r>
            <a:r>
              <a:rPr lang="ko-KR" altLang="en-US" dirty="0" smtClean="0"/>
              <a:t>대해선 차량이 출시가 되야 구체적으로 알 수있고 실제로 중국업체가 양산하기로 했으면 그게 맞을 것 같고 저희도 연구소에서 나트륨 배터리를 개발하고 있음 다만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우선적으로는 </a:t>
            </a:r>
            <a:r>
              <a:rPr lang="en-US" altLang="ko-KR" dirty="0" smtClean="0"/>
              <a:t>LFP </a:t>
            </a:r>
            <a:r>
              <a:rPr lang="ko-KR" altLang="en-US" dirty="0" smtClean="0"/>
              <a:t>제품 및 관련 프로젝트를 양산 및 안정시킨 후 다음 스텝</a:t>
            </a:r>
            <a:r>
              <a:rPr lang="en-US" altLang="ko-KR" dirty="0" smtClean="0"/>
              <a:t>(</a:t>
            </a:r>
            <a:r>
              <a:rPr lang="ko-KR" altLang="en-US" dirty="0" smtClean="0"/>
              <a:t>나트륨배터리</a:t>
            </a:r>
            <a:r>
              <a:rPr lang="en-US" altLang="ko-KR" dirty="0" smtClean="0"/>
              <a:t>)</a:t>
            </a:r>
            <a:r>
              <a:rPr lang="ko-KR" altLang="en-US" dirty="0" smtClean="0"/>
              <a:t>으로 개발하면서 검토하고 있는 상황임</a:t>
            </a:r>
            <a:r>
              <a:rPr lang="en-US" altLang="ko-KR" dirty="0" smtClean="0"/>
              <a:t>. </a:t>
            </a:r>
            <a:r>
              <a:rPr lang="ko-KR" altLang="en-US" dirty="0" smtClean="0"/>
              <a:t>아직 까진 양산계획이나 이런것을 대외적으로 공개한것은 없고 우선적으로 </a:t>
            </a:r>
            <a:r>
              <a:rPr lang="en-US" altLang="ko-KR" dirty="0" smtClean="0"/>
              <a:t>LFP</a:t>
            </a:r>
            <a:r>
              <a:rPr lang="ko-KR" altLang="en-US" dirty="0" smtClean="0"/>
              <a:t>를 진행하고 그 이후에 전고체나 나트륨배터리이런것도 계속 추진할 예정임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934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5164</TotalTime>
  <Words>4047</Words>
  <Application>Microsoft Office PowerPoint</Application>
  <PresentationFormat>On-screen Show (4:3)</PresentationFormat>
  <Paragraphs>480</Paragraphs>
  <Slides>58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59" baseType="lpstr">
      <vt:lpstr>Oriel</vt:lpstr>
      <vt:lpstr>삼성SDI</vt:lpstr>
      <vt:lpstr>목차</vt:lpstr>
      <vt:lpstr>참고자료</vt:lpstr>
      <vt:lpstr>회사개요</vt:lpstr>
      <vt:lpstr>사업부문 (2025년 기준)</vt:lpstr>
      <vt:lpstr>사업부문 (2025년 기준)</vt:lpstr>
      <vt:lpstr>삼성 SDI, GLOBAL NETWORK</vt:lpstr>
      <vt:lpstr>PowerPoint Presentation</vt:lpstr>
      <vt:lpstr>삼성 SDI 실적 추이 및 전망 (by IM 증권 리포트)</vt:lpstr>
      <vt:lpstr>삼성 SDI 실적 추이 및 전망 (by LS 증권 리포트)</vt:lpstr>
      <vt:lpstr>삼성 SDI 월봉 차트 (2026.06.10기준)</vt:lpstr>
      <vt:lpstr>재무구조 개선</vt:lpstr>
      <vt:lpstr>삼성 sdi 관련 기사(1)</vt:lpstr>
      <vt:lpstr>삼성 sdi 관련 기사(2) </vt:lpstr>
      <vt:lpstr>2026년 1분기 컨퍼런스 콜 (주요 내용)</vt:lpstr>
      <vt:lpstr>2026년 1분기 컨퍼런스 콜 (세부내용)</vt:lpstr>
      <vt:lpstr>2026년 1분기 컨퍼런스 콜 (세부내용)</vt:lpstr>
      <vt:lpstr>2026년 1분기 컨퍼런스 콜 (세부내용)</vt:lpstr>
      <vt:lpstr>2026년 1분기 컨퍼런스 콜 (세부내용)</vt:lpstr>
      <vt:lpstr>2026년 1분기 컨퍼런스 콜 (세부내용)</vt:lpstr>
      <vt:lpstr>투자 아이디어</vt:lpstr>
      <vt:lpstr>전기차용 배터리 – global 점유율(중국제외)</vt:lpstr>
      <vt:lpstr>26년 1월~4월 삼성 SDI GLOBAL EV 배터리 탑재량</vt:lpstr>
      <vt:lpstr>글로벌 전기 자동차 판매량 증감율(참고) </vt:lpstr>
      <vt:lpstr>전기차용 배터리 - 삼성 SDI 납품고객 현황</vt:lpstr>
      <vt:lpstr>전기차용 배터리 – 향후 매출 및 점유율 확대 가능성</vt:lpstr>
      <vt:lpstr>ESS- AI 데이터 센터&amp;전력망용그리드</vt:lpstr>
      <vt:lpstr>ESS- AI 데이터 센터&amp;전력망용그리드</vt:lpstr>
      <vt:lpstr>ESS- AI 데이터 센터&amp;전력망용그리드</vt:lpstr>
      <vt:lpstr>* 글로벌 LIB(리튬이온배터리) ESS 시장 규모(2024~25)</vt:lpstr>
      <vt:lpstr>* 글로벌 LIB(리튬이온배터리) ESS 시장 규모 (2026년1분기)</vt:lpstr>
      <vt:lpstr>ESS - 신재생 에너지 확대 (국내)</vt:lpstr>
      <vt:lpstr>ESS - 신재생 에너지? </vt:lpstr>
      <vt:lpstr>ESS - 신재생 에너지 확대 (국내)</vt:lpstr>
      <vt:lpstr>ESS - 신재생 에너지 확대 (국내)</vt:lpstr>
      <vt:lpstr>ESS - 신재생 에너지 확대 (해외)</vt:lpstr>
      <vt:lpstr>PowerPoint Presentation</vt:lpstr>
      <vt:lpstr>중국 배터리 규제(1)</vt:lpstr>
      <vt:lpstr>중국 배터리 규제(2)</vt:lpstr>
      <vt:lpstr>BBU (Battery Back-up Unit)</vt:lpstr>
      <vt:lpstr>BBU (Battery Back-up Unit)</vt:lpstr>
      <vt:lpstr>휴머노이드 로봇 (피지컬 ai)</vt:lpstr>
      <vt:lpstr>휴머노이드 로봇 (피지컬 ai)</vt:lpstr>
      <vt:lpstr>PowerPoint Presentation</vt:lpstr>
      <vt:lpstr>전고체 배터리(1)</vt:lpstr>
      <vt:lpstr>전고체 배터리(2)</vt:lpstr>
      <vt:lpstr>전고체 배터리(3)</vt:lpstr>
      <vt:lpstr>전고체 배터리(4)</vt:lpstr>
      <vt:lpstr>전고체 배터리(5)</vt:lpstr>
      <vt:lpstr>삼성 디스플레이 지분 매각</vt:lpstr>
      <vt:lpstr>국내 3사 경쟁사 비교</vt:lpstr>
      <vt:lpstr>삼성 sdi 투자로드맵 (       :성장예상            :폭발적성장예상) </vt:lpstr>
      <vt:lpstr>증권사별 목표 주가 (2026년도)</vt:lpstr>
      <vt:lpstr>RISK</vt:lpstr>
      <vt:lpstr>삼성SDI IR 담당자(02-2255-2660) </vt:lpstr>
      <vt:lpstr>삼성SDI IR 담당자(02-2255-2660) </vt:lpstr>
      <vt:lpstr>삼성SDI IR 담당자(02-2255-2660) </vt:lpstr>
      <vt:lpstr>삼성SDI IR 담당자(02-2255-2660)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김원일</dc:creator>
  <cp:lastModifiedBy>김원일</cp:lastModifiedBy>
  <cp:revision>1223</cp:revision>
  <dcterms:created xsi:type="dcterms:W3CDTF">2026-04-17T11:39:50Z</dcterms:created>
  <dcterms:modified xsi:type="dcterms:W3CDTF">2026-06-28T01:29:44Z</dcterms:modified>
</cp:coreProperties>
</file>