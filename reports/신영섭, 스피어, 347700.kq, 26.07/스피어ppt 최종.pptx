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trictFirstAndLastChars="0" saveSubsetFonts="1" autoCompressPictures="0">
  <p:sldMasterIdLst>
    <p:sldMasterId id="2147483660" r:id="rId13"/>
  </p:sldMasterIdLst>
  <p:notesMasterIdLst>
    <p:notesMasterId r:id="rId15"/>
  </p:notesMasterIdLst>
  <p:sldIdLst>
    <p:sldId id="256" r:id="rId17"/>
    <p:sldId id="257" r:id="rId19"/>
    <p:sldId id="268" r:id="rId21"/>
    <p:sldId id="269" r:id="rId23"/>
    <p:sldId id="270" r:id="rId25"/>
    <p:sldId id="266" r:id="rId27"/>
    <p:sldId id="258" r:id="rId29"/>
    <p:sldId id="274" r:id="rId31"/>
    <p:sldId id="260" r:id="rId33"/>
    <p:sldId id="259" r:id="rId35"/>
    <p:sldId id="261" r:id="rId37"/>
    <p:sldId id="262" r:id="rId39"/>
    <p:sldId id="264" r:id="rId41"/>
    <p:sldId id="275" r:id="rId43"/>
    <p:sldId id="265" r:id="rId45"/>
    <p:sldId id="273" r:id="rId47"/>
    <p:sldId id="272" r:id="rId48"/>
    <p:sldId id="276" r:id="rId49"/>
    <p:sldId id="267" r:id="rId51"/>
    <p:sldId id="278" r:id="rId5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0">
          <p15:clr>
            <a:srgbClr val="000000"/>
          </p15:clr>
        </p15:guide>
        <p15:guide id="2" pos="2879" userDrawn="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EBC2E15F-E17B-4FD7-9ADE-7DF272B04D6E}">
  <a:tblStyle styleId="{EBC2E15F-E17B-4FD7-9ADE-7DF272B04D6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36" y="108"/>
      </p:cViewPr>
      <p:guideLst>
        <p:guide orient="horz" pos="2159"/>
        <p:guide pos="28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notesMaster" Target="notesMasters/notesMaster1.xml"></Relationship><Relationship Id="rId17" Type="http://schemas.openxmlformats.org/officeDocument/2006/relationships/slide" Target="slides/slide1.xml"></Relationship><Relationship Id="rId19" Type="http://schemas.openxmlformats.org/officeDocument/2006/relationships/slide" Target="slides/slide2.xml"></Relationship><Relationship Id="rId21" Type="http://schemas.openxmlformats.org/officeDocument/2006/relationships/slide" Target="slides/slide3.xml"></Relationship><Relationship Id="rId23" Type="http://schemas.openxmlformats.org/officeDocument/2006/relationships/slide" Target="slides/slide4.xml"></Relationship><Relationship Id="rId25" Type="http://schemas.openxmlformats.org/officeDocument/2006/relationships/slide" Target="slides/slide5.xml"></Relationship><Relationship Id="rId27" Type="http://schemas.openxmlformats.org/officeDocument/2006/relationships/slide" Target="slides/slide6.xml"></Relationship><Relationship Id="rId29" Type="http://schemas.openxmlformats.org/officeDocument/2006/relationships/slide" Target="slides/slide7.xml"></Relationship><Relationship Id="rId31" Type="http://schemas.openxmlformats.org/officeDocument/2006/relationships/slide" Target="slides/slide8.xml"></Relationship><Relationship Id="rId33" Type="http://schemas.openxmlformats.org/officeDocument/2006/relationships/slide" Target="slides/slide9.xml"></Relationship><Relationship Id="rId35" Type="http://schemas.openxmlformats.org/officeDocument/2006/relationships/slide" Target="slides/slide10.xml"></Relationship><Relationship Id="rId37" Type="http://schemas.openxmlformats.org/officeDocument/2006/relationships/slide" Target="slides/slide11.xml"></Relationship><Relationship Id="rId39" Type="http://schemas.openxmlformats.org/officeDocument/2006/relationships/slide" Target="slides/slide12.xml"></Relationship><Relationship Id="rId41" Type="http://schemas.openxmlformats.org/officeDocument/2006/relationships/slide" Target="slides/slide13.xml"></Relationship><Relationship Id="rId43" Type="http://schemas.openxmlformats.org/officeDocument/2006/relationships/slide" Target="slides/slide14.xml"></Relationship><Relationship Id="rId45" Type="http://schemas.openxmlformats.org/officeDocument/2006/relationships/slide" Target="slides/slide15.xml"></Relationship><Relationship Id="rId47" Type="http://schemas.openxmlformats.org/officeDocument/2006/relationships/slide" Target="slides/slide16.xml"></Relationship><Relationship Id="rId48" Type="http://schemas.openxmlformats.org/officeDocument/2006/relationships/slide" Target="slides/slide17.xml"></Relationship><Relationship Id="rId49" Type="http://schemas.openxmlformats.org/officeDocument/2006/relationships/slide" Target="slides/slide18.xml"></Relationship><Relationship Id="rId51" Type="http://schemas.openxmlformats.org/officeDocument/2006/relationships/slide" Target="slides/slide19.xml"></Relationship><Relationship Id="rId53" Type="http://schemas.openxmlformats.org/officeDocument/2006/relationships/slide" Target="slides/slide20.xml"></Relationship><Relationship Id="rId55" Type="http://schemas.openxmlformats.org/officeDocument/2006/relationships/viewProps" Target="viewProps.xml"></Relationship><Relationship Id="rId56" Type="http://schemas.openxmlformats.org/officeDocument/2006/relationships/presProps" Target="presProps.xml"></Relationship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맑은 고딕" panose="020B0503020000020004" pitchFamily="50" charset="-127"/>
        <a:ea typeface="맑은 고딕" panose="020B0503020000020004" pitchFamily="50" charset="-127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_rels/notesSlide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.xml"></Relationship></Relationships>
</file>

<file path=ppt/notesSlides/_rels/notesSlide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.xml"></Relationship></Relationships>
</file>

<file path=ppt/notesSlides/_rels/notesSlide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4.xml"></Relationship></Relationships>
</file>

<file path=ppt/notesSlides/_rels/notesSlide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5.xml"></Relationship></Relationships>
</file>

<file path=ppt/notesSlides/_rels/notesSlide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6.xml"></Relationship></Relationships>
</file>

<file path=ppt/notesSlides/_rels/notesSlide7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7.xml"></Relationship></Relationships>
</file>

<file path=ppt/notesSlides/_rels/notesSlide8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8.xml"></Relationship></Relationships>
</file>

<file path=ppt/notesSlides/_rels/notesSlide9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9.xml"></Relationship></Relationships>
</file>

<file path=ppt/notesSlides/_rels/notesSlide10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0.xml"></Relationship></Relationships>
</file>

<file path=ppt/notesSlides/_rels/notesSlide1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1.xml"></Relationship></Relationships>
</file>

<file path=ppt/notesSlides/_rels/notesSlide1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2.xml"></Relationship></Relationships>
</file>

<file path=ppt/notesSlides/_rels/notesSlide1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3.xml"></Relationship></Relationships>
</file>

<file path=ppt/notesSlides/_rels/notesSlide1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4.xml"></Relationship></Relationships>
</file>

<file path=ppt/notesSlides/_rels/notesSlide1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5.xml"></Relationship></Relationships>
</file>

<file path=ppt/notesSlides/_rels/notesSlide18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8.xml"></Relationship></Relationships>
</file>

<file path=ppt/notesSlides/_rels/notesSlide19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9.xml"></Relationship></Relationships>
</file>

<file path=ppt/notesSlides/_rels/notesSlide20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0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59732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12139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62141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95618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6" name="Google Shape;1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3" name="Google Shape;1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0" name="Google Shape;18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6" name="Google Shape;2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82503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5" name="Google Shape;21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70562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1" name="Google Shape;24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9786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3" Type="http://schemas.openxmlformats.org/officeDocument/2006/relationships/image" Target="../media/image1.png"></Relationship><Relationship Id="rId2" Type="http://schemas.openxmlformats.org/officeDocument/2006/relationships/notesSlide" Target="../notesSlides/notesSlide1.xml"></Relationship><Relationship Id="rId1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3" Type="http://schemas.openxmlformats.org/officeDocument/2006/relationships/image" Target="../media/image1.png"></Relationship><Relationship Id="rId2" Type="http://schemas.openxmlformats.org/officeDocument/2006/relationships/notesSlide" Target="../notesSlides/notesSlide2.xml"></Relationship><Relationship Id="rId1" Type="http://schemas.openxmlformats.org/officeDocument/2006/relationships/slideLayout" Target="../slideLayouts/slideLayout1.xml"></Relationship><Relationship Id="rId4" Type="http://schemas.openxmlformats.org/officeDocument/2006/relationships/image" Target="../media/image2.png"></Relationship></Relationships>
</file>

<file path=ppt/slides/_rels/slide3.xml.rels><?xml version="1.0" encoding="UTF-8"?>
<Relationships xmlns="http://schemas.openxmlformats.org/package/2006/relationships"><Relationship Id="rId3" Type="http://schemas.openxmlformats.org/officeDocument/2006/relationships/image" Target="../media/image1.png"></Relationship><Relationship Id="rId7" Type="http://schemas.openxmlformats.org/officeDocument/2006/relationships/image" Target="../media/image5.png"></Relationship><Relationship Id="rId2" Type="http://schemas.openxmlformats.org/officeDocument/2006/relationships/notesSlide" Target="../notesSlides/notesSlide3.xml"></Relationship><Relationship Id="rId1" Type="http://schemas.openxmlformats.org/officeDocument/2006/relationships/slideLayout" Target="../slideLayouts/slideLayout1.xml"></Relationship><Relationship Id="rId6" Type="http://schemas.openxmlformats.org/officeDocument/2006/relationships/image" Target="../media/image4.png"></Relationship><Relationship Id="rId5" Type="http://schemas.openxmlformats.org/officeDocument/2006/relationships/image" Target="../media/image2.png"></Relationship><Relationship Id="rId4" Type="http://schemas.openxmlformats.org/officeDocument/2006/relationships/image" Target="../media/image3.png"></Relationship></Relationships>
</file>

<file path=ppt/slides/_rels/slide4.xml.rels><?xml version="1.0" encoding="UTF-8"?>
<Relationships xmlns="http://schemas.openxmlformats.org/package/2006/relationships"><Relationship Id="rId3" Type="http://schemas.openxmlformats.org/officeDocument/2006/relationships/image" Target="../media/image1.png"></Relationship><Relationship Id="rId2" Type="http://schemas.openxmlformats.org/officeDocument/2006/relationships/notesSlide" Target="../notesSlides/notesSlide4.xml"></Relationship><Relationship Id="rId1" Type="http://schemas.openxmlformats.org/officeDocument/2006/relationships/slideLayout" Target="../slideLayouts/slideLayout1.xml"></Relationship><Relationship Id="rId5" Type="http://schemas.openxmlformats.org/officeDocument/2006/relationships/image" Target="../media/image6.jpg"></Relationship><Relationship Id="rId4" Type="http://schemas.openxmlformats.org/officeDocument/2006/relationships/image" Target="../media/image5.png"></Relationship></Relationships>
</file>

<file path=ppt/slides/_rels/slide5.xml.rels><?xml version="1.0" encoding="UTF-8"?>
<Relationships xmlns="http://schemas.openxmlformats.org/package/2006/relationships"><Relationship Id="rId3" Type="http://schemas.openxmlformats.org/officeDocument/2006/relationships/image" Target="../media/image1.png"></Relationship><Relationship Id="rId2" Type="http://schemas.openxmlformats.org/officeDocument/2006/relationships/notesSlide" Target="../notesSlides/notesSlide5.xml"></Relationship><Relationship Id="rId1" Type="http://schemas.openxmlformats.org/officeDocument/2006/relationships/slideLayout" Target="../slideLayouts/slideLayout1.xml"></Relationship><Relationship Id="rId5" Type="http://schemas.openxmlformats.org/officeDocument/2006/relationships/image" Target="../media/image7.png"></Relationship><Relationship Id="rId4" Type="http://schemas.openxmlformats.org/officeDocument/2006/relationships/image" Target="../media/image2.png"></Relationship></Relationships>
</file>

<file path=ppt/slides/_rels/slide6.xml.rels><?xml version="1.0" encoding="UTF-8"?>
<Relationships xmlns="http://schemas.openxmlformats.org/package/2006/relationships"><Relationship Id="rId3" Type="http://schemas.openxmlformats.org/officeDocument/2006/relationships/image" Target="../media/image1.png"></Relationship><Relationship Id="rId2" Type="http://schemas.openxmlformats.org/officeDocument/2006/relationships/notesSlide" Target="../notesSlides/notesSlide6.xml"></Relationship><Relationship Id="rId1" Type="http://schemas.openxmlformats.org/officeDocument/2006/relationships/slideLayout" Target="../slideLayouts/slideLayout1.xml"></Relationship><Relationship Id="rId5" Type="http://schemas.openxmlformats.org/officeDocument/2006/relationships/image" Target="../media/image9.png"></Relationship><Relationship Id="rId4" Type="http://schemas.openxmlformats.org/officeDocument/2006/relationships/image" Target="../media/image8.png"></Relationship></Relationships>
</file>

<file path=ppt/slides/_rels/slide7.xml.rels><?xml version="1.0" encoding="UTF-8"?>
<Relationships xmlns="http://schemas.openxmlformats.org/package/2006/relationships"><Relationship Id="rId8" Type="http://schemas.openxmlformats.org/officeDocument/2006/relationships/image" Target="../media/image14.png"></Relationship><Relationship Id="rId3" Type="http://schemas.openxmlformats.org/officeDocument/2006/relationships/image" Target="../media/image1.png"></Relationship><Relationship Id="rId7" Type="http://schemas.openxmlformats.org/officeDocument/2006/relationships/image" Target="../media/image13.png"></Relationship><Relationship Id="rId2" Type="http://schemas.openxmlformats.org/officeDocument/2006/relationships/notesSlide" Target="../notesSlides/notesSlide7.xml"></Relationship><Relationship Id="rId1" Type="http://schemas.openxmlformats.org/officeDocument/2006/relationships/slideLayout" Target="../slideLayouts/slideLayout1.xml"></Relationship><Relationship Id="rId6" Type="http://schemas.openxmlformats.org/officeDocument/2006/relationships/image" Target="../media/image12.png"></Relationship><Relationship Id="rId5" Type="http://schemas.openxmlformats.org/officeDocument/2006/relationships/image" Target="../media/image11.png"></Relationship><Relationship Id="rId4" Type="http://schemas.openxmlformats.org/officeDocument/2006/relationships/image" Target="../media/image10.png"></Relationship><Relationship Id="rId9" Type="http://schemas.openxmlformats.org/officeDocument/2006/relationships/image" Target="../media/image15.png"></Relationship></Relationships>
</file>

<file path=ppt/slides/_rels/slide8.xml.rels><?xml version="1.0" encoding="UTF-8"?>
<Relationships xmlns="http://schemas.openxmlformats.org/package/2006/relationships"><Relationship Id="rId3" Type="http://schemas.openxmlformats.org/officeDocument/2006/relationships/image" Target="../media/image1.png"></Relationship><Relationship Id="rId2" Type="http://schemas.openxmlformats.org/officeDocument/2006/relationships/notesSlide" Target="../notesSlides/notesSlide8.xml"></Relationship><Relationship Id="rId1" Type="http://schemas.openxmlformats.org/officeDocument/2006/relationships/slideLayout" Target="../slideLayouts/slideLayout1.xml"></Relationship><Relationship Id="rId4" Type="http://schemas.openxmlformats.org/officeDocument/2006/relationships/image" Target="../media/image2.png"></Relationship></Relationships>
</file>

<file path=ppt/slides/_rels/slide9.xml.rels><?xml version="1.0" encoding="UTF-8"?>
<Relationships xmlns="http://schemas.openxmlformats.org/package/2006/relationships"><Relationship Id="rId3" Type="http://schemas.openxmlformats.org/officeDocument/2006/relationships/image" Target="../media/image1.png"></Relationship><Relationship Id="rId2" Type="http://schemas.openxmlformats.org/officeDocument/2006/relationships/notesSlide" Target="../notesSlides/notesSlide9.xml"></Relationship><Relationship Id="rId1" Type="http://schemas.openxmlformats.org/officeDocument/2006/relationships/slideLayout" Target="../slideLayouts/slideLayout1.xml"></Relationship><Relationship Id="rId6" Type="http://schemas.openxmlformats.org/officeDocument/2006/relationships/image" Target="../media/image18.png"></Relationship><Relationship Id="rId5" Type="http://schemas.openxmlformats.org/officeDocument/2006/relationships/image" Target="../media/image17.png"></Relationship><Relationship Id="rId4" Type="http://schemas.openxmlformats.org/officeDocument/2006/relationships/image" Target="../media/image16.png"></Relationship></Relationships>
</file>

<file path=ppt/slides/_rels/slide10.xml.rels><?xml version="1.0" encoding="UTF-8"?>
<Relationships xmlns="http://schemas.openxmlformats.org/package/2006/relationships"><Relationship Id="rId3" Type="http://schemas.openxmlformats.org/officeDocument/2006/relationships/image" Target="../media/image1.png"></Relationship><Relationship Id="rId2" Type="http://schemas.openxmlformats.org/officeDocument/2006/relationships/notesSlide" Target="../notesSlides/notesSlide10.xml"></Relationship><Relationship Id="rId1" Type="http://schemas.openxmlformats.org/officeDocument/2006/relationships/slideLayout" Target="../slideLayouts/slideLayout1.xml"></Relationship><Relationship Id="rId4" Type="http://schemas.openxmlformats.org/officeDocument/2006/relationships/image" Target="../media/image19.png"></Relationship></Relationships>
</file>

<file path=ppt/slides/_rels/slide11.xml.rels><?xml version="1.0" encoding="UTF-8"?>
<Relationships xmlns="http://schemas.openxmlformats.org/package/2006/relationships"><Relationship Id="rId8" Type="http://schemas.openxmlformats.org/officeDocument/2006/relationships/image" Target="../media/image24.png"></Relationship><Relationship Id="rId3" Type="http://schemas.openxmlformats.org/officeDocument/2006/relationships/image" Target="../media/image1.png"></Relationship><Relationship Id="rId7" Type="http://schemas.openxmlformats.org/officeDocument/2006/relationships/image" Target="../media/image23.png"></Relationship><Relationship Id="rId2" Type="http://schemas.openxmlformats.org/officeDocument/2006/relationships/notesSlide" Target="../notesSlides/notesSlide11.xml"></Relationship><Relationship Id="rId1" Type="http://schemas.openxmlformats.org/officeDocument/2006/relationships/slideLayout" Target="../slideLayouts/slideLayout1.xml"></Relationship><Relationship Id="rId6" Type="http://schemas.openxmlformats.org/officeDocument/2006/relationships/image" Target="../media/image22.png"></Relationship><Relationship Id="rId5" Type="http://schemas.openxmlformats.org/officeDocument/2006/relationships/image" Target="../media/image21.png"></Relationship><Relationship Id="rId10" Type="http://schemas.openxmlformats.org/officeDocument/2006/relationships/image" Target="../media/image26.png"></Relationship><Relationship Id="rId4" Type="http://schemas.openxmlformats.org/officeDocument/2006/relationships/image" Target="../media/image20.png"></Relationship><Relationship Id="rId9" Type="http://schemas.openxmlformats.org/officeDocument/2006/relationships/image" Target="../media/image25.png"></Relationship></Relationships>
</file>

<file path=ppt/slides/_rels/slide12.xml.rels><?xml version="1.0" encoding="UTF-8"?>
<Relationships xmlns="http://schemas.openxmlformats.org/package/2006/relationships"><Relationship Id="rId3" Type="http://schemas.openxmlformats.org/officeDocument/2006/relationships/image" Target="../media/image1.png"></Relationship><Relationship Id="rId2" Type="http://schemas.openxmlformats.org/officeDocument/2006/relationships/notesSlide" Target="../notesSlides/notesSlide12.xml"></Relationship><Relationship Id="rId1" Type="http://schemas.openxmlformats.org/officeDocument/2006/relationships/slideLayout" Target="../slideLayouts/slideLayout1.xml"></Relationship><Relationship Id="rId5" Type="http://schemas.openxmlformats.org/officeDocument/2006/relationships/image" Target="../media/image28.png"></Relationship><Relationship Id="rId4" Type="http://schemas.openxmlformats.org/officeDocument/2006/relationships/image" Target="../media/image27.png"></Relationship></Relationships>
</file>

<file path=ppt/slides/_rels/slide13.xml.rels><?xml version="1.0" encoding="UTF-8"?>
<Relationships xmlns="http://schemas.openxmlformats.org/package/2006/relationships"><Relationship Id="rId3" Type="http://schemas.openxmlformats.org/officeDocument/2006/relationships/image" Target="../media/image1.png"></Relationship><Relationship Id="rId2" Type="http://schemas.openxmlformats.org/officeDocument/2006/relationships/notesSlide" Target="../notesSlides/notesSlide13.xml"></Relationship><Relationship Id="rId1" Type="http://schemas.openxmlformats.org/officeDocument/2006/relationships/slideLayout" Target="../slideLayouts/slideLayout1.xml"></Relationship><Relationship Id="rId5" Type="http://schemas.openxmlformats.org/officeDocument/2006/relationships/image" Target="../media/image30.png"></Relationship><Relationship Id="rId4" Type="http://schemas.openxmlformats.org/officeDocument/2006/relationships/image" Target="../media/image29.png"></Relationship></Relationships>
</file>

<file path=ppt/slides/_rels/slide14.xml.rels><?xml version="1.0" encoding="UTF-8"?>
<Relationships xmlns="http://schemas.openxmlformats.org/package/2006/relationships"><Relationship Id="rId3" Type="http://schemas.openxmlformats.org/officeDocument/2006/relationships/image" Target="../media/image1.png"></Relationship><Relationship Id="rId2" Type="http://schemas.openxmlformats.org/officeDocument/2006/relationships/notesSlide" Target="../notesSlides/notesSlide14.xml"></Relationship><Relationship Id="rId1" Type="http://schemas.openxmlformats.org/officeDocument/2006/relationships/slideLayout" Target="../slideLayouts/slideLayout1.xml"></Relationship><Relationship Id="rId4" Type="http://schemas.openxmlformats.org/officeDocument/2006/relationships/image" Target="../media/image2.png"></Relationship></Relationships>
</file>

<file path=ppt/slides/_rels/slide15.xml.rels><?xml version="1.0" encoding="UTF-8"?>
<Relationships xmlns="http://schemas.openxmlformats.org/package/2006/relationships"><Relationship Id="rId3" Type="http://schemas.openxmlformats.org/officeDocument/2006/relationships/image" Target="../media/image1.png"></Relationship><Relationship Id="rId7" Type="http://schemas.openxmlformats.org/officeDocument/2006/relationships/image" Target="../media/image34.png"></Relationship><Relationship Id="rId2" Type="http://schemas.openxmlformats.org/officeDocument/2006/relationships/notesSlide" Target="../notesSlides/notesSlide15.xml"></Relationship><Relationship Id="rId1" Type="http://schemas.openxmlformats.org/officeDocument/2006/relationships/slideLayout" Target="../slideLayouts/slideLayout1.xml"></Relationship><Relationship Id="rId6" Type="http://schemas.openxmlformats.org/officeDocument/2006/relationships/image" Target="../media/image33.png"></Relationship><Relationship Id="rId5" Type="http://schemas.openxmlformats.org/officeDocument/2006/relationships/image" Target="../media/image32.png"></Relationship><Relationship Id="rId4" Type="http://schemas.openxmlformats.org/officeDocument/2006/relationships/image" Target="../media/image31.png"></Relationship></Relationships>
</file>

<file path=ppt/slides/_rels/slide16.xml.rels><?xml version="1.0" encoding="UTF-8"?>
<Relationships xmlns="http://schemas.openxmlformats.org/package/2006/relationships"><Relationship Id="rId8" Type="http://schemas.openxmlformats.org/officeDocument/2006/relationships/image" Target="../media/image41.png"></Relationship><Relationship Id="rId13" Type="http://schemas.openxmlformats.org/officeDocument/2006/relationships/image" Target="../media/image46.png"></Relationship><Relationship Id="rId3" Type="http://schemas.openxmlformats.org/officeDocument/2006/relationships/image" Target="../media/image36.png"></Relationship><Relationship Id="rId7" Type="http://schemas.openxmlformats.org/officeDocument/2006/relationships/image" Target="../media/image40.png"></Relationship><Relationship Id="rId12" Type="http://schemas.openxmlformats.org/officeDocument/2006/relationships/image" Target="../media/image45.png"></Relationship><Relationship Id="rId2" Type="http://schemas.openxmlformats.org/officeDocument/2006/relationships/image" Target="../media/image35.png"></Relationship><Relationship Id="rId1" Type="http://schemas.openxmlformats.org/officeDocument/2006/relationships/slideLayout" Target="../slideLayouts/slideLayout1.xml"></Relationship><Relationship Id="rId6" Type="http://schemas.openxmlformats.org/officeDocument/2006/relationships/image" Target="../media/image39.png"></Relationship><Relationship Id="rId11" Type="http://schemas.openxmlformats.org/officeDocument/2006/relationships/image" Target="../media/image44.png"></Relationship><Relationship Id="rId5" Type="http://schemas.openxmlformats.org/officeDocument/2006/relationships/image" Target="../media/image38.png"></Relationship><Relationship Id="rId10" Type="http://schemas.openxmlformats.org/officeDocument/2006/relationships/image" Target="../media/image43.png"></Relationship><Relationship Id="rId4" Type="http://schemas.openxmlformats.org/officeDocument/2006/relationships/image" Target="../media/image37.png"></Relationship><Relationship Id="rId9" Type="http://schemas.openxmlformats.org/officeDocument/2006/relationships/image" Target="../media/image42.png"></Relationship></Relationships>
</file>

<file path=ppt/slides/_rels/slide17.xml.rels><?xml version="1.0" encoding="UTF-8"?>
<Relationships xmlns="http://schemas.openxmlformats.org/package/2006/relationships"><Relationship Id="rId8" Type="http://schemas.openxmlformats.org/officeDocument/2006/relationships/image" Target="../media/image52.png"></Relationship><Relationship Id="rId3" Type="http://schemas.openxmlformats.org/officeDocument/2006/relationships/image" Target="../media/image47.png"></Relationship><Relationship Id="rId7" Type="http://schemas.openxmlformats.org/officeDocument/2006/relationships/image" Target="../media/image51.png"></Relationship><Relationship Id="rId2" Type="http://schemas.openxmlformats.org/officeDocument/2006/relationships/image" Target="../media/image35.png"></Relationship><Relationship Id="rId1" Type="http://schemas.openxmlformats.org/officeDocument/2006/relationships/slideLayout" Target="../slideLayouts/slideLayout1.xml"></Relationship><Relationship Id="rId6" Type="http://schemas.openxmlformats.org/officeDocument/2006/relationships/image" Target="../media/image50.png"></Relationship><Relationship Id="rId5" Type="http://schemas.openxmlformats.org/officeDocument/2006/relationships/image" Target="../media/image49.png"></Relationship><Relationship Id="rId4" Type="http://schemas.openxmlformats.org/officeDocument/2006/relationships/image" Target="../media/image48.png"></Relationship><Relationship Id="rId9" Type="http://schemas.openxmlformats.org/officeDocument/2006/relationships/image" Target="../media/image53.png"></Relationship></Relationships>
</file>

<file path=ppt/slides/_rels/slide18.xml.rels><?xml version="1.0" encoding="UTF-8"?>
<Relationships xmlns="http://schemas.openxmlformats.org/package/2006/relationships"><Relationship Id="rId3" Type="http://schemas.openxmlformats.org/officeDocument/2006/relationships/image" Target="../media/image1.png"></Relationship><Relationship Id="rId2" Type="http://schemas.openxmlformats.org/officeDocument/2006/relationships/notesSlide" Target="../notesSlides/notesSlide18.xml"></Relationship><Relationship Id="rId1" Type="http://schemas.openxmlformats.org/officeDocument/2006/relationships/slideLayout" Target="../slideLayouts/slideLayout1.xml"></Relationship><Relationship Id="rId4" Type="http://schemas.openxmlformats.org/officeDocument/2006/relationships/image" Target="../media/image2.png"></Relationship></Relationships>
</file>

<file path=ppt/slides/_rels/slide19.xml.rels><?xml version="1.0" encoding="UTF-8"?>
<Relationships xmlns="http://schemas.openxmlformats.org/package/2006/relationships"><Relationship Id="rId3" Type="http://schemas.openxmlformats.org/officeDocument/2006/relationships/image" Target="../media/image1.png"></Relationship><Relationship Id="rId2" Type="http://schemas.openxmlformats.org/officeDocument/2006/relationships/notesSlide" Target="../notesSlides/notesSlide19.xml"></Relationship><Relationship Id="rId1" Type="http://schemas.openxmlformats.org/officeDocument/2006/relationships/slideLayout" Target="../slideLayouts/slideLayout1.xml"></Relationship></Relationships>
</file>

<file path=ppt/slides/_rels/slide20.xml.rels><?xml version="1.0" encoding="UTF-8"?>
<Relationships xmlns="http://schemas.openxmlformats.org/package/2006/relationships"><Relationship Id="rId3" Type="http://schemas.openxmlformats.org/officeDocument/2006/relationships/image" Target="../media/image1.png"></Relationship><Relationship Id="rId2" Type="http://schemas.openxmlformats.org/officeDocument/2006/relationships/notesSlide" Target="../notesSlides/notesSlide20.xml"></Relationship><Relationship Id="rId1" Type="http://schemas.openxmlformats.org/officeDocument/2006/relationships/slideLayout" Target="../slideLayouts/slideLayout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035339" y="2733675"/>
            <a:ext cx="8121300" cy="1558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 dirty="0" err="1" smtClean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스피어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050" b="1" dirty="0" err="1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기업분석</a:t>
            </a:r>
            <a:endParaRPr dirty="0">
              <a:latin typeface="맑은 고딕" panose="020B0503020000020004" pitchFamily="50" charset="-127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131950" y="4778900"/>
            <a:ext cx="7927800" cy="35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신 영 섭</a:t>
            </a:r>
            <a:endParaRPr dirty="0">
              <a:latin typeface="맑은 고딕" panose="020B0503020000020004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75964" y="2676569"/>
            <a:ext cx="1383323" cy="126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3045241" y="2676569"/>
            <a:ext cx="1014046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dirty="0" smtClean="0">
                <a:solidFill>
                  <a:srgbClr val="38BDF8"/>
                </a:solidFill>
                <a:latin typeface="Noto Sans KR"/>
                <a:ea typeface="Noto Sans KR"/>
                <a:sym typeface="Noto Sans KR"/>
              </a:rPr>
              <a:t>1</a:t>
            </a:r>
            <a:endParaRPr sz="8800" dirty="0">
              <a:latin typeface="맑은 고딕" panose="020B0503020000020004" pitchFamily="50" charset="-127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819836" y="2921168"/>
            <a:ext cx="14129756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600" b="1" dirty="0" smtClean="0">
                <a:solidFill>
                  <a:srgbClr val="F8FAFC"/>
                </a:solidFill>
                <a:latin typeface="Noto Sans KR"/>
                <a:ea typeface="Noto Sans KR"/>
                <a:sym typeface="Noto Sans KR"/>
              </a:rPr>
              <a:t>                </a:t>
            </a:r>
            <a:r>
              <a:rPr lang="ko-KR" altLang="en-US" sz="6600" b="1" dirty="0" err="1" smtClean="0">
                <a:solidFill>
                  <a:srgbClr val="F8FAFC"/>
                </a:solidFill>
                <a:latin typeface="Noto Sans KR"/>
                <a:ea typeface="Noto Sans KR"/>
                <a:sym typeface="Noto Sans KR"/>
              </a:rPr>
              <a:t>기업개요</a:t>
            </a:r>
            <a:endParaRPr sz="6600" dirty="0">
              <a:latin typeface="맑은 고딕" panose="020B0503020000020004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350" y="2042576"/>
            <a:ext cx="5395901" cy="357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2675" y="2042576"/>
            <a:ext cx="5395925" cy="357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1050" y="2271712"/>
            <a:ext cx="237083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81050" y="2764856"/>
            <a:ext cx="5145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스페이스X</a:t>
            </a:r>
            <a:r>
              <a:rPr lang="en-US" sz="1800" b="0" i="0" u="none" strike="noStrike" cap="none" dirty="0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0" i="0" u="none" strike="noStrike" cap="none" dirty="0" err="1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독점</a:t>
            </a:r>
            <a:r>
              <a:rPr lang="en-US" sz="1800" b="0" i="0" u="none" strike="noStrike" cap="none" dirty="0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 SCM (Tier-1 </a:t>
            </a:r>
            <a:r>
              <a:rPr lang="en-US" sz="1800" b="0" i="0" u="none" strike="noStrike" cap="none" dirty="0" err="1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벤더</a:t>
            </a:r>
            <a:r>
              <a:rPr lang="en-US" sz="1800" b="0" i="0" u="none" strike="noStrike" cap="none" dirty="0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sz="1700" dirty="0">
              <a:latin typeface="맑은 고딕" panose="020B0503020000020004" pitchFamily="50" charset="-127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781049" y="3298792"/>
            <a:ext cx="4948225" cy="72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25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스페이스X의</a:t>
            </a:r>
            <a:r>
              <a:rPr lang="en-US" sz="1525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25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특수합금</a:t>
            </a:r>
            <a:r>
              <a:rPr lang="en-US" sz="1525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1525" dirty="0" err="1" smtClean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공급망</a:t>
            </a:r>
            <a:r>
              <a:rPr lang="en-US" sz="1525" b="0" i="0" u="none" strike="noStrike" cap="none" dirty="0" smtClean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25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관리사</a:t>
            </a:r>
            <a:r>
              <a:rPr lang="en-US" sz="1525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(SCM)</a:t>
            </a:r>
            <a:r>
              <a:rPr lang="en-US" sz="1525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로서</a:t>
            </a:r>
            <a:r>
              <a:rPr lang="en-US" sz="1525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25" b="0" i="0" u="none" strike="noStrike" cap="none" dirty="0" smtClean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r>
              <a:rPr lang="ko-KR" altLang="en-US" sz="1525" b="0" i="0" u="none" strike="noStrike" cap="none" dirty="0" smtClean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차 벤더 </a:t>
            </a:r>
            <a:r>
              <a:rPr lang="en-US" sz="1525" b="0" i="0" u="none" strike="noStrike" cap="none" dirty="0" smtClean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r>
              <a:rPr lang="ko-KR" altLang="en-US" sz="1525" b="0" i="0" u="none" strike="noStrike" cap="none" dirty="0" smtClean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개 중 </a:t>
            </a:r>
            <a:r>
              <a:rPr lang="ko-KR" altLang="en-US" sz="1525" b="1" i="0" u="none" strike="noStrike" cap="none" dirty="0" smtClean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유일한 아시아 기업</a:t>
            </a:r>
            <a:endParaRPr lang="en-US" altLang="ko-KR" sz="1525" b="1" i="0" u="none" strike="noStrike" cap="none" dirty="0" smtClean="0">
              <a:solidFill>
                <a:srgbClr val="94A3B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781050" y="4270650"/>
            <a:ext cx="4900500" cy="72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25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로켓</a:t>
            </a:r>
            <a:r>
              <a:rPr lang="en-US" sz="1525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25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엔진</a:t>
            </a:r>
            <a:r>
              <a:rPr lang="en-US" sz="1525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525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노즐</a:t>
            </a:r>
            <a:r>
              <a:rPr lang="en-US" sz="1525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525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발사대</a:t>
            </a:r>
            <a:r>
              <a:rPr lang="en-US" sz="1525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등 </a:t>
            </a:r>
            <a:r>
              <a:rPr lang="en-US" sz="1525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극한</a:t>
            </a:r>
            <a:r>
              <a:rPr lang="en-US" sz="1525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25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환경</a:t>
            </a:r>
            <a:r>
              <a:rPr lang="en-US" sz="1525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en-US" sz="1525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고온·고압·극저온</a:t>
            </a:r>
            <a:r>
              <a:rPr lang="en-US" sz="1525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)을 </a:t>
            </a:r>
            <a:r>
              <a:rPr lang="en-US" sz="1525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견디는</a:t>
            </a:r>
            <a:r>
              <a:rPr lang="en-US" sz="1525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25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핵심</a:t>
            </a:r>
            <a:r>
              <a:rPr lang="en-US" sz="1525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25" b="1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니켈</a:t>
            </a:r>
            <a:r>
              <a:rPr lang="en-US" sz="1525" b="1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25" b="1" i="0" u="none" strike="noStrike" cap="none" dirty="0" err="1" smtClean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특수합금</a:t>
            </a:r>
            <a:r>
              <a:rPr lang="en-US" sz="1525" b="1" i="0" u="none" strike="noStrike" cap="none" dirty="0" smtClean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1525" b="1" i="0" u="none" strike="noStrike" cap="none" dirty="0" err="1" smtClean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공급망</a:t>
            </a:r>
            <a:r>
              <a:rPr lang="ko-KR" altLang="en-US" sz="1525" b="1" i="0" u="none" strike="noStrike" cap="none" dirty="0" smtClean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관리</a:t>
            </a:r>
            <a:endParaRPr sz="1800" dirty="0">
              <a:latin typeface="맑은 고딕" panose="020B0503020000020004" pitchFamily="50" charset="-127"/>
            </a:endParaRPr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10412" y="2239449"/>
            <a:ext cx="237083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6457400" y="2774875"/>
            <a:ext cx="51456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 err="1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팹리스</a:t>
            </a:r>
            <a:r>
              <a:rPr lang="en-US" sz="1700" b="0" i="0" u="none" strike="noStrike" cap="none" dirty="0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(Fabless) </a:t>
            </a:r>
            <a:r>
              <a:rPr lang="en-US" sz="1700" b="0" i="0" u="none" strike="noStrike" cap="none" dirty="0" smtClean="0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SCM</a:t>
            </a:r>
            <a:endParaRPr sz="1600" dirty="0">
              <a:latin typeface="맑은 고딕" panose="020B0503020000020004" pitchFamily="50" charset="-127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457400" y="3364139"/>
            <a:ext cx="4900500" cy="363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25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자체</a:t>
            </a:r>
            <a:r>
              <a:rPr lang="en-US" sz="1525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25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공장</a:t>
            </a:r>
            <a:r>
              <a:rPr lang="en-US" sz="1525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/</a:t>
            </a:r>
            <a:r>
              <a:rPr lang="en-US" sz="1525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설비</a:t>
            </a:r>
            <a:r>
              <a:rPr lang="en-US" sz="1525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25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없이</a:t>
            </a:r>
            <a:r>
              <a:rPr lang="en-US" sz="1525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25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운영되는</a:t>
            </a:r>
            <a:r>
              <a:rPr lang="en-US" sz="1525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**</a:t>
            </a:r>
            <a:r>
              <a:rPr lang="en-US" sz="1525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팹리스</a:t>
            </a:r>
            <a:r>
              <a:rPr lang="en-US" sz="1525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(Fabless)** </a:t>
            </a:r>
            <a:r>
              <a:rPr lang="en-US" sz="1525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구조</a:t>
            </a:r>
            <a:endParaRPr sz="1925" dirty="0">
              <a:latin typeface="맑은 고딕" panose="020B0503020000020004" pitchFamily="50" charset="-127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510375" y="4175226"/>
            <a:ext cx="4900500" cy="72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25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국내</a:t>
            </a:r>
            <a:r>
              <a:rPr lang="en-US" sz="1525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HVM 등 </a:t>
            </a:r>
            <a:r>
              <a:rPr lang="en-US" sz="1525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우수한</a:t>
            </a:r>
            <a:r>
              <a:rPr lang="en-US" sz="1525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25" b="0" i="0" u="none" strike="noStrike" cap="none" dirty="0" smtClean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r>
              <a:rPr lang="ko-KR" altLang="en-US" sz="1525" b="0" i="0" u="none" strike="noStrike" cap="none" dirty="0" smtClean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차 </a:t>
            </a:r>
            <a:r>
              <a:rPr lang="en-US" sz="1525" b="0" i="0" u="none" strike="noStrike" cap="none" dirty="0" err="1" smtClean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벤더사를</a:t>
            </a:r>
            <a:r>
              <a:rPr lang="en-US" sz="1525" b="0" i="0" u="none" strike="noStrike" cap="none" dirty="0" smtClean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25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발굴하고</a:t>
            </a:r>
            <a:r>
              <a:rPr lang="en-US" sz="1525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525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스페이스X</a:t>
            </a:r>
            <a:r>
              <a:rPr lang="en-US" sz="1525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25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요구에</a:t>
            </a:r>
            <a:r>
              <a:rPr lang="en-US" sz="1525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25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맞춰</a:t>
            </a:r>
            <a:r>
              <a:rPr lang="en-US" sz="1525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25" b="0" i="0" u="none" strike="noStrike" cap="none" dirty="0" err="1" smtClean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기술</a:t>
            </a:r>
            <a:r>
              <a:rPr lang="en-US" sz="1525" b="0" i="0" u="none" strike="noStrike" cap="none" dirty="0" smtClean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25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컨설팅</a:t>
            </a:r>
            <a:r>
              <a:rPr lang="en-US" sz="1525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525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품질관리</a:t>
            </a:r>
            <a:r>
              <a:rPr lang="en-US" sz="1525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(QC), </a:t>
            </a:r>
            <a:r>
              <a:rPr lang="en-US" sz="1525" b="1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납품</a:t>
            </a:r>
            <a:r>
              <a:rPr lang="en-US" sz="1525" b="1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전 </a:t>
            </a:r>
            <a:r>
              <a:rPr lang="en-US" sz="1525" b="1" i="0" u="none" strike="noStrike" cap="none" dirty="0" err="1" smtClean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과정을</a:t>
            </a:r>
            <a:r>
              <a:rPr lang="en-US" sz="1525" b="1" i="0" u="none" strike="noStrike" cap="none" dirty="0" smtClean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25" b="1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총괄</a:t>
            </a:r>
            <a:endParaRPr sz="1800" b="1" dirty="0">
              <a:latin typeface="맑은 고딕" panose="020B0503020000020004" pitchFamily="50" charset="-127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676275" y="438150"/>
            <a:ext cx="1151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1. </a:t>
            </a:r>
            <a:r>
              <a:rPr lang="en-US" sz="24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스피어는</a:t>
            </a:r>
            <a:r>
              <a:rPr lang="en-US" sz="24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무엇을</a:t>
            </a:r>
            <a:r>
              <a:rPr lang="en-US" sz="24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하는</a:t>
            </a:r>
            <a:r>
              <a:rPr lang="en-US" sz="24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회사인가</a:t>
            </a:r>
            <a:r>
              <a:rPr lang="en-US" sz="24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?</a:t>
            </a:r>
            <a:endParaRPr dirty="0">
              <a:latin typeface="맑은 고딕" panose="020B0503020000020004" pitchFamily="50" charset="-127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533400" y="438150"/>
            <a:ext cx="47625" cy="419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11574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5496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10412" y="2239449"/>
            <a:ext cx="237083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6457400" y="2774875"/>
            <a:ext cx="51456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 err="1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팹리스</a:t>
            </a:r>
            <a:r>
              <a:rPr lang="en-US" sz="1700" b="0" i="0" u="none" strike="noStrike" cap="none" dirty="0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(Fabless) </a:t>
            </a:r>
            <a:r>
              <a:rPr lang="en-US" sz="1700" b="0" i="0" u="none" strike="noStrike" cap="none" dirty="0" smtClean="0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SCM</a:t>
            </a:r>
            <a:endParaRPr sz="1600" dirty="0">
              <a:latin typeface="맑은 고딕" panose="020B0503020000020004" pitchFamily="50" charset="-127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676275" y="438150"/>
            <a:ext cx="1151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1. </a:t>
            </a:r>
            <a:r>
              <a:rPr lang="en-US" sz="24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스피어는</a:t>
            </a:r>
            <a:r>
              <a:rPr lang="en-US" sz="24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무엇을</a:t>
            </a:r>
            <a:r>
              <a:rPr lang="en-US" sz="24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하는</a:t>
            </a:r>
            <a:r>
              <a:rPr lang="en-US" sz="24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회사인가</a:t>
            </a:r>
            <a:r>
              <a:rPr lang="en-US" sz="24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?</a:t>
            </a:r>
            <a:endParaRPr dirty="0">
              <a:latin typeface="맑은 고딕" panose="020B0503020000020004" pitchFamily="50" charset="-127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533400" y="438150"/>
            <a:ext cx="47625" cy="419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815" y="1134208"/>
            <a:ext cx="10260623" cy="536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91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75964" y="2676569"/>
            <a:ext cx="1383323" cy="126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3045241" y="2676569"/>
            <a:ext cx="1014046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dirty="0" smtClean="0">
                <a:solidFill>
                  <a:srgbClr val="38BDF8"/>
                </a:solidFill>
                <a:latin typeface="Noto Sans KR"/>
                <a:ea typeface="Noto Sans KR"/>
                <a:sym typeface="Noto Sans KR"/>
              </a:rPr>
              <a:t>1</a:t>
            </a:r>
            <a:endParaRPr sz="8800" dirty="0">
              <a:latin typeface="맑은 고딕" panose="020B0503020000020004" pitchFamily="50" charset="-127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819836" y="2921168"/>
            <a:ext cx="14129756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600" b="1" dirty="0" smtClean="0">
                <a:solidFill>
                  <a:srgbClr val="F8FAFC"/>
                </a:solidFill>
                <a:latin typeface="Noto Sans KR"/>
                <a:ea typeface="Noto Sans KR"/>
                <a:sym typeface="Noto Sans KR"/>
              </a:rPr>
              <a:t>                </a:t>
            </a:r>
            <a:r>
              <a:rPr lang="ko-KR" altLang="en-US" sz="6600" b="1" dirty="0" err="1" smtClean="0">
                <a:solidFill>
                  <a:srgbClr val="F8FAFC"/>
                </a:solidFill>
                <a:latin typeface="Noto Sans KR"/>
                <a:ea typeface="Noto Sans KR"/>
                <a:sym typeface="Noto Sans KR"/>
              </a:rPr>
              <a:t>기업개요</a:t>
            </a:r>
            <a:endParaRPr sz="6600" dirty="0">
              <a:latin typeface="맑은 고딕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204" y="708213"/>
            <a:ext cx="11164986" cy="541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432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1095375"/>
            <a:ext cx="11125200" cy="532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7591" y="5284177"/>
            <a:ext cx="10876817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676275" y="438150"/>
            <a:ext cx="1151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 smtClean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주가</a:t>
            </a:r>
            <a:r>
              <a:rPr lang="en-US" sz="2400" b="1" i="0" u="none" strike="noStrike" cap="none" dirty="0" smtClean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흐름</a:t>
            </a:r>
            <a:r>
              <a:rPr lang="en-US" sz="24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분석</a:t>
            </a:r>
            <a:r>
              <a:rPr lang="en-US" sz="24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(2025 ~ 2026)</a:t>
            </a:r>
            <a:endParaRPr dirty="0">
              <a:latin typeface="맑은 고딕" panose="020B0503020000020004" pitchFamily="50" charset="-127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533400" y="438150"/>
            <a:ext cx="47625" cy="419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4825" y="1934308"/>
            <a:ext cx="3581400" cy="3965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05300" y="1934308"/>
            <a:ext cx="3581400" cy="3965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77200" y="1900156"/>
            <a:ext cx="3581400" cy="396532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1348238" y="2611716"/>
            <a:ext cx="19671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인류</a:t>
            </a:r>
            <a:r>
              <a:rPr lang="en-US" sz="2400" b="0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0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종의</a:t>
            </a:r>
            <a:r>
              <a:rPr lang="en-US" sz="2400" b="0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0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보존</a:t>
            </a:r>
            <a:r>
              <a:rPr lang="en-US" sz="2400" b="0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2400" dirty="0">
              <a:latin typeface="맑은 고딕" panose="020B0503020000020004" pitchFamily="50" charset="-127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847725" y="3547970"/>
            <a:ext cx="3143250" cy="1526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소행성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충돌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및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대멸종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위기에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대비해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화성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(Mars)에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자립형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도시를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건설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지능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생명체의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지속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가능성을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확보하는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우주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인류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확장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0" i="0" u="none" strike="noStrike" cap="none" dirty="0" err="1" smtClean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</a:t>
            </a:r>
            <a:endParaRPr sz="1600" dirty="0">
              <a:latin typeface="맑은 고딕" panose="020B0503020000020004" pitchFamily="50" charset="-127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4572000" y="3544054"/>
            <a:ext cx="3143250" cy="1526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2030년까지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저궤도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위성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4만 2,000대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배치를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추진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중. 전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지구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초고속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위성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인터넷망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구축을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위해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폭발적인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발사체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소재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수요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0" i="0" u="none" strike="noStrike" cap="none" dirty="0" err="1" smtClean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유발</a:t>
            </a:r>
            <a:endParaRPr sz="1600" dirty="0">
              <a:latin typeface="맑은 고딕" panose="020B0503020000020004" pitchFamily="50" charset="-127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8296275" y="3544054"/>
            <a:ext cx="3143250" cy="1526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지상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데이터센터의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전력난과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냉각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한계를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극복하기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위해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24시간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태양광과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극저온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환경을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활용하는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우주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1600" b="0" i="0" u="none" strike="noStrike" cap="none" dirty="0" smtClean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센터 </a:t>
            </a:r>
            <a:r>
              <a:rPr lang="en-US" sz="1600" b="0" i="0" u="none" strike="noStrike" cap="none" dirty="0" err="1" smtClean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구축</a:t>
            </a:r>
            <a:endParaRPr sz="1600" dirty="0">
              <a:latin typeface="맑은 고딕" panose="020B0503020000020004" pitchFamily="50" charset="-127"/>
            </a:endParaRPr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3642" y="2148930"/>
            <a:ext cx="23708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23937" y="2217779"/>
            <a:ext cx="23708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66614" y="2234921"/>
            <a:ext cx="237083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676275" y="438150"/>
            <a:ext cx="11515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 smtClean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스페이스</a:t>
            </a:r>
            <a:r>
              <a:rPr lang="en-US" sz="24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X의</a:t>
            </a:r>
            <a:r>
              <a:rPr lang="en-US" sz="24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1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비전</a:t>
            </a:r>
            <a:endParaRPr dirty="0">
              <a:latin typeface="맑은 고딕" panose="020B0503020000020004" pitchFamily="50" charset="-127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533400" y="438150"/>
            <a:ext cx="47625" cy="419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13;p15"/>
          <p:cNvSpPr txBox="1"/>
          <p:nvPr/>
        </p:nvSpPr>
        <p:spPr>
          <a:xfrm>
            <a:off x="5112440" y="2635870"/>
            <a:ext cx="19671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0" i="0" u="none" strike="noStrike" cap="none" dirty="0" smtClean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스타링크</a:t>
            </a:r>
            <a:endParaRPr sz="2400" dirty="0">
              <a:latin typeface="맑은 고딕" panose="020B0503020000020004" pitchFamily="50" charset="-127"/>
            </a:endParaRPr>
          </a:p>
        </p:txBody>
      </p:sp>
      <p:sp>
        <p:nvSpPr>
          <p:cNvPr id="18" name="Google Shape;113;p15"/>
          <p:cNvSpPr txBox="1"/>
          <p:nvPr/>
        </p:nvSpPr>
        <p:spPr>
          <a:xfrm>
            <a:off x="8532167" y="2644262"/>
            <a:ext cx="26714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0" i="0" u="none" strike="noStrike" cap="none" dirty="0" smtClean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우주 데이터 센터</a:t>
            </a:r>
            <a:endParaRPr sz="2400" dirty="0">
              <a:latin typeface="맑은 고딕" panose="020B0503020000020004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75964" y="2676569"/>
            <a:ext cx="1383323" cy="126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3045241" y="2676569"/>
            <a:ext cx="1014046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dirty="0">
                <a:solidFill>
                  <a:srgbClr val="38BDF8"/>
                </a:solidFill>
                <a:latin typeface="Noto Sans KR"/>
                <a:ea typeface="Noto Sans KR"/>
                <a:sym typeface="Noto Sans KR"/>
              </a:rPr>
              <a:t>2</a:t>
            </a:r>
            <a:endParaRPr sz="8800" dirty="0">
              <a:latin typeface="맑은 고딕" panose="020B0503020000020004" pitchFamily="50" charset="-127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3983431" y="2845845"/>
            <a:ext cx="1053490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600" b="1" dirty="0" smtClean="0">
                <a:solidFill>
                  <a:srgbClr val="F8FAFC"/>
                </a:solidFill>
                <a:latin typeface="Noto Sans KR"/>
                <a:ea typeface="Noto Sans KR"/>
                <a:sym typeface="Noto Sans KR"/>
              </a:rPr>
              <a:t>     가치평가</a:t>
            </a:r>
            <a:endParaRPr sz="660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0198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03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983273" y="1928975"/>
            <a:ext cx="1076325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4933"/>
              </a:lnSpc>
            </a:pPr>
            <a:r>
              <a:rPr lang="en-US" sz="2000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SpaceX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핵심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인재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전격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영입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: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스페이스X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글로벌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공급망을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총괄하며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스타십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2000" b="0" i="0" u="none" strike="noStrike" cap="none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개발 </a:t>
            </a:r>
            <a:r>
              <a:rPr lang="en-US" sz="2000" b="0" i="0" u="none" strike="noStrike" cap="none" dirty="0" err="1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초기</a:t>
            </a:r>
            <a:r>
              <a:rPr lang="en-US" sz="2000" b="0" i="0" u="none" strike="noStrike" cap="none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멤버로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자재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/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품질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체계를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주도한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＇</a:t>
            </a:r>
            <a:r>
              <a:rPr lang="en-US" sz="2000" b="0" i="0" u="none" strike="noStrike" cap="none" dirty="0" err="1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앤드류</a:t>
            </a:r>
            <a:r>
              <a:rPr lang="en-US" altLang="ko-KR" sz="2000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＇</a:t>
            </a:r>
            <a:r>
              <a:rPr lang="en-US" sz="2000" b="0" i="0" u="none" strike="noStrike" cap="none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부사장</a:t>
            </a:r>
            <a:r>
              <a:rPr lang="en-US" sz="2000" b="0" i="0" u="none" strike="noStrike" cap="none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2000" b="0" i="0" u="none" strike="noStrike" cap="none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영입</a:t>
            </a:r>
            <a:r>
              <a:rPr lang="en-US" altLang="ko-KR" sz="2000" b="0" i="0" u="none" strike="noStrike" cap="none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,</a:t>
            </a:r>
            <a:r>
              <a:rPr lang="en-US" sz="2000" b="0" i="0" u="none" strike="noStrike" cap="none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 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세계적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우주</a:t>
            </a:r>
            <a:r>
              <a:rPr lang="en-US" sz="2000" b="0" i="0" u="none" strike="noStrike" cap="none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2000" b="0" i="0" u="none" strike="noStrike" cap="none" dirty="0" err="1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초합금</a:t>
            </a:r>
            <a:r>
              <a:rPr lang="en-US" sz="2000" b="0" i="0" u="none" strike="noStrike" cap="none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2000" b="0" i="0" u="none" strike="noStrike" cap="none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석학 </a:t>
            </a:r>
            <a:r>
              <a:rPr lang="en-US" altLang="ko-KR" sz="2000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'</a:t>
            </a:r>
            <a:r>
              <a:rPr lang="ko-KR" altLang="en-US" sz="2000" b="0" i="0" u="none" strike="noStrike" cap="none" dirty="0" err="1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파텔</a:t>
            </a:r>
            <a:r>
              <a:rPr lang="en-US" altLang="ko-KR" sz="2000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'  </a:t>
            </a:r>
            <a:r>
              <a:rPr lang="ko-KR" altLang="en-US" sz="2000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최고기술책임자 </a:t>
            </a:r>
            <a:r>
              <a:rPr lang="en-US" altLang="ko-KR" sz="2000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en-US" sz="2000" b="0" i="0" u="none" strike="noStrike" cap="none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CTO) </a:t>
            </a:r>
            <a:r>
              <a:rPr lang="en-US" sz="2000" b="0" i="0" u="none" strike="noStrike" cap="none" dirty="0" err="1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영입</a:t>
            </a:r>
            <a:endParaRPr sz="2000" dirty="0">
              <a:latin typeface="맑은 고딕" panose="020B0503020000020004" pitchFamily="50" charset="-127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895350" y="3294846"/>
            <a:ext cx="1076325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엄격한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벤더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승인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(Tier-1 </a:t>
            </a:r>
            <a:r>
              <a:rPr lang="en-US" sz="2000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코드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):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고온·고압·초저온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환경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검증을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통과한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1차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공급사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(Tier-1/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벤더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코드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)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등록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자체에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수년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검증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및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막대한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인증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비용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소요</a:t>
            </a:r>
            <a:endParaRPr sz="2000" dirty="0">
              <a:latin typeface="맑은 고딕" panose="020B0503020000020004" pitchFamily="50" charset="-127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895350" y="4574099"/>
            <a:ext cx="1076325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고객사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이탈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불가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(High Switching Cost):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소재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결함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시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수천억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원의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로켓이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폭발하므로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검증된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공급망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변경이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불가능한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독점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구조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0" i="0" u="none" strike="noStrike" cap="none" dirty="0" err="1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유지</a:t>
            </a:r>
            <a:endParaRPr sz="2000" dirty="0">
              <a:latin typeface="맑은 고딕" panose="020B0503020000020004" pitchFamily="50" charset="-127"/>
            </a:endParaRPr>
          </a:p>
        </p:txBody>
      </p:sp>
      <p:pic>
        <p:nvPicPr>
          <p:cNvPr id="155" name="Google Shape;15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6356" y="2206136"/>
            <a:ext cx="266699" cy="422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0446" y="3601639"/>
            <a:ext cx="207466" cy="340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4536" y="4738776"/>
            <a:ext cx="213376" cy="353707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676275" y="438150"/>
            <a:ext cx="1151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 smtClean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독보적</a:t>
            </a:r>
            <a:r>
              <a:rPr lang="en-US" sz="2400" b="1" i="0" u="none" strike="noStrike" cap="none" dirty="0" smtClean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2400" b="1" i="0" u="none" strike="noStrike" cap="none" dirty="0" smtClean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인적 역량</a:t>
            </a:r>
            <a:r>
              <a:rPr lang="en-US" sz="2400" b="1" i="0" u="none" strike="noStrike" cap="none" dirty="0" smtClean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&amp; </a:t>
            </a:r>
            <a:r>
              <a:rPr lang="en-US" sz="24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높은</a:t>
            </a:r>
            <a:r>
              <a:rPr lang="en-US" sz="24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진입장벽</a:t>
            </a:r>
            <a:endParaRPr dirty="0">
              <a:latin typeface="맑은 고딕" panose="020B0503020000020004" pitchFamily="50" charset="-127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533400" y="438150"/>
            <a:ext cx="47625" cy="419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6490" y="2710485"/>
            <a:ext cx="5395912" cy="296904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566738" y="3234992"/>
            <a:ext cx="499586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 dirty="0" smtClean="0">
                <a:solidFill>
                  <a:srgbClr val="38BDF8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10</a:t>
            </a:r>
            <a:r>
              <a:rPr lang="ko-KR" altLang="en-US" sz="5400" b="0" i="0" u="none" strike="noStrike" cap="none" dirty="0" smtClean="0">
                <a:solidFill>
                  <a:srgbClr val="38BDF8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년 </a:t>
            </a:r>
            <a:r>
              <a:rPr lang="en-US" sz="5400" b="0" i="0" u="none" strike="noStrike" cap="none" dirty="0" smtClean="0">
                <a:solidFill>
                  <a:srgbClr val="38BDF8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1.5</a:t>
            </a:r>
            <a:r>
              <a:rPr lang="en-US" sz="5400" b="0" i="0" u="none" strike="noStrike" cap="none" dirty="0">
                <a:solidFill>
                  <a:srgbClr val="38BDF8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조</a:t>
            </a:r>
            <a:endParaRPr dirty="0">
              <a:latin typeface="맑은 고딕" panose="020B0503020000020004" pitchFamily="50" charset="-127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566738" y="4338088"/>
            <a:ext cx="4995862" cy="858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2035년까지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장기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독점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공급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lang="en-US" sz="1800" b="0" i="0" u="none" strike="noStrike" cap="none" dirty="0" smtClean="0">
              <a:solidFill>
                <a:srgbClr val="CBD5E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ctr" rtl="0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(+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3년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옵션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/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최소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매출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보장액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sz="1800" dirty="0">
              <a:latin typeface="맑은 고딕" panose="020B0503020000020004" pitchFamily="50" charset="-127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1102027" y="2116968"/>
            <a:ext cx="56657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0" i="0" u="none" strike="noStrike" cap="none" dirty="0" smtClean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스페이스</a:t>
            </a:r>
            <a:r>
              <a:rPr lang="en-US" altLang="ko-KR" sz="2400" dirty="0" smtClean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X</a:t>
            </a:r>
            <a:r>
              <a:rPr lang="ko-KR" altLang="en-US" sz="2400" dirty="0" smtClean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와의 장기 공급 계약</a:t>
            </a:r>
            <a:endParaRPr sz="24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6262687" y="2913012"/>
            <a:ext cx="5395912" cy="2089249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5" name="Google Shape;135;p16"/>
          <p:cNvGraphicFramePr/>
          <p:nvPr>
            <p:extLst>
              <p:ext uri="{D42A27DB-BD31-4B8C-83A1-F6EECF244321}">
                <p14:modId xmlns:p14="http://schemas.microsoft.com/office/powerpoint/2010/main" val="4291881076"/>
              </p:ext>
            </p:extLst>
          </p:nvPr>
        </p:nvGraphicFramePr>
        <p:xfrm>
          <a:off x="6129337" y="2746215"/>
          <a:ext cx="5524501" cy="2969043"/>
        </p:xfrm>
        <a:graphic>
          <a:graphicData uri="http://schemas.openxmlformats.org/drawingml/2006/table">
            <a:tbl>
              <a:tblPr firstRow="1" bandRow="1">
                <a:noFill/>
                <a:tableStyleId>{EBC2E15F-E17B-4FD7-9ADE-7DF272B04D6E}</a:tableStyleId>
              </a:tblPr>
              <a:tblGrid>
                <a:gridCol w="10175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8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03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896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 dirty="0" err="1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구분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 dirty="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2026년 </a:t>
                      </a:r>
                      <a:r>
                        <a:rPr lang="en-US" sz="1275" b="1" i="0" u="none" strike="noStrike" cap="none" dirty="0" err="1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목표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 dirty="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2027년 </a:t>
                      </a:r>
                      <a:r>
                        <a:rPr lang="en-US" sz="1275" b="1" i="0" u="none" strike="noStrike" cap="none" dirty="0" err="1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목표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 dirty="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2028년 </a:t>
                      </a:r>
                      <a:r>
                        <a:rPr lang="en-US" sz="1275" b="1" i="0" u="none" strike="noStrike" cap="none" dirty="0" err="1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목표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968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매출액 (목표)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3,000억 </a:t>
                      </a:r>
                      <a:r>
                        <a:rPr lang="en-US" sz="2000" b="1" i="0" u="none" strike="noStrike" cap="none" dirty="0" smtClean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원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 smtClean="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2000" b="1" i="0" u="none" strike="noStrike" cap="none" dirty="0" smtClean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5,000</a:t>
                      </a:r>
                      <a:r>
                        <a:rPr lang="en-US" sz="2000" b="1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억 원</a:t>
                      </a:r>
                      <a:endParaRPr sz="2000" dirty="0">
                        <a:solidFill>
                          <a:schemeClr val="tx2">
                            <a:lumMod val="1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 smtClean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1</a:t>
                      </a:r>
                      <a:r>
                        <a:rPr lang="en-US" sz="2000" b="1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조 원</a:t>
                      </a:r>
                      <a:endParaRPr sz="2000" dirty="0">
                        <a:solidFill>
                          <a:schemeClr val="tx2">
                            <a:lumMod val="1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96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 err="1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성장</a:t>
                      </a:r>
                      <a:r>
                        <a:rPr lang="en-US" sz="1125" b="0" i="0" u="none" strike="noStrike" cap="none" dirty="0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125" b="0" i="0" u="none" strike="noStrike" cap="none" dirty="0" err="1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동력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1.5조 </a:t>
                      </a:r>
                      <a:r>
                        <a:rPr lang="en-US" sz="1125" b="0" i="0" u="none" strike="noStrike" cap="none" dirty="0" err="1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보장매출</a:t>
                      </a:r>
                      <a:r>
                        <a:rPr lang="en-US" sz="1125" b="0" i="0" u="none" strike="noStrike" cap="none" dirty="0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125" b="0" i="0" u="none" strike="noStrike" cap="none" dirty="0" err="1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본격화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 err="1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스타십</a:t>
                      </a:r>
                      <a:r>
                        <a:rPr lang="en-US" sz="1125" b="0" i="0" u="none" strike="noStrike" cap="none" dirty="0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125" b="0" i="0" u="none" strike="noStrike" cap="none" dirty="0" err="1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발사</a:t>
                      </a:r>
                      <a:r>
                        <a:rPr lang="en-US" sz="1125" b="0" i="0" u="none" strike="noStrike" cap="none" dirty="0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125" b="0" i="0" u="none" strike="noStrike" cap="none" dirty="0" err="1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횟수</a:t>
                      </a:r>
                      <a:r>
                        <a:rPr lang="en-US" sz="1125" b="0" i="0" u="none" strike="noStrike" cap="none" dirty="0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125" b="0" i="0" u="none" strike="noStrike" cap="none" dirty="0" err="1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증가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 err="1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스타링크</a:t>
                      </a:r>
                      <a:r>
                        <a:rPr lang="en-US" sz="1125" b="0" i="0" u="none" strike="noStrike" cap="none" dirty="0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4.2</a:t>
                      </a:r>
                      <a:r>
                        <a:rPr lang="en-US" sz="1125" b="0" i="0" u="none" strike="noStrike" cap="none" dirty="0" smtClean="0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만대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 err="1" smtClean="0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모멘텀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6" name="Google Shape;136;p16"/>
          <p:cNvSpPr/>
          <p:nvPr/>
        </p:nvSpPr>
        <p:spPr>
          <a:xfrm>
            <a:off x="6267450" y="3473499"/>
            <a:ext cx="100057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7268021" y="3473499"/>
            <a:ext cx="14244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8692455" y="3473499"/>
            <a:ext cx="141416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10106620" y="3473499"/>
            <a:ext cx="15472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6201255" y="4724489"/>
            <a:ext cx="100057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7201826" y="4724489"/>
            <a:ext cx="14244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8565273" y="4724489"/>
            <a:ext cx="141416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9963062" y="4724489"/>
            <a:ext cx="15472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676275" y="438150"/>
            <a:ext cx="11515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smtClean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1.5</a:t>
            </a:r>
            <a:r>
              <a:rPr lang="en-US" sz="24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조 </a:t>
            </a:r>
            <a:r>
              <a:rPr lang="ko-KR" altLang="en-US" sz="2400" b="1" i="0" u="none" strike="noStrike" cap="none" dirty="0" smtClean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장기 계약</a:t>
            </a:r>
            <a:r>
              <a:rPr lang="en-US" sz="2400" b="1" i="0" u="none" strike="noStrike" cap="none" dirty="0" smtClean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&amp; </a:t>
            </a:r>
            <a:r>
              <a:rPr lang="en-US" sz="2400" b="1" i="0" u="none" strike="noStrike" cap="none" dirty="0" smtClean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매출</a:t>
            </a:r>
            <a:r>
              <a:rPr lang="en-US" sz="24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가이던스</a:t>
            </a:r>
            <a:endParaRPr dirty="0">
              <a:latin typeface="맑은 고딕" panose="020B0503020000020004" pitchFamily="50" charset="-127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533400" y="438150"/>
            <a:ext cx="47625" cy="419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33;p16"/>
          <p:cNvSpPr txBox="1"/>
          <p:nvPr/>
        </p:nvSpPr>
        <p:spPr>
          <a:xfrm>
            <a:off x="6566683" y="2115030"/>
            <a:ext cx="56657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스피어</a:t>
            </a:r>
            <a:r>
              <a:rPr lang="en-US" sz="2400" b="0" i="0" u="none" strike="noStrike" cap="none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매출</a:t>
            </a:r>
            <a:r>
              <a:rPr lang="en-US" sz="2400" b="0" i="0" u="none" strike="noStrike" cap="none" dirty="0" smtClean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0" i="0" u="none" strike="noStrike" cap="none" dirty="0" err="1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가이던스</a:t>
            </a:r>
            <a:r>
              <a:rPr lang="en-US" sz="2400" b="0" i="0" u="none" strike="noStrike" cap="none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 (Guidance)</a:t>
            </a:r>
            <a:endParaRPr sz="24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Google Shape;133;p16"/>
          <p:cNvSpPr txBox="1"/>
          <p:nvPr/>
        </p:nvSpPr>
        <p:spPr>
          <a:xfrm>
            <a:off x="7133021" y="4456242"/>
            <a:ext cx="156204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b="0" i="0" u="none" strike="noStrike" cap="none" dirty="0" smtClean="0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26</a:t>
            </a:r>
            <a:r>
              <a:rPr lang="ko-KR" altLang="en-US" b="0" i="0" u="none" strike="noStrike" cap="none" dirty="0" smtClean="0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년 </a:t>
            </a:r>
            <a:r>
              <a:rPr lang="ko-KR" altLang="en-US" dirty="0" smtClean="0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</a:t>
            </a:r>
            <a:r>
              <a:rPr lang="en-US" altLang="ko-KR" dirty="0" smtClean="0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1324</a:t>
            </a:r>
            <a:r>
              <a:rPr lang="ko-KR" altLang="en-US" dirty="0" smtClean="0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억</a:t>
            </a:r>
            <a:endParaRPr dirty="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62687" y="1947862"/>
            <a:ext cx="5395912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1448930"/>
            <a:ext cx="1524000" cy="49893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533400" y="2108655"/>
            <a:ext cx="56657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r>
              <a:rPr lang="en-US" sz="2800" b="0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우주</a:t>
            </a:r>
            <a:r>
              <a:rPr lang="en-US" sz="2800" b="0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800" b="0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수송</a:t>
            </a:r>
            <a:r>
              <a:rPr lang="en-US" sz="2800" b="0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2800" dirty="0" smtClean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중형에서</a:t>
            </a:r>
            <a:r>
              <a:rPr lang="en-US" sz="2800" b="0" i="0" u="none" strike="noStrike" cap="none" dirty="0" smtClean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2800" dirty="0" smtClean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대형으로</a:t>
            </a:r>
            <a:r>
              <a:rPr lang="en-US" sz="2800" b="0" i="0" u="none" strike="noStrike" cap="none" dirty="0" smtClean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800" b="0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전환</a:t>
            </a:r>
            <a:r>
              <a:rPr lang="en-US" sz="2800" b="0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endParaRPr sz="2800" dirty="0">
              <a:latin typeface="맑은 고딕" panose="020B0503020000020004" pitchFamily="50" charset="-127"/>
            </a:endParaRPr>
          </a:p>
        </p:txBody>
      </p:sp>
      <p:pic>
        <p:nvPicPr>
          <p:cNvPr id="169" name="Google Shape;16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72212" y="1957387"/>
            <a:ext cx="234657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941933" y="2940895"/>
            <a:ext cx="5033962" cy="66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주력</a:t>
            </a:r>
            <a:r>
              <a:rPr lang="en-US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로켓</a:t>
            </a:r>
            <a:r>
              <a:rPr lang="en-US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교체</a:t>
            </a:r>
            <a:r>
              <a:rPr lang="en-US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(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시험발사</a:t>
            </a:r>
            <a:r>
              <a:rPr lang="en-US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가속</a:t>
            </a:r>
            <a:r>
              <a:rPr lang="en-US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):</a:t>
            </a:r>
            <a:r>
              <a:rPr lang="en-US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현재</a:t>
            </a:r>
            <a:r>
              <a:rPr lang="en-US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중형</a:t>
            </a:r>
            <a:r>
              <a:rPr lang="en-US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팰컨9(20~60개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적재</a:t>
            </a:r>
            <a:r>
              <a:rPr lang="en-US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에서</a:t>
            </a:r>
            <a:r>
              <a:rPr lang="en-US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초대형</a:t>
            </a:r>
            <a:r>
              <a:rPr lang="en-US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스타십</a:t>
            </a:r>
            <a:r>
              <a:rPr lang="en-US" b="0" i="0" u="none" strike="noStrike" cap="none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en-US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200</a:t>
            </a:r>
            <a:r>
              <a:rPr lang="ko-KR" altLang="en-US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개 적재</a:t>
            </a:r>
            <a:r>
              <a:rPr lang="en-US" b="0" i="0" u="none" strike="noStrike" cap="none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으로</a:t>
            </a:r>
            <a:r>
              <a:rPr lang="en-US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스페이스X</a:t>
            </a:r>
            <a:r>
              <a:rPr lang="en-US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주력</a:t>
            </a:r>
            <a:r>
              <a:rPr lang="en-US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로켓</a:t>
            </a:r>
            <a:r>
              <a:rPr lang="en-US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대전환</a:t>
            </a:r>
            <a:r>
              <a:rPr lang="en-US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진행</a:t>
            </a:r>
            <a:r>
              <a:rPr lang="en-US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중.</a:t>
            </a:r>
            <a:endParaRPr dirty="0">
              <a:latin typeface="맑은 고딕" panose="020B0503020000020004" pitchFamily="50" charset="-127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895350" y="3846785"/>
            <a:ext cx="5033962" cy="66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니켈</a:t>
            </a:r>
            <a:r>
              <a:rPr lang="en-US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합금</a:t>
            </a:r>
            <a:r>
              <a:rPr lang="en-US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사용량</a:t>
            </a:r>
            <a:r>
              <a:rPr lang="en-US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15배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폭증</a:t>
            </a:r>
            <a:r>
              <a:rPr lang="en-US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:</a:t>
            </a:r>
            <a:r>
              <a:rPr lang="en-US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스타십은</a:t>
            </a:r>
            <a:r>
              <a:rPr lang="en-US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기체</a:t>
            </a:r>
            <a:r>
              <a:rPr lang="en-US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크기</a:t>
            </a:r>
            <a:r>
              <a:rPr lang="en-US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및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추력</a:t>
            </a:r>
            <a:r>
              <a:rPr lang="en-US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증가로</a:t>
            </a:r>
            <a:r>
              <a:rPr lang="en-US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팰컨9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대비</a:t>
            </a:r>
            <a:r>
              <a:rPr lang="en-US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니켈</a:t>
            </a:r>
            <a:r>
              <a:rPr lang="en-US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특수합금</a:t>
            </a:r>
            <a:r>
              <a:rPr lang="en-US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사용</a:t>
            </a:r>
            <a:r>
              <a:rPr lang="en-US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비중이</a:t>
            </a:r>
            <a:r>
              <a:rPr lang="en-US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약 15배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이상</a:t>
            </a:r>
            <a:r>
              <a:rPr lang="en-US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1" i="0" u="none" strike="noStrike" cap="none" dirty="0" err="1" smtClean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증가</a:t>
            </a:r>
            <a:endParaRPr dirty="0">
              <a:latin typeface="맑은 고딕" panose="020B0503020000020004" pitchFamily="50" charset="-127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849273" y="4776787"/>
            <a:ext cx="5033962" cy="1001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생산</a:t>
            </a:r>
            <a:r>
              <a:rPr lang="en-US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및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발사대</a:t>
            </a:r>
            <a:r>
              <a:rPr lang="en-US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스케일업</a:t>
            </a:r>
            <a:r>
              <a:rPr lang="en-US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:</a:t>
            </a:r>
            <a:r>
              <a:rPr lang="en-US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현재</a:t>
            </a:r>
            <a:r>
              <a:rPr lang="en-US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2주당 1대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생산</a:t>
            </a:r>
            <a:r>
              <a:rPr lang="en-US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→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향후</a:t>
            </a:r>
            <a:r>
              <a:rPr lang="en-US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연간</a:t>
            </a:r>
            <a:r>
              <a:rPr lang="en-US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1,000~2,000대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생산</a:t>
            </a:r>
            <a:r>
              <a:rPr lang="en-US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목표</a:t>
            </a:r>
            <a:r>
              <a:rPr lang="en-US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.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발사대도</a:t>
            </a:r>
            <a:r>
              <a:rPr lang="en-US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현재</a:t>
            </a:r>
            <a:r>
              <a:rPr lang="en-US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1기(2기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건설</a:t>
            </a:r>
            <a:r>
              <a:rPr lang="en-US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중)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에서</a:t>
            </a:r>
            <a:r>
              <a:rPr lang="en-US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200대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이상</a:t>
            </a:r>
            <a:r>
              <a:rPr lang="en-US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확충</a:t>
            </a:r>
            <a:r>
              <a:rPr lang="en-US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예정</a:t>
            </a:r>
            <a:r>
              <a:rPr lang="en-US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>
              <a:latin typeface="맑은 고딕" panose="020B0503020000020004" pitchFamily="50" charset="-127"/>
            </a:endParaRPr>
          </a:p>
        </p:txBody>
      </p:sp>
      <p:pic>
        <p:nvPicPr>
          <p:cNvPr id="173" name="Google Shape;173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6909" y="3004565"/>
            <a:ext cx="266814" cy="401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3095" y="3997553"/>
            <a:ext cx="290627" cy="292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7618" y="4881377"/>
            <a:ext cx="266813" cy="364896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676275" y="438150"/>
            <a:ext cx="11515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패러다임</a:t>
            </a:r>
            <a:r>
              <a:rPr lang="en-US" sz="24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전환</a:t>
            </a:r>
            <a:r>
              <a:rPr lang="en-US" sz="24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: 팰컨9에서 </a:t>
            </a:r>
            <a:r>
              <a:rPr lang="en-US" sz="24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스타십</a:t>
            </a:r>
            <a:r>
              <a:rPr lang="en-US" sz="24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(Starship)</a:t>
            </a:r>
            <a:r>
              <a:rPr lang="en-US" sz="24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으로</a:t>
            </a:r>
            <a:endParaRPr dirty="0">
              <a:latin typeface="맑은 고딕" panose="020B0503020000020004" pitchFamily="50" charset="-127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533400" y="438150"/>
            <a:ext cx="47625" cy="419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859" y="1812664"/>
            <a:ext cx="5659517" cy="43697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70339" y="0"/>
            <a:ext cx="11764108" cy="6474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1879" y="4332778"/>
            <a:ext cx="11271006" cy="1514108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676275" y="438150"/>
            <a:ext cx="11515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dirty="0" err="1" smtClean="0">
                <a:solidFill>
                  <a:srgbClr val="F8FAFC"/>
                </a:solidFill>
                <a:latin typeface="Noto Sans KR"/>
                <a:ea typeface="Noto Sans KR"/>
                <a:sym typeface="Noto Sans KR"/>
              </a:rPr>
              <a:t>스타십으로</a:t>
            </a:r>
            <a:r>
              <a:rPr lang="ko-KR" altLang="en-US" sz="2400" b="1" dirty="0" smtClean="0">
                <a:solidFill>
                  <a:srgbClr val="F8FAFC"/>
                </a:solidFill>
                <a:latin typeface="Noto Sans KR"/>
                <a:ea typeface="Noto Sans KR"/>
                <a:sym typeface="Noto Sans KR"/>
              </a:rPr>
              <a:t> 인한 </a:t>
            </a:r>
            <a:r>
              <a:rPr lang="ko-KR" altLang="en-US" sz="2400" b="1" dirty="0" err="1" smtClean="0">
                <a:solidFill>
                  <a:srgbClr val="F8FAFC"/>
                </a:solidFill>
                <a:latin typeface="Noto Sans KR"/>
                <a:ea typeface="Noto Sans KR"/>
                <a:sym typeface="Noto Sans KR"/>
              </a:rPr>
              <a:t>스피어의</a:t>
            </a:r>
            <a:r>
              <a:rPr lang="ko-KR" altLang="en-US" sz="2400" b="1" dirty="0" smtClean="0">
                <a:solidFill>
                  <a:srgbClr val="F8FAFC"/>
                </a:solidFill>
                <a:latin typeface="Noto Sans KR"/>
                <a:ea typeface="Noto Sans KR"/>
                <a:sym typeface="Noto Sans KR"/>
              </a:rPr>
              <a:t> 매출 증대</a:t>
            </a:r>
            <a:endParaRPr dirty="0">
              <a:latin typeface="맑은 고딕" panose="020B0503020000020004" pitchFamily="50" charset="-127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533400" y="438150"/>
            <a:ext cx="47625" cy="419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2223" y="369278"/>
            <a:ext cx="11448317" cy="6024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753981"/>
            <a:ext cx="11313159" cy="890679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676275" y="438150"/>
            <a:ext cx="1151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smtClean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글로벌</a:t>
            </a:r>
            <a:r>
              <a:rPr lang="en-US" sz="24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Tier-1 </a:t>
            </a:r>
            <a:r>
              <a:rPr lang="en-US" sz="2400" b="1" i="0" u="none" strike="noStrike" cap="none" dirty="0" smtClean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대비</a:t>
            </a:r>
            <a:r>
              <a:rPr lang="en-US" sz="24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PER </a:t>
            </a:r>
            <a:r>
              <a:rPr lang="en-US" sz="24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밸류에이션</a:t>
            </a:r>
            <a:endParaRPr dirty="0">
              <a:latin typeface="맑은 고딕" panose="020B0503020000020004" pitchFamily="50" charset="-127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533400" y="438150"/>
            <a:ext cx="47625" cy="419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75964" y="2676569"/>
            <a:ext cx="1383323" cy="126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3045241" y="2676569"/>
            <a:ext cx="1014046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dirty="0" smtClean="0">
                <a:solidFill>
                  <a:srgbClr val="38BDF8"/>
                </a:solidFill>
                <a:latin typeface="Noto Sans KR"/>
                <a:ea typeface="Noto Sans KR"/>
                <a:sym typeface="Noto Sans KR"/>
              </a:rPr>
              <a:t>3</a:t>
            </a:r>
            <a:endParaRPr sz="8800" dirty="0">
              <a:latin typeface="맑은 고딕" panose="020B0503020000020004" pitchFamily="50" charset="-127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3983431" y="2845845"/>
            <a:ext cx="1053490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600" b="1" dirty="0" smtClean="0">
                <a:solidFill>
                  <a:srgbClr val="F8FAFC"/>
                </a:solidFill>
                <a:latin typeface="Noto Sans KR"/>
                <a:ea typeface="Noto Sans KR"/>
                <a:sym typeface="Noto Sans KR"/>
              </a:rPr>
              <a:t>     투자 리스크</a:t>
            </a:r>
            <a:endParaRPr sz="660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8833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600325"/>
            <a:ext cx="5395912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2687" y="2600325"/>
            <a:ext cx="5395912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28417" y="2825627"/>
            <a:ext cx="1101127" cy="56051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706158" y="3803689"/>
            <a:ext cx="51456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F87171"/>
                </a:solidFill>
                <a:latin typeface="Noto Sans KR"/>
                <a:ea typeface="Noto Sans KR"/>
                <a:cs typeface="Noto Sans KR"/>
                <a:sym typeface="Noto Sans KR"/>
              </a:rPr>
              <a:t>단일</a:t>
            </a:r>
            <a:r>
              <a:rPr lang="en-US" sz="2400" b="0" i="0" u="none" strike="noStrike" cap="none" dirty="0">
                <a:solidFill>
                  <a:srgbClr val="F8717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0" i="0" u="none" strike="noStrike" cap="none" dirty="0" err="1">
                <a:solidFill>
                  <a:srgbClr val="F87171"/>
                </a:solidFill>
                <a:latin typeface="Noto Sans KR"/>
                <a:ea typeface="Noto Sans KR"/>
                <a:cs typeface="Noto Sans KR"/>
                <a:sym typeface="Noto Sans KR"/>
              </a:rPr>
              <a:t>고객사</a:t>
            </a:r>
            <a:r>
              <a:rPr lang="en-US" sz="2400" b="0" i="0" u="none" strike="noStrike" cap="none" dirty="0">
                <a:solidFill>
                  <a:srgbClr val="F87171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en-US" sz="2400" b="0" i="0" u="none" strike="noStrike" cap="none" dirty="0" err="1">
                <a:solidFill>
                  <a:srgbClr val="F87171"/>
                </a:solidFill>
                <a:latin typeface="Noto Sans KR"/>
                <a:ea typeface="Noto Sans KR"/>
                <a:cs typeface="Noto Sans KR"/>
                <a:sym typeface="Noto Sans KR"/>
              </a:rPr>
              <a:t>SpaceX</a:t>
            </a:r>
            <a:r>
              <a:rPr lang="en-US" sz="2400" b="0" i="0" u="none" strike="noStrike" cap="none" dirty="0">
                <a:solidFill>
                  <a:srgbClr val="F87171"/>
                </a:solidFill>
                <a:latin typeface="Noto Sans KR"/>
                <a:ea typeface="Noto Sans KR"/>
                <a:cs typeface="Noto Sans KR"/>
                <a:sym typeface="Noto Sans KR"/>
              </a:rPr>
              <a:t>) </a:t>
            </a:r>
            <a:r>
              <a:rPr lang="en-US" sz="2400" b="0" i="0" u="none" strike="noStrike" cap="none" dirty="0" err="1">
                <a:solidFill>
                  <a:srgbClr val="F87171"/>
                </a:solidFill>
                <a:latin typeface="Noto Sans KR"/>
                <a:ea typeface="Noto Sans KR"/>
                <a:cs typeface="Noto Sans KR"/>
                <a:sym typeface="Noto Sans KR"/>
              </a:rPr>
              <a:t>의존도</a:t>
            </a:r>
            <a:endParaRPr sz="2400" dirty="0">
              <a:latin typeface="맑은 고딕" panose="020B0503020000020004" pitchFamily="50" charset="-127"/>
            </a:endParaRPr>
          </a:p>
        </p:txBody>
      </p:sp>
      <p:pic>
        <p:nvPicPr>
          <p:cNvPr id="224" name="Google Shape;224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10022" y="2786352"/>
            <a:ext cx="1101127" cy="584661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6512956" y="3721923"/>
            <a:ext cx="51456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F87171"/>
                </a:solidFill>
                <a:latin typeface="Noto Sans KR"/>
                <a:ea typeface="Noto Sans KR"/>
                <a:cs typeface="Noto Sans KR"/>
                <a:sym typeface="Noto Sans KR"/>
              </a:rPr>
              <a:t>전환사채</a:t>
            </a:r>
            <a:r>
              <a:rPr lang="en-US" sz="2400" b="0" i="0" u="none" strike="noStrike" cap="none" dirty="0">
                <a:solidFill>
                  <a:srgbClr val="F87171"/>
                </a:solidFill>
                <a:latin typeface="Noto Sans KR"/>
                <a:ea typeface="Noto Sans KR"/>
                <a:cs typeface="Noto Sans KR"/>
                <a:sym typeface="Noto Sans KR"/>
              </a:rPr>
              <a:t>(CB) </a:t>
            </a:r>
            <a:endParaRPr sz="2400" dirty="0">
              <a:latin typeface="맑은 고딕" panose="020B0503020000020004" pitchFamily="50" charset="-127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676275" y="438150"/>
            <a:ext cx="1151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smtClean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주요</a:t>
            </a:r>
            <a:r>
              <a:rPr lang="en-US" sz="24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투자</a:t>
            </a:r>
            <a:r>
              <a:rPr lang="en-US" sz="24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리스크</a:t>
            </a:r>
            <a:r>
              <a:rPr lang="en-US" sz="24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(Risk Factors)</a:t>
            </a:r>
            <a:endParaRPr dirty="0">
              <a:latin typeface="맑은 고딕" panose="020B0503020000020004" pitchFamily="50" charset="-127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533400" y="438150"/>
            <a:ext cx="47625" cy="419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90750"/>
            <a:ext cx="3530500" cy="3314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600" y="2190750"/>
            <a:ext cx="3530649" cy="3314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9850" y="2190750"/>
            <a:ext cx="3530500" cy="3314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675" y="4924425"/>
            <a:ext cx="3016150" cy="323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7775" y="4924425"/>
            <a:ext cx="3016299" cy="3238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7025" y="4924425"/>
            <a:ext cx="301615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675" y="2447925"/>
            <a:ext cx="3016150" cy="2762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62050" y="2870671"/>
            <a:ext cx="2816914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 dirty="0">
                <a:solidFill>
                  <a:srgbClr val="F87171"/>
                </a:solidFill>
                <a:latin typeface="Poppins"/>
              </a:rPr>
              <a:t>1. </a:t>
            </a:r>
            <a:r>
              <a:rPr sz="1500" b="1" i="0" u="none" dirty="0" err="1">
                <a:solidFill>
                  <a:srgbClr val="F87171"/>
                </a:solidFill>
                <a:latin typeface="Poppins"/>
              </a:rPr>
              <a:t>매출</a:t>
            </a:r>
            <a:r>
              <a:rPr sz="1500" b="1" i="0" u="none" dirty="0">
                <a:solidFill>
                  <a:srgbClr val="F87171"/>
                </a:solidFill>
                <a:latin typeface="Poppins"/>
              </a:rPr>
              <a:t> 및 </a:t>
            </a:r>
            <a:r>
              <a:rPr sz="1500" b="1" i="0" u="none" dirty="0" err="1">
                <a:solidFill>
                  <a:srgbClr val="F87171"/>
                </a:solidFill>
                <a:latin typeface="Poppins"/>
              </a:rPr>
              <a:t>수주</a:t>
            </a:r>
            <a:r>
              <a:rPr sz="1500" b="1" i="0" u="none" dirty="0">
                <a:solidFill>
                  <a:srgbClr val="F87171"/>
                </a:solidFill>
                <a:latin typeface="Poppins"/>
              </a:rPr>
              <a:t> </a:t>
            </a:r>
            <a:r>
              <a:rPr sz="1500" b="1" i="0" u="none" dirty="0" err="1">
                <a:solidFill>
                  <a:srgbClr val="F87171"/>
                </a:solidFill>
                <a:latin typeface="Poppins"/>
              </a:rPr>
              <a:t>잔고</a:t>
            </a:r>
            <a:r>
              <a:rPr sz="1500" b="1" i="0" u="none" dirty="0">
                <a:solidFill>
                  <a:srgbClr val="F87171"/>
                </a:solidFill>
                <a:latin typeface="Poppins"/>
              </a:rPr>
              <a:t> </a:t>
            </a:r>
            <a:r>
              <a:rPr sz="1500" b="1" i="0" u="none" dirty="0" err="1">
                <a:solidFill>
                  <a:srgbClr val="F87171"/>
                </a:solidFill>
                <a:latin typeface="Poppins"/>
              </a:rPr>
              <a:t>독점</a:t>
            </a:r>
            <a:r>
              <a:rPr sz="1500" b="1" i="0" u="none" dirty="0">
                <a:solidFill>
                  <a:srgbClr val="F87171"/>
                </a:solidFill>
                <a:latin typeface="Poppins"/>
              </a:rPr>
              <a:t> </a:t>
            </a:r>
            <a:r>
              <a:rPr sz="1500" b="1" i="0" u="none" dirty="0" err="1">
                <a:solidFill>
                  <a:srgbClr val="F87171"/>
                </a:solidFill>
                <a:latin typeface="Poppins"/>
              </a:rPr>
              <a:t>집중</a:t>
            </a:r>
            <a:endParaRPr sz="1500" b="1" i="0" u="none" dirty="0">
              <a:solidFill>
                <a:srgbClr val="F87171"/>
              </a:solidFill>
              <a:latin typeface="Poppins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7775" y="2447925"/>
            <a:ext cx="3016299" cy="2762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73525" y="2755255"/>
            <a:ext cx="2867077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 dirty="0">
                <a:solidFill>
                  <a:srgbClr val="F87171"/>
                </a:solidFill>
                <a:latin typeface="Poppins"/>
              </a:rPr>
              <a:t>2. </a:t>
            </a:r>
            <a:r>
              <a:rPr sz="1500" b="1" i="0" u="none" dirty="0" err="1">
                <a:solidFill>
                  <a:srgbClr val="F87171"/>
                </a:solidFill>
                <a:latin typeface="Poppins"/>
              </a:rPr>
              <a:t>스페이스X</a:t>
            </a:r>
            <a:r>
              <a:rPr sz="1500" b="1" i="0" u="none" dirty="0">
                <a:solidFill>
                  <a:srgbClr val="F87171"/>
                </a:solidFill>
                <a:latin typeface="Poppins"/>
              </a:rPr>
              <a:t> </a:t>
            </a:r>
            <a:r>
              <a:rPr sz="1500" b="1" i="0" u="none" dirty="0" err="1">
                <a:solidFill>
                  <a:srgbClr val="F87171"/>
                </a:solidFill>
                <a:latin typeface="Poppins"/>
              </a:rPr>
              <a:t>일정</a:t>
            </a:r>
            <a:r>
              <a:rPr sz="1500" b="1" i="0" u="none" dirty="0">
                <a:solidFill>
                  <a:srgbClr val="F87171"/>
                </a:solidFill>
                <a:latin typeface="Poppins"/>
              </a:rPr>
              <a:t> </a:t>
            </a:r>
            <a:r>
              <a:rPr sz="1500" b="1" i="0" u="none" dirty="0" err="1">
                <a:solidFill>
                  <a:srgbClr val="F87171"/>
                </a:solidFill>
                <a:latin typeface="Poppins"/>
              </a:rPr>
              <a:t>지연</a:t>
            </a:r>
            <a:r>
              <a:rPr sz="1500" b="1" i="0" u="none" dirty="0">
                <a:solidFill>
                  <a:srgbClr val="F87171"/>
                </a:solidFill>
                <a:latin typeface="Poppins"/>
              </a:rPr>
              <a:t> </a:t>
            </a:r>
            <a:r>
              <a:rPr sz="1500" b="1" i="0" u="none" dirty="0" err="1">
                <a:solidFill>
                  <a:srgbClr val="F87171"/>
                </a:solidFill>
                <a:latin typeface="Poppins"/>
              </a:rPr>
              <a:t>직접</a:t>
            </a:r>
            <a:r>
              <a:rPr sz="1500" b="1" i="0" u="none" dirty="0">
                <a:solidFill>
                  <a:srgbClr val="F87171"/>
                </a:solidFill>
                <a:latin typeface="Poppins"/>
              </a:rPr>
              <a:t> </a:t>
            </a:r>
            <a:r>
              <a:rPr sz="1500" b="1" i="0" u="none" dirty="0" err="1">
                <a:solidFill>
                  <a:srgbClr val="F87171"/>
                </a:solidFill>
                <a:latin typeface="Poppins"/>
              </a:rPr>
              <a:t>전이</a:t>
            </a:r>
            <a:endParaRPr sz="1500" b="1" i="0" u="none" dirty="0">
              <a:solidFill>
                <a:srgbClr val="F87171"/>
              </a:solidFill>
              <a:latin typeface="Poppins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47025" y="2447925"/>
            <a:ext cx="3016150" cy="2762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80400" y="2870671"/>
            <a:ext cx="2816914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 dirty="0">
                <a:solidFill>
                  <a:srgbClr val="F87171"/>
                </a:solidFill>
                <a:latin typeface="Poppins"/>
              </a:rPr>
              <a:t>3. </a:t>
            </a:r>
            <a:r>
              <a:rPr sz="1500" b="1" i="0" u="none" dirty="0" err="1">
                <a:solidFill>
                  <a:srgbClr val="F87171"/>
                </a:solidFill>
                <a:latin typeface="Poppins"/>
              </a:rPr>
              <a:t>갑을</a:t>
            </a:r>
            <a:r>
              <a:rPr sz="1500" b="1" i="0" u="none" dirty="0">
                <a:solidFill>
                  <a:srgbClr val="F87171"/>
                </a:solidFill>
                <a:latin typeface="Poppins"/>
              </a:rPr>
              <a:t> </a:t>
            </a:r>
            <a:r>
              <a:rPr sz="1500" b="1" i="0" u="none" dirty="0" err="1">
                <a:solidFill>
                  <a:srgbClr val="F87171"/>
                </a:solidFill>
                <a:latin typeface="Poppins"/>
              </a:rPr>
              <a:t>관계</a:t>
            </a:r>
            <a:r>
              <a:rPr sz="1500" b="1" i="0" u="none" dirty="0">
                <a:solidFill>
                  <a:srgbClr val="F87171"/>
                </a:solidFill>
                <a:latin typeface="Poppins"/>
              </a:rPr>
              <a:t> 및 </a:t>
            </a:r>
            <a:r>
              <a:rPr sz="1500" b="1" i="0" u="none" dirty="0" err="1">
                <a:solidFill>
                  <a:srgbClr val="F87171"/>
                </a:solidFill>
                <a:latin typeface="Poppins"/>
              </a:rPr>
              <a:t>단가</a:t>
            </a:r>
            <a:r>
              <a:rPr sz="1500" b="1" i="0" u="none" dirty="0">
                <a:solidFill>
                  <a:srgbClr val="F87171"/>
                </a:solidFill>
                <a:latin typeface="Poppins"/>
              </a:rPr>
              <a:t> </a:t>
            </a:r>
            <a:r>
              <a:rPr sz="1500" b="1" i="0" u="none" dirty="0" err="1">
                <a:solidFill>
                  <a:srgbClr val="F87171"/>
                </a:solidFill>
                <a:latin typeface="Poppins"/>
              </a:rPr>
              <a:t>인하</a:t>
            </a:r>
            <a:r>
              <a:rPr sz="1500" b="1" i="0" u="none" dirty="0">
                <a:solidFill>
                  <a:srgbClr val="F87171"/>
                </a:solidFill>
                <a:latin typeface="Poppins"/>
              </a:rPr>
              <a:t> </a:t>
            </a:r>
            <a:r>
              <a:rPr sz="1500" b="1" i="0" u="none" dirty="0" err="1">
                <a:solidFill>
                  <a:srgbClr val="F87171"/>
                </a:solidFill>
                <a:latin typeface="Poppins"/>
              </a:rPr>
              <a:t>압박</a:t>
            </a:r>
            <a:endParaRPr sz="1500" b="1" i="0" u="none" dirty="0">
              <a:solidFill>
                <a:srgbClr val="F87171"/>
              </a:solidFill>
              <a:latin typeface="Poppin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8675" y="2890837"/>
            <a:ext cx="238125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19175" y="3286125"/>
            <a:ext cx="28256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 dirty="0" err="1">
                <a:solidFill>
                  <a:srgbClr val="CBD5E1"/>
                </a:solidFill>
                <a:latin typeface="Noto Sans KR"/>
              </a:rPr>
              <a:t>단일</a:t>
            </a:r>
            <a:r>
              <a:rPr sz="1125" b="1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1" i="0" u="none" dirty="0" err="1">
                <a:solidFill>
                  <a:srgbClr val="CBD5E1"/>
                </a:solidFill>
                <a:latin typeface="Noto Sans KR"/>
              </a:rPr>
              <a:t>파이프라인</a:t>
            </a:r>
            <a:r>
              <a:rPr sz="1125" b="1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1" i="0" u="none" dirty="0" err="1">
                <a:solidFill>
                  <a:srgbClr val="CBD5E1"/>
                </a:solidFill>
                <a:latin typeface="Noto Sans KR"/>
              </a:rPr>
              <a:t>구조</a:t>
            </a:r>
            <a:r>
              <a:rPr sz="1125" b="1" i="0" u="none" dirty="0">
                <a:solidFill>
                  <a:srgbClr val="CBD5E1"/>
                </a:solidFill>
                <a:latin typeface="Noto Sans KR"/>
              </a:rPr>
              <a:t>: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전체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수주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잔고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(1.5조 원) 및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중장기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매출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가이던스가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1" i="0" u="none" dirty="0" err="1">
                <a:solidFill>
                  <a:srgbClr val="F87171"/>
                </a:solidFill>
                <a:latin typeface="Noto Sans KR"/>
              </a:rPr>
              <a:t>스페이스X</a:t>
            </a:r>
            <a:r>
              <a:rPr sz="1125" b="1" i="0" u="none" dirty="0">
                <a:solidFill>
                  <a:srgbClr val="F87171"/>
                </a:solidFill>
                <a:latin typeface="Noto Sans KR"/>
              </a:rPr>
              <a:t> 단 한 </a:t>
            </a:r>
            <a:r>
              <a:rPr sz="1125" b="1" i="0" u="none" dirty="0" err="1">
                <a:solidFill>
                  <a:srgbClr val="F87171"/>
                </a:solidFill>
                <a:latin typeface="Noto Sans KR"/>
              </a:rPr>
              <a:t>곳에</a:t>
            </a:r>
            <a:r>
              <a:rPr sz="1125" b="1" i="0" u="none" dirty="0">
                <a:solidFill>
                  <a:srgbClr val="F87171"/>
                </a:solidFill>
                <a:latin typeface="Noto Sans KR"/>
              </a:rPr>
              <a:t> 100% </a:t>
            </a:r>
            <a:r>
              <a:rPr sz="1125" b="1" i="0" u="none" dirty="0" err="1">
                <a:solidFill>
                  <a:srgbClr val="F87171"/>
                </a:solidFill>
                <a:latin typeface="Noto Sans KR"/>
              </a:rPr>
              <a:t>종속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175" y="4105275"/>
            <a:ext cx="282565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 dirty="0" err="1">
                <a:solidFill>
                  <a:srgbClr val="CBD5E1"/>
                </a:solidFill>
                <a:latin typeface="Noto Sans KR"/>
              </a:rPr>
              <a:t>대체</a:t>
            </a:r>
            <a:r>
              <a:rPr sz="1125" b="1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1" i="0" u="none" dirty="0" err="1">
                <a:solidFill>
                  <a:srgbClr val="CBD5E1"/>
                </a:solidFill>
                <a:latin typeface="Noto Sans KR"/>
              </a:rPr>
              <a:t>고객사</a:t>
            </a:r>
            <a:r>
              <a:rPr sz="1125" b="1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1" i="0" u="none" dirty="0" err="1">
                <a:solidFill>
                  <a:srgbClr val="CBD5E1"/>
                </a:solidFill>
                <a:latin typeface="Noto Sans KR"/>
              </a:rPr>
              <a:t>부재</a:t>
            </a:r>
            <a:r>
              <a:rPr sz="1125" b="1" i="0" u="none" dirty="0">
                <a:solidFill>
                  <a:srgbClr val="CBD5E1"/>
                </a:solidFill>
                <a:latin typeface="Noto Sans KR"/>
              </a:rPr>
              <a:t>: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우주항공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특수합금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공급처가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스페이스X에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집중되어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있어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,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해당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파이프라인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차질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시 </a:t>
            </a:r>
            <a:r>
              <a:rPr sz="1125" b="1" i="0" u="none" dirty="0" err="1">
                <a:solidFill>
                  <a:srgbClr val="F87171"/>
                </a:solidFill>
                <a:latin typeface="Noto Sans KR"/>
              </a:rPr>
              <a:t>즉각적인</a:t>
            </a:r>
            <a:r>
              <a:rPr sz="1125" b="1" i="0" u="none" dirty="0">
                <a:solidFill>
                  <a:srgbClr val="F87171"/>
                </a:solidFill>
                <a:latin typeface="Noto Sans KR"/>
              </a:rPr>
              <a:t> </a:t>
            </a:r>
            <a:r>
              <a:rPr sz="1125" b="1" i="0" u="none" dirty="0" err="1">
                <a:solidFill>
                  <a:srgbClr val="F87171"/>
                </a:solidFill>
                <a:latin typeface="Noto Sans KR"/>
              </a:rPr>
              <a:t>대체</a:t>
            </a:r>
            <a:r>
              <a:rPr sz="1125" b="1" i="0" u="none" dirty="0">
                <a:solidFill>
                  <a:srgbClr val="F87171"/>
                </a:solidFill>
                <a:latin typeface="Noto Sans KR"/>
              </a:rPr>
              <a:t> </a:t>
            </a:r>
            <a:r>
              <a:rPr sz="1125" b="1" i="0" u="none" dirty="0" err="1">
                <a:solidFill>
                  <a:srgbClr val="F87171"/>
                </a:solidFill>
                <a:latin typeface="Noto Sans KR"/>
              </a:rPr>
              <a:t>매출처</a:t>
            </a:r>
            <a:r>
              <a:rPr sz="1125" b="1" i="0" u="none" dirty="0">
                <a:solidFill>
                  <a:srgbClr val="F87171"/>
                </a:solidFill>
                <a:latin typeface="Noto Sans KR"/>
              </a:rPr>
              <a:t> </a:t>
            </a:r>
            <a:r>
              <a:rPr sz="1125" b="1" i="0" u="none" dirty="0" err="1">
                <a:solidFill>
                  <a:srgbClr val="F87171"/>
                </a:solidFill>
                <a:latin typeface="Noto Sans KR"/>
              </a:rPr>
              <a:t>확보</a:t>
            </a:r>
            <a:r>
              <a:rPr sz="1125" b="1" i="0" u="none" dirty="0">
                <a:solidFill>
                  <a:srgbClr val="F87171"/>
                </a:solidFill>
                <a:latin typeface="Noto Sans KR"/>
              </a:rPr>
              <a:t> </a:t>
            </a:r>
            <a:r>
              <a:rPr sz="1125" b="1" i="0" u="none" dirty="0" err="1">
                <a:solidFill>
                  <a:srgbClr val="F87171"/>
                </a:solidFill>
                <a:latin typeface="Noto Sans KR"/>
              </a:rPr>
              <a:t>불가능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87775" y="2890837"/>
            <a:ext cx="190500" cy="190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78275" y="3286125"/>
            <a:ext cx="2825799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 dirty="0" err="1">
                <a:solidFill>
                  <a:srgbClr val="CBD5E1"/>
                </a:solidFill>
                <a:latin typeface="Noto Sans KR"/>
              </a:rPr>
              <a:t>발사</a:t>
            </a:r>
            <a:r>
              <a:rPr sz="1125" b="1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1" i="0" u="none" dirty="0" err="1">
                <a:solidFill>
                  <a:srgbClr val="CBD5E1"/>
                </a:solidFill>
                <a:latin typeface="Noto Sans KR"/>
              </a:rPr>
              <a:t>일정</a:t>
            </a:r>
            <a:r>
              <a:rPr sz="1125" b="1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1" i="0" u="none" dirty="0" err="1">
                <a:solidFill>
                  <a:srgbClr val="CBD5E1"/>
                </a:solidFill>
                <a:latin typeface="Noto Sans KR"/>
              </a:rPr>
              <a:t>연동</a:t>
            </a:r>
            <a:r>
              <a:rPr sz="1125" b="1" i="0" u="none" dirty="0">
                <a:solidFill>
                  <a:srgbClr val="CBD5E1"/>
                </a:solidFill>
                <a:latin typeface="Noto Sans KR"/>
              </a:rPr>
              <a:t>: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스피어의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실적은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스페이스X의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로켓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(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스타십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등)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생산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및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발사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스케줄과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직결됨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78275" y="3876675"/>
            <a:ext cx="28257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 dirty="0" err="1">
                <a:solidFill>
                  <a:srgbClr val="CBD5E1"/>
                </a:solidFill>
                <a:latin typeface="Noto Sans KR"/>
              </a:rPr>
              <a:t>시험발사</a:t>
            </a:r>
            <a:r>
              <a:rPr sz="1125" b="1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1" i="0" u="none" dirty="0" err="1">
                <a:solidFill>
                  <a:srgbClr val="CBD5E1"/>
                </a:solidFill>
                <a:latin typeface="Noto Sans KR"/>
              </a:rPr>
              <a:t>지연</a:t>
            </a:r>
            <a:r>
              <a:rPr sz="1125" b="1" i="0" u="none" dirty="0">
                <a:solidFill>
                  <a:srgbClr val="CBD5E1"/>
                </a:solidFill>
                <a:latin typeface="Noto Sans KR"/>
              </a:rPr>
              <a:t> 및 </a:t>
            </a:r>
            <a:r>
              <a:rPr sz="1125" b="1" i="0" u="none" dirty="0" err="1">
                <a:solidFill>
                  <a:srgbClr val="CBD5E1"/>
                </a:solidFill>
                <a:latin typeface="Noto Sans KR"/>
              </a:rPr>
              <a:t>폭발</a:t>
            </a:r>
            <a:r>
              <a:rPr sz="1125" b="1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1" i="0" u="none" dirty="0" err="1">
                <a:solidFill>
                  <a:srgbClr val="CBD5E1"/>
                </a:solidFill>
                <a:latin typeface="Noto Sans KR"/>
              </a:rPr>
              <a:t>이슈</a:t>
            </a:r>
            <a:r>
              <a:rPr sz="1125" b="1" i="0" u="none" dirty="0">
                <a:solidFill>
                  <a:srgbClr val="CBD5E1"/>
                </a:solidFill>
                <a:latin typeface="Noto Sans KR"/>
              </a:rPr>
              <a:t>: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시험발사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지연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,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정부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규제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(FAA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승인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지연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),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발사체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폭발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발생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시 </a:t>
            </a:r>
            <a:r>
              <a:rPr sz="1125" b="1" i="0" u="none" dirty="0" err="1">
                <a:solidFill>
                  <a:srgbClr val="F87171"/>
                </a:solidFill>
                <a:latin typeface="Noto Sans KR"/>
              </a:rPr>
              <a:t>소재</a:t>
            </a:r>
            <a:r>
              <a:rPr sz="1125" b="1" i="0" u="none" dirty="0">
                <a:solidFill>
                  <a:srgbClr val="F87171"/>
                </a:solidFill>
                <a:latin typeface="Noto Sans KR"/>
              </a:rPr>
              <a:t> </a:t>
            </a:r>
            <a:r>
              <a:rPr sz="1125" b="1" i="0" u="none" dirty="0" err="1">
                <a:solidFill>
                  <a:srgbClr val="F87171"/>
                </a:solidFill>
                <a:latin typeface="Noto Sans KR"/>
              </a:rPr>
              <a:t>인도</a:t>
            </a:r>
            <a:r>
              <a:rPr sz="1125" b="1" i="0" u="none" dirty="0">
                <a:solidFill>
                  <a:srgbClr val="F87171"/>
                </a:solidFill>
                <a:latin typeface="Noto Sans KR"/>
              </a:rPr>
              <a:t> </a:t>
            </a:r>
            <a:r>
              <a:rPr sz="1125" b="1" i="0" u="none" dirty="0" err="1">
                <a:solidFill>
                  <a:srgbClr val="F87171"/>
                </a:solidFill>
                <a:latin typeface="Noto Sans KR"/>
              </a:rPr>
              <a:t>시점이</a:t>
            </a:r>
            <a:r>
              <a:rPr sz="1125" b="1" i="0" u="none" dirty="0">
                <a:solidFill>
                  <a:srgbClr val="F87171"/>
                </a:solidFill>
                <a:latin typeface="Noto Sans KR"/>
              </a:rPr>
              <a:t> </a:t>
            </a:r>
            <a:r>
              <a:rPr sz="1125" b="1" i="0" u="none" dirty="0" err="1">
                <a:solidFill>
                  <a:srgbClr val="F87171"/>
                </a:solidFill>
                <a:latin typeface="Noto Sans KR"/>
              </a:rPr>
              <a:t>이월되어</a:t>
            </a:r>
            <a:r>
              <a:rPr sz="1125" b="1" i="0" u="none" dirty="0">
                <a:solidFill>
                  <a:srgbClr val="F87171"/>
                </a:solidFill>
                <a:latin typeface="Noto Sans KR"/>
              </a:rPr>
              <a:t> </a:t>
            </a:r>
            <a:r>
              <a:rPr sz="1125" b="1" i="0" u="none" dirty="0" err="1">
                <a:solidFill>
                  <a:srgbClr val="F87171"/>
                </a:solidFill>
                <a:latin typeface="Noto Sans KR"/>
              </a:rPr>
              <a:t>실적</a:t>
            </a:r>
            <a:r>
              <a:rPr sz="1125" b="1" i="0" u="none" dirty="0">
                <a:solidFill>
                  <a:srgbClr val="F87171"/>
                </a:solidFill>
                <a:latin typeface="Noto Sans KR"/>
              </a:rPr>
              <a:t> </a:t>
            </a:r>
            <a:r>
              <a:rPr sz="1125" b="1" i="0" u="none" dirty="0" err="1">
                <a:solidFill>
                  <a:srgbClr val="F87171"/>
                </a:solidFill>
                <a:latin typeface="Noto Sans KR"/>
              </a:rPr>
              <a:t>타격</a:t>
            </a:r>
            <a:r>
              <a:rPr sz="1125" b="1" i="0" u="none" dirty="0">
                <a:solidFill>
                  <a:srgbClr val="F87171"/>
                </a:solidFill>
                <a:latin typeface="Noto Sans KR"/>
              </a:rPr>
              <a:t> 및 </a:t>
            </a:r>
            <a:r>
              <a:rPr sz="1125" b="1" i="0" u="none" dirty="0" err="1">
                <a:solidFill>
                  <a:srgbClr val="F87171"/>
                </a:solidFill>
                <a:latin typeface="Noto Sans KR"/>
              </a:rPr>
              <a:t>주가</a:t>
            </a:r>
            <a:r>
              <a:rPr sz="1125" b="1" i="0" u="none" dirty="0">
                <a:solidFill>
                  <a:srgbClr val="F87171"/>
                </a:solidFill>
                <a:latin typeface="Noto Sans KR"/>
              </a:rPr>
              <a:t> </a:t>
            </a:r>
            <a:r>
              <a:rPr sz="1125" b="1" i="0" u="none" dirty="0" err="1">
                <a:solidFill>
                  <a:srgbClr val="F87171"/>
                </a:solidFill>
                <a:latin typeface="Noto Sans KR"/>
              </a:rPr>
              <a:t>폭락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47025" y="2890837"/>
            <a:ext cx="238125" cy="190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537525" y="3286125"/>
            <a:ext cx="28256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 dirty="0" err="1">
                <a:solidFill>
                  <a:srgbClr val="CBD5E1"/>
                </a:solidFill>
                <a:latin typeface="Noto Sans KR"/>
              </a:rPr>
              <a:t>스페이스X</a:t>
            </a:r>
            <a:r>
              <a:rPr sz="1125" b="1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1" i="0" u="none" dirty="0" err="1">
                <a:solidFill>
                  <a:srgbClr val="CBD5E1"/>
                </a:solidFill>
                <a:latin typeface="Noto Sans KR"/>
              </a:rPr>
              <a:t>정책</a:t>
            </a:r>
            <a:r>
              <a:rPr sz="1125" b="1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1" i="0" u="none" dirty="0" err="1">
                <a:solidFill>
                  <a:srgbClr val="CBD5E1"/>
                </a:solidFill>
                <a:latin typeface="Noto Sans KR"/>
              </a:rPr>
              <a:t>변동</a:t>
            </a:r>
            <a:r>
              <a:rPr sz="1125" b="1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1" i="0" u="none" dirty="0" err="1">
                <a:solidFill>
                  <a:srgbClr val="CBD5E1"/>
                </a:solidFill>
                <a:latin typeface="Noto Sans KR"/>
              </a:rPr>
              <a:t>위험</a:t>
            </a:r>
            <a:r>
              <a:rPr sz="1125" b="1" i="0" u="none" dirty="0">
                <a:solidFill>
                  <a:srgbClr val="CBD5E1"/>
                </a:solidFill>
                <a:latin typeface="Noto Sans KR"/>
              </a:rPr>
              <a:t>: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고객사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공급망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정책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변경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,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자체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소재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내재화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추진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,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단가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인하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(CR)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요구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발생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시 </a:t>
            </a:r>
            <a:r>
              <a:rPr sz="1125" b="1" i="0" u="none" dirty="0" err="1">
                <a:solidFill>
                  <a:srgbClr val="F87171"/>
                </a:solidFill>
                <a:latin typeface="Noto Sans KR"/>
              </a:rPr>
              <a:t>수익성</a:t>
            </a:r>
            <a:r>
              <a:rPr sz="1125" b="1" i="0" u="none" dirty="0">
                <a:solidFill>
                  <a:srgbClr val="F87171"/>
                </a:solidFill>
                <a:latin typeface="Noto Sans KR"/>
              </a:rPr>
              <a:t> </a:t>
            </a:r>
            <a:r>
              <a:rPr sz="1125" b="1" i="0" u="none" dirty="0" err="1">
                <a:solidFill>
                  <a:srgbClr val="F87171"/>
                </a:solidFill>
                <a:latin typeface="Noto Sans KR"/>
              </a:rPr>
              <a:t>급감</a:t>
            </a:r>
            <a:r>
              <a:rPr sz="1125" b="1" i="0" u="none" dirty="0">
                <a:solidFill>
                  <a:srgbClr val="F87171"/>
                </a:solidFill>
                <a:latin typeface="Noto Sans KR"/>
              </a:rPr>
              <a:t> </a:t>
            </a:r>
            <a:r>
              <a:rPr sz="1125" b="1" i="0" u="none" dirty="0" err="1">
                <a:solidFill>
                  <a:srgbClr val="F87171"/>
                </a:solidFill>
                <a:latin typeface="Noto Sans KR"/>
              </a:rPr>
              <a:t>가능성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37525" y="4105275"/>
            <a:ext cx="28256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 dirty="0" err="1">
                <a:solidFill>
                  <a:srgbClr val="CBD5E1"/>
                </a:solidFill>
                <a:latin typeface="Noto Sans KR"/>
              </a:rPr>
              <a:t>계약</a:t>
            </a:r>
            <a:r>
              <a:rPr sz="1125" b="1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1" i="0" u="none" dirty="0" err="1">
                <a:solidFill>
                  <a:srgbClr val="CBD5E1"/>
                </a:solidFill>
                <a:latin typeface="Noto Sans KR"/>
              </a:rPr>
              <a:t>유지</a:t>
            </a:r>
            <a:r>
              <a:rPr sz="1125" b="1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1" i="0" u="none" dirty="0" err="1">
                <a:solidFill>
                  <a:srgbClr val="CBD5E1"/>
                </a:solidFill>
                <a:latin typeface="Noto Sans KR"/>
              </a:rPr>
              <a:t>불확실성</a:t>
            </a:r>
            <a:r>
              <a:rPr sz="1125" b="1" i="0" u="none" dirty="0">
                <a:solidFill>
                  <a:srgbClr val="CBD5E1"/>
                </a:solidFill>
                <a:latin typeface="Noto Sans KR"/>
              </a:rPr>
              <a:t>: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1.5조 원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수주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계약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내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실행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조건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CBD5E1"/>
                </a:solidFill>
                <a:latin typeface="Noto Sans KR"/>
              </a:rPr>
              <a:t>미충족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 시 </a:t>
            </a:r>
            <a:r>
              <a:rPr sz="1125" b="1" i="0" u="none" dirty="0" err="1">
                <a:solidFill>
                  <a:srgbClr val="F87171"/>
                </a:solidFill>
                <a:latin typeface="Noto Sans KR"/>
              </a:rPr>
              <a:t>독점</a:t>
            </a:r>
            <a:r>
              <a:rPr sz="1125" b="1" i="0" u="none" dirty="0">
                <a:solidFill>
                  <a:srgbClr val="F87171"/>
                </a:solidFill>
                <a:latin typeface="Noto Sans KR"/>
              </a:rPr>
              <a:t> </a:t>
            </a:r>
            <a:r>
              <a:rPr sz="1125" b="1" i="0" u="none" dirty="0" err="1">
                <a:solidFill>
                  <a:srgbClr val="F87171"/>
                </a:solidFill>
                <a:latin typeface="Noto Sans KR"/>
              </a:rPr>
              <a:t>공급</a:t>
            </a:r>
            <a:r>
              <a:rPr sz="1125" b="1" i="0" u="none" dirty="0">
                <a:solidFill>
                  <a:srgbClr val="F87171"/>
                </a:solidFill>
                <a:latin typeface="Noto Sans KR"/>
              </a:rPr>
              <a:t> </a:t>
            </a:r>
            <a:r>
              <a:rPr sz="1125" b="1" i="0" u="none" dirty="0" err="1">
                <a:solidFill>
                  <a:srgbClr val="F87171"/>
                </a:solidFill>
                <a:latin typeface="Noto Sans KR"/>
              </a:rPr>
              <a:t>지위가</a:t>
            </a:r>
            <a:r>
              <a:rPr sz="1125" b="1" i="0" u="none" dirty="0">
                <a:solidFill>
                  <a:srgbClr val="F87171"/>
                </a:solidFill>
                <a:latin typeface="Noto Sans KR"/>
              </a:rPr>
              <a:t> </a:t>
            </a:r>
            <a:r>
              <a:rPr sz="1125" b="1" i="0" u="none" dirty="0" err="1">
                <a:solidFill>
                  <a:srgbClr val="F87171"/>
                </a:solidFill>
                <a:latin typeface="Noto Sans KR"/>
              </a:rPr>
              <a:t>흔들릴</a:t>
            </a:r>
            <a:r>
              <a:rPr sz="1125" b="1" i="0" u="none" dirty="0">
                <a:solidFill>
                  <a:srgbClr val="F87171"/>
                </a:solidFill>
                <a:latin typeface="Noto Sans KR"/>
              </a:rPr>
              <a:t> </a:t>
            </a:r>
            <a:r>
              <a:rPr sz="1125" b="1" i="0" u="none" dirty="0" err="1">
                <a:solidFill>
                  <a:srgbClr val="F87171"/>
                </a:solidFill>
                <a:latin typeface="Noto Sans KR"/>
              </a:rPr>
              <a:t>잠재</a:t>
            </a:r>
            <a:r>
              <a:rPr sz="1125" b="1" i="0" u="none" dirty="0">
                <a:solidFill>
                  <a:srgbClr val="F87171"/>
                </a:solidFill>
                <a:latin typeface="Noto Sans KR"/>
              </a:rPr>
              <a:t> </a:t>
            </a:r>
            <a:r>
              <a:rPr sz="1125" b="1" i="0" u="none" dirty="0" err="1">
                <a:solidFill>
                  <a:srgbClr val="F87171"/>
                </a:solidFill>
                <a:latin typeface="Noto Sans KR"/>
              </a:rPr>
              <a:t>리스크</a:t>
            </a:r>
            <a:r>
              <a:rPr sz="1125" b="0" i="0" u="none" dirty="0">
                <a:solidFill>
                  <a:srgbClr val="CBD5E1"/>
                </a:solidFill>
                <a:latin typeface="Noto Sans KR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675" y="3305175"/>
            <a:ext cx="952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750" b="0" i="0" u="none" dirty="0">
                <a:solidFill>
                  <a:srgbClr val="EF4444"/>
                </a:solidFill>
                <a:latin typeface="Noto Sans KR"/>
              </a:rPr>
              <a:t>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675" y="4124325"/>
            <a:ext cx="952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750" b="0" i="0" u="none" dirty="0">
                <a:solidFill>
                  <a:srgbClr val="EF4444"/>
                </a:solidFill>
                <a:latin typeface="Noto Sans KR"/>
              </a:rPr>
              <a:t>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7775" y="3305175"/>
            <a:ext cx="952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750" b="0" i="0" u="none" dirty="0">
                <a:solidFill>
                  <a:srgbClr val="EF4444"/>
                </a:solidFill>
                <a:latin typeface="Noto Sans KR"/>
              </a:rPr>
              <a:t>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7775" y="3895725"/>
            <a:ext cx="952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750" b="0" i="0" u="none" dirty="0">
                <a:solidFill>
                  <a:srgbClr val="EF4444"/>
                </a:solidFill>
                <a:latin typeface="Noto Sans KR"/>
              </a:rPr>
              <a:t>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7025" y="3305175"/>
            <a:ext cx="952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750" b="0" i="0" u="none" dirty="0">
                <a:solidFill>
                  <a:srgbClr val="EF4444"/>
                </a:solidFill>
                <a:latin typeface="Noto Sans KR"/>
              </a:rPr>
              <a:t>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7025" y="4124325"/>
            <a:ext cx="952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750" b="0" i="0" u="none" dirty="0">
                <a:solidFill>
                  <a:srgbClr val="EF4444"/>
                </a:solidFill>
                <a:latin typeface="Noto Sans KR"/>
              </a:rPr>
              <a:t>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0573" y="532454"/>
            <a:ext cx="11421427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 err="1" smtClean="0">
                <a:solidFill>
                  <a:srgbClr val="F8FAFC"/>
                </a:solidFill>
                <a:latin typeface="Poppins"/>
              </a:rPr>
              <a:t>단일</a:t>
            </a:r>
            <a:r>
              <a:rPr sz="2550" b="1" i="0" u="none" dirty="0" smtClean="0">
                <a:solidFill>
                  <a:srgbClr val="F8FAFC"/>
                </a:solidFill>
                <a:latin typeface="Poppins"/>
              </a:rPr>
              <a:t> </a:t>
            </a:r>
            <a:r>
              <a:rPr sz="2550" b="1" i="0" u="none" dirty="0" err="1">
                <a:solidFill>
                  <a:srgbClr val="F8FAFC"/>
                </a:solidFill>
                <a:latin typeface="Poppins"/>
              </a:rPr>
              <a:t>고객사</a:t>
            </a:r>
            <a:r>
              <a:rPr sz="2550" b="1" i="0" u="none" dirty="0">
                <a:solidFill>
                  <a:srgbClr val="F8FAFC"/>
                </a:solidFill>
                <a:latin typeface="Poppins"/>
              </a:rPr>
              <a:t>(</a:t>
            </a:r>
            <a:r>
              <a:rPr sz="2550" b="1" i="0" u="none" dirty="0" err="1">
                <a:solidFill>
                  <a:srgbClr val="F8FAFC"/>
                </a:solidFill>
                <a:latin typeface="Poppins"/>
              </a:rPr>
              <a:t>SpaceX</a:t>
            </a:r>
            <a:r>
              <a:rPr sz="2550" b="1" i="0" u="none" dirty="0">
                <a:solidFill>
                  <a:srgbClr val="F8FAFC"/>
                </a:solidFill>
                <a:latin typeface="Poppins"/>
              </a:rPr>
              <a:t>) </a:t>
            </a:r>
            <a:r>
              <a:rPr sz="2550" b="1" i="0" u="none" dirty="0" err="1">
                <a:solidFill>
                  <a:srgbClr val="F8FAFC"/>
                </a:solidFill>
                <a:latin typeface="Poppins"/>
              </a:rPr>
              <a:t>극단적</a:t>
            </a:r>
            <a:r>
              <a:rPr sz="2550" b="1" i="0" u="none" dirty="0">
                <a:solidFill>
                  <a:srgbClr val="F8FAFC"/>
                </a:solidFill>
                <a:latin typeface="Poppins"/>
              </a:rPr>
              <a:t> </a:t>
            </a:r>
            <a:r>
              <a:rPr sz="2550" b="1" i="0" u="none" dirty="0" err="1">
                <a:solidFill>
                  <a:srgbClr val="F8FAFC"/>
                </a:solidFill>
                <a:latin typeface="Poppins"/>
              </a:rPr>
              <a:t>의존도</a:t>
            </a:r>
            <a:r>
              <a:rPr sz="2550" b="1" i="0" u="none" dirty="0">
                <a:solidFill>
                  <a:srgbClr val="F8FAFC"/>
                </a:solidFill>
                <a:latin typeface="Poppins"/>
              </a:rPr>
              <a:t> 및 </a:t>
            </a:r>
            <a:r>
              <a:rPr sz="2550" b="1" i="0" u="none" dirty="0" err="1">
                <a:solidFill>
                  <a:srgbClr val="F8FAFC"/>
                </a:solidFill>
                <a:latin typeface="Poppins"/>
              </a:rPr>
              <a:t>사업</a:t>
            </a:r>
            <a:r>
              <a:rPr sz="2550" b="1" i="0" u="none" dirty="0">
                <a:solidFill>
                  <a:srgbClr val="F8FAFC"/>
                </a:solidFill>
                <a:latin typeface="Poppins"/>
              </a:rPr>
              <a:t> </a:t>
            </a:r>
            <a:r>
              <a:rPr sz="2550" b="1" i="0" u="none" dirty="0" err="1">
                <a:solidFill>
                  <a:srgbClr val="F8FAFC"/>
                </a:solidFill>
                <a:latin typeface="Poppins"/>
              </a:rPr>
              <a:t>리스크</a:t>
            </a:r>
            <a:endParaRPr sz="2550" b="1" i="0" u="none" dirty="0">
              <a:solidFill>
                <a:srgbClr val="F8FAFC"/>
              </a:solidFill>
              <a:latin typeface="Poppin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71500" y="476250"/>
            <a:ext cx="47625" cy="5048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9464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3229" y="3869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36998"/>
            <a:ext cx="5381625" cy="382220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936998"/>
            <a:ext cx="5381625" cy="382220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073401"/>
            <a:ext cx="4695825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5073401"/>
            <a:ext cx="4695825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279898"/>
            <a:ext cx="4695825" cy="28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19200" y="2719677"/>
            <a:ext cx="4610576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 dirty="0">
                <a:solidFill>
                  <a:srgbClr val="F87171"/>
                </a:solidFill>
                <a:latin typeface="Poppins"/>
              </a:rPr>
              <a:t>4회차 </a:t>
            </a:r>
            <a:r>
              <a:rPr sz="1650" b="1" i="0" u="none" dirty="0" smtClean="0">
                <a:solidFill>
                  <a:srgbClr val="F87171"/>
                </a:solidFill>
                <a:latin typeface="Poppins"/>
              </a:rPr>
              <a:t>: </a:t>
            </a:r>
            <a:r>
              <a:rPr sz="1650" b="1" i="0" u="none" dirty="0" err="1">
                <a:solidFill>
                  <a:srgbClr val="F87171"/>
                </a:solidFill>
                <a:latin typeface="Poppins"/>
              </a:rPr>
              <a:t>초저가</a:t>
            </a:r>
            <a:r>
              <a:rPr sz="1650" b="1" i="0" u="none" dirty="0">
                <a:solidFill>
                  <a:srgbClr val="F87171"/>
                </a:solidFill>
                <a:latin typeface="Poppins"/>
              </a:rPr>
              <a:t> </a:t>
            </a:r>
            <a:r>
              <a:rPr sz="1650" b="1" i="0" u="none" dirty="0" err="1">
                <a:solidFill>
                  <a:srgbClr val="F87171"/>
                </a:solidFill>
                <a:latin typeface="Poppins"/>
              </a:rPr>
              <a:t>매물</a:t>
            </a:r>
            <a:r>
              <a:rPr sz="1650" b="1" i="0" u="none" dirty="0">
                <a:solidFill>
                  <a:srgbClr val="F87171"/>
                </a:solidFill>
                <a:latin typeface="Poppins"/>
              </a:rPr>
              <a:t> </a:t>
            </a:r>
            <a:r>
              <a:rPr sz="1650" b="1" i="0" u="none" dirty="0" err="1">
                <a:solidFill>
                  <a:srgbClr val="F87171"/>
                </a:solidFill>
                <a:latin typeface="Poppins"/>
              </a:rPr>
              <a:t>폭탄</a:t>
            </a:r>
            <a:r>
              <a:rPr sz="1650" b="1" i="0" u="none" dirty="0">
                <a:solidFill>
                  <a:srgbClr val="F87171"/>
                </a:solidFill>
                <a:latin typeface="Poppins"/>
              </a:rPr>
              <a:t> (</a:t>
            </a:r>
            <a:r>
              <a:rPr sz="1650" b="1" i="0" u="none" dirty="0" err="1">
                <a:solidFill>
                  <a:srgbClr val="F87171"/>
                </a:solidFill>
                <a:latin typeface="Poppins"/>
              </a:rPr>
              <a:t>오버행</a:t>
            </a:r>
            <a:r>
              <a:rPr sz="1650" b="1" i="0" u="none" dirty="0">
                <a:solidFill>
                  <a:srgbClr val="F87171"/>
                </a:solidFill>
                <a:latin typeface="Poppins"/>
              </a:rPr>
              <a:t>)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2279898"/>
            <a:ext cx="4695825" cy="285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86575" y="2719677"/>
            <a:ext cx="4610576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 dirty="0">
                <a:solidFill>
                  <a:srgbClr val="F87171"/>
                </a:solidFill>
                <a:latin typeface="Poppins"/>
              </a:rPr>
              <a:t>6회차 </a:t>
            </a:r>
            <a:r>
              <a:rPr sz="1650" b="1" i="0" u="none" dirty="0" smtClean="0">
                <a:solidFill>
                  <a:srgbClr val="F87171"/>
                </a:solidFill>
                <a:latin typeface="Poppins"/>
              </a:rPr>
              <a:t>: </a:t>
            </a:r>
            <a:r>
              <a:rPr sz="1650" b="1" i="0" u="none" dirty="0" err="1">
                <a:solidFill>
                  <a:srgbClr val="F87171"/>
                </a:solidFill>
                <a:latin typeface="Poppins"/>
              </a:rPr>
              <a:t>조달</a:t>
            </a:r>
            <a:r>
              <a:rPr sz="1650" b="1" i="0" u="none" dirty="0">
                <a:solidFill>
                  <a:srgbClr val="F87171"/>
                </a:solidFill>
                <a:latin typeface="Poppins"/>
              </a:rPr>
              <a:t> </a:t>
            </a:r>
            <a:r>
              <a:rPr sz="1650" b="1" i="0" u="none" dirty="0" err="1">
                <a:solidFill>
                  <a:srgbClr val="F87171"/>
                </a:solidFill>
                <a:latin typeface="Poppins"/>
              </a:rPr>
              <a:t>한계</a:t>
            </a:r>
            <a:r>
              <a:rPr sz="1650" b="1" i="0" u="none" dirty="0">
                <a:solidFill>
                  <a:srgbClr val="F87171"/>
                </a:solidFill>
                <a:latin typeface="Poppins"/>
              </a:rPr>
              <a:t> 및 </a:t>
            </a:r>
            <a:r>
              <a:rPr sz="1650" b="1" i="0" u="none" dirty="0" err="1">
                <a:solidFill>
                  <a:srgbClr val="F87171"/>
                </a:solidFill>
                <a:latin typeface="Poppins"/>
              </a:rPr>
              <a:t>투자심리</a:t>
            </a:r>
            <a:r>
              <a:rPr sz="1650" b="1" i="0" u="none" dirty="0">
                <a:solidFill>
                  <a:srgbClr val="F87171"/>
                </a:solidFill>
                <a:latin typeface="Poppins"/>
              </a:rPr>
              <a:t> </a:t>
            </a:r>
            <a:r>
              <a:rPr sz="1650" b="1" i="0" u="none" dirty="0" err="1">
                <a:solidFill>
                  <a:srgbClr val="F87171"/>
                </a:solidFill>
                <a:latin typeface="Poppins"/>
              </a:rPr>
              <a:t>냉각</a:t>
            </a:r>
            <a:endParaRPr sz="1650" b="1" i="0" u="none" dirty="0">
              <a:solidFill>
                <a:srgbClr val="F87171"/>
              </a:solidFill>
              <a:latin typeface="Poppins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2741860"/>
            <a:ext cx="209550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43000" y="3165723"/>
            <a:ext cx="4467225" cy="801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3"/>
              </a:lnSpc>
            </a:pPr>
            <a:r>
              <a:rPr sz="1275" b="1" i="0" u="none" dirty="0" err="1">
                <a:solidFill>
                  <a:srgbClr val="CBD5E1"/>
                </a:solidFill>
                <a:latin typeface="Noto Sans KR"/>
              </a:rPr>
              <a:t>압도적인</a:t>
            </a:r>
            <a:r>
              <a:rPr sz="1275" b="1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1" i="0" u="none" dirty="0" err="1">
                <a:solidFill>
                  <a:srgbClr val="CBD5E1"/>
                </a:solidFill>
                <a:latin typeface="Noto Sans KR"/>
              </a:rPr>
              <a:t>차익</a:t>
            </a:r>
            <a:r>
              <a:rPr sz="1275" b="1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1" i="0" u="none" dirty="0" err="1">
                <a:solidFill>
                  <a:srgbClr val="CBD5E1"/>
                </a:solidFill>
                <a:latin typeface="Noto Sans KR"/>
              </a:rPr>
              <a:t>실현</a:t>
            </a:r>
            <a:r>
              <a:rPr sz="1275" b="1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1" i="0" u="none" dirty="0" err="1">
                <a:solidFill>
                  <a:srgbClr val="CBD5E1"/>
                </a:solidFill>
                <a:latin typeface="Noto Sans KR"/>
              </a:rPr>
              <a:t>구간</a:t>
            </a:r>
            <a:r>
              <a:rPr sz="1275" b="1" i="0" u="none" dirty="0">
                <a:solidFill>
                  <a:srgbClr val="CBD5E1"/>
                </a:solidFill>
                <a:latin typeface="Noto Sans KR"/>
              </a:rPr>
              <a:t>: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4회차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CB의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전환가액은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1" i="0" u="none" dirty="0">
                <a:solidFill>
                  <a:srgbClr val="F87171"/>
                </a:solidFill>
                <a:latin typeface="Noto Sans KR"/>
              </a:rPr>
              <a:t>3,448원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으로,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현재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주가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대비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수익률이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수백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%에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달해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해외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 smtClean="0">
                <a:solidFill>
                  <a:srgbClr val="CBD5E1"/>
                </a:solidFill>
                <a:latin typeface="Noto Sans KR"/>
              </a:rPr>
              <a:t>펀드의</a:t>
            </a:r>
            <a:r>
              <a:rPr sz="1275" b="0" i="0" u="none" dirty="0" smtClean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매도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유인이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극대화됨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119562"/>
            <a:ext cx="4467225" cy="801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3"/>
              </a:lnSpc>
            </a:pPr>
            <a:r>
              <a:rPr sz="1275" b="1" i="0" u="none" dirty="0" err="1">
                <a:solidFill>
                  <a:srgbClr val="CBD5E1"/>
                </a:solidFill>
                <a:latin typeface="Noto Sans KR"/>
              </a:rPr>
              <a:t>주가</a:t>
            </a:r>
            <a:r>
              <a:rPr sz="1275" b="1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1" i="0" u="none" dirty="0" err="1">
                <a:solidFill>
                  <a:srgbClr val="CBD5E1"/>
                </a:solidFill>
                <a:latin typeface="Noto Sans KR"/>
              </a:rPr>
              <a:t>상단</a:t>
            </a:r>
            <a:r>
              <a:rPr sz="1275" b="1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1" i="0" u="none" dirty="0" err="1">
                <a:solidFill>
                  <a:srgbClr val="CBD5E1"/>
                </a:solidFill>
                <a:latin typeface="Noto Sans KR"/>
              </a:rPr>
              <a:t>강력</a:t>
            </a:r>
            <a:r>
              <a:rPr sz="1275" b="1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1" i="0" u="none" dirty="0" err="1">
                <a:solidFill>
                  <a:srgbClr val="CBD5E1"/>
                </a:solidFill>
                <a:latin typeface="Noto Sans KR"/>
              </a:rPr>
              <a:t>저항</a:t>
            </a:r>
            <a:r>
              <a:rPr sz="1275" b="1" i="0" u="none" dirty="0">
                <a:solidFill>
                  <a:srgbClr val="CBD5E1"/>
                </a:solidFill>
                <a:latin typeface="Noto Sans KR"/>
              </a:rPr>
              <a:t>: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펀드의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목적은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차익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실현이므로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주가가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반등할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때마다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대규모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전환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물량이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시장에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출회되어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1" i="0" u="none" dirty="0" err="1">
                <a:solidFill>
                  <a:srgbClr val="F87171"/>
                </a:solidFill>
                <a:latin typeface="Noto Sans KR"/>
              </a:rPr>
              <a:t>주가</a:t>
            </a:r>
            <a:r>
              <a:rPr sz="1275" b="1" i="0" u="none" dirty="0">
                <a:solidFill>
                  <a:srgbClr val="F87171"/>
                </a:solidFill>
                <a:latin typeface="Noto Sans KR"/>
              </a:rPr>
              <a:t> </a:t>
            </a:r>
            <a:r>
              <a:rPr sz="1275" b="1" i="0" u="none" dirty="0" err="1">
                <a:solidFill>
                  <a:srgbClr val="F87171"/>
                </a:solidFill>
                <a:latin typeface="Noto Sans KR"/>
              </a:rPr>
              <a:t>상승을</a:t>
            </a:r>
            <a:r>
              <a:rPr sz="1275" b="1" i="0" u="none" dirty="0">
                <a:solidFill>
                  <a:srgbClr val="F87171"/>
                </a:solidFill>
                <a:latin typeface="Noto Sans KR"/>
              </a:rPr>
              <a:t> </a:t>
            </a:r>
            <a:r>
              <a:rPr sz="1275" b="1" i="0" u="none" dirty="0" err="1">
                <a:solidFill>
                  <a:srgbClr val="F87171"/>
                </a:solidFill>
                <a:latin typeface="Noto Sans KR"/>
              </a:rPr>
              <a:t>억제하는</a:t>
            </a:r>
            <a:r>
              <a:rPr sz="1275" b="1" i="0" u="none" dirty="0">
                <a:solidFill>
                  <a:srgbClr val="F87171"/>
                </a:solidFill>
                <a:latin typeface="Noto Sans KR"/>
              </a:rPr>
              <a:t> </a:t>
            </a:r>
            <a:r>
              <a:rPr sz="1275" b="1" i="0" u="none" dirty="0" err="1">
                <a:solidFill>
                  <a:srgbClr val="F87171"/>
                </a:solidFill>
                <a:latin typeface="Noto Sans KR"/>
              </a:rPr>
              <a:t>상단</a:t>
            </a:r>
            <a:r>
              <a:rPr sz="1275" b="1" i="0" u="none" dirty="0">
                <a:solidFill>
                  <a:srgbClr val="F87171"/>
                </a:solidFill>
                <a:latin typeface="Noto Sans KR"/>
              </a:rPr>
              <a:t> </a:t>
            </a:r>
            <a:r>
              <a:rPr sz="1275" b="1" i="0" u="none" dirty="0" err="1">
                <a:solidFill>
                  <a:srgbClr val="F87171"/>
                </a:solidFill>
                <a:latin typeface="Noto Sans KR"/>
              </a:rPr>
              <a:t>매물</a:t>
            </a:r>
            <a:r>
              <a:rPr sz="1275" b="1" i="0" u="none" dirty="0">
                <a:solidFill>
                  <a:srgbClr val="F87171"/>
                </a:solidFill>
                <a:latin typeface="Noto Sans KR"/>
              </a:rPr>
              <a:t> </a:t>
            </a:r>
            <a:r>
              <a:rPr sz="1275" b="1" i="0" u="none" dirty="0" err="1">
                <a:solidFill>
                  <a:srgbClr val="F87171"/>
                </a:solidFill>
                <a:latin typeface="Noto Sans KR"/>
              </a:rPr>
              <a:t>벽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으로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작용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1775" y="2741860"/>
            <a:ext cx="209550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10375" y="3165723"/>
            <a:ext cx="4467225" cy="807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3"/>
              </a:lnSpc>
            </a:pPr>
            <a:r>
              <a:rPr sz="1275" b="1" i="0" u="none" dirty="0">
                <a:solidFill>
                  <a:srgbClr val="CBD5E1"/>
                </a:solidFill>
                <a:latin typeface="Noto Sans KR"/>
              </a:rPr>
              <a:t>1,000억 원 </a:t>
            </a:r>
            <a:r>
              <a:rPr sz="1275" b="1" i="0" u="none" dirty="0" err="1">
                <a:solidFill>
                  <a:srgbClr val="CBD5E1"/>
                </a:solidFill>
                <a:latin typeface="Noto Sans KR"/>
              </a:rPr>
              <a:t>조달</a:t>
            </a:r>
            <a:r>
              <a:rPr sz="1275" b="1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1" i="0" u="none" dirty="0" err="1">
                <a:solidFill>
                  <a:srgbClr val="CBD5E1"/>
                </a:solidFill>
                <a:latin typeface="Noto Sans KR"/>
              </a:rPr>
              <a:t>목표</a:t>
            </a:r>
            <a:r>
              <a:rPr sz="1275" b="1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1" i="0" u="none" dirty="0" err="1">
                <a:solidFill>
                  <a:srgbClr val="CBD5E1"/>
                </a:solidFill>
                <a:latin typeface="Noto Sans KR"/>
              </a:rPr>
              <a:t>실패</a:t>
            </a:r>
            <a:r>
              <a:rPr sz="1275" b="1" i="0" u="none" dirty="0">
                <a:solidFill>
                  <a:srgbClr val="CBD5E1"/>
                </a:solidFill>
                <a:latin typeface="Noto Sans KR"/>
              </a:rPr>
              <a:t>: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당초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대규모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자금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조달을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추진했으나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lang="ko-KR" altLang="en-US" sz="1275" dirty="0" smtClean="0">
                <a:solidFill>
                  <a:srgbClr val="CBD5E1"/>
                </a:solidFill>
                <a:latin typeface="Noto Sans KR"/>
              </a:rPr>
              <a:t>최근 주가 하락으로 인한 </a:t>
            </a:r>
            <a:r>
              <a:rPr sz="1275" b="0" i="0" u="none" dirty="0" err="1" smtClean="0">
                <a:solidFill>
                  <a:srgbClr val="CBD5E1"/>
                </a:solidFill>
                <a:latin typeface="Noto Sans KR"/>
              </a:rPr>
              <a:t>흥행</a:t>
            </a:r>
            <a:r>
              <a:rPr sz="1275" b="0" i="0" u="none" dirty="0" smtClean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실패로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1" i="0" u="none" dirty="0">
                <a:solidFill>
                  <a:srgbClr val="F87171"/>
                </a:solidFill>
                <a:latin typeface="Noto Sans KR"/>
              </a:rPr>
              <a:t>375억 원 </a:t>
            </a:r>
            <a:r>
              <a:rPr sz="1275" b="1" i="0" u="none" dirty="0" err="1">
                <a:solidFill>
                  <a:srgbClr val="F87171"/>
                </a:solidFill>
                <a:latin typeface="Noto Sans KR"/>
              </a:rPr>
              <a:t>납입</a:t>
            </a:r>
            <a:r>
              <a:rPr sz="1275" b="1" i="0" u="none" dirty="0">
                <a:solidFill>
                  <a:srgbClr val="F87171"/>
                </a:solidFill>
                <a:latin typeface="Noto Sans KR"/>
              </a:rPr>
              <a:t> 후 </a:t>
            </a:r>
            <a:r>
              <a:rPr sz="1275" b="1" i="0" u="none" dirty="0" err="1">
                <a:solidFill>
                  <a:srgbClr val="F87171"/>
                </a:solidFill>
                <a:latin typeface="Noto Sans KR"/>
              </a:rPr>
              <a:t>추가</a:t>
            </a:r>
            <a:r>
              <a:rPr sz="1275" b="1" i="0" u="none" dirty="0">
                <a:solidFill>
                  <a:srgbClr val="F87171"/>
                </a:solidFill>
                <a:latin typeface="Noto Sans KR"/>
              </a:rPr>
              <a:t> </a:t>
            </a:r>
            <a:r>
              <a:rPr sz="1275" b="1" i="0" u="none" dirty="0" err="1">
                <a:solidFill>
                  <a:srgbClr val="F87171"/>
                </a:solidFill>
                <a:latin typeface="Noto Sans KR"/>
              </a:rPr>
              <a:t>발행</a:t>
            </a:r>
            <a:r>
              <a:rPr sz="1275" b="1" i="0" u="none" dirty="0">
                <a:solidFill>
                  <a:srgbClr val="F87171"/>
                </a:solidFill>
                <a:latin typeface="Noto Sans KR"/>
              </a:rPr>
              <a:t> </a:t>
            </a:r>
            <a:r>
              <a:rPr sz="1275" b="1" i="0" u="none" dirty="0" err="1">
                <a:solidFill>
                  <a:srgbClr val="F87171"/>
                </a:solidFill>
                <a:latin typeface="Noto Sans KR"/>
              </a:rPr>
              <a:t>잠정</a:t>
            </a:r>
            <a:r>
              <a:rPr sz="1275" b="1" i="0" u="none" dirty="0">
                <a:solidFill>
                  <a:srgbClr val="F87171"/>
                </a:solidFill>
                <a:latin typeface="Noto Sans KR"/>
              </a:rPr>
              <a:t> </a:t>
            </a:r>
            <a:r>
              <a:rPr sz="1275" b="1" i="0" u="none" dirty="0" err="1">
                <a:solidFill>
                  <a:srgbClr val="F87171"/>
                </a:solidFill>
                <a:latin typeface="Noto Sans KR"/>
              </a:rPr>
              <a:t>중단</a:t>
            </a:r>
            <a:r>
              <a:rPr sz="1275" b="1" i="0" u="none" dirty="0">
                <a:solidFill>
                  <a:srgbClr val="F87171"/>
                </a:solidFill>
                <a:latin typeface="Noto Sans KR"/>
              </a:rPr>
              <a:t>/</a:t>
            </a:r>
            <a:r>
              <a:rPr sz="1275" b="1" i="0" u="none" dirty="0" err="1">
                <a:solidFill>
                  <a:srgbClr val="F87171"/>
                </a:solidFill>
                <a:latin typeface="Noto Sans KR"/>
              </a:rPr>
              <a:t>철회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0374" y="4106986"/>
            <a:ext cx="4467225" cy="5096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3"/>
              </a:lnSpc>
            </a:pPr>
            <a:r>
              <a:rPr sz="1275" b="1" i="0" u="none" dirty="0" err="1">
                <a:solidFill>
                  <a:srgbClr val="CBD5E1"/>
                </a:solidFill>
                <a:latin typeface="Noto Sans KR"/>
              </a:rPr>
              <a:t>추가</a:t>
            </a:r>
            <a:r>
              <a:rPr sz="1275" b="1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1" i="0" u="none" dirty="0" err="1">
                <a:solidFill>
                  <a:srgbClr val="CBD5E1"/>
                </a:solidFill>
                <a:latin typeface="Noto Sans KR"/>
              </a:rPr>
              <a:t>자금난</a:t>
            </a:r>
            <a:r>
              <a:rPr sz="1275" b="1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1" i="0" u="none" dirty="0" err="1">
                <a:solidFill>
                  <a:srgbClr val="CBD5E1"/>
                </a:solidFill>
                <a:latin typeface="Noto Sans KR"/>
              </a:rPr>
              <a:t>우려</a:t>
            </a:r>
            <a:r>
              <a:rPr sz="1275" b="1" i="0" u="none" dirty="0">
                <a:solidFill>
                  <a:srgbClr val="CBD5E1"/>
                </a:solidFill>
                <a:latin typeface="Noto Sans KR"/>
              </a:rPr>
              <a:t>: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smtClean="0">
                <a:solidFill>
                  <a:srgbClr val="CBD5E1"/>
                </a:solidFill>
                <a:latin typeface="Noto Sans KR"/>
              </a:rPr>
              <a:t>'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이자율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0% +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리픽싱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불가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'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조건에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대한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시장의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거부감이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 smtClean="0">
                <a:solidFill>
                  <a:srgbClr val="CBD5E1"/>
                </a:solidFill>
                <a:latin typeface="Noto Sans KR"/>
              </a:rPr>
              <a:t>확인되어</a:t>
            </a:r>
            <a:r>
              <a:rPr lang="en-US" sz="1275" b="0" i="0" u="none" dirty="0" smtClean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1" i="0" u="none" dirty="0" err="1" smtClean="0">
                <a:solidFill>
                  <a:srgbClr val="F87171"/>
                </a:solidFill>
                <a:latin typeface="Noto Sans KR"/>
              </a:rPr>
              <a:t>추가</a:t>
            </a:r>
            <a:r>
              <a:rPr sz="1275" b="1" i="0" u="none" dirty="0" smtClean="0">
                <a:solidFill>
                  <a:srgbClr val="F87171"/>
                </a:solidFill>
                <a:latin typeface="Noto Sans KR"/>
              </a:rPr>
              <a:t> </a:t>
            </a:r>
            <a:r>
              <a:rPr sz="1275" b="1" i="0" u="none" dirty="0" err="1">
                <a:solidFill>
                  <a:srgbClr val="F87171"/>
                </a:solidFill>
                <a:latin typeface="Noto Sans KR"/>
              </a:rPr>
              <a:t>자금</a:t>
            </a:r>
            <a:r>
              <a:rPr sz="1275" b="1" i="0" u="none" dirty="0">
                <a:solidFill>
                  <a:srgbClr val="F87171"/>
                </a:solidFill>
                <a:latin typeface="Noto Sans KR"/>
              </a:rPr>
              <a:t> </a:t>
            </a:r>
            <a:r>
              <a:rPr sz="1275" b="1" i="0" u="none" dirty="0" err="1">
                <a:solidFill>
                  <a:srgbClr val="F87171"/>
                </a:solidFill>
                <a:latin typeface="Noto Sans KR"/>
              </a:rPr>
              <a:t>조달</a:t>
            </a:r>
            <a:r>
              <a:rPr sz="1275" b="1" i="0" u="none" dirty="0">
                <a:solidFill>
                  <a:srgbClr val="F87171"/>
                </a:solidFill>
                <a:latin typeface="Noto Sans KR"/>
              </a:rPr>
              <a:t> </a:t>
            </a:r>
            <a:r>
              <a:rPr sz="1275" b="1" i="0" u="none" dirty="0" err="1">
                <a:solidFill>
                  <a:srgbClr val="F87171"/>
                </a:solidFill>
                <a:latin typeface="Noto Sans KR"/>
              </a:rPr>
              <a:t>차질</a:t>
            </a:r>
            <a:r>
              <a:rPr sz="1275" b="1" i="0" u="none" dirty="0">
                <a:solidFill>
                  <a:srgbClr val="F87171"/>
                </a:solidFill>
                <a:latin typeface="Noto Sans KR"/>
              </a:rPr>
              <a:t> </a:t>
            </a:r>
            <a:r>
              <a:rPr sz="1275" b="1" i="0" u="none" dirty="0" err="1">
                <a:solidFill>
                  <a:srgbClr val="F87171"/>
                </a:solidFill>
                <a:latin typeface="Noto Sans KR"/>
              </a:rPr>
              <a:t>위험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증대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84773"/>
            <a:ext cx="1143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sz="900" b="0" i="0" u="none" dirty="0">
                <a:solidFill>
                  <a:srgbClr val="EF4444"/>
                </a:solidFill>
                <a:latin typeface="Noto Sans KR"/>
              </a:rPr>
              <a:t>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38612"/>
            <a:ext cx="1143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sz="900" b="0" i="0" u="none" dirty="0">
                <a:solidFill>
                  <a:srgbClr val="EF4444"/>
                </a:solidFill>
                <a:latin typeface="Noto Sans KR"/>
              </a:rPr>
              <a:t>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1775" y="3184773"/>
            <a:ext cx="1143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sz="900" b="0" i="0" u="none" dirty="0">
                <a:solidFill>
                  <a:srgbClr val="EF4444"/>
                </a:solidFill>
                <a:latin typeface="Noto Sans KR"/>
              </a:rPr>
              <a:t>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7675" y="4121220"/>
            <a:ext cx="1143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sz="900" b="0" i="0" u="none" dirty="0">
                <a:solidFill>
                  <a:srgbClr val="EF4444"/>
                </a:solidFill>
                <a:latin typeface="Noto Sans KR"/>
              </a:rPr>
              <a:t>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950" y="476250"/>
            <a:ext cx="11421427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550" b="1" i="0" u="none" dirty="0" smtClean="0">
                <a:solidFill>
                  <a:srgbClr val="F8FAFC"/>
                </a:solidFill>
                <a:latin typeface="Poppins"/>
              </a:rPr>
              <a:t>650</a:t>
            </a:r>
            <a:r>
              <a:rPr lang="ko-KR" altLang="en-US" sz="2550" b="1" i="0" u="none" dirty="0" smtClean="0">
                <a:solidFill>
                  <a:srgbClr val="F8FAFC"/>
                </a:solidFill>
                <a:latin typeface="Poppins"/>
              </a:rPr>
              <a:t>억의 </a:t>
            </a:r>
            <a:r>
              <a:rPr lang="ko-KR" altLang="en-US" sz="2550" b="1" dirty="0" smtClean="0">
                <a:solidFill>
                  <a:srgbClr val="F8FAFC"/>
                </a:solidFill>
                <a:latin typeface="Poppins"/>
              </a:rPr>
              <a:t>전환사채 발행</a:t>
            </a:r>
            <a:endParaRPr sz="2550" b="1" i="0" u="none" dirty="0">
              <a:solidFill>
                <a:srgbClr val="F8FAFC"/>
              </a:solidFill>
              <a:latin typeface="Poppin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71500" y="476250"/>
            <a:ext cx="47625" cy="5048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7838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75964" y="2676569"/>
            <a:ext cx="1383323" cy="126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3045241" y="2676569"/>
            <a:ext cx="1014046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dirty="0">
                <a:solidFill>
                  <a:srgbClr val="38BDF8"/>
                </a:solidFill>
                <a:latin typeface="Noto Sans KR"/>
                <a:ea typeface="Noto Sans KR"/>
                <a:sym typeface="Noto Sans KR"/>
              </a:rPr>
              <a:t>4</a:t>
            </a:r>
            <a:endParaRPr sz="8800" dirty="0">
              <a:latin typeface="맑은 고딕" panose="020B0503020000020004" pitchFamily="50" charset="-127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4207548" y="2798868"/>
            <a:ext cx="1053490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600" b="1" dirty="0" smtClean="0">
                <a:solidFill>
                  <a:srgbClr val="F8FAFC"/>
                </a:solidFill>
                <a:latin typeface="Noto Sans KR"/>
                <a:ea typeface="Noto Sans KR"/>
                <a:sym typeface="Noto Sans KR"/>
              </a:rPr>
              <a:t>     결론</a:t>
            </a:r>
            <a:endParaRPr sz="660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8671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4"/>
          <p:cNvSpPr txBox="1"/>
          <p:nvPr/>
        </p:nvSpPr>
        <p:spPr>
          <a:xfrm>
            <a:off x="1701105" y="2661493"/>
            <a:ext cx="8789640" cy="1249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 smtClean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r>
              <a:rPr lang="en-US" sz="2800" b="0" i="0" u="none" strike="noStrike" cap="none" dirty="0" err="1" smtClean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재료</a:t>
            </a:r>
            <a:r>
              <a:rPr lang="en-US" sz="2800" b="0" i="0" u="none" strike="noStrike" cap="none" dirty="0" smtClean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800" b="0" i="0" u="none" strike="noStrike" cap="none" dirty="0" err="1" smtClean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소멸</a:t>
            </a:r>
            <a:r>
              <a:rPr lang="ko-KR" altLang="en-US" sz="2800" dirty="0" smtClean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인가</a:t>
            </a:r>
            <a:r>
              <a:rPr lang="en-US" sz="2800" b="0" i="0" u="none" strike="noStrike" cap="none" dirty="0" smtClean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?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b="0" i="0" u="none" strike="noStrike" cap="none" dirty="0" err="1" smtClean="0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우주</a:t>
            </a:r>
            <a:r>
              <a:rPr lang="en-US" sz="2800" b="0" i="0" u="none" strike="noStrike" cap="none" dirty="0" smtClean="0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800" b="0" i="0" u="none" strike="noStrike" cap="none" dirty="0" err="1" smtClean="0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산업의</a:t>
            </a:r>
            <a:r>
              <a:rPr lang="en-US" sz="2800" b="0" i="0" u="none" strike="noStrike" cap="none" dirty="0" smtClean="0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2800" dirty="0" smtClean="0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시작점</a:t>
            </a:r>
            <a:r>
              <a:rPr lang="en-US" sz="2800" b="0" i="0" u="none" strike="noStrike" cap="none" dirty="0" err="1" smtClean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인가</a:t>
            </a:r>
            <a:r>
              <a:rPr lang="en-US" sz="2800" b="0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?"</a:t>
            </a:r>
            <a:endParaRPr sz="2800" dirty="0">
              <a:latin typeface="맑은 고딕" panose="020B0503020000020004" pitchFamily="50" charset="-127"/>
            </a:endParaRPr>
          </a:p>
        </p:txBody>
      </p:sp>
      <p:sp>
        <p:nvSpPr>
          <p:cNvPr id="245" name="Google Shape;245;p24"/>
          <p:cNvSpPr txBox="1"/>
          <p:nvPr/>
        </p:nvSpPr>
        <p:spPr>
          <a:xfrm>
            <a:off x="1367774" y="4521434"/>
            <a:ext cx="9675363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이제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막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개막하는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우주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산업의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초입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단계</a:t>
            </a:r>
            <a:endParaRPr sz="1800" dirty="0">
              <a:solidFill>
                <a:srgbClr val="CBD5E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ctr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단순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기대감을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넘어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1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1.5조 </a:t>
            </a:r>
            <a:r>
              <a:rPr lang="en-US" sz="1800" b="1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원의</a:t>
            </a:r>
            <a:r>
              <a:rPr lang="en-US" sz="1800" b="1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1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확실한</a:t>
            </a:r>
            <a:r>
              <a:rPr lang="en-US" sz="1800" b="1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1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수주</a:t>
            </a:r>
            <a:r>
              <a:rPr lang="en-US" sz="1800" b="1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1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잔고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800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1800" dirty="0" err="1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스타십</a:t>
            </a:r>
            <a:r>
              <a:rPr lang="ko-KR" altLang="en-US" sz="1800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발사 증가로 증명되고있는 </a:t>
            </a:r>
            <a:r>
              <a:rPr lang="en-US" altLang="ko-KR" sz="1800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26</a:t>
            </a:r>
            <a:r>
              <a:rPr lang="ko-KR" altLang="en-US" sz="1800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년의 매출</a:t>
            </a:r>
            <a:endParaRPr lang="en-US" sz="1800" dirty="0">
              <a:solidFill>
                <a:srgbClr val="CBD5E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ctr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산업</a:t>
            </a:r>
            <a:r>
              <a:rPr lang="en-US" sz="1800" b="0" i="0" u="none" strike="noStrike" cap="none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성장의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상방이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1800" b="0" i="0" u="none" strike="noStrike" cap="none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크게 </a:t>
            </a:r>
            <a:r>
              <a:rPr lang="ko-KR" altLang="en-US" sz="1800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열려있는</a:t>
            </a:r>
            <a:r>
              <a:rPr lang="en-US" sz="1800" b="0" i="0" u="none" strike="noStrike" cap="none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독보적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우주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1800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소재 </a:t>
            </a:r>
            <a:r>
              <a:rPr lang="ko-KR" altLang="en-US" sz="1800" dirty="0" err="1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공급망</a:t>
            </a:r>
            <a:r>
              <a:rPr lang="en-US" sz="1800" b="0" i="0" u="none" strike="noStrike" cap="none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기업</a:t>
            </a:r>
            <a:endParaRPr sz="1800" dirty="0">
              <a:latin typeface="맑은 고딕" panose="020B0503020000020004" pitchFamily="50" charset="-127"/>
            </a:endParaRPr>
          </a:p>
        </p:txBody>
      </p:sp>
      <p:sp>
        <p:nvSpPr>
          <p:cNvPr id="246" name="Google Shape;246;p24"/>
          <p:cNvSpPr txBox="1"/>
          <p:nvPr/>
        </p:nvSpPr>
        <p:spPr>
          <a:xfrm>
            <a:off x="1272480" y="2899618"/>
            <a:ext cx="287535" cy="9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75" b="0" i="0" u="none" strike="noStrike" cap="none" dirty="0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endParaRPr dirty="0">
              <a:latin typeface="맑은 고딕" panose="020B0503020000020004" pitchFamily="50" charset="-127"/>
            </a:endParaRPr>
          </a:p>
        </p:txBody>
      </p:sp>
      <p:sp>
        <p:nvSpPr>
          <p:cNvPr id="247" name="Google Shape;247;p24"/>
          <p:cNvSpPr txBox="1"/>
          <p:nvPr/>
        </p:nvSpPr>
        <p:spPr>
          <a:xfrm>
            <a:off x="10631831" y="3449984"/>
            <a:ext cx="287535" cy="9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75" b="0" i="0" u="none" strike="noStrike" cap="none" dirty="0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endParaRPr dirty="0">
              <a:latin typeface="맑은 고딕" panose="020B0503020000020004" pitchFamily="50" charset="-127"/>
            </a:endParaRPr>
          </a:p>
        </p:txBody>
      </p:sp>
      <p:sp>
        <p:nvSpPr>
          <p:cNvPr id="248" name="Google Shape;248;p24"/>
          <p:cNvSpPr txBox="1"/>
          <p:nvPr/>
        </p:nvSpPr>
        <p:spPr>
          <a:xfrm>
            <a:off x="676275" y="438150"/>
            <a:ext cx="11515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최종</a:t>
            </a:r>
            <a:r>
              <a:rPr lang="en-US" sz="24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투자</a:t>
            </a:r>
            <a:r>
              <a:rPr lang="en-US" sz="24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판단</a:t>
            </a:r>
            <a:endParaRPr dirty="0">
              <a:latin typeface="맑은 고딕" panose="020B0503020000020004" pitchFamily="50" charset="-127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533400" y="438150"/>
            <a:ext cx="47625" cy="419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4207548" y="2798868"/>
            <a:ext cx="1053490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600" b="1" dirty="0" smtClean="0">
                <a:solidFill>
                  <a:srgbClr val="F8FAFC"/>
                </a:solidFill>
                <a:latin typeface="Noto Sans KR"/>
                <a:ea typeface="Noto Sans KR"/>
                <a:sym typeface="Noto Sans KR"/>
              </a:rPr>
              <a:t>     </a:t>
            </a:r>
            <a:r>
              <a:rPr lang="en-US" altLang="ko-KR" sz="6600" b="1" dirty="0" smtClean="0">
                <a:solidFill>
                  <a:srgbClr val="F8FAFC"/>
                </a:solidFill>
                <a:latin typeface="Noto Sans KR"/>
                <a:ea typeface="Noto Sans KR"/>
                <a:sym typeface="Noto Sans KR"/>
              </a:rPr>
              <a:t>Q&amp;A</a:t>
            </a:r>
            <a:endParaRPr sz="660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384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AppVersion>12.000</AppVersion>
  <Characters>0</Characters>
  <CharactersWithSpaces>0</CharactersWithSpaces>
  <DocSecurity>0</DocSecurity>
  <HyperlinksChanged>false</HyperlinksChanged>
  <Lines>0</Lines>
  <LinksUpToDate>false</LinksUpToDate>
  <Pages>20</Pages>
  <Paragraphs>98</Paragraphs>
  <Words>899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트렌드핏</dc:creator>
  <cp:lastModifiedBy>트렌드핏</cp:lastModifiedBy>
  <dc:title>PowerPoint 프레젠테이션</dc:title>
  <dcterms:modified xsi:type="dcterms:W3CDTF">2026-07-25T16:59:52Z</dcterms:modified>
</cp:coreProperties>
</file>