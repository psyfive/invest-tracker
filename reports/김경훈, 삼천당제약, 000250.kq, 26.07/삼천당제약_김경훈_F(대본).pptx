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9" r:id="rId4"/>
    <p:sldId id="305" r:id="rId5"/>
    <p:sldId id="310" r:id="rId6"/>
    <p:sldId id="307" r:id="rId7"/>
    <p:sldId id="306" r:id="rId8"/>
    <p:sldId id="308"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92" r:id="rId22"/>
    <p:sldId id="279" r:id="rId23"/>
    <p:sldId id="283" r:id="rId24"/>
    <p:sldId id="284" r:id="rId25"/>
    <p:sldId id="285" r:id="rId26"/>
    <p:sldId id="289" r:id="rId27"/>
    <p:sldId id="290" r:id="rId28"/>
    <p:sldId id="312" r:id="rId29"/>
    <p:sldId id="291" r:id="rId30"/>
    <p:sldId id="313" r:id="rId31"/>
    <p:sldId id="311" r:id="rId32"/>
    <p:sldId id="318" r:id="rId33"/>
    <p:sldId id="314" r:id="rId34"/>
    <p:sldId id="317"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8" autoAdjust="0"/>
    <p:restoredTop sz="80073" autoAdjust="0"/>
  </p:normalViewPr>
  <p:slideViewPr>
    <p:cSldViewPr snapToGrid="0">
      <p:cViewPr varScale="1">
        <p:scale>
          <a:sx n="71" d="100"/>
          <a:sy n="71" d="100"/>
        </p:scale>
        <p:origin x="93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e32445548f278b68" providerId="LiveId" clId="{DE9EE4BC-276A-4130-98D9-6DE76ABB55DC}"/>
    <pc:docChg chg="custSel modSld">
      <pc:chgData name="?? ?" userId="e32445548f278b68" providerId="LiveId" clId="{DE9EE4BC-276A-4130-98D9-6DE76ABB55DC}" dt="2026-07-26T03:56:08.072" v="1" actId="26606"/>
      <pc:docMkLst>
        <pc:docMk/>
      </pc:docMkLst>
      <pc:sldChg chg="addSp modSp mod">
        <pc:chgData name="?? ?" userId="e32445548f278b68" providerId="LiveId" clId="{DE9EE4BC-276A-4130-98D9-6DE76ABB55DC}" dt="2026-07-23T08:23:49.780" v="0" actId="26606"/>
        <pc:sldMkLst>
          <pc:docMk/>
          <pc:sldMk cId="0" sldId="285"/>
        </pc:sldMkLst>
        <pc:spChg chg="mod">
          <ac:chgData name="?? ?" userId="e32445548f278b68" providerId="LiveId" clId="{DE9EE4BC-276A-4130-98D9-6DE76ABB55DC}" dt="2026-07-23T08:23:49.780" v="0" actId="26606"/>
          <ac:spMkLst>
            <pc:docMk/>
            <pc:sldMk cId="0" sldId="285"/>
            <ac:spMk id="9" creationId="{00000000-0000-0000-0000-000000000000}"/>
          </ac:spMkLst>
        </pc:spChg>
        <pc:spChg chg="mod">
          <ac:chgData name="?? ?" userId="e32445548f278b68" providerId="LiveId" clId="{DE9EE4BC-276A-4130-98D9-6DE76ABB55DC}" dt="2026-07-23T08:23:49.780" v="0" actId="26606"/>
          <ac:spMkLst>
            <pc:docMk/>
            <pc:sldMk cId="0" sldId="285"/>
            <ac:spMk id="203" creationId="{00000000-0000-0000-0000-000000000000}"/>
          </ac:spMkLst>
        </pc:spChg>
        <pc:spChg chg="mod">
          <ac:chgData name="?? ?" userId="e32445548f278b68" providerId="LiveId" clId="{DE9EE4BC-276A-4130-98D9-6DE76ABB55DC}" dt="2026-07-23T08:23:49.780" v="0" actId="26606"/>
          <ac:spMkLst>
            <pc:docMk/>
            <pc:sldMk cId="0" sldId="285"/>
            <ac:spMk id="204" creationId="{00000000-0000-0000-0000-000000000000}"/>
          </ac:spMkLst>
        </pc:spChg>
        <pc:spChg chg="mod">
          <ac:chgData name="?? ?" userId="e32445548f278b68" providerId="LiveId" clId="{DE9EE4BC-276A-4130-98D9-6DE76ABB55DC}" dt="2026-07-23T08:23:49.780" v="0" actId="26606"/>
          <ac:spMkLst>
            <pc:docMk/>
            <pc:sldMk cId="0" sldId="285"/>
            <ac:spMk id="205" creationId="{00000000-0000-0000-0000-000000000000}"/>
          </ac:spMkLst>
        </pc:spChg>
        <pc:spChg chg="add">
          <ac:chgData name="?? ?" userId="e32445548f278b68" providerId="LiveId" clId="{DE9EE4BC-276A-4130-98D9-6DE76ABB55DC}" dt="2026-07-23T08:23:49.780" v="0" actId="26606"/>
          <ac:spMkLst>
            <pc:docMk/>
            <pc:sldMk cId="0" sldId="285"/>
            <ac:spMk id="251" creationId="{00000000-0000-0000-0000-000000000000}"/>
          </ac:spMkLst>
        </pc:spChg>
        <pc:spChg chg="add">
          <ac:chgData name="?? ?" userId="e32445548f278b68" providerId="LiveId" clId="{DE9EE4BC-276A-4130-98D9-6DE76ABB55DC}" dt="2026-07-23T08:23:49.780" v="0" actId="26606"/>
          <ac:spMkLst>
            <pc:docMk/>
            <pc:sldMk cId="0" sldId="285"/>
            <ac:spMk id="252" creationId="{00000000-0000-0000-0000-000000000000}"/>
          </ac:spMkLst>
        </pc:spChg>
        <pc:spChg chg="add">
          <ac:chgData name="?? ?" userId="e32445548f278b68" providerId="LiveId" clId="{DE9EE4BC-276A-4130-98D9-6DE76ABB55DC}" dt="2026-07-23T08:23:49.780" v="0" actId="26606"/>
          <ac:spMkLst>
            <pc:docMk/>
            <pc:sldMk cId="0" sldId="285"/>
            <ac:spMk id="254" creationId="{00000000-0000-0000-0000-000000000000}"/>
          </ac:spMkLst>
        </pc:spChg>
        <pc:spChg chg="mod">
          <ac:chgData name="?? ?" userId="e32445548f278b68" providerId="LiveId" clId="{DE9EE4BC-276A-4130-98D9-6DE76ABB55DC}" dt="2026-07-23T08:23:49.780" v="0" actId="26606"/>
          <ac:spMkLst>
            <pc:docMk/>
            <pc:sldMk cId="0" sldId="285"/>
            <ac:spMk id="400" creationId="{00000000-0000-0000-0000-000000000000}"/>
          </ac:spMkLst>
        </pc:spChg>
        <pc:spChg chg="mod">
          <ac:chgData name="?? ?" userId="e32445548f278b68" providerId="LiveId" clId="{DE9EE4BC-276A-4130-98D9-6DE76ABB55DC}" dt="2026-07-23T08:23:49.780" v="0" actId="26606"/>
          <ac:spMkLst>
            <pc:docMk/>
            <pc:sldMk cId="0" sldId="285"/>
            <ac:spMk id="401" creationId="{00000000-0000-0000-0000-000000000000}"/>
          </ac:spMkLst>
        </pc:spChg>
        <pc:spChg chg="mod">
          <ac:chgData name="?? ?" userId="e32445548f278b68" providerId="LiveId" clId="{DE9EE4BC-276A-4130-98D9-6DE76ABB55DC}" dt="2026-07-23T08:23:49.780" v="0" actId="26606"/>
          <ac:spMkLst>
            <pc:docMk/>
            <pc:sldMk cId="0" sldId="285"/>
            <ac:spMk id="402" creationId="{00000000-0000-0000-0000-000000000000}"/>
          </ac:spMkLst>
        </pc:spChg>
      </pc:sldChg>
      <pc:sldChg chg="addSp modSp mod modNotes">
        <pc:chgData name="?? ?" userId="e32445548f278b68" providerId="LiveId" clId="{DE9EE4BC-276A-4130-98D9-6DE76ABB55DC}" dt="2026-07-26T03:56:08.072" v="1" actId="26606"/>
        <pc:sldMkLst>
          <pc:docMk/>
          <pc:sldMk cId="0" sldId="292"/>
        </pc:sldMkLst>
        <pc:spChg chg="mod">
          <ac:chgData name="?? ?" userId="e32445548f278b68" providerId="LiveId" clId="{DE9EE4BC-276A-4130-98D9-6DE76ABB55DC}" dt="2026-07-26T03:56:08.072" v="1" actId="26606"/>
          <ac:spMkLst>
            <pc:docMk/>
            <pc:sldMk cId="0" sldId="292"/>
            <ac:spMk id="7" creationId="{00000000-0000-0000-0000-000000000000}"/>
          </ac:spMkLst>
        </pc:spChg>
        <pc:spChg chg="mod">
          <ac:chgData name="?? ?" userId="e32445548f278b68" providerId="LiveId" clId="{DE9EE4BC-276A-4130-98D9-6DE76ABB55DC}" dt="2026-07-26T03:56:08.072" v="1" actId="26606"/>
          <ac:spMkLst>
            <pc:docMk/>
            <pc:sldMk cId="0" sldId="292"/>
            <ac:spMk id="9" creationId="{00000000-0000-0000-0000-000000000000}"/>
          </ac:spMkLst>
        </pc:spChg>
        <pc:spChg chg="mod">
          <ac:chgData name="?? ?" userId="e32445548f278b68" providerId="LiveId" clId="{DE9EE4BC-276A-4130-98D9-6DE76ABB55DC}" dt="2026-07-26T03:56:08.072" v="1" actId="26606"/>
          <ac:spMkLst>
            <pc:docMk/>
            <pc:sldMk cId="0" sldId="292"/>
            <ac:spMk id="10" creationId="{00000000-0000-0000-0000-000000000000}"/>
          </ac:spMkLst>
        </pc:spChg>
        <pc:spChg chg="mod">
          <ac:chgData name="?? ?" userId="e32445548f278b68" providerId="LiveId" clId="{DE9EE4BC-276A-4130-98D9-6DE76ABB55DC}" dt="2026-07-26T03:56:08.072" v="1" actId="26606"/>
          <ac:spMkLst>
            <pc:docMk/>
            <pc:sldMk cId="0" sldId="292"/>
            <ac:spMk id="12" creationId="{00000000-0000-0000-0000-000000000000}"/>
          </ac:spMkLst>
        </pc:spChg>
        <pc:spChg chg="mod">
          <ac:chgData name="?? ?" userId="e32445548f278b68" providerId="LiveId" clId="{DE9EE4BC-276A-4130-98D9-6DE76ABB55DC}" dt="2026-07-26T03:56:08.072" v="1" actId="26606"/>
          <ac:spMkLst>
            <pc:docMk/>
            <pc:sldMk cId="0" sldId="292"/>
            <ac:spMk id="13" creationId="{00000000-0000-0000-0000-000000000000}"/>
          </ac:spMkLst>
        </pc:spChg>
        <pc:spChg chg="mod">
          <ac:chgData name="?? ?" userId="e32445548f278b68" providerId="LiveId" clId="{DE9EE4BC-276A-4130-98D9-6DE76ABB55DC}" dt="2026-07-26T03:56:08.072" v="1" actId="26606"/>
          <ac:spMkLst>
            <pc:docMk/>
            <pc:sldMk cId="0" sldId="292"/>
            <ac:spMk id="15" creationId="{00000000-0000-0000-0000-000000000000}"/>
          </ac:spMkLst>
        </pc:spChg>
        <pc:spChg chg="mod">
          <ac:chgData name="?? ?" userId="e32445548f278b68" providerId="LiveId" clId="{DE9EE4BC-276A-4130-98D9-6DE76ABB55DC}" dt="2026-07-26T03:56:08.072" v="1" actId="26606"/>
          <ac:spMkLst>
            <pc:docMk/>
            <pc:sldMk cId="0" sldId="292"/>
            <ac:spMk id="16" creationId="{00000000-0000-0000-0000-000000000000}"/>
          </ac:spMkLst>
        </pc:spChg>
        <pc:spChg chg="mod">
          <ac:chgData name="?? ?" userId="e32445548f278b68" providerId="LiveId" clId="{DE9EE4BC-276A-4130-98D9-6DE76ABB55DC}" dt="2026-07-26T03:56:08.072" v="1" actId="26606"/>
          <ac:spMkLst>
            <pc:docMk/>
            <pc:sldMk cId="0" sldId="292"/>
            <ac:spMk id="18" creationId="{00000000-0000-0000-0000-000000000000}"/>
          </ac:spMkLst>
        </pc:spChg>
        <pc:spChg chg="add">
          <ac:chgData name="?? ?" userId="e32445548f278b68" providerId="LiveId" clId="{DE9EE4BC-276A-4130-98D9-6DE76ABB55DC}" dt="2026-07-26T03:56:08.072" v="1" actId="26606"/>
          <ac:spMkLst>
            <pc:docMk/>
            <pc:sldMk cId="0" sldId="292"/>
            <ac:spMk id="19" creationId="{00000000-0000-0000-0000-000000000000}"/>
          </ac:spMkLst>
        </pc:spChg>
        <pc:spChg chg="add">
          <ac:chgData name="?? ?" userId="e32445548f278b68" providerId="LiveId" clId="{DE9EE4BC-276A-4130-98D9-6DE76ABB55DC}" dt="2026-07-26T03:56:08.072" v="1" actId="26606"/>
          <ac:spMkLst>
            <pc:docMk/>
            <pc:sldMk cId="0" sldId="292"/>
            <ac:spMk id="20" creationId="{00000000-0000-0000-0000-000000000000}"/>
          </ac:spMkLst>
        </pc:spChg>
      </pc:sldChg>
      <pc:sldChg chg="modSp mod">
        <pc:chgData name="?? ?" userId="e32445548f278b68" providerId="LiveId" clId="{DE9EE4BC-276A-4130-98D9-6DE76ABB55DC}" dt="2026-07-23T08:23:49.780" v="0" actId="26606"/>
        <pc:sldMkLst>
          <pc:docMk/>
          <pc:sldMk cId="0" sldId="311"/>
        </pc:sldMkLst>
        <pc:spChg chg="mod">
          <ac:chgData name="?? ?" userId="e32445548f278b68" providerId="LiveId" clId="{DE9EE4BC-276A-4130-98D9-6DE76ABB55DC}" dt="2026-07-23T08:23:49.780" v="0" actId="26606"/>
          <ac:spMkLst>
            <pc:docMk/>
            <pc:sldMk cId="0" sldId="311"/>
            <ac:spMk id="50" creationId="{00000000-0000-0000-0000-000000000000}"/>
          </ac:spMkLst>
        </pc:spChg>
        <pc:spChg chg="mod">
          <ac:chgData name="?? ?" userId="e32445548f278b68" providerId="LiveId" clId="{DE9EE4BC-276A-4130-98D9-6DE76ABB55DC}" dt="2026-07-23T08:23:49.780" v="0" actId="26606"/>
          <ac:spMkLst>
            <pc:docMk/>
            <pc:sldMk cId="0" sldId="311"/>
            <ac:spMk id="51" creationId="{00000000-0000-0000-0000-000000000000}"/>
          </ac:spMkLst>
        </pc:spChg>
        <pc:spChg chg="mod">
          <ac:chgData name="?? ?" userId="e32445548f278b68" providerId="LiveId" clId="{DE9EE4BC-276A-4130-98D9-6DE76ABB55DC}" dt="2026-07-23T08:23:49.780" v="0" actId="26606"/>
          <ac:spMkLst>
            <pc:docMk/>
            <pc:sldMk cId="0" sldId="311"/>
            <ac:spMk id="52" creationId="{00000000-0000-0000-0000-000000000000}"/>
          </ac:spMkLst>
        </pc:spChg>
        <pc:spChg chg="mod">
          <ac:chgData name="?? ?" userId="e32445548f278b68" providerId="LiveId" clId="{DE9EE4BC-276A-4130-98D9-6DE76ABB55DC}" dt="2026-07-23T08:23:49.780" v="0" actId="26606"/>
          <ac:spMkLst>
            <pc:docMk/>
            <pc:sldMk cId="0" sldId="311"/>
            <ac:spMk id="61" creationId="{00000000-0000-0000-0000-000000000000}"/>
          </ac:spMkLst>
        </pc:spChg>
        <pc:spChg chg="mod">
          <ac:chgData name="?? ?" userId="e32445548f278b68" providerId="LiveId" clId="{DE9EE4BC-276A-4130-98D9-6DE76ABB55DC}" dt="2026-07-23T08:23:49.780" v="0" actId="26606"/>
          <ac:spMkLst>
            <pc:docMk/>
            <pc:sldMk cId="0" sldId="311"/>
            <ac:spMk id="62" creationId="{00000000-0000-0000-0000-000000000000}"/>
          </ac:spMkLst>
        </pc:spChg>
        <pc:spChg chg="mod">
          <ac:chgData name="?? ?" userId="e32445548f278b68" providerId="LiveId" clId="{DE9EE4BC-276A-4130-98D9-6DE76ABB55DC}" dt="2026-07-23T08:23:49.780" v="0" actId="26606"/>
          <ac:spMkLst>
            <pc:docMk/>
            <pc:sldMk cId="0" sldId="311"/>
            <ac:spMk id="63" creationId="{00000000-0000-0000-0000-000000000000}"/>
          </ac:spMkLst>
        </pc:spChg>
        <pc:spChg chg="mod">
          <ac:chgData name="?? ?" userId="e32445548f278b68" providerId="LiveId" clId="{DE9EE4BC-276A-4130-98D9-6DE76ABB55DC}" dt="2026-07-23T08:23:49.780" v="0" actId="26606"/>
          <ac:spMkLst>
            <pc:docMk/>
            <pc:sldMk cId="0" sldId="311"/>
            <ac:spMk id="70" creationId="{00000000-0000-0000-0000-000000000000}"/>
          </ac:spMkLst>
        </pc:spChg>
        <pc:graphicFrameChg chg="mod modGraphic">
          <ac:chgData name="?? ?" userId="e32445548f278b68" providerId="LiveId" clId="{DE9EE4BC-276A-4130-98D9-6DE76ABB55DC}" dt="2026-07-23T08:23:49.780" v="0" actId="26606"/>
          <ac:graphicFrameMkLst>
            <pc:docMk/>
            <pc:sldMk cId="0" sldId="311"/>
            <ac:graphicFrameMk id="80" creationId="{00000000-0000-0000-0000-000000000000}"/>
          </ac:graphicFrameMkLst>
        </pc:graphicFrameChg>
      </pc:sldChg>
      <pc:sldChg chg="addSp modSp mod">
        <pc:chgData name="?? ?" userId="e32445548f278b68" providerId="LiveId" clId="{DE9EE4BC-276A-4130-98D9-6DE76ABB55DC}" dt="2026-07-23T08:23:49.780" v="0" actId="26606"/>
        <pc:sldMkLst>
          <pc:docMk/>
          <pc:sldMk cId="4100635082" sldId="313"/>
        </pc:sldMkLst>
        <pc:spChg chg="mod">
          <ac:chgData name="?? ?" userId="e32445548f278b68" providerId="LiveId" clId="{DE9EE4BC-276A-4130-98D9-6DE76ABB55DC}" dt="2026-07-23T08:23:49.780" v="0" actId="26606"/>
          <ac:spMkLst>
            <pc:docMk/>
            <pc:sldMk cId="4100635082" sldId="313"/>
            <ac:spMk id="10" creationId="{00000000-0000-0000-0000-000000000000}"/>
          </ac:spMkLst>
        </pc:spChg>
        <pc:spChg chg="mod">
          <ac:chgData name="?? ?" userId="e32445548f278b68" providerId="LiveId" clId="{DE9EE4BC-276A-4130-98D9-6DE76ABB55DC}" dt="2026-07-23T08:23:49.780" v="0" actId="26606"/>
          <ac:spMkLst>
            <pc:docMk/>
            <pc:sldMk cId="4100635082" sldId="313"/>
            <ac:spMk id="11" creationId="{00000000-0000-0000-0000-000000000000}"/>
          </ac:spMkLst>
        </pc:spChg>
        <pc:spChg chg="mod">
          <ac:chgData name="?? ?" userId="e32445548f278b68" providerId="LiveId" clId="{DE9EE4BC-276A-4130-98D9-6DE76ABB55DC}" dt="2026-07-23T08:23:49.780" v="0" actId="26606"/>
          <ac:spMkLst>
            <pc:docMk/>
            <pc:sldMk cId="4100635082" sldId="313"/>
            <ac:spMk id="15" creationId="{00000000-0000-0000-0000-000000000000}"/>
          </ac:spMkLst>
        </pc:spChg>
        <pc:spChg chg="mod">
          <ac:chgData name="?? ?" userId="e32445548f278b68" providerId="LiveId" clId="{DE9EE4BC-276A-4130-98D9-6DE76ABB55DC}" dt="2026-07-23T08:23:49.780" v="0" actId="26606"/>
          <ac:spMkLst>
            <pc:docMk/>
            <pc:sldMk cId="4100635082" sldId="313"/>
            <ac:spMk id="20" creationId="{00000000-0000-0000-0000-000000000000}"/>
          </ac:spMkLst>
        </pc:spChg>
        <pc:spChg chg="mod">
          <ac:chgData name="?? ?" userId="e32445548f278b68" providerId="LiveId" clId="{DE9EE4BC-276A-4130-98D9-6DE76ABB55DC}" dt="2026-07-23T08:23:49.780" v="0" actId="26606"/>
          <ac:spMkLst>
            <pc:docMk/>
            <pc:sldMk cId="4100635082" sldId="313"/>
            <ac:spMk id="24" creationId="{00000000-0000-0000-0000-000000000000}"/>
          </ac:spMkLst>
        </pc:spChg>
        <pc:spChg chg="mod">
          <ac:chgData name="?? ?" userId="e32445548f278b68" providerId="LiveId" clId="{DE9EE4BC-276A-4130-98D9-6DE76ABB55DC}" dt="2026-07-23T08:23:49.780" v="0" actId="26606"/>
          <ac:spMkLst>
            <pc:docMk/>
            <pc:sldMk cId="4100635082" sldId="313"/>
            <ac:spMk id="26" creationId="{00000000-0000-0000-0000-000000000000}"/>
          </ac:spMkLst>
        </pc:spChg>
        <pc:spChg chg="add">
          <ac:chgData name="?? ?" userId="e32445548f278b68" providerId="LiveId" clId="{DE9EE4BC-276A-4130-98D9-6DE76ABB55DC}" dt="2026-07-23T08:23:49.780" v="0" actId="26606"/>
          <ac:spMkLst>
            <pc:docMk/>
            <pc:sldMk cId="4100635082" sldId="313"/>
            <ac:spMk id="40" creationId="{00000000-0000-0000-0000-000000000000}"/>
          </ac:spMkLst>
        </pc:spChg>
        <pc:spChg chg="add">
          <ac:chgData name="?? ?" userId="e32445548f278b68" providerId="LiveId" clId="{DE9EE4BC-276A-4130-98D9-6DE76ABB55DC}" dt="2026-07-23T08:23:49.780" v="0" actId="26606"/>
          <ac:spMkLst>
            <pc:docMk/>
            <pc:sldMk cId="4100635082" sldId="313"/>
            <ac:spMk id="41" creationId="{00000000-0000-0000-0000-000000000000}"/>
          </ac:spMkLst>
        </pc:spChg>
        <pc:spChg chg="add">
          <ac:chgData name="?? ?" userId="e32445548f278b68" providerId="LiveId" clId="{DE9EE4BC-276A-4130-98D9-6DE76ABB55DC}" dt="2026-07-23T08:23:49.780" v="0" actId="26606"/>
          <ac:spMkLst>
            <pc:docMk/>
            <pc:sldMk cId="4100635082" sldId="313"/>
            <ac:spMk id="42" creationId="{00000000-0000-0000-0000-000000000000}"/>
          </ac:spMkLst>
        </pc:spChg>
        <pc:spChg chg="add">
          <ac:chgData name="?? ?" userId="e32445548f278b68" providerId="LiveId" clId="{DE9EE4BC-276A-4130-98D9-6DE76ABB55DC}" dt="2026-07-23T08:23:49.780" v="0" actId="26606"/>
          <ac:spMkLst>
            <pc:docMk/>
            <pc:sldMk cId="4100635082" sldId="313"/>
            <ac:spMk id="45" creationId="{00000000-0000-0000-0000-000000000000}"/>
          </ac:spMkLst>
        </pc:spChg>
      </pc:sldChg>
      <pc:sldChg chg="modSp mod">
        <pc:chgData name="?? ?" userId="e32445548f278b68" providerId="LiveId" clId="{DE9EE4BC-276A-4130-98D9-6DE76ABB55DC}" dt="2026-07-23T08:23:49.780" v="0" actId="26606"/>
        <pc:sldMkLst>
          <pc:docMk/>
          <pc:sldMk cId="0" sldId="317"/>
        </pc:sldMkLst>
        <pc:spChg chg="mod">
          <ac:chgData name="?? ?" userId="e32445548f278b68" providerId="LiveId" clId="{DE9EE4BC-276A-4130-98D9-6DE76ABB55DC}" dt="2026-07-23T08:23:49.780" v="0" actId="26606"/>
          <ac:spMkLst>
            <pc:docMk/>
            <pc:sldMk cId="0" sldId="317"/>
            <ac:spMk id="12" creationId="{00000000-0000-0000-0000-000000000000}"/>
          </ac:spMkLst>
        </pc:spChg>
        <pc:spChg chg="mod">
          <ac:chgData name="?? ?" userId="e32445548f278b68" providerId="LiveId" clId="{DE9EE4BC-276A-4130-98D9-6DE76ABB55DC}" dt="2026-07-23T08:23:49.780" v="0" actId="26606"/>
          <ac:spMkLst>
            <pc:docMk/>
            <pc:sldMk cId="0" sldId="317"/>
            <ac:spMk id="13" creationId="{00000000-0000-0000-0000-000000000000}"/>
          </ac:spMkLst>
        </pc:spChg>
        <pc:spChg chg="mod">
          <ac:chgData name="?? ?" userId="e32445548f278b68" providerId="LiveId" clId="{DE9EE4BC-276A-4130-98D9-6DE76ABB55DC}" dt="2026-07-23T08:23:49.780" v="0" actId="26606"/>
          <ac:spMkLst>
            <pc:docMk/>
            <pc:sldMk cId="0" sldId="317"/>
            <ac:spMk id="14" creationId="{00000000-0000-0000-0000-000000000000}"/>
          </ac:spMkLst>
        </pc:spChg>
        <pc:graphicFrameChg chg="mod modGraphic">
          <ac:chgData name="?? ?" userId="e32445548f278b68" providerId="LiveId" clId="{DE9EE4BC-276A-4130-98D9-6DE76ABB55DC}" dt="2026-07-23T08:23:49.780" v="0" actId="26606"/>
          <ac:graphicFrameMkLst>
            <pc:docMk/>
            <pc:sldMk cId="0" sldId="317"/>
            <ac:graphicFrameMk id="40" creationId="{00000000-0000-0000-0000-000000000000}"/>
          </ac:graphicFrameMkLst>
        </pc:graphicFrame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doughnutChart>
        <c:varyColors val="1"/>
        <c:ser>
          <c:idx val="0"/>
          <c:order val="0"/>
          <c:tx>
            <c:strRef>
              <c:f>Sheet1!$B$1</c:f>
              <c:strCache>
                <c:ptCount val="1"/>
                <c:pt idx="0">
                  <c:v>매출비중</c:v>
                </c:pt>
              </c:strCache>
            </c:strRef>
          </c:tx>
          <c:dPt>
            <c:idx val="0"/>
            <c:bubble3D val="0"/>
            <c:spPr>
              <a:solidFill>
                <a:srgbClr val="1D4ED8"/>
              </a:solidFill>
              <a:ln w="19050">
                <a:solidFill>
                  <a:srgbClr val="FFFFFF"/>
                </a:solidFill>
              </a:ln>
            </c:spPr>
            <c:extLst>
              <c:ext xmlns:c16="http://schemas.microsoft.com/office/drawing/2014/chart" uri="{C3380CC4-5D6E-409C-BE32-E72D297353CC}">
                <c16:uniqueId val="{00000001-8A31-4A59-A731-0CEBBC0FFA2B}"/>
              </c:ext>
            </c:extLst>
          </c:dPt>
          <c:dPt>
            <c:idx val="1"/>
            <c:bubble3D val="0"/>
            <c:spPr>
              <a:solidFill>
                <a:srgbClr val="64748B"/>
              </a:solidFill>
              <a:ln w="19050">
                <a:solidFill>
                  <a:srgbClr val="FFFFFF"/>
                </a:solidFill>
              </a:ln>
            </c:spPr>
            <c:extLst>
              <c:ext xmlns:c16="http://schemas.microsoft.com/office/drawing/2014/chart" uri="{C3380CC4-5D6E-409C-BE32-E72D297353CC}">
                <c16:uniqueId val="{00000003-8A31-4A59-A731-0CEBBC0FFA2B}"/>
              </c:ext>
            </c:extLst>
          </c:dPt>
          <c:dPt>
            <c:idx val="2"/>
            <c:bubble3D val="0"/>
            <c:spPr>
              <a:solidFill>
                <a:srgbClr val="7C8CA0"/>
              </a:solidFill>
              <a:ln w="19050">
                <a:solidFill>
                  <a:srgbClr val="FFFFFF"/>
                </a:solidFill>
              </a:ln>
            </c:spPr>
            <c:extLst>
              <c:ext xmlns:c16="http://schemas.microsoft.com/office/drawing/2014/chart" uri="{C3380CC4-5D6E-409C-BE32-E72D297353CC}">
                <c16:uniqueId val="{00000005-8A31-4A59-A731-0CEBBC0FFA2B}"/>
              </c:ext>
            </c:extLst>
          </c:dPt>
          <c:dPt>
            <c:idx val="3"/>
            <c:bubble3D val="0"/>
            <c:spPr>
              <a:solidFill>
                <a:srgbClr val="94A3B8"/>
              </a:solidFill>
              <a:ln w="19050">
                <a:solidFill>
                  <a:srgbClr val="FFFFFF"/>
                </a:solidFill>
              </a:ln>
            </c:spPr>
            <c:extLst>
              <c:ext xmlns:c16="http://schemas.microsoft.com/office/drawing/2014/chart" uri="{C3380CC4-5D6E-409C-BE32-E72D297353CC}">
                <c16:uniqueId val="{00000007-8A31-4A59-A731-0CEBBC0FFA2B}"/>
              </c:ext>
            </c:extLst>
          </c:dPt>
          <c:dPt>
            <c:idx val="4"/>
            <c:bubble3D val="0"/>
            <c:spPr>
              <a:solidFill>
                <a:srgbClr val="A8B4C4"/>
              </a:solidFill>
              <a:ln w="19050">
                <a:solidFill>
                  <a:srgbClr val="FFFFFF"/>
                </a:solidFill>
              </a:ln>
            </c:spPr>
            <c:extLst>
              <c:ext xmlns:c16="http://schemas.microsoft.com/office/drawing/2014/chart" uri="{C3380CC4-5D6E-409C-BE32-E72D297353CC}">
                <c16:uniqueId val="{00000009-8A31-4A59-A731-0CEBBC0FFA2B}"/>
              </c:ext>
            </c:extLst>
          </c:dPt>
          <c:dPt>
            <c:idx val="5"/>
            <c:bubble3D val="0"/>
            <c:spPr>
              <a:solidFill>
                <a:srgbClr val="B8C2D0"/>
              </a:solidFill>
              <a:ln w="19050">
                <a:solidFill>
                  <a:srgbClr val="FFFFFF"/>
                </a:solidFill>
              </a:ln>
            </c:spPr>
            <c:extLst>
              <c:ext xmlns:c16="http://schemas.microsoft.com/office/drawing/2014/chart" uri="{C3380CC4-5D6E-409C-BE32-E72D297353CC}">
                <c16:uniqueId val="{0000000B-8A31-4A59-A731-0CEBBC0FFA2B}"/>
              </c:ext>
            </c:extLst>
          </c:dPt>
          <c:dPt>
            <c:idx val="6"/>
            <c:bubble3D val="0"/>
            <c:spPr>
              <a:solidFill>
                <a:srgbClr val="C7CFD9"/>
              </a:solidFill>
              <a:ln w="19050">
                <a:solidFill>
                  <a:srgbClr val="FFFFFF"/>
                </a:solidFill>
              </a:ln>
            </c:spPr>
            <c:extLst>
              <c:ext xmlns:c16="http://schemas.microsoft.com/office/drawing/2014/chart" uri="{C3380CC4-5D6E-409C-BE32-E72D297353CC}">
                <c16:uniqueId val="{0000000D-8A31-4A59-A731-0CEBBC0FFA2B}"/>
              </c:ext>
            </c:extLst>
          </c:dPt>
          <c:dPt>
            <c:idx val="7"/>
            <c:bubble3D val="0"/>
            <c:spPr>
              <a:solidFill>
                <a:srgbClr val="CBD3DD"/>
              </a:solidFill>
              <a:ln w="19050">
                <a:solidFill>
                  <a:srgbClr val="FFFFFF"/>
                </a:solidFill>
              </a:ln>
            </c:spPr>
            <c:extLst>
              <c:ext xmlns:c16="http://schemas.microsoft.com/office/drawing/2014/chart" uri="{C3380CC4-5D6E-409C-BE32-E72D297353CC}">
                <c16:uniqueId val="{0000000F-8A31-4A59-A731-0CEBBC0FFA2B}"/>
              </c:ext>
            </c:extLst>
          </c:dPt>
          <c:cat>
            <c:strRef>
              <c:f>Sheet1!$A$2:$A$9</c:f>
              <c:strCache>
                <c:ptCount val="8"/>
                <c:pt idx="0">
                  <c:v>안과용제</c:v>
                </c:pt>
                <c:pt idx="1">
                  <c:v>상품</c:v>
                </c:pt>
                <c:pt idx="2">
                  <c:v>순환기질환 치료제</c:v>
                </c:pt>
                <c:pt idx="3">
                  <c:v>항생제</c:v>
                </c:pt>
                <c:pt idx="4">
                  <c:v>소화기계용제</c:v>
                </c:pt>
                <c:pt idx="5">
                  <c:v>호흡기질환 치료제</c:v>
                </c:pt>
                <c:pt idx="6">
                  <c:v>기타 제품</c:v>
                </c:pt>
                <c:pt idx="7">
                  <c:v>소염제</c:v>
                </c:pt>
              </c:strCache>
            </c:strRef>
          </c:cat>
          <c:val>
            <c:numRef>
              <c:f>Sheet1!$B$2:$B$9</c:f>
              <c:numCache>
                <c:formatCode>General</c:formatCode>
                <c:ptCount val="8"/>
                <c:pt idx="0">
                  <c:v>63.55</c:v>
                </c:pt>
                <c:pt idx="1">
                  <c:v>18.63</c:v>
                </c:pt>
                <c:pt idx="2">
                  <c:v>5.93</c:v>
                </c:pt>
                <c:pt idx="3">
                  <c:v>3.36</c:v>
                </c:pt>
                <c:pt idx="4">
                  <c:v>3.17</c:v>
                </c:pt>
                <c:pt idx="5">
                  <c:v>2.2200000000000002</c:v>
                </c:pt>
                <c:pt idx="6">
                  <c:v>2.35</c:v>
                </c:pt>
                <c:pt idx="7">
                  <c:v>0.78</c:v>
                </c:pt>
              </c:numCache>
            </c:numRef>
          </c:val>
          <c:extLst>
            <c:ext xmlns:c16="http://schemas.microsoft.com/office/drawing/2014/chart" uri="{C3380CC4-5D6E-409C-BE32-E72D297353CC}">
              <c16:uniqueId val="{00000010-8A31-4A59-A731-0CEBBC0FFA2B}"/>
            </c:ext>
          </c:extLst>
        </c:ser>
        <c:dLbls>
          <c:showLegendKey val="0"/>
          <c:showVal val="0"/>
          <c:showCatName val="0"/>
          <c:showSerName val="0"/>
          <c:showPercent val="0"/>
          <c:showBubbleSize val="0"/>
          <c:showLeaderLines val="1"/>
        </c:dLbls>
        <c:firstSliceAng val="0"/>
        <c:holeSize val="60"/>
      </c:doughnutChart>
    </c:plotArea>
    <c:plotVisOnly val="1"/>
    <c:dispBlanksAs val="gap"/>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안녕하세요. 오늘은 삼천당제약에 대해 발표하겠습니다.</a:t>
            </a:r>
          </a:p>
          <a:p>
            <a:r>
              <a:rPr lang="ko-KR" altLang="en-US" sz="1200"/>
              <a:t>이번 자료의 핵심은 단순히 "삼천당제약이 좋은 회사인가"가 아니라, 현재 시가총액이 반영하고 있는 기대가 실제 실적과 데이터로 검증될 수 있는지를 보는 것입니다.</a:t>
            </a:r>
          </a:p>
          <a:p>
            <a:r>
              <a:rPr lang="ko-KR" altLang="en-US" sz="1200"/>
              <a:t>삼천당제약은 기존 안과 사업이라는 하방 위에 SCD411이라는 실적화 파이프라인과 S-PASS라는 장기 옵션가치를 가진 회사로 볼 수 있습니다.</a:t>
            </a:r>
          </a:p>
          <a:p>
            <a:r>
              <a:rPr lang="ko-KR" altLang="en-US" sz="1200"/>
              <a:t>그래서 오늘 발표의 제목도 "SCD411 실적화와 S-PASS 옵션가치", 그리고 "기대감에서 실적 검증 구간으로"라고 잡았습니다.</a:t>
            </a:r>
          </a:p>
          <a:p>
            <a:endParaRPr lang="ko-KR" altLang="en-US" sz="1200"/>
          </a:p>
          <a:p>
            <a:r>
              <a:rPr lang="ko-KR" altLang="en-US" sz="1300" b="1"/>
              <a:t>예상 질문</a:t>
            </a:r>
          </a:p>
          <a:p>
            <a:r>
              <a:rPr lang="ko-KR" altLang="en-US" sz="1200"/>
              <a:t>- 오늘 발표의 핵심 결론은 무엇인가요?</a:t>
            </a:r>
          </a:p>
          <a:p>
            <a:endParaRPr lang="ko-KR" altLang="en-US" sz="1200"/>
          </a:p>
          <a:p>
            <a:r>
              <a:rPr lang="ko-KR" altLang="en-US" sz="1300" b="1"/>
              <a:t>답변 가이드</a:t>
            </a:r>
          </a:p>
          <a:p>
            <a:r>
              <a:rPr lang="ko-KR" altLang="en-US" sz="1200"/>
              <a:t>핵심 결론은 삼천당제약이 좋은 성장 스토리를 가진 회사라는 점은 인정하지만, 현재 가격은 이미 상당한 기대를 반영하고 있기 때문에 SCD411의 실제 이익 규모와 S-PASS의 검증 결과를 확인해야 한다는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발표는 크게 네 부분으로 구성했습니다.</a:t>
            </a:r>
          </a:p>
          <a:p>
            <a:r>
              <a:rPr lang="ko-KR" altLang="en-US" sz="1200"/>
              <a:t>먼저 기업개요에서 삼천당제약이 어떤 회사인지 보고, 두 번째로 시장과 투자아이디어, 특히 SCD411과 S-PASS를 나눠서 보겠습니다.</a:t>
            </a:r>
          </a:p>
          <a:p>
            <a:r>
              <a:rPr lang="ko-KR" altLang="en-US" sz="1200"/>
              <a:t>세 번째는 리스크입니다. 이 자료에서는 리스크를 단순히 부정적으로 보기보다, 앞으로 어떤 지표를 통해 투자 아이디어가 검증될지 보는 관점으로 정리했습니다.</a:t>
            </a:r>
          </a:p>
          <a:p>
            <a:r>
              <a:rPr lang="ko-KR" altLang="en-US" sz="1200"/>
              <a:t>마지막은 밸류에이션과 투자 판단입니다. 현재 시가총액이 어느 정도의 미래 실적을 요구하는지 역산하고, Bear, Base, Bull Case별로 기업가치 범위를 판단해보겠습니다.</a:t>
            </a:r>
          </a:p>
          <a:p>
            <a:endParaRPr lang="ko-KR" altLang="en-US" sz="1200"/>
          </a:p>
          <a:p>
            <a:r>
              <a:rPr lang="ko-KR" altLang="en-US" sz="1300" b="1"/>
              <a:t>예상 질문</a:t>
            </a:r>
          </a:p>
          <a:p>
            <a:r>
              <a:rPr lang="ko-KR" altLang="en-US" sz="1200"/>
              <a:t>- SCD411과 S-PASS 중 어느 쪽이 더 중요한가요?</a:t>
            </a:r>
          </a:p>
          <a:p>
            <a:endParaRPr lang="ko-KR" altLang="en-US" sz="1200"/>
          </a:p>
          <a:p>
            <a:r>
              <a:rPr lang="ko-KR" altLang="en-US" sz="1300" b="1"/>
              <a:t>답변 가이드</a:t>
            </a:r>
          </a:p>
          <a:p>
            <a:r>
              <a:rPr lang="ko-KR" altLang="en-US" sz="1200"/>
              <a:t>단기적으로는 SCD411이 더 중요하다고 봅니다. 현재 시총을 정당화하려면 실제 매출과 이익이 필요하기 때문입니다. S-PASS는 장기 업사이드이지만 아직 실적보다는 옵션가치로 봐야 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먼저 기업개요입니다.</a:t>
            </a:r>
          </a:p>
          <a:p>
            <a:r>
              <a:rPr lang="ko-KR" altLang="en-US" sz="1200"/>
              <a:t>삼천당제약은 단순 바이오벤처라기보다는 기존 안과 전문의약품 사업을 보유한 상태에서 SCD411과 S-PASS로 사업 영역을 확장하고 있는 회사입니다.</a:t>
            </a:r>
          </a:p>
          <a:p>
            <a:r>
              <a:rPr lang="ko-KR" altLang="en-US" sz="1200"/>
              <a:t>그래서 기업개요에서는 기존 사업의 안정성과 신사업으로의 확장 경로를 같이 보겠습니다.</a:t>
            </a:r>
          </a:p>
          <a:p>
            <a:endParaRPr lang="ko-KR" altLang="en-US" sz="1200"/>
          </a:p>
          <a:p>
            <a:r>
              <a:rPr lang="ko-KR" altLang="en-US" sz="1300" b="1"/>
              <a:t>예상 질문</a:t>
            </a:r>
          </a:p>
          <a:p>
            <a:r>
              <a:rPr lang="ko-KR" altLang="en-US" sz="1200"/>
              <a:t>- 삼천당제약을 바이오 회사로 봐야 하나요, 제약사로 봐야 하나요?</a:t>
            </a:r>
          </a:p>
          <a:p>
            <a:endParaRPr lang="ko-KR" altLang="en-US" sz="1200"/>
          </a:p>
          <a:p>
            <a:r>
              <a:rPr lang="ko-KR" altLang="en-US" sz="1300" b="1"/>
              <a:t>답변 가이드</a:t>
            </a:r>
          </a:p>
          <a:p>
            <a:r>
              <a:rPr lang="ko-KR" altLang="en-US" sz="1200"/>
              <a:t>기존 사업은 안과 전문 제약사에 가깝고, 현재 시장에서 부여하는 프리미엄은 SCD411과 S-PASS를 포함한 바이오 성장 옵션에 가깝다고 봅니다. 그래서 둘을 분리해서 봐야 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300" b="1"/>
              <a:t>발표 멘트</a:t>
            </a:r>
          </a:p>
          <a:p>
            <a:r>
              <a:rPr lang="ko-KR" altLang="en-US" sz="1200"/>
              <a:t>먼저 현재 시장에서 삼천당제약이 어떻게 평가받고 있는지 보겠습니다.</a:t>
            </a:r>
          </a:p>
          <a:p>
            <a:r>
              <a:rPr lang="ko-KR" altLang="en-US" sz="1200"/>
              <a:t>7월 20일 기준 주가는 23만9천 원, 시가총액은 약 5.6조 원 수준입니다.</a:t>
            </a:r>
          </a:p>
          <a:p>
            <a:r>
              <a:rPr lang="ko-KR" altLang="en-US" sz="1200"/>
              <a:t>중요한 점은 이 시가총액이 현재 확인된 실적만으로 설명되기는 어렵다는 것입니다.</a:t>
            </a:r>
          </a:p>
          <a:p>
            <a:r>
              <a:rPr lang="ko-KR" altLang="en-US" sz="1200"/>
              <a:t>현재 주가는 기존 안과 사업의 가치보다는 SCD411의 글로벌 실적화 가능성과 S-PASS 플랫폼 옵션가치를 상당 부분 반영하고 있다고 판단했습니다.</a:t>
            </a:r>
          </a:p>
          <a:p>
            <a:r>
              <a:rPr lang="ko-KR" altLang="en-US" sz="1200"/>
              <a:t>따라서 오늘 발표의 핵심 질문은 "이 기대가 실제 숫자로 검증될 수 있는가"입니다.</a:t>
            </a:r>
          </a:p>
          <a:p>
            <a:endParaRPr lang="ko-KR" altLang="en-US" sz="1200"/>
          </a:p>
          <a:p>
            <a:r>
              <a:rPr lang="ko-KR" altLang="en-US" sz="1300" b="1"/>
              <a:t>예상 질문</a:t>
            </a:r>
          </a:p>
          <a:p>
            <a:r>
              <a:rPr lang="ko-KR" altLang="en-US" sz="1200"/>
              <a:t>- 현재 주가가 너무 많이 오른 상태라고 보는 건가요?</a:t>
            </a:r>
          </a:p>
          <a:p>
            <a:endParaRPr lang="ko-KR" altLang="en-US" sz="1200"/>
          </a:p>
          <a:p>
            <a:r>
              <a:rPr lang="ko-KR" altLang="en-US" sz="1300" b="1"/>
              <a:t>답변 가이드</a:t>
            </a:r>
          </a:p>
          <a:p>
            <a:r>
              <a:rPr lang="ko-KR" altLang="en-US" sz="1200"/>
              <a:t>단순히 비싸다기보다는, 현재 가격이 이미 미래 성공 가능성을 반영하고 있다고 봅니다. 그래서 추가 상승을 보려면 SCD411 반복 매출, Profit Sharing, S-PASS 검증 같은 실제 이벤트가 필요하다고 판단했습니다.</a:t>
            </a:r>
          </a:p>
        </p:txBody>
      </p:sp>
      <p:sp>
        <p:nvSpPr>
          <p:cNvPr id="4" name="슬라이드 번호 개체 틀 3"/>
          <p:cNvSpPr>
            <a:spLocks noGrp="1"/>
          </p:cNvSpPr>
          <p:nvPr>
            <p:ph type="sldNum" sz="quarter" idx="5"/>
          </p:nvPr>
        </p:nvSpPr>
        <p:spPr/>
        <p:txBody>
          <a:bodyPr/>
          <a:lstStyle/>
          <a:p>
            <a:fld id="{CE5E9CC1-C706-0F49-92D6-E571CC5EEA8F}" type="slidenum">
              <a:rPr lang="en-US" smtClean="0"/>
              <a:t>4</a:t>
            </a:fld>
            <a:endParaRPr lang="en-US"/>
          </a:p>
        </p:txBody>
      </p:sp>
    </p:spTree>
    <p:extLst>
      <p:ext uri="{BB962C8B-B14F-4D97-AF65-F5344CB8AC3E}">
        <p14:creationId xmlns:p14="http://schemas.microsoft.com/office/powerpoint/2010/main" val="2473797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삼천당제약의 현재 실적 기반은 안과용 전문의약품입니다.</a:t>
            </a:r>
          </a:p>
          <a:p>
            <a:r>
              <a:rPr lang="ko-KR" altLang="en-US" sz="1200"/>
              <a:t>2026년 1분기 제품 매출 구성에서 안과용제가 63.6%를 차지하고 있고, 2025년 매출은 2,318억 원 수준입니다.</a:t>
            </a:r>
          </a:p>
          <a:p>
            <a:r>
              <a:rPr lang="ko-KR" altLang="en-US" sz="1200"/>
              <a:t>이 부분은 회사의 하방 역할을 한다고 볼 수 있습니다. 즉, 삼천당제약은 완전히 실적이 없는 바이오 회사가 아니라, 기존 사업에서 일정한 매출과 현금흐름을 만들고 있습니다.</a:t>
            </a:r>
          </a:p>
          <a:p>
            <a:r>
              <a:rPr lang="ko-KR" altLang="en-US" sz="1200"/>
              <a:t>다만 현재 시가총액 5.6조 원은 이 기존 사업만으로 설명하기 어렵습니다. 따라서 투자 판단에서는 현재 사업과 미래 성장 옵션을 분리해서 봐야 합니다.</a:t>
            </a:r>
          </a:p>
          <a:p>
            <a:endParaRPr lang="ko-KR" altLang="en-US" sz="1200"/>
          </a:p>
          <a:p>
            <a:r>
              <a:rPr lang="ko-KR" altLang="en-US" sz="1300" b="1"/>
              <a:t>예상 질문</a:t>
            </a:r>
          </a:p>
          <a:p>
            <a:r>
              <a:rPr lang="ko-KR" altLang="en-US" sz="1200"/>
              <a:t>- 기존 안과 사업만으로 어느 정도 가치가 있다고 보나요?</a:t>
            </a:r>
          </a:p>
          <a:p>
            <a:endParaRPr lang="ko-KR" altLang="en-US" sz="1200"/>
          </a:p>
          <a:p>
            <a:r>
              <a:rPr lang="ko-KR" altLang="en-US" sz="1300" b="1"/>
              <a:t>답변 가이드</a:t>
            </a:r>
          </a:p>
          <a:p>
            <a:r>
              <a:rPr lang="ko-KR" altLang="en-US" sz="1200"/>
              <a:t>정확한 적정가치를 산정하긴 어렵지만, 현재 시총 5.6조 전체를 설명하기에는 부족하다고 봅니다. 기존 사업은 하방과 현금흐름 역할이고, 현재 시총의 핵심은 SCD411과 S-PASS 기대라고 판단했습니다.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이 슬라이드는 삼천당제약의 사업 확장 경로를 보여줍니다.</a:t>
            </a:r>
          </a:p>
          <a:p>
            <a:r>
              <a:rPr lang="ko-KR" altLang="en-US" sz="1200"/>
              <a:t>출발점은 안과 전문 제약사입니다. 여기서 SCD411을 통해 글로벌 안과 바이오시밀러 시장으로 확장했고, 그 다음 S-PASS를 통해 경구 플랫폼 기업으로 전환을 시도하고 있습니다.</a:t>
            </a:r>
          </a:p>
          <a:p>
            <a:r>
              <a:rPr lang="ko-KR" altLang="en-US" sz="1200"/>
              <a:t>중요한 것은 삼천당제약이 갑자기 비만약 테마로 등장한 회사가 아니라는 점입니다. 기존 안과 사업에서 시작해서, 안과 바이오시밀러로 글로벌화하고, 그 위에 플랫폼 옵션을 얹는 구조입니다.</a:t>
            </a:r>
          </a:p>
          <a:p>
            <a:r>
              <a:rPr lang="ko-KR" altLang="en-US" sz="1200"/>
              <a:t>다만 S-PASS는 아직 상업화 실적이 아니라 데이터와 규제, 계약으로 검증되어야 하는 옵션가치로 봐야 합니다.</a:t>
            </a:r>
          </a:p>
          <a:p>
            <a:endParaRPr lang="ko-KR" altLang="en-US" sz="1200"/>
          </a:p>
          <a:p>
            <a:r>
              <a:rPr lang="ko-KR" altLang="en-US" sz="1300" b="1"/>
              <a:t>예상 질문</a:t>
            </a:r>
          </a:p>
          <a:p>
            <a:r>
              <a:rPr lang="ko-KR" altLang="en-US" sz="1200"/>
              <a:t>- S-PASS는 기존 안과 사업과 너무 동떨어진 것 아닌가요?</a:t>
            </a:r>
          </a:p>
          <a:p>
            <a:endParaRPr lang="ko-KR" altLang="en-US" sz="1200"/>
          </a:p>
          <a:p>
            <a:r>
              <a:rPr lang="ko-KR" altLang="en-US" sz="1300" b="1"/>
              <a:t>답변 가이드</a:t>
            </a:r>
          </a:p>
          <a:p>
            <a:r>
              <a:rPr lang="ko-KR" altLang="en-US" sz="1200"/>
              <a:t>사업 영역은 다르지만, 회사의 성장 단계로 보면 기존 현금흐름 위에 신사업 옵션을 붙이는 구조입니다. 다만 S-PASS는 아직 검증 중이기 때문에 확정 가치가 아니라 옵션가치로 보는 것이 맞습니다.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300" b="1"/>
              <a:t>발표 멘트</a:t>
            </a:r>
          </a:p>
          <a:p>
            <a:r>
              <a:rPr lang="ko-KR" altLang="en-US" sz="1200"/>
              <a:t>경영진 관점에서는 대표이사의 이력 자체보다 사업 확장 방향성과 실행 결과를 보는 것이 중요하다고 봤습니다.</a:t>
            </a:r>
          </a:p>
          <a:p>
            <a:r>
              <a:rPr lang="ko-KR" altLang="en-US" sz="1200"/>
              <a:t>긍정적으로 볼 부분은 기존 안과 사업의 현금흐름 위에 SCD411과 S-PASS라는 신사업을 단계적으로 붙이고 있다는 점입니다.</a:t>
            </a:r>
          </a:p>
          <a:p>
            <a:r>
              <a:rPr lang="ko-KR" altLang="en-US" sz="1200"/>
              <a:t>반대로 아직 검증해야 할 부분도 명확합니다. SCD411의 글로벌 매출 확대, Profit Sharing의 실제 이익 기여, S-PASS의 데이터와 상업화 성과는 아직 확인이 필요합니다.</a:t>
            </a:r>
          </a:p>
          <a:p>
            <a:r>
              <a:rPr lang="ko-KR" altLang="en-US" sz="1200"/>
              <a:t>그래서 이 페이지의 핵심은 경영진을 "믿자"가 아니라, 제시한 전략이 실제 공시와 분기 실적으로 증명되는지를 보자는 것입니다.</a:t>
            </a:r>
          </a:p>
          <a:p>
            <a:endParaRPr lang="ko-KR" altLang="en-US" sz="1200"/>
          </a:p>
          <a:p>
            <a:r>
              <a:rPr lang="ko-KR" altLang="en-US" sz="1300" b="1"/>
              <a:t>예상 질문</a:t>
            </a:r>
          </a:p>
          <a:p>
            <a:r>
              <a:rPr lang="ko-KR" altLang="en-US" sz="1200"/>
              <a:t>- 경영진에 대해 긍정적으로 보는 건가요?</a:t>
            </a:r>
          </a:p>
          <a:p>
            <a:endParaRPr lang="ko-KR" altLang="en-US" sz="1200"/>
          </a:p>
          <a:p>
            <a:r>
              <a:rPr lang="ko-KR" altLang="en-US" sz="1300" b="1"/>
              <a:t>답변 가이드</a:t>
            </a:r>
          </a:p>
          <a:p>
            <a:r>
              <a:rPr lang="ko-KR" altLang="en-US" sz="1200"/>
              <a:t>방향성은 긍정적으로 평가할 수 있지만, 최종 평가는 말보다 실적으로 해야 한다고 봅니다. 특히 SCD411 매출과 S-PASS 규제·계약 진전이 실제로 확인되는지가 중요합니다.</a:t>
            </a:r>
          </a:p>
        </p:txBody>
      </p:sp>
      <p:sp>
        <p:nvSpPr>
          <p:cNvPr id="4" name="슬라이드 번호 개체 틀 3"/>
          <p:cNvSpPr>
            <a:spLocks noGrp="1"/>
          </p:cNvSpPr>
          <p:nvPr>
            <p:ph type="sldNum" sz="quarter" idx="5"/>
          </p:nvPr>
        </p:nvSpPr>
        <p:spPr/>
        <p:txBody>
          <a:bodyPr/>
          <a:lstStyle/>
          <a:p>
            <a:fld id="{CE5E9CC1-C706-0F49-92D6-E571CC5EEA8F}" type="slidenum">
              <a:rPr lang="en-US" smtClean="0"/>
              <a:t>7</a:t>
            </a:fld>
            <a:endParaRPr lang="en-US"/>
          </a:p>
        </p:txBody>
      </p:sp>
    </p:spTree>
    <p:extLst>
      <p:ext uri="{BB962C8B-B14F-4D97-AF65-F5344CB8AC3E}">
        <p14:creationId xmlns:p14="http://schemas.microsoft.com/office/powerpoint/2010/main" val="2771893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기업개요를 한 장으로 요약하면 이렇습니다.</a:t>
            </a:r>
          </a:p>
          <a:p>
            <a:r>
              <a:rPr lang="ko-KR" altLang="en-US" sz="1200"/>
              <a:t>현재 사업은 안과 전문의약품 중심의 하방과 현금흐름입니다. SCD411은 아일리아 바이오시밀러로, 현재 시가총액을 정당화할 수 있는 실적 성장 검증 구간입니다.</a:t>
            </a:r>
          </a:p>
          <a:p>
            <a:r>
              <a:rPr lang="ko-KR" altLang="en-US" sz="1200"/>
              <a:t>S-PASS는 주사제를 먹는 약으로 전환하려는 플랫폼으로, 성공 시 장기 업사이드가 있지만 현재는 아직 옵션가치에 가깝습니다.</a:t>
            </a:r>
          </a:p>
          <a:p>
            <a:r>
              <a:rPr lang="ko-KR" altLang="en-US" sz="1200"/>
              <a:t>따라서 삼천당제약을 볼 때는 안과 사업은 하방, SCD411은 실적 검증, S-PASS는 장기 옵션가치로 나눠서 보는 것이 핵심입니다.</a:t>
            </a:r>
          </a:p>
          <a:p>
            <a:endParaRPr lang="ko-KR" altLang="en-US" sz="1200"/>
          </a:p>
          <a:p>
            <a:r>
              <a:rPr lang="ko-KR" altLang="en-US" sz="1300" b="1"/>
              <a:t>예상 질문</a:t>
            </a:r>
          </a:p>
          <a:p>
            <a:r>
              <a:rPr lang="ko-KR" altLang="en-US" sz="1200"/>
              <a:t>- 투자 판단에서 가장 중요한 축은 무엇인가요?</a:t>
            </a:r>
          </a:p>
          <a:p>
            <a:endParaRPr lang="ko-KR" altLang="en-US" sz="1200"/>
          </a:p>
          <a:p>
            <a:r>
              <a:rPr lang="ko-KR" altLang="en-US" sz="1300" b="1"/>
              <a:t>답변 가이드</a:t>
            </a:r>
          </a:p>
          <a:p>
            <a:r>
              <a:rPr lang="ko-KR" altLang="en-US" sz="1200"/>
              <a:t>현재 가격 기준으로는 SCD411이 가장 중요하다고 봅니다. 왜냐하면 시총을 정당화하려면 실제 매출과 이익이 필요하기 때문입니다. S-PASS는 추가 업사이드지만 아직 검증 단계입니다.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이제 투자아이디어로 넘어가겠습니다.</a:t>
            </a:r>
          </a:p>
          <a:p>
            <a:r>
              <a:rPr lang="ko-KR" altLang="en-US" sz="1200"/>
              <a:t>투자아이디어는 크게 두 가지입니다. 첫 번째는 SCD411이 실제 실적으로 연결될 수 있는가, 두 번째는 S-PASS가 단순 아이디어가 아니라 플랫폼 가치로 검증될 수 있는가입니다.</a:t>
            </a:r>
          </a:p>
          <a:p>
            <a:endParaRPr lang="ko-KR" altLang="en-US" sz="1200"/>
          </a:p>
          <a:p>
            <a:r>
              <a:rPr lang="ko-KR" altLang="en-US" sz="1300" b="1"/>
              <a:t>예상 질문</a:t>
            </a:r>
          </a:p>
          <a:p>
            <a:r>
              <a:rPr lang="ko-KR" altLang="en-US" sz="1200"/>
              <a:t>- SCD411과 S-PASS를 같은 비중으로 봐야 하나요?</a:t>
            </a:r>
          </a:p>
          <a:p>
            <a:endParaRPr lang="ko-KR" altLang="en-US" sz="1200"/>
          </a:p>
          <a:p>
            <a:r>
              <a:rPr lang="ko-KR" altLang="en-US" sz="1300" b="1"/>
              <a:t>답변 가이드</a:t>
            </a:r>
          </a:p>
          <a:p>
            <a:r>
              <a:rPr lang="ko-KR" altLang="en-US" sz="1200"/>
              <a:t>아니라고 봅니다. SCD411은 현재 실적 검증 구간이고, S-PASS는 장기 옵션가치입니다. 시간축과 검증 수준이 다르기 때문에 분리해서 봐야 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삼천당제약의 투자포인트는 두 축입니다.</a:t>
            </a:r>
          </a:p>
          <a:p>
            <a:r>
              <a:rPr lang="ko-KR" altLang="en-US" sz="1200"/>
              <a:t>첫 번째는 SCD411 실적화입니다. SCD411은 이미 개발과 허가, 판매 단계에 들어온 파이프라인이고, 이제 핵심은 얼마나 팔고 얼마나 이익이 남는가입니다.</a:t>
            </a:r>
          </a:p>
          <a:p>
            <a:r>
              <a:rPr lang="ko-KR" altLang="en-US" sz="1200"/>
              <a:t>두 번째는 S-PASS 플랫폼입니다. 경구 세마글루타이드, 경구 인슐린, 터제파타이드 등으로 확장 가능성이 있지만, 현재는 검증 중인 옵션가치로 보는 것이 맞습니다.</a:t>
            </a:r>
          </a:p>
          <a:p>
            <a:r>
              <a:rPr lang="ko-KR" altLang="en-US" sz="1200"/>
              <a:t>결론적으로 삼천당제약은 SCD411로 실적화를 검증하고, S-PASS로 장기 옵션가치 확장을 시도하는 기업입니다.</a:t>
            </a:r>
          </a:p>
          <a:p>
            <a:endParaRPr lang="ko-KR" altLang="en-US" sz="1200"/>
          </a:p>
          <a:p>
            <a:r>
              <a:rPr lang="ko-KR" altLang="en-US" sz="1300" b="1"/>
              <a:t>예상 질문</a:t>
            </a:r>
          </a:p>
          <a:p>
            <a:r>
              <a:rPr lang="ko-KR" altLang="en-US" sz="1200"/>
              <a:t>- S-PASS가 성공하면 기업가치가 크게 뛸 수 있나요?</a:t>
            </a:r>
          </a:p>
          <a:p>
            <a:endParaRPr lang="ko-KR" altLang="en-US" sz="1200"/>
          </a:p>
          <a:p>
            <a:r>
              <a:rPr lang="ko-KR" altLang="en-US" sz="1300" b="1"/>
              <a:t>답변 가이드</a:t>
            </a:r>
          </a:p>
          <a:p>
            <a:r>
              <a:rPr lang="ko-KR" altLang="en-US" sz="1200"/>
              <a:t>가능성은 있습니다. 다만 지금은 성공을 확정할 단계가 아니라 FDA 후속 절차, 추가 BE 여부, 데이터 재현성, 계약 조건, 마일스톤 수령 여부를 확인해야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첫 번째 투자아이디어는 SCD411입니다.</a:t>
            </a:r>
          </a:p>
          <a:p>
            <a:r>
              <a:rPr lang="ko-KR" altLang="en-US" sz="1200"/>
              <a:t>과거에는 SCD411이 허가를 받을 수 있을지가 핵심이었다면, 지금은 이미 허가와 판매 계약 단계가 진행된 만큼 실제 매출과 이익으로 연결되는지가 중요합니다.</a:t>
            </a:r>
          </a:p>
          <a:p>
            <a:r>
              <a:rPr lang="ko-KR" altLang="en-US" sz="1200"/>
              <a:t>즉, 질문이 바뀌었습니다. "성공할 수 있나?"에서 "얼마나 팔고 얼마나 벌 수 있나?"로 이동한 구간입니다.</a:t>
            </a:r>
          </a:p>
          <a:p>
            <a:endParaRPr lang="ko-KR" altLang="en-US" sz="1200"/>
          </a:p>
          <a:p>
            <a:r>
              <a:rPr lang="ko-KR" altLang="en-US" sz="1300" b="1"/>
              <a:t>예상 질문</a:t>
            </a:r>
          </a:p>
          <a:p>
            <a:r>
              <a:rPr lang="ko-KR" altLang="en-US" sz="1200"/>
              <a:t>- SCD411은 이미 성공한 것으로 봐도 되나요?</a:t>
            </a:r>
          </a:p>
          <a:p>
            <a:endParaRPr lang="ko-KR" altLang="en-US" sz="1200"/>
          </a:p>
          <a:p>
            <a:r>
              <a:rPr lang="ko-KR" altLang="en-US" sz="1300" b="1"/>
              <a:t>답변 가이드</a:t>
            </a:r>
          </a:p>
          <a:p>
            <a:r>
              <a:rPr lang="ko-KR" altLang="en-US" sz="1200"/>
              <a:t>개발과 허가 측면에서는 상당히 진전됐지만, 투자 관점에서의 성공은 판매량과 이익률이 확인되어야 판단할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SCD411은 아일리아의 바이오시밀러입니다.</a:t>
            </a:r>
          </a:p>
          <a:p>
            <a:r>
              <a:rPr lang="ko-KR" altLang="en-US" sz="1200"/>
              <a:t>아일리아는 안과 영역의 대표적인 블록버스터 치료제이고, SCD411은 이 시장에 바이오시밀러로 진입하는 제품입니다.</a:t>
            </a:r>
          </a:p>
          <a:p>
            <a:r>
              <a:rPr lang="ko-KR" altLang="en-US" sz="1200"/>
              <a:t>바이오시밀러의 핵심은 오리지널과 동등한 효능과 안전성을 확보하면서, 특허 만료 이후 가격 경쟁력을 바탕으로 시장에 들어가는 것입니다.</a:t>
            </a:r>
          </a:p>
          <a:p>
            <a:r>
              <a:rPr lang="ko-KR" altLang="en-US" sz="1200"/>
              <a:t>SCD411은 삼천당제약의 첫 글로벌 상업화 제품이라는 점에서 의미가 큽니다.</a:t>
            </a:r>
          </a:p>
          <a:p>
            <a:endParaRPr lang="ko-KR" altLang="en-US" sz="1200"/>
          </a:p>
          <a:p>
            <a:r>
              <a:rPr lang="ko-KR" altLang="en-US" sz="1300" b="1"/>
              <a:t>예상 질문</a:t>
            </a:r>
          </a:p>
          <a:p>
            <a:r>
              <a:rPr lang="ko-KR" altLang="en-US" sz="1200"/>
              <a:t>- 바이오시밀러가 오리지널 시장을 쉽게 가져올 수 있나요?</a:t>
            </a:r>
          </a:p>
          <a:p>
            <a:endParaRPr lang="ko-KR" altLang="en-US" sz="1200"/>
          </a:p>
          <a:p>
            <a:r>
              <a:rPr lang="ko-KR" altLang="en-US" sz="1300" b="1"/>
              <a:t>답변 가이드</a:t>
            </a:r>
          </a:p>
          <a:p>
            <a:r>
              <a:rPr lang="ko-KR" altLang="en-US" sz="1200"/>
              <a:t>쉽지는 않습니다. 가격 경쟁력은 있지만 보험 등재, 병원 채택, 파트너 영업력, 공급 안정성이 함께 작동해야 실적화됩니다.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아일리아가 중요한 이유는 시장 특성 때문입니다.</a:t>
            </a:r>
          </a:p>
          <a:p>
            <a:r>
              <a:rPr lang="ko-KR" altLang="en-US" sz="1200"/>
              <a:t>황반변성 같은 안과 질환은 장기 치료와 반복 투여가 필요합니다. 즉, 한 번 처방 시장에 들어가면 장기간 매출이 지속될 수 있는 구조입니다.</a:t>
            </a:r>
          </a:p>
          <a:p>
            <a:r>
              <a:rPr lang="ko-KR" altLang="en-US" sz="1200"/>
              <a:t>또한 고가 의약품이기 때문에 보험자와 병원 입장에서는 비용 절감 유인이 존재합니다.</a:t>
            </a:r>
          </a:p>
          <a:p>
            <a:r>
              <a:rPr lang="ko-KR" altLang="en-US" sz="1200"/>
              <a:t>이런 특성 때문에 바이오시밀러가 진입할 경우 가격 경쟁력과 사용 편의성이 중요한 요소가 됩니다.</a:t>
            </a:r>
          </a:p>
          <a:p>
            <a:endParaRPr lang="ko-KR" altLang="en-US" sz="1200"/>
          </a:p>
          <a:p>
            <a:r>
              <a:rPr lang="ko-KR" altLang="en-US" sz="1300" b="1"/>
              <a:t>예상 질문</a:t>
            </a:r>
          </a:p>
          <a:p>
            <a:r>
              <a:rPr lang="ko-KR" altLang="en-US" sz="1200"/>
              <a:t>- 반복 투여 시장이면 바이오시밀러가 유리한가요?</a:t>
            </a:r>
          </a:p>
          <a:p>
            <a:endParaRPr lang="ko-KR" altLang="en-US" sz="1200"/>
          </a:p>
          <a:p>
            <a:r>
              <a:rPr lang="ko-KR" altLang="en-US" sz="1300" b="1"/>
              <a:t>답변 가이드</a:t>
            </a:r>
          </a:p>
          <a:p>
            <a:r>
              <a:rPr lang="ko-KR" altLang="en-US" sz="1200"/>
              <a:t>반복 투여 시장은 가격 경쟁력이 의미를 가질 수 있습니다. 다만 안과 주사제는 처방 습관과 의료진 신뢰가 중요하기 때문에 단순히 가격만으로 점유율이 확보되지는 않습니다.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삼천당제약의 2025년 매출은 약 2,318억 원입니다.</a:t>
            </a:r>
          </a:p>
          <a:p>
            <a:r>
              <a:rPr lang="ko-KR" altLang="en-US" sz="1200"/>
              <a:t>반면 글로벌 아일리아 시장은 약 13~14조 원 규모로 추정됩니다. 회사 전체 매출과 비교하면 훨씬 큰 시장입니다.</a:t>
            </a:r>
          </a:p>
          <a:p>
            <a:r>
              <a:rPr lang="ko-KR" altLang="en-US" sz="1200"/>
              <a:t>따라서 SCD411이 이 시장에서 몇 퍼센트만 점유해도 삼천당제약의 실적은 크게 달라질 수 있습니다.</a:t>
            </a:r>
          </a:p>
          <a:p>
            <a:r>
              <a:rPr lang="ko-KR" altLang="en-US" sz="1200"/>
              <a:t>다만 중요한 것은 전체 시장 규모가 아니라, 삼천당제약이 실제로 인식할 수 있는 매출과 이익입니다.</a:t>
            </a:r>
          </a:p>
          <a:p>
            <a:endParaRPr lang="ko-KR" altLang="en-US" sz="1200"/>
          </a:p>
          <a:p>
            <a:r>
              <a:rPr lang="ko-KR" altLang="en-US" sz="1300" b="1"/>
              <a:t>예상 질문</a:t>
            </a:r>
          </a:p>
          <a:p>
            <a:r>
              <a:rPr lang="ko-KR" altLang="en-US" sz="1200"/>
              <a:t>- 시장이 크면 무조건 좋은 것 아닌가요?</a:t>
            </a:r>
          </a:p>
          <a:p>
            <a:endParaRPr lang="ko-KR" altLang="en-US" sz="1200"/>
          </a:p>
          <a:p>
            <a:r>
              <a:rPr lang="ko-KR" altLang="en-US" sz="1300" b="1"/>
              <a:t>답변 가이드</a:t>
            </a:r>
          </a:p>
          <a:p>
            <a:r>
              <a:rPr lang="ko-KR" altLang="en-US" sz="1200"/>
              <a:t>시장 크기는 기회의 크기일 뿐입니다. 실제 투자 판단에서는 삼천당이 어느 국가에서 얼마를 팔고, 어떤 이익률로 인식하는지가 더 중요합니다.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SCD411의 점유율 확보 전략은 네 가지로 정리할 수 있습니다.</a:t>
            </a:r>
          </a:p>
          <a:p>
            <a:r>
              <a:rPr lang="ko-KR" altLang="en-US" sz="1200"/>
              <a:t>첫째는 가격 경쟁력입니다. 바이오시밀러는 기본적으로 오리지널 대비 가격 경쟁력을 바탕으로 진입합니다.</a:t>
            </a:r>
          </a:p>
          <a:p>
            <a:r>
              <a:rPr lang="ko-KR" altLang="en-US" sz="1200"/>
              <a:t>둘째는 PFS, 즉 사전충전주사 제형입니다. 의료진 입장에서 준비 시간이 줄고 오염 위험도 낮아질 수 있습니다.</a:t>
            </a:r>
          </a:p>
          <a:p>
            <a:r>
              <a:rPr lang="ko-KR" altLang="en-US" sz="1200"/>
              <a:t>셋째는 Local Champion 전략입니다. 국가별 파트너의 판매망을 활용해 병원과 처방 시장에 진입하는 방식입니다.</a:t>
            </a:r>
          </a:p>
          <a:p>
            <a:r>
              <a:rPr lang="ko-KR" altLang="en-US" sz="1200"/>
              <a:t>넷째는 Eylea HD 대응입니다. 향후 고용량 시장으로 전환될 가능성에 대비하는 전략입니다.</a:t>
            </a:r>
          </a:p>
          <a:p>
            <a:r>
              <a:rPr lang="ko-KR" altLang="en-US" sz="1200"/>
              <a:t>다만 이 네 가지가 실제 점유율로 이어지는지는 출하량, 매출, 시장점유율로 검증해야 합니다.</a:t>
            </a:r>
          </a:p>
          <a:p>
            <a:endParaRPr lang="ko-KR" altLang="en-US" sz="1200"/>
          </a:p>
          <a:p>
            <a:r>
              <a:rPr lang="ko-KR" altLang="en-US" sz="1300" b="1"/>
              <a:t>예상 질문</a:t>
            </a:r>
          </a:p>
          <a:p>
            <a:r>
              <a:rPr lang="ko-KR" altLang="en-US" sz="1200"/>
              <a:t>- 4가지 경쟁력 중 무엇이 가장 중요하다고 보나요?</a:t>
            </a:r>
          </a:p>
          <a:p>
            <a:endParaRPr lang="ko-KR" altLang="en-US" sz="1200"/>
          </a:p>
          <a:p>
            <a:r>
              <a:rPr lang="ko-KR" altLang="en-US" sz="1300" b="1"/>
              <a:t>답변 가이드</a:t>
            </a:r>
          </a:p>
          <a:p>
            <a:r>
              <a:rPr lang="ko-KR" altLang="en-US" sz="1200"/>
              <a:t>개인적으로는 가격 경쟁력과 현지 판매망이 가장 중요하다고 봅니다. PFS도 의미는 있지만, 실제 점유율은 보험 등재, 파트너 영업력, 반복 출하로 확인해야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SCD411은 개발 초기 단계가 아닙니다.</a:t>
            </a:r>
          </a:p>
          <a:p>
            <a:r>
              <a:rPr lang="ko-KR" altLang="en-US" sz="1200"/>
              <a:t>개발, 임상, 허가, 판매 계약을 거쳐 현재는 판매 개시와 매출 인식 단계로 넘어온 상황입니다.</a:t>
            </a:r>
          </a:p>
          <a:p>
            <a:r>
              <a:rPr lang="ko-KR" altLang="en-US" sz="1200"/>
              <a:t>그래서 투자 포인트도 허가 가능성이 아니라 실제 판매 규모로 바뀌었습니다.</a:t>
            </a:r>
          </a:p>
          <a:p>
            <a:r>
              <a:rPr lang="ko-KR" altLang="en-US" sz="1200"/>
              <a:t>앞으로는 국가별 반복 출하, 파트너 재주문, 실제 매출 인식, 영업이익률을 확인하는 것이 중요합니다.</a:t>
            </a:r>
          </a:p>
          <a:p>
            <a:endParaRPr lang="ko-KR" altLang="en-US" sz="1200"/>
          </a:p>
          <a:p>
            <a:r>
              <a:rPr lang="ko-KR" altLang="en-US" sz="1300" b="1"/>
              <a:t>예상 질문</a:t>
            </a:r>
          </a:p>
          <a:p>
            <a:r>
              <a:rPr lang="ko-KR" altLang="en-US" sz="1200"/>
              <a:t>- 지금 가장 먼저 확인해야 할 데이터는 무엇인가요?</a:t>
            </a:r>
          </a:p>
          <a:p>
            <a:endParaRPr lang="ko-KR" altLang="en-US" sz="1200"/>
          </a:p>
          <a:p>
            <a:r>
              <a:rPr lang="ko-KR" altLang="en-US" sz="1300" b="1"/>
              <a:t>답변 가이드</a:t>
            </a:r>
          </a:p>
          <a:p>
            <a:r>
              <a:rPr lang="ko-KR" altLang="en-US" sz="1200"/>
              <a:t>반복 출하와 재주문 여부입니다. 초도 물량은 일회성일 수 있기 때문에, 실제 처방 기반 수요가 반복되는지 확인해야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두 번째 투자아이디어는 S-PASS입니다.</a:t>
            </a:r>
          </a:p>
          <a:p>
            <a:r>
              <a:rPr lang="ko-KR" altLang="en-US" sz="1200"/>
              <a:t>S-PASS는 주사제로 쓰이는 단백질·펩타이드 의약품을 먹는 약으로 전환하려는 경구 흡수 플랫폼입니다.</a:t>
            </a:r>
          </a:p>
          <a:p>
            <a:r>
              <a:rPr lang="ko-KR" altLang="en-US" sz="1200"/>
              <a:t>다만 이 파트는 SCD411과 다르게 현재 실적이라기보다 장기 옵션가치로 봐야 합니다.</a:t>
            </a:r>
          </a:p>
          <a:p>
            <a:endParaRPr lang="ko-KR" altLang="en-US" sz="1200"/>
          </a:p>
          <a:p>
            <a:r>
              <a:rPr lang="ko-KR" altLang="en-US" sz="1300" b="1"/>
              <a:t>예상 질문</a:t>
            </a:r>
          </a:p>
          <a:p>
            <a:r>
              <a:rPr lang="ko-KR" altLang="en-US" sz="1200"/>
              <a:t>- S-PASS는 신약인가요, 플랫폼인가요?</a:t>
            </a:r>
          </a:p>
          <a:p>
            <a:endParaRPr lang="ko-KR" altLang="en-US" sz="1200"/>
          </a:p>
          <a:p>
            <a:r>
              <a:rPr lang="ko-KR" altLang="en-US" sz="1300" b="1"/>
              <a:t>답변 가이드</a:t>
            </a:r>
          </a:p>
          <a:p>
            <a:r>
              <a:rPr lang="ko-KR" altLang="en-US" sz="1200"/>
              <a:t>회사 관점에서는 플랫폼을 지향하지만, 투자자 입장에서는 경구 세마글루타이드가 첫 번째 검증 자산이라고 보는 것이 맞습니다. 검증이 확장되면 플랫폼 가치가 인정될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S-PASS가 해결하려는 문제는 명확합니다.</a:t>
            </a:r>
          </a:p>
          <a:p>
            <a:r>
              <a:rPr lang="ko-KR" altLang="en-US" sz="1200"/>
              <a:t>단백질이나 펩타이드 의약품은 먹는 약으로 만들기 어렵습니다. 위산이나 소화효소에 의해 분해되고, 장벽을 통과하기 어렵기 때문입니다.</a:t>
            </a:r>
          </a:p>
          <a:p>
            <a:r>
              <a:rPr lang="ko-KR" altLang="en-US" sz="1200"/>
              <a:t>S-PASS는 약물을 보호하고 흡수를 촉진해서 주사제를 경구제로 전환하려는 플랫폼입니다.</a:t>
            </a:r>
          </a:p>
          <a:p>
            <a:r>
              <a:rPr lang="ko-KR" altLang="en-US" sz="1200"/>
              <a:t>성공한다면 환자 편의성을 높이고, 대형 주사제 시장을 경구제 시장으로 전환할 가능성이 있습니다.</a:t>
            </a:r>
          </a:p>
          <a:p>
            <a:r>
              <a:rPr lang="ko-KR" altLang="en-US" sz="1200"/>
              <a:t>하지만 핵심은 "가능하다"가 아니라 데이터와 규제로 검증되어야 한다는 점입니다.</a:t>
            </a:r>
          </a:p>
          <a:p>
            <a:endParaRPr lang="ko-KR" altLang="en-US" sz="1200"/>
          </a:p>
          <a:p>
            <a:r>
              <a:rPr lang="ko-KR" altLang="en-US" sz="1300" b="1"/>
              <a:t>예상 질문</a:t>
            </a:r>
          </a:p>
          <a:p>
            <a:r>
              <a:rPr lang="ko-KR" altLang="en-US" sz="1200"/>
              <a:t>- 기술적으로 가장 큰 리스크는 무엇인가요?</a:t>
            </a:r>
          </a:p>
          <a:p>
            <a:endParaRPr lang="ko-KR" altLang="en-US" sz="1200"/>
          </a:p>
          <a:p>
            <a:r>
              <a:rPr lang="ko-KR" altLang="en-US" sz="1300" b="1"/>
              <a:t>답변 가이드</a:t>
            </a:r>
          </a:p>
          <a:p>
            <a:r>
              <a:rPr lang="ko-KR" altLang="en-US" sz="1200"/>
              <a:t>흡수율, 흡수율의 재현성, 환자 간 변동성, 제조 재현성, 규제기관의 추가 자료 요구 가능성이 핵심 리스크라고 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S-PASS가 중요한 이유는 적용 가능한 시장이 매우 크기 때문입니다.</a:t>
            </a:r>
          </a:p>
          <a:p>
            <a:r>
              <a:rPr lang="ko-KR" altLang="en-US" sz="1200"/>
              <a:t>GLP-1, 인슐린, 항체의약품은 모두 대형 시장입니다. 하지만 이 자료에서는 시장 규모 자체를 투자포인트로 보지는 않았습니다.</a:t>
            </a:r>
          </a:p>
          <a:p>
            <a:r>
              <a:rPr lang="ko-KR" altLang="en-US" sz="1200"/>
              <a:t>중요한 것은 경구 세마글루타이드에서 확인된 데이터가 인슐린이나 터제파타이드 같은 다른 약물로 확장될 수 있는가입니다.</a:t>
            </a:r>
          </a:p>
          <a:p>
            <a:r>
              <a:rPr lang="ko-KR" altLang="en-US" sz="1200"/>
              <a:t>즉 S-PASS의 가치는 시장 크기가 아니라 실제 적용 가능성과 상업화 증거에서 나온다고 봤습니다.</a:t>
            </a:r>
          </a:p>
          <a:p>
            <a:endParaRPr lang="ko-KR" altLang="en-US" sz="1200"/>
          </a:p>
          <a:p>
            <a:r>
              <a:rPr lang="ko-KR" altLang="en-US" sz="1300" b="1"/>
              <a:t>예상 질문</a:t>
            </a:r>
          </a:p>
          <a:p>
            <a:r>
              <a:rPr lang="ko-KR" altLang="en-US" sz="1200"/>
              <a:t>- 시장 규모 100~300조 원이라는 표현은 너무 과한 것 아닌가요?</a:t>
            </a:r>
          </a:p>
          <a:p>
            <a:endParaRPr lang="ko-KR" altLang="en-US" sz="1200"/>
          </a:p>
          <a:p>
            <a:r>
              <a:rPr lang="ko-KR" altLang="en-US" sz="1300" b="1"/>
              <a:t>답변 가이드</a:t>
            </a:r>
          </a:p>
          <a:p>
            <a:r>
              <a:rPr lang="ko-KR" altLang="en-US" sz="1200"/>
              <a:t>그래서 이 자료에서는 시장 규모 자체를 가치로 보지 않았습니다. 시장은 크지만, 삼천당의 가치는 실제 적용 가능성과 상업화 증거가 나와야 인정될 수 있다고 봤습니다.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S-PASS 파이프라인은 단계별로 볼 필요가 있습니다.</a:t>
            </a:r>
          </a:p>
          <a:p>
            <a:r>
              <a:rPr lang="ko-KR" altLang="en-US" sz="1200"/>
              <a:t>가장 앞에 있는 것은 경구 세마글루타이드입니다. 이 자산이 S-PASS 플랫폼을 처음으로 검증하는 핵심 자산입니다.</a:t>
            </a:r>
          </a:p>
          <a:p>
            <a:r>
              <a:rPr lang="ko-KR" altLang="en-US" sz="1200"/>
              <a:t>그 다음은 경구 인슐린입니다. 세마글루타이드 이후 실제로 적용 범위가 확장 가능한지를 확인하는 자산입니다.</a:t>
            </a:r>
          </a:p>
          <a:p>
            <a:r>
              <a:rPr lang="ko-KR" altLang="en-US" sz="1200"/>
              <a:t>터제파타이드는 차세대 GLP-1 시장 진입을 시도하는 후속 옵션이고, 항체의약품은 장기 플랫폼 옵션가치로 볼 수 있습니다.</a:t>
            </a:r>
          </a:p>
          <a:p>
            <a:r>
              <a:rPr lang="ko-KR" altLang="en-US" sz="1200"/>
              <a:t>뒤로 갈수록 시장 규모는 커질 수 있지만, 개발 리스크도 함께 커진다는 점이 중요합니다.</a:t>
            </a:r>
          </a:p>
          <a:p>
            <a:endParaRPr lang="ko-KR" altLang="en-US" sz="1200"/>
          </a:p>
          <a:p>
            <a:r>
              <a:rPr lang="ko-KR" altLang="en-US" sz="1300" b="1"/>
              <a:t>예상 질문</a:t>
            </a:r>
          </a:p>
          <a:p>
            <a:r>
              <a:rPr lang="ko-KR" altLang="en-US" sz="1200"/>
              <a:t>- 가장 중요한 파이프라인은 무엇인가요?</a:t>
            </a:r>
          </a:p>
          <a:p>
            <a:endParaRPr lang="ko-KR" altLang="en-US" sz="1200"/>
          </a:p>
          <a:p>
            <a:r>
              <a:rPr lang="ko-KR" altLang="en-US" sz="1300" b="1"/>
              <a:t>답변 가이드</a:t>
            </a:r>
          </a:p>
          <a:p>
            <a:r>
              <a:rPr lang="ko-KR" altLang="en-US" sz="1200"/>
              <a:t>현재 투자 판단에서는 경구 세마글루타이드가 가장 중요합니다. 이 자산이 S-PASS 플랫폼의 첫 번째 검증 사례이기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이 페이지에서 말하고 싶은 핵심은 시장이 크다는 사실 자체가 아닙니다.</a:t>
            </a:r>
          </a:p>
          <a:p>
            <a:r>
              <a:rPr lang="ko-KR" altLang="en-US" sz="1200"/>
              <a:t>GLP-1, 인슐린, 항체의약품 시장은 분명히 크지만, 그 시장이 곧바로 삼천당의 가치가 되는 것은 아닙니다.</a:t>
            </a:r>
          </a:p>
          <a:p>
            <a:r>
              <a:rPr lang="ko-KR" altLang="en-US" sz="1200"/>
              <a:t>삼천당이 증명해야 할 것은 다섯 가지입니다.</a:t>
            </a:r>
          </a:p>
          <a:p>
            <a:r>
              <a:rPr lang="ko-KR" altLang="en-US" sz="1200"/>
              <a:t>첫째, SNAC-Free 제형이 실제로 작동하는가입니다. 기존 경구 세마글루타이드인 리벨서스는 SNAC이라는 흡수 보조제를 활용하는데, 삼천당은 이와 다른 방식의 경구화 전략을 제시하고 있습니다.</a:t>
            </a:r>
          </a:p>
          <a:p>
            <a:r>
              <a:rPr lang="ko-KR" altLang="en-US" sz="1200"/>
              <a:t>둘째, 경구 세마글루타이드의 BE 데이터가 규제기관이 인정할 수 있는 수준인가입니다. BE는 오리지널 의약품과 체내 흡수 속도와 흡수 정도가 유의하게 다르지 않은지를 보는 시험입니다.</a:t>
            </a:r>
          </a:p>
          <a:p>
            <a:r>
              <a:rPr lang="ko-KR" altLang="en-US" sz="1200"/>
              <a:t>셋째, FDA 후속 절차에서 추가 BE나 추가 자료 요구가 얼마나 제한적인지입니다. 이 부분이 명확해질수록 허가 일정과 비용 불확실성이 줄어듭니다.</a:t>
            </a:r>
          </a:p>
          <a:p>
            <a:r>
              <a:rPr lang="ko-KR" altLang="en-US" sz="1200"/>
              <a:t>넷째, 세마글루타이드 데이터가 인슐린이나 터제파타이드 같은 다른 약물로 확장될 수 있는지입니다. 이게 가능해야 S-PASS가 단일 제품이 아니라 플랫폼으로 평가받을 수 있습니다.</a:t>
            </a:r>
          </a:p>
          <a:p>
            <a:r>
              <a:rPr lang="ko-KR" altLang="en-US" sz="1200"/>
              <a:t>마지막으로 파트너 계약이 실제 마일스톤과 매출로 연결되는지입니다. 기술이 좋다는 주장보다 중요한 것은 결국 현금흐름으로 증명되는가입니다.</a:t>
            </a:r>
          </a:p>
          <a:p>
            <a:endParaRPr lang="ko-KR" altLang="en-US" sz="1200"/>
          </a:p>
          <a:p>
            <a:r>
              <a:rPr lang="ko-KR" altLang="en-US" sz="1300" b="1"/>
              <a:t>예상 질문</a:t>
            </a:r>
          </a:p>
          <a:p>
            <a:r>
              <a:rPr lang="ko-KR" altLang="en-US" sz="1200"/>
              <a:t>- 왜 대형 제약사가 아니라 삼천당이 할 수 있다고 보나요?</a:t>
            </a:r>
          </a:p>
          <a:p>
            <a:endParaRPr lang="ko-KR" altLang="en-US" sz="1200"/>
          </a:p>
          <a:p>
            <a:r>
              <a:rPr lang="ko-KR" altLang="en-US" sz="1300" b="1"/>
              <a:t>답변 가이드</a:t>
            </a:r>
          </a:p>
          <a:p>
            <a:r>
              <a:rPr lang="ko-KR" altLang="en-US" sz="1200"/>
              <a:t>아직 "할 수 있다"고 확정할 단계는 아닙니다. 그래서 이 자료는 삼천당의 기술적·규제적·상업적 증거가 나오는지를 확인해야 한다는 입장입니다.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이 슬라이드는 S-PASS의 개발 로드맵입니다.</a:t>
            </a:r>
          </a:p>
          <a:p>
            <a:r>
              <a:rPr lang="ko-KR" altLang="en-US" sz="1200"/>
              <a:t>경구 세마글루타이드는 14mg BE 완료와 FDA Pre-ANDA 진행으로 상업화에 가장 가까운 자산입니다.</a:t>
            </a:r>
          </a:p>
          <a:p>
            <a:r>
              <a:rPr lang="ko-KR" altLang="en-US" sz="1200"/>
              <a:t>경구 인슐린은 임상 단계에 진입했고, 터제파타이드는 앞으로 IND 신청을 목표로 하는 단계입니다.</a:t>
            </a:r>
          </a:p>
          <a:p>
            <a:r>
              <a:rPr lang="ko-KR" altLang="en-US" sz="1200"/>
              <a:t>여기서 중요한 것은 파이프라인별로 검증 단계가 다르다는 점입니다.</a:t>
            </a:r>
          </a:p>
          <a:p>
            <a:r>
              <a:rPr lang="ko-KR" altLang="en-US" sz="1200"/>
              <a:t>세마글루타이드는 상업화 근접, 인슐린과 터제파타이드는 적용 범위 확대, 항체의약품은 장기 옵션으로 구분해서 봐야 합니다.</a:t>
            </a:r>
          </a:p>
          <a:p>
            <a:endParaRPr lang="ko-KR" altLang="en-US" sz="1200"/>
          </a:p>
          <a:p>
            <a:r>
              <a:rPr lang="ko-KR" altLang="en-US" sz="1300" b="1"/>
              <a:t>예상 질문</a:t>
            </a:r>
          </a:p>
          <a:p>
            <a:r>
              <a:rPr lang="ko-KR" altLang="en-US" sz="1200"/>
              <a:t>- 2031 이후 일정이면 너무 먼 것 아닌가요?</a:t>
            </a:r>
          </a:p>
          <a:p>
            <a:endParaRPr lang="ko-KR" altLang="en-US" sz="1200"/>
          </a:p>
          <a:p>
            <a:r>
              <a:rPr lang="ko-KR" altLang="en-US" sz="1300" b="1"/>
              <a:t>답변 가이드</a:t>
            </a:r>
          </a:p>
          <a:p>
            <a:r>
              <a:rPr lang="ko-KR" altLang="en-US" sz="1200"/>
              <a:t>맞습니다. 그래서 현재 밸류에이션에서는 장기 파이프라인보다 경구 세마글루타이드와 초기 규제·계약 이벤트가 더 중요하다고 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이제 리스크를 보겠습니다.</a:t>
            </a:r>
          </a:p>
          <a:p>
            <a:r>
              <a:rPr lang="ko-KR" altLang="en-US" sz="1200"/>
              <a:t>이 자료에서 리스크는 단순히 부정적인 요소가 아니라, 앞으로 어떤 지표를 통해 투자 아이디어가 검증될지를 보여주는 장치입니다.</a:t>
            </a:r>
          </a:p>
          <a:p>
            <a:r>
              <a:rPr lang="ko-KR" altLang="en-US" sz="1200"/>
              <a:t>핵심은 기술 보유나 허가 자체가 아니라 실제 매출, 이익, 데이터로 이어지는가입니다.</a:t>
            </a:r>
          </a:p>
          <a:p>
            <a:endParaRPr lang="ko-KR" altLang="en-US" sz="1200"/>
          </a:p>
          <a:p>
            <a:r>
              <a:rPr lang="ko-KR" altLang="en-US" sz="1300" b="1"/>
              <a:t>예상 질문</a:t>
            </a:r>
          </a:p>
          <a:p>
            <a:r>
              <a:rPr lang="ko-KR" altLang="en-US" sz="1200"/>
              <a:t>- 리스크가 많으면 투자하면 안 되는 것 아닌가요?</a:t>
            </a:r>
          </a:p>
          <a:p>
            <a:endParaRPr lang="ko-KR" altLang="en-US" sz="1200"/>
          </a:p>
          <a:p>
            <a:r>
              <a:rPr lang="ko-KR" altLang="en-US" sz="1300" b="1"/>
              <a:t>답변 가이드</a:t>
            </a:r>
          </a:p>
          <a:p>
            <a:r>
              <a:rPr lang="ko-KR" altLang="en-US" sz="1200"/>
              <a:t>리스크가 있다는 것 자체보다, 그 리스크가 어떤 지표로 해소되는지가 중요하다고 봅니다. 그래서 리스크를 검증 포인트로 정리했습니다.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사업 리스크는 크게 세 가지입니다.</a:t>
            </a:r>
          </a:p>
          <a:p>
            <a:r>
              <a:rPr lang="ko-KR" altLang="en-US" sz="1200"/>
              <a:t>첫째, SCD411 판매 확대 실패 리스크입니다. 바이오시밀러는 허가만으로 점유율이 확보되지 않습니다. 반복 출하, 시장점유율, 영업이익률이 확인되어야 합니다.</a:t>
            </a:r>
          </a:p>
          <a:p>
            <a:r>
              <a:rPr lang="ko-KR" altLang="en-US" sz="1200"/>
              <a:t>둘째, 생산과 공급 리스크입니다. 수요가 있어도 생산 CAPA나 출하 지연이 발생하면 매출 인식이 늦어질 수 있습니다.</a:t>
            </a:r>
          </a:p>
          <a:p>
            <a:r>
              <a:rPr lang="ko-KR" altLang="en-US" sz="1200"/>
              <a:t>셋째, S-PASS 플랫폼 검증 실패 리스크입니다. S-PASS는 장기 가치의 핵심이지만 아직은 상업화보다 기술과 규제 경로를 검증하는 단계입니다.</a:t>
            </a:r>
          </a:p>
          <a:p>
            <a:r>
              <a:rPr lang="ko-KR" altLang="en-US" sz="1200"/>
              <a:t>결국 사업 리스크의 핵심은 기술 보유가 아니라 상업화 성공 여부입니다.</a:t>
            </a:r>
          </a:p>
          <a:p>
            <a:endParaRPr lang="ko-KR" altLang="en-US" sz="1200"/>
          </a:p>
          <a:p>
            <a:r>
              <a:rPr lang="ko-KR" altLang="en-US" sz="1300" b="1"/>
              <a:t>예상 질문</a:t>
            </a:r>
          </a:p>
          <a:p>
            <a:r>
              <a:rPr lang="ko-KR" altLang="en-US" sz="1200"/>
              <a:t>- 가장 큰 사업 리스크는 무엇이라고 보나요?</a:t>
            </a:r>
          </a:p>
          <a:p>
            <a:endParaRPr lang="ko-KR" altLang="en-US" sz="1200"/>
          </a:p>
          <a:p>
            <a:r>
              <a:rPr lang="ko-KR" altLang="en-US" sz="1300" b="1"/>
              <a:t>답변 가이드</a:t>
            </a:r>
          </a:p>
          <a:p>
            <a:r>
              <a:rPr lang="ko-KR" altLang="en-US" sz="1200"/>
              <a:t>현재 기준으로는 SCD411의 실제 판매 확대와 이익률 검증이 가장 중요합니다. S-PASS는 더 장기적인 리스크지만, 단기 시총 정당화에는 SCD411 실적이 더 중요하다고 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dirty="0"/>
              <a:t>발표 멘트</a:t>
            </a:r>
          </a:p>
          <a:p>
            <a:r>
              <a:rPr lang="ko-KR" altLang="en-US" sz="1200" dirty="0"/>
              <a:t>두 번째 리스크는 신뢰 리스크입니다.</a:t>
            </a:r>
          </a:p>
          <a:p>
            <a:r>
              <a:rPr lang="ko-KR" altLang="en-US" sz="1200" dirty="0" err="1"/>
              <a:t>삼천당제약은</a:t>
            </a:r>
            <a:r>
              <a:rPr lang="ko-KR" altLang="en-US" sz="1200" dirty="0"/>
              <a:t> 과거 공시 관련 논란으로 시장 신뢰에 일부 부담을 안고 있습니다.</a:t>
            </a:r>
          </a:p>
          <a:p>
            <a:r>
              <a:rPr lang="ko-KR" altLang="en-US" sz="1200" dirty="0"/>
              <a:t>그래서 투자자 입장에서는 보도자료나 인터뷰보다 공시와 분기 실적을 중심으로 회사를 평가해야 합니다.</a:t>
            </a:r>
          </a:p>
          <a:p>
            <a:r>
              <a:rPr lang="ko-KR" altLang="en-US" sz="1200" dirty="0"/>
              <a:t>여기서 두 가지를 봐야 합니다.</a:t>
            </a:r>
          </a:p>
          <a:p>
            <a:r>
              <a:rPr lang="ko-KR" altLang="en-US" sz="1200" dirty="0"/>
              <a:t>첫째는 공시 신뢰도입니다. SCD411 캐나다 성과 공개 과정에서 불성실공시법인 지정 이력이 있었고, 향후 공시의 정확성과 일관성을 확인해야 합니다.</a:t>
            </a:r>
          </a:p>
          <a:p>
            <a:r>
              <a:rPr lang="ko-KR" altLang="en-US" sz="1200" dirty="0"/>
              <a:t>둘째는 계약 실체와 투명성입니다. 특히 경구 </a:t>
            </a:r>
            <a:r>
              <a:rPr lang="ko-KR" altLang="en-US" sz="1200" dirty="0" err="1"/>
              <a:t>세마글루타이드</a:t>
            </a:r>
            <a:r>
              <a:rPr lang="ko-KR" altLang="en-US" sz="1200" dirty="0"/>
              <a:t> 관련 계약은 마일스톤과 수익배분 구조가 보도됐지만, 상대방 공개와 실제 현금흐름 연결 여부는 확인이 필요합니다.</a:t>
            </a:r>
          </a:p>
          <a:p>
            <a:r>
              <a:rPr lang="ko-KR" altLang="en-US" sz="1200" dirty="0"/>
              <a:t>이 페이지의 결론은 단순합니다. 신뢰는 발표가 아니라 공시와 실적으로 증명됩니다.</a:t>
            </a:r>
          </a:p>
          <a:p>
            <a:endParaRPr lang="ko-KR" altLang="en-US" sz="1200" dirty="0"/>
          </a:p>
          <a:p>
            <a:r>
              <a:rPr lang="ko-KR" altLang="en-US" sz="1300" b="1" dirty="0"/>
              <a:t>예상 질문</a:t>
            </a:r>
          </a:p>
          <a:p>
            <a:r>
              <a:rPr lang="ko-KR" altLang="en-US" sz="1200" dirty="0"/>
              <a:t>- 불성실공시 이력이 있으면 신뢰하기 어려운 것 아닌가요?</a:t>
            </a:r>
          </a:p>
          <a:p>
            <a:endParaRPr lang="ko-KR" altLang="en-US" sz="1200" dirty="0"/>
          </a:p>
          <a:p>
            <a:r>
              <a:rPr lang="ko-KR" altLang="en-US" sz="1300" b="1" dirty="0"/>
              <a:t>답변 가이드</a:t>
            </a:r>
          </a:p>
          <a:p>
            <a:r>
              <a:rPr lang="ko-KR" altLang="en-US" sz="1200" dirty="0"/>
              <a:t>그 리스크는 분명히 있습니다. 그래서 이 자료에서도 보도자료보다 공시, 공시보다 분기 실적을 확인해야 한다는 관점으로 정리했습니다. 신뢰 회복은 말이 아니라 실제 실적으로 확인해야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이제 마지막으로 밸류에이션과 투자 판단입니다.</a:t>
            </a:r>
          </a:p>
          <a:p>
            <a:r>
              <a:rPr lang="ko-KR" altLang="en-US" sz="1200"/>
              <a:t>앞에서는 사업의 가능성과 리스크를 봤다면, 이제는 현재 시가총액 5.6조 원이 어떤 미래를 반영하고 있는지 보겠습니다.</a:t>
            </a:r>
          </a:p>
          <a:p>
            <a:endParaRPr lang="ko-KR" altLang="en-US" sz="1200"/>
          </a:p>
          <a:p>
            <a:r>
              <a:rPr lang="ko-KR" altLang="en-US" sz="1300" b="1"/>
              <a:t>예상 질문</a:t>
            </a:r>
          </a:p>
          <a:p>
            <a:r>
              <a:rPr lang="ko-KR" altLang="en-US" sz="1200"/>
              <a:t>- 밸류에이션이 가능한 회사인가요?</a:t>
            </a:r>
          </a:p>
          <a:p>
            <a:endParaRPr lang="ko-KR" altLang="en-US" sz="1200"/>
          </a:p>
          <a:p>
            <a:r>
              <a:rPr lang="ko-KR" altLang="en-US" sz="1300" b="1"/>
              <a:t>답변 가이드</a:t>
            </a:r>
          </a:p>
          <a:p>
            <a:r>
              <a:rPr lang="ko-KR" altLang="en-US" sz="1200"/>
              <a:t>정밀한 DCF보다는 시나리오 기반 역산이 적합하다고 봤습니다. 현재 실적만으로 설명이 어렵기 때문에 필요한 순이익과 PER 가정을 통해 범위를 추정했습니다.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먼저 현재 실적 기준으로 보면 삼천당제약의 밸류에이션은 상당히 높습니다.</a:t>
            </a:r>
          </a:p>
          <a:p>
            <a:r>
              <a:rPr lang="ko-KR" altLang="en-US" sz="1200"/>
              <a:t>2025년 순이익 120억 원 기준으로 PER은 약 467배입니다. PSR은 약 24배, 영업이익 기준으로는 약 660배 수준입니다.</a:t>
            </a:r>
          </a:p>
          <a:p>
            <a:r>
              <a:rPr lang="ko-KR" altLang="en-US" sz="1200"/>
              <a:t>이 숫자 자체만 보면 현재 시총은 기존 안과 사업만으로 설명하기 어렵습니다.</a:t>
            </a:r>
          </a:p>
          <a:p>
            <a:r>
              <a:rPr lang="ko-KR" altLang="en-US" sz="1200"/>
              <a:t>따라서 현재 시총은 SCD411이 실적으로 증명되고, S-PASS가 옵션에서 실제 가치로 전환될 것이라는 기대를 반영한 가격으로 봐야 합니다.</a:t>
            </a:r>
          </a:p>
          <a:p>
            <a:endParaRPr lang="ko-KR" altLang="en-US" sz="1200"/>
          </a:p>
          <a:p>
            <a:r>
              <a:rPr lang="ko-KR" altLang="en-US" sz="1300" b="1"/>
              <a:t>예상 질문</a:t>
            </a:r>
          </a:p>
          <a:p>
            <a:r>
              <a:rPr lang="ko-KR" altLang="en-US" sz="1200"/>
              <a:t>- PER 467배면 너무 비싼 것 아닌가요?</a:t>
            </a:r>
          </a:p>
          <a:p>
            <a:endParaRPr lang="ko-KR" altLang="en-US" sz="1200"/>
          </a:p>
          <a:p>
            <a:r>
              <a:rPr lang="ko-KR" altLang="en-US" sz="1300" b="1"/>
              <a:t>답변 가이드</a:t>
            </a:r>
          </a:p>
          <a:p>
            <a:r>
              <a:rPr lang="ko-KR" altLang="en-US" sz="1200"/>
              <a:t>현재 실적 기준으로는 매우 높은 밸류에이션이 맞습니다. 다만 시장은 현재 실적이 아니라 SCD411과 S-PASS의 미래 기대를 반영하고 있다고 봐야 합니다.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그래서 현재 5.6조 시총을 정당화하려면 앞으로 어느 정도의 순이익이 필요한지 역산해봤습니다.</a:t>
            </a:r>
          </a:p>
          <a:p>
            <a:r>
              <a:rPr lang="ko-KR" altLang="en-US" sz="1200"/>
              <a:t>현재 PER 467배는 순이익이 아직 작기 때문에 나타나는 과도기적 수치라고 보고, 실적이 커진 이후 받을 수 있는 정상화 PER 20~50배를 가정했습니다.</a:t>
            </a:r>
          </a:p>
          <a:p>
            <a:r>
              <a:rPr lang="ko-KR" altLang="en-US" sz="1200"/>
              <a:t>그 결과 현재 시총을 정당화하려면 순이익 기준으로 약 1,100억 원에서 2,800억 원 정도가 필요합니다.</a:t>
            </a:r>
          </a:p>
          <a:p>
            <a:r>
              <a:rPr lang="ko-KR" altLang="en-US" sz="1200"/>
              <a:t>결국 핵심 질문은 SCD411과 S-PASS가 실제로 이 정도의 순이익 규모를 만들 수 있는가입니다.</a:t>
            </a:r>
          </a:p>
          <a:p>
            <a:endParaRPr lang="ko-KR" altLang="en-US" sz="1200"/>
          </a:p>
          <a:p>
            <a:r>
              <a:rPr lang="ko-KR" altLang="en-US" sz="1300" b="1"/>
              <a:t>예상 질문</a:t>
            </a:r>
          </a:p>
          <a:p>
            <a:r>
              <a:rPr lang="ko-KR" altLang="en-US" sz="1200"/>
              <a:t>- PER 20~50배 가정은 너무 임의적이지 않나요?</a:t>
            </a:r>
          </a:p>
          <a:p>
            <a:endParaRPr lang="ko-KR" altLang="en-US" sz="1200"/>
          </a:p>
          <a:p>
            <a:r>
              <a:rPr lang="ko-KR" altLang="en-US" sz="1300" b="1"/>
              <a:t>답변 가이드</a:t>
            </a:r>
          </a:p>
          <a:p>
            <a:r>
              <a:rPr lang="ko-KR" altLang="en-US" sz="1200"/>
              <a:t>정확한 목표 배수가 아니라 시나리오 가정입니다. 성숙 제약사부터 고성장 바이오기업까지의 범위를 넓게 잡아 현재 시총이 요구하는 이익 규모를 역산한 것입니다.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이제 SCD411이 어느 정도 실적을 만들어야 하는지 보겠습니다.</a:t>
            </a:r>
          </a:p>
          <a:p>
            <a:r>
              <a:rPr lang="ko-KR" altLang="en-US" sz="1200"/>
              <a:t>글로벌 아일리아 시장을 약 14조 원으로 단순 가정하면, 1% 점유 시 약 1,400억 원, 5% 점유 시 약 7,000억 원, 10% 점유 시 약 1.4조 원의 매출 잠재력이 있습니다.</a:t>
            </a:r>
          </a:p>
          <a:p>
            <a:r>
              <a:rPr lang="ko-KR" altLang="en-US" sz="1200"/>
              <a:t>하지만 여기서 중요한 것은 단순 매출이 아닙니다. 가격, 수익배분, 국가별 계약 구조, 영업이익률에 따라 삼천당제약이 실제로 인식하는 이익은 달라질 수 있습니다.</a:t>
            </a:r>
          </a:p>
          <a:p>
            <a:r>
              <a:rPr lang="ko-KR" altLang="en-US" sz="1200"/>
              <a:t>따라서 SCD411의 투자포인트는 성공 여부가 아니라 성공 규모입니다. 현재 시총을 정당화하려면 판매 시작이 아니라 순이익 1,000억 원 이상으로 연결되는 실적 규모가 필요합니다.</a:t>
            </a:r>
          </a:p>
          <a:p>
            <a:endParaRPr lang="ko-KR" altLang="en-US" sz="1200"/>
          </a:p>
          <a:p>
            <a:r>
              <a:rPr lang="ko-KR" altLang="en-US" sz="1300" b="1"/>
              <a:t>예상 질문</a:t>
            </a:r>
          </a:p>
          <a:p>
            <a:r>
              <a:rPr lang="ko-KR" altLang="en-US" sz="1200"/>
              <a:t>- 5% 점유율은 현실적인가요?</a:t>
            </a:r>
          </a:p>
          <a:p>
            <a:endParaRPr lang="ko-KR" altLang="en-US" sz="1200"/>
          </a:p>
          <a:p>
            <a:r>
              <a:rPr lang="ko-KR" altLang="en-US" sz="1300" b="1"/>
              <a:t>답변 가이드</a:t>
            </a:r>
          </a:p>
          <a:p>
            <a:r>
              <a:rPr lang="ko-KR" altLang="en-US" sz="1200"/>
              <a:t>이 페이지는 확정 전망이 아니라 민감도 분석입니다. 현실성은 국가별 가격, 파트너 판매력, 보험 등재, 경쟁 제품, 공급 능력에 따라 달라집니다. 그래서 실제 점유율과 반복 출하를 확인해야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S-PASS는 SCD411처럼 바로 매출과 순이익으로 계산하기 어렵습니다.</a:t>
            </a:r>
          </a:p>
          <a:p>
            <a:r>
              <a:rPr lang="ko-KR" altLang="en-US" sz="1200"/>
              <a:t>아직 확정 실적을 만드는 사업이 아니라, 규제, 데이터, 계약, 마일스톤, 상업화를 거치며 옵션가치가 실제 가치로 전환되는 구조입니다.</a:t>
            </a:r>
          </a:p>
          <a:p>
            <a:r>
              <a:rPr lang="ko-KR" altLang="en-US" sz="1200"/>
              <a:t>검증 순서는 규제 진전, 데이터 검증, 계약 실체, 상업화, 플랫폼 리레이팅 순서로 볼 수 있습니다.</a:t>
            </a:r>
          </a:p>
          <a:p>
            <a:r>
              <a:rPr lang="ko-KR" altLang="en-US" sz="1200"/>
              <a:t>현재 정량 밸류에이션이 어려운 이유도 FDA 최종 허가, 실제 판매, 마일스톤 수령, 후속 파이프라인 검증, 계약 조건 공개가 아직 남아 있기 때문입니다.</a:t>
            </a:r>
          </a:p>
          <a:p>
            <a:r>
              <a:rPr lang="ko-KR" altLang="en-US" sz="1200"/>
              <a:t>따라서 S-PASS는 시장 규모가 아니라 옵션가치가 실제 가치로 전환되는 증거가 나오는지를 봐야 합니다.</a:t>
            </a:r>
          </a:p>
          <a:p>
            <a:endParaRPr lang="ko-KR" altLang="en-US" sz="1200"/>
          </a:p>
          <a:p>
            <a:r>
              <a:rPr lang="ko-KR" altLang="en-US" sz="1300" b="1"/>
              <a:t>예상 질문</a:t>
            </a:r>
          </a:p>
          <a:p>
            <a:r>
              <a:rPr lang="ko-KR" altLang="en-US" sz="1200"/>
              <a:t>- S-PASS 가치를 얼마로 반영했나요?</a:t>
            </a:r>
          </a:p>
          <a:p>
            <a:endParaRPr lang="ko-KR" altLang="en-US" sz="1200"/>
          </a:p>
          <a:p>
            <a:r>
              <a:rPr lang="ko-KR" altLang="en-US" sz="1300" b="1"/>
              <a:t>답변 가이드</a:t>
            </a:r>
          </a:p>
          <a:p>
            <a:r>
              <a:rPr lang="ko-KR" altLang="en-US" sz="1200"/>
              <a:t>현재는 구체적인 정량 가치로 보기보다 옵션가치로 취급했습니다. 실제 가치는 FDA 후속 절차, 추가 BE 여부, 데이터 재현성, 계약 조건, 마일스톤 수령, 판매 개시가 확인될수록 반영될 수 있다고 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이 슬라이드가 이번 발표의 결론입니다.</a:t>
            </a:r>
          </a:p>
          <a:p>
            <a:r>
              <a:rPr lang="ko-KR" altLang="en-US" sz="1200"/>
              <a:t>현재 시총 약 5.6조 원은 기존 안과 사업의 실적만으로는 설명하기 어렵습니다. 28페이지에서 봤듯이, 현재 시총을 정당화하려면 순이익 1,100억 원에서 2,800억 원 수준이 필요합니다.</a:t>
            </a:r>
          </a:p>
          <a:p>
            <a:r>
              <a:rPr lang="ko-KR" altLang="en-US" sz="1200"/>
              <a:t>그래서 기업가치를 세 가지 시나리오로 나눠봤습니다.</a:t>
            </a:r>
          </a:p>
          <a:p>
            <a:r>
              <a:rPr lang="ko-KR" altLang="en-US" sz="1200"/>
              <a:t>Bear Case는 SCD411 성장 제한과 S-PASS 지연을 가정합니다. 이 경우 순이익은 500억에서 1,000억 원 수준, PER 20~30배를 적용해 시총 2~3조 원 정도로 봤습니다.</a:t>
            </a:r>
          </a:p>
          <a:p>
            <a:r>
              <a:rPr lang="ko-KR" altLang="en-US" sz="1200"/>
              <a:t>Base Case는 SCD411 글로벌 판매 확대와 Profit Sharing 일부 검증, S-PASS 검증 진행을 가정합니다. 이 경우 순이익 1,200억에서 2,000억 원, PER 30~40배를 적용해 시총 5~7조 원 범위로 봤습니다.</a:t>
            </a:r>
          </a:p>
          <a:p>
            <a:r>
              <a:rPr lang="ko-KR" altLang="en-US" sz="1200"/>
              <a:t>Bull Case는 미국 시장 진입, SCD411 대형 품목화, S-PASS 상업화와 플랫폼 리레이팅이 동시에 나타나는 경우입니다. 이 경우 시총 10조 원 이상도 가능하다고 봤습니다.</a:t>
            </a:r>
          </a:p>
          <a:p>
            <a:r>
              <a:rPr lang="ko-KR" altLang="en-US" sz="1200"/>
              <a:t>현재 시총 5.6조 원은 Bear보다는 높고 Bull까지는 반영하지 않은, Base Case 일부를 선반영한 가격으로 판단합니다.</a:t>
            </a:r>
          </a:p>
          <a:p>
            <a:r>
              <a:rPr lang="ko-KR" altLang="en-US" sz="1200"/>
              <a:t>그래서 지금부터 중요한 것은 새로운 스토리가 아니라 시점별 검증입니다.</a:t>
            </a:r>
          </a:p>
          <a:p>
            <a:r>
              <a:rPr lang="ko-KR" altLang="en-US" sz="1200"/>
              <a:t>단기 3~6개월에는 Apotex 재주문, 캐나다 반복 출하, FDA Pre-ANDA 후속 절차와 추가 BE 여부를 확인해야 합니다.</a:t>
            </a:r>
          </a:p>
          <a:p>
            <a:r>
              <a:rPr lang="ko-KR" altLang="en-US" sz="1200"/>
              <a:t>중기 6~12개월에는 유럽 매출 인식, Profit Sharing 일부 확인, 계약 조건 구체화와 마일스톤 수령 여부를 봐야 합니다.</a:t>
            </a:r>
          </a:p>
          <a:p>
            <a:r>
              <a:rPr lang="ko-KR" altLang="en-US" sz="1200"/>
              <a:t>장기 1~3년에는 미국 시장 진입, 경구 세마 상업화, 플랫폼 리레이팅 가능성을 확인해야 합니다.</a:t>
            </a:r>
          </a:p>
          <a:p>
            <a:r>
              <a:rPr lang="ko-KR" altLang="en-US" sz="1200"/>
              <a:t>제 결론은 이렇습니다. 삼천당제약은 좋은 회사이고 상방도 있습니다. 다만 현재 가격은 이미 SCD411 실적화와 S-PASS 검증 성공 가능성을 일정 부분 반영하고 있습니다.</a:t>
            </a:r>
          </a:p>
          <a:p>
            <a:r>
              <a:rPr lang="ko-KR" altLang="en-US" sz="1200"/>
              <a:t>따라서 지금은 더 큰 스토리에 베팅하는 단계라기보다, SCD411이 실제로 순이익 1,000억 원 이상을 만들 수 있는지, S-PASS가 검증 단계를 통과하는지를 확인하는 구간이라고 판단합니다.</a:t>
            </a:r>
          </a:p>
          <a:p>
            <a:endParaRPr lang="ko-KR" altLang="en-US" sz="1200"/>
          </a:p>
          <a:p>
            <a:r>
              <a:rPr lang="ko-KR" altLang="en-US" sz="1300" b="1"/>
              <a:t>예상 질문</a:t>
            </a:r>
          </a:p>
          <a:p>
            <a:r>
              <a:rPr lang="ko-KR" altLang="en-US" sz="1200"/>
              <a:t>- 그래서 지금 매수 의견인가요?</a:t>
            </a:r>
          </a:p>
          <a:p>
            <a:endParaRPr lang="ko-KR" altLang="en-US" sz="1200"/>
          </a:p>
          <a:p>
            <a:r>
              <a:rPr lang="ko-KR" altLang="en-US" sz="1300" b="1"/>
              <a:t>답변 가이드</a:t>
            </a:r>
          </a:p>
          <a:p>
            <a:r>
              <a:rPr lang="ko-KR" altLang="en-US" sz="1200"/>
              <a:t>제 결론은 적극 매수보다는 검증 후 판단에 가깝습니다. 회사의 상방은 인정하지만, 현재 가격은 Base Case 일부를 이미 반영하고 있다고 봅니다. 따라서 SCD411 반복 매출과 실제 이익 구조, S-PASS 검증 결과를 확인하면서 판단해야 한다고 봅니다.</a:t>
            </a:r>
          </a:p>
          <a:p>
            <a:endParaRPr lang="ko-KR" altLang="en-US" sz="1200"/>
          </a:p>
          <a:p>
            <a:r>
              <a:rPr lang="ko-KR" altLang="en-US" sz="1300" b="1"/>
              <a:t>추가 예상 질문</a:t>
            </a:r>
          </a:p>
          <a:p>
            <a:r>
              <a:rPr lang="ko-KR" altLang="en-US" sz="1200"/>
              <a:t>- 왜 Base Case를 5~7조로 봤나요?</a:t>
            </a:r>
          </a:p>
          <a:p>
            <a:endParaRPr lang="ko-KR" altLang="en-US" sz="1200"/>
          </a:p>
          <a:p>
            <a:r>
              <a:rPr lang="ko-KR" altLang="en-US" sz="1300" b="1"/>
              <a:t>답변 가이드</a:t>
            </a:r>
          </a:p>
          <a:p>
            <a:r>
              <a:rPr lang="ko-KR" altLang="en-US" sz="1200"/>
              <a:t>28p에서 현재 시총을 정당화하려면 순이익 1,100억~2,800억 원이 필요하다고 역산했고, 29p에서 SCD411이 그 정도 이익 규모로 연결되려면 반복 출하, Profit Sharing, 높은 이익률이 필요하다고 봤습니다. Base Case는 순이익 1,200억~2,000억 원과 PER 30~40배를 적용한 범위입니다.</a:t>
            </a:r>
          </a:p>
          <a:p>
            <a:endParaRPr lang="ko-KR" altLang="en-US" sz="1200"/>
          </a:p>
          <a:p>
            <a:r>
              <a:rPr lang="ko-KR" altLang="en-US" sz="1300" b="1"/>
              <a:t>추가 예상 질문</a:t>
            </a:r>
          </a:p>
          <a:p>
            <a:r>
              <a:rPr lang="ko-KR" altLang="en-US" sz="1200"/>
              <a:t>- Bull Case 10조 이상은 너무 공격적이지 않나요?</a:t>
            </a:r>
          </a:p>
          <a:p>
            <a:endParaRPr lang="ko-KR" altLang="en-US" sz="1200"/>
          </a:p>
          <a:p>
            <a:r>
              <a:rPr lang="ko-KR" altLang="en-US" sz="1300" b="1"/>
              <a:t>답변 가이드</a:t>
            </a:r>
          </a:p>
          <a:p>
            <a:r>
              <a:rPr lang="ko-KR" altLang="en-US" sz="1200"/>
              <a:t>Bull Case는 기본 시나리오가 아니라 미국 진입, SCD411 대형 품목화, S-PASS 상업화와 플랫폼 리레이팅이 동시에 나타나는 낙관 시나리오입니다. 현재 투자 판단의 기준은 Bull이 아니라 Base Case 검증 여부입니다.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5AB19-1A2B-B1A7-E1C2-77DB8E213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59DFB-CF73-33D3-1255-94F464235C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8D592-6DF3-2464-8271-C47421B07D45}"/>
              </a:ext>
            </a:extLst>
          </p:cNvPr>
          <p:cNvSpPr>
            <a:spLocks noGrp="1"/>
          </p:cNvSpPr>
          <p:nvPr>
            <p:ph type="body" idx="1"/>
          </p:nvPr>
        </p:nvSpPr>
        <p:spPr/>
        <p:txBody>
          <a:bodyPr/>
          <a:lstStyle/>
          <a:p>
            <a:r>
              <a:rPr lang="ko-KR" altLang="en-US" sz="1300" b="1"/>
              <a:t>발표 멘트</a:t>
            </a:r>
          </a:p>
          <a:p>
            <a:r>
              <a:rPr lang="ko-KR" altLang="en-US" sz="1200"/>
              <a:t>마지막은 주담 통화 체크리스트입니다.</a:t>
            </a:r>
          </a:p>
          <a:p>
            <a:r>
              <a:rPr lang="ko-KR" altLang="en-US" sz="1200"/>
              <a:t>여기부터는 발표 본문이라기보다, 공개자료로 확인하기 어려운 부분을 실제 IR 통화에서 확인하기 위한 질문 리스트입니다.</a:t>
            </a:r>
          </a:p>
          <a:p>
            <a:r>
              <a:rPr lang="ko-KR" altLang="en-US" sz="1200"/>
              <a:t>발표에서는 빠르게 넘기고, 실제 통화 후 답변을 기록하는 용도로 활용할 수 있습니다.</a:t>
            </a:r>
          </a:p>
          <a:p>
            <a:endParaRPr lang="ko-KR" altLang="en-US" sz="1200"/>
          </a:p>
          <a:p>
            <a:r>
              <a:rPr lang="ko-KR" altLang="en-US" sz="1300" b="1"/>
              <a:t>예상 질문</a:t>
            </a:r>
          </a:p>
          <a:p>
            <a:r>
              <a:rPr lang="ko-KR" altLang="en-US" sz="1200"/>
              <a:t>- 주담 통화에서 가장 먼저 물어볼 것은 무엇인가요?</a:t>
            </a:r>
          </a:p>
          <a:p>
            <a:endParaRPr lang="ko-KR" altLang="en-US" sz="1200"/>
          </a:p>
          <a:p>
            <a:r>
              <a:rPr lang="ko-KR" altLang="en-US" sz="1300" b="1"/>
              <a:t>답변 가이드</a:t>
            </a:r>
          </a:p>
          <a:p>
            <a:r>
              <a:rPr lang="ko-KR" altLang="en-US" sz="1200"/>
              <a:t>첫 번째는 캐나다 매출이 출하 기준인지 실제 처방 기준인지입니다. 이 답변에 따라 SCD411 매출의 질을 판단할 수 있기 때문입니다.</a:t>
            </a:r>
          </a:p>
        </p:txBody>
      </p:sp>
      <p:sp>
        <p:nvSpPr>
          <p:cNvPr id="4" name="Slide Number Placeholder 3">
            <a:extLst>
              <a:ext uri="{FF2B5EF4-FFF2-40B4-BE49-F238E27FC236}">
                <a16:creationId xmlns:a16="http://schemas.microsoft.com/office/drawing/2014/main" id="{E13D4498-7061-9D39-0847-207FAF795219}"/>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5712355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SCD411 관련 질문은 실제 실적화 여부를 확인하는 데 초점을 맞췄습니다. 이 페이지는 발표 본문이 아니라 실제 IR 통화용 부록입니다.</a:t>
            </a:r>
          </a:p>
          <a:p>
            <a:r>
              <a:rPr lang="ko-KR" altLang="en-US" sz="1200"/>
              <a:t>가장 중요한 질문은 캐나다 매출이 출하 기준인지 처방 기준인지, Apotex 재주문이 반복되고 있는지, 그리고 SCD411이 성장했을 때 삼천당에 실제로 얼마가 귀속되는지입니다.</a:t>
            </a:r>
          </a:p>
          <a:p>
            <a:r>
              <a:rPr lang="ko-KR" altLang="en-US" sz="1200"/>
              <a:t>또 CAPA와 공급 병목 여부도 확인해야 합니다.</a:t>
            </a:r>
          </a:p>
          <a:p>
            <a:endParaRPr lang="ko-KR" altLang="en-US" sz="1200"/>
          </a:p>
          <a:p>
            <a:r>
              <a:rPr lang="ko-KR" altLang="en-US" sz="1300" b="1"/>
              <a:t>예상 질문</a:t>
            </a:r>
          </a:p>
          <a:p>
            <a:r>
              <a:rPr lang="ko-KR" altLang="en-US" sz="1200"/>
              <a:t>- SCD411 질문 중 하나만 고르면 무엇을 물어볼 건가요?</a:t>
            </a:r>
          </a:p>
          <a:p>
            <a:endParaRPr lang="ko-KR" altLang="en-US" sz="1200"/>
          </a:p>
          <a:p>
            <a:r>
              <a:rPr lang="ko-KR" altLang="en-US" sz="1300" b="1"/>
              <a:t>답변 가이드</a:t>
            </a:r>
          </a:p>
          <a:p>
            <a:r>
              <a:rPr lang="ko-KR" altLang="en-US" sz="1200"/>
              <a:t>"SCD411 성장 시 삼천당에 귀속되는 수익 구조가 어떻게 되는가"를 물어보겠습니다. 시장 규모보다 실제 주주에게 남는 이익이 더 중요하기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sz="1300" b="1"/>
              <a:t>발표 멘트</a:t>
            </a:r>
          </a:p>
          <a:p>
            <a:r>
              <a:rPr lang="ko-KR" altLang="en-US" sz="1200"/>
              <a:t>S-PASS 관련 질문은 플랫폼 가치가 실제로 검증될 수 있는지에 초점을 맞췄습니다. 이 페이지도 발표 본문이 아니라 실제 IR 통화용 부록입니다.</a:t>
            </a:r>
          </a:p>
          <a:p>
            <a:r>
              <a:rPr lang="ko-KR" altLang="en-US" sz="1200"/>
              <a:t>핵심은 경구 세마글루타이드가 단일 제품 가치인지 S-PASS 플랫폼 검증 사례인지, SNAC-Free가 단순 특허 회피인지 실제 기술적 우위인지, 그리고 계약이 실제 수익과 현금흐름으로 연결되는지입니다.</a:t>
            </a:r>
          </a:p>
          <a:p>
            <a:r>
              <a:rPr lang="ko-KR" altLang="en-US" sz="1200"/>
              <a:t>마지막으로 향후 2~3년 회사 가치에 가장 큰 영향을 줄 이벤트가 SCD411인지 S-PASS인지 확인하면 회사가 스스로 어떤 성장축을 중요하게 보는지 알 수 있습니다.</a:t>
            </a:r>
          </a:p>
          <a:p>
            <a:endParaRPr lang="ko-KR" altLang="en-US" sz="1200"/>
          </a:p>
          <a:p>
            <a:r>
              <a:rPr lang="ko-KR" altLang="en-US" sz="1300" b="1"/>
              <a:t>예상 질문</a:t>
            </a:r>
          </a:p>
          <a:p>
            <a:r>
              <a:rPr lang="ko-KR" altLang="en-US" sz="1200"/>
              <a:t>- S-PASS에서 가장 중요한 질문은 무엇인가요?</a:t>
            </a:r>
          </a:p>
          <a:p>
            <a:endParaRPr lang="ko-KR" altLang="en-US" sz="1200"/>
          </a:p>
          <a:p>
            <a:r>
              <a:rPr lang="ko-KR" altLang="en-US" sz="1300" b="1"/>
              <a:t>답변 가이드</a:t>
            </a:r>
          </a:p>
          <a:p>
            <a:r>
              <a:rPr lang="ko-KR" altLang="en-US" sz="1200"/>
              <a:t>경구 세마글루타이드를 회사가 단일 제품으로 보는지, S-PASS 플랫폼 검증 사례로 보는지입니다. 이 답에 따라 S-PASS를 제품 가치로 볼지, 플랫폼 가치로 볼지 판단할 수 있습니다.</a:t>
            </a:r>
          </a:p>
          <a:p>
            <a:endParaRPr lang="ko-KR" altLang="en-US" sz="1200"/>
          </a:p>
          <a:p>
            <a:r>
              <a:rPr lang="ko-KR" altLang="en-US" sz="1300" b="1"/>
              <a:t>전체 마무리</a:t>
            </a:r>
          </a:p>
          <a:p>
            <a:r>
              <a:rPr lang="ko-KR" altLang="en-US" sz="1200"/>
              <a:t>전체적으로 삼천당제약은 좋은 성장 스토리를 가진 회사이지만, 현재 시가총액은 이미 상당한 기대를 반영하고 있습니다. 앞으로는 더 큰 스토리보다 SCD411의 반복 매출과 실제 이익 규모, 그리고 S-PASS의 규제·데이터·계약 검증 결과가 중요하다고 판단합니다.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203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468880"/>
            <a:ext cx="10515600" cy="13716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58368" y="402336"/>
            <a:ext cx="10972800" cy="749808"/>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B203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005840"/>
            <a:ext cx="1051560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0665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op bar">
            <a:extLst>
              <a:ext uri="{C183D7F6-B498-43B3-948B-1728B52AA6E4}">
                <adec:decorative xmlns:adec="http://schemas.microsoft.com/office/drawing/2017/decorative" val="1"/>
              </a:ext>
            </a:extLst>
          </p:cNvPr>
          <p:cNvSpPr/>
          <p:nvPr/>
        </p:nvSpPr>
        <p:spPr>
          <a:xfrm>
            <a:off x="0" y="0"/>
            <a:ext cx="12191695" cy="201168"/>
          </a:xfrm>
          <a:prstGeom prst="rect">
            <a:avLst/>
          </a:prstGeom>
          <a:solidFill>
            <a:srgbClr val="1D4ED8"/>
          </a:solidFill>
          <a:ln/>
        </p:spPr>
        <p:txBody>
          <a:bodyPr/>
          <a:lstStyle/>
          <a:p>
            <a:endParaRPr lang="ko-KR" altLang="en-US"/>
          </a:p>
        </p:txBody>
      </p:sp>
      <p:sp>
        <p:nvSpPr>
          <p:cNvPr id="3" name="bottom band">
            <a:extLst>
              <a:ext uri="{C183D7F6-B498-43B3-948B-1728B52AA6E4}">
                <adec:decorative xmlns:adec="http://schemas.microsoft.com/office/drawing/2017/decorative" val="1"/>
              </a:ext>
            </a:extLst>
          </p:cNvPr>
          <p:cNvSpPr/>
          <p:nvPr/>
        </p:nvSpPr>
        <p:spPr>
          <a:xfrm>
            <a:off x="0" y="6355080"/>
            <a:ext cx="12191695" cy="502920"/>
          </a:xfrm>
          <a:prstGeom prst="rect">
            <a:avLst/>
          </a:prstGeom>
          <a:solidFill>
            <a:srgbClr val="13324F"/>
          </a:solidFill>
          <a:ln/>
        </p:spPr>
        <p:txBody>
          <a:bodyPr/>
          <a:lstStyle/>
          <a:p>
            <a:endParaRPr lang="ko-KR" altLang="en-US"/>
          </a:p>
        </p:txBody>
      </p:sp>
      <p:sp>
        <p:nvSpPr>
          <p:cNvPr id="4" name="Text 2"/>
          <p:cNvSpPr/>
          <p:nvPr/>
        </p:nvSpPr>
        <p:spPr>
          <a:xfrm>
            <a:off x="841248" y="1600200"/>
            <a:ext cx="10058400" cy="365760"/>
          </a:xfrm>
          <a:prstGeom prst="rect">
            <a:avLst/>
          </a:prstGeom>
          <a:noFill/>
          <a:ln/>
        </p:spPr>
        <p:txBody>
          <a:bodyPr wrap="square" lIns="0" tIns="0" rIns="0" bIns="0" rtlCol="0" anchor="ctr"/>
          <a:lstStyle/>
          <a:p>
            <a:pPr marL="0" indent="0">
              <a:buNone/>
            </a:pPr>
            <a:r>
              <a:rPr lang="en-US" sz="1400" b="1" kern="0" spc="300" dirty="0">
                <a:solidFill>
                  <a:srgbClr val="60A5FA"/>
                </a:solidFill>
                <a:latin typeface="Malgun Gothic" pitchFamily="34" charset="0"/>
                <a:ea typeface="Malgun Gothic" pitchFamily="34" charset="-122"/>
                <a:cs typeface="Malgun Gothic" pitchFamily="34" charset="-120"/>
              </a:rPr>
              <a:t>EQUITY IDEA · 투자스터디 발표</a:t>
            </a:r>
            <a:endParaRPr lang="en-US" sz="1400" dirty="0"/>
          </a:p>
        </p:txBody>
      </p:sp>
      <p:sp>
        <p:nvSpPr>
          <p:cNvPr id="5" name="Text 0"/>
          <p:cNvSpPr>
            <a:spLocks noGrp="1"/>
          </p:cNvSpPr>
          <p:nvPr>
            <p:ph type="title" idx="100" hasCustomPrompt="1"/>
          </p:nvPr>
        </p:nvSpPr>
        <p:spPr>
          <a:xfrm>
            <a:off x="822960" y="2468880"/>
            <a:ext cx="10515600" cy="1371600"/>
          </a:xfrm>
          <a:prstGeom prst="rect">
            <a:avLst/>
          </a:prstGeom>
          <a:noFill/>
          <a:ln/>
        </p:spPr>
        <p:txBody>
          <a:bodyPr wrap="square" lIns="0" tIns="0" rIns="0" bIns="0" rtlCol="0" anchor="ctr"/>
          <a:lstStyle/>
          <a:p>
            <a:pPr marL="0" indent="0" algn="l">
              <a:buNone/>
            </a:pPr>
            <a:r>
              <a:rPr lang="en-US" sz="5200" b="1" dirty="0">
                <a:solidFill>
                  <a:srgbClr val="FFFFFF"/>
                </a:solidFill>
                <a:latin typeface="Malgun Gothic" pitchFamily="34" charset="0"/>
                <a:ea typeface="Malgun Gothic" pitchFamily="34" charset="-122"/>
                <a:cs typeface="Malgun Gothic" pitchFamily="34" charset="-120"/>
              </a:rPr>
              <a:t>삼천당제약</a:t>
            </a:r>
            <a:endParaRPr lang="en-US" sz="5200" dirty="0"/>
          </a:p>
        </p:txBody>
      </p:sp>
      <p:sp>
        <p:nvSpPr>
          <p:cNvPr id="6" name="Text 4"/>
          <p:cNvSpPr/>
          <p:nvPr/>
        </p:nvSpPr>
        <p:spPr>
          <a:xfrm>
            <a:off x="859536" y="3977640"/>
            <a:ext cx="10515600" cy="502920"/>
          </a:xfrm>
          <a:prstGeom prst="rect">
            <a:avLst/>
          </a:prstGeom>
          <a:noFill/>
          <a:ln/>
        </p:spPr>
        <p:txBody>
          <a:bodyPr wrap="square" lIns="0" tIns="0" rIns="0" bIns="0" rtlCol="0" anchor="ctr"/>
          <a:lstStyle/>
          <a:p>
            <a:pPr marL="0" indent="0">
              <a:buNone/>
            </a:pPr>
            <a:r>
              <a:rPr lang="en-US" sz="2200" b="1" dirty="0">
                <a:solidFill>
                  <a:srgbClr val="FFFFFF"/>
                </a:solidFill>
                <a:latin typeface="Malgun Gothic" pitchFamily="34" charset="0"/>
                <a:ea typeface="Malgun Gothic" pitchFamily="34" charset="-122"/>
                <a:cs typeface="Malgun Gothic" pitchFamily="34" charset="-120"/>
              </a:rPr>
              <a:t>SCD411 실적화와 S-PASS 옵션가치</a:t>
            </a:r>
            <a:endParaRPr lang="en-US" sz="2200" dirty="0"/>
          </a:p>
        </p:txBody>
      </p:sp>
      <p:sp>
        <p:nvSpPr>
          <p:cNvPr id="7" name="Text 5"/>
          <p:cNvSpPr/>
          <p:nvPr/>
        </p:nvSpPr>
        <p:spPr>
          <a:xfrm>
            <a:off x="859536" y="4526280"/>
            <a:ext cx="10515600" cy="365760"/>
          </a:xfrm>
          <a:prstGeom prst="rect">
            <a:avLst/>
          </a:prstGeom>
          <a:noFill/>
          <a:ln/>
        </p:spPr>
        <p:txBody>
          <a:bodyPr wrap="square" lIns="0" tIns="0" rIns="0" bIns="0" rtlCol="0" anchor="ctr"/>
          <a:lstStyle/>
          <a:p>
            <a:pPr marL="0" indent="0">
              <a:buNone/>
            </a:pPr>
            <a:r>
              <a:rPr lang="en-US" sz="1400" dirty="0">
                <a:solidFill>
                  <a:srgbClr val="BFDBFE"/>
                </a:solidFill>
                <a:latin typeface="Malgun Gothic" pitchFamily="34" charset="0"/>
                <a:ea typeface="Malgun Gothic" pitchFamily="34" charset="-122"/>
                <a:cs typeface="Malgun Gothic" pitchFamily="34" charset="-120"/>
              </a:rPr>
              <a:t>기대감에서 실적 검증 구간으로</a:t>
            </a:r>
            <a:endParaRPr lang="en-US" sz="1400" dirty="0"/>
          </a:p>
        </p:txBody>
      </p:sp>
      <p:sp>
        <p:nvSpPr>
          <p:cNvPr id="8" name="Text 6"/>
          <p:cNvSpPr/>
          <p:nvPr/>
        </p:nvSpPr>
        <p:spPr>
          <a:xfrm>
            <a:off x="859536" y="6419088"/>
            <a:ext cx="5486400" cy="384048"/>
          </a:xfrm>
          <a:prstGeom prst="rect">
            <a:avLst/>
          </a:prstGeom>
          <a:noFill/>
          <a:ln/>
        </p:spPr>
        <p:txBody>
          <a:bodyPr wrap="square" lIns="0" tIns="0" rIns="0" bIns="0" rtlCol="0" anchor="ctr"/>
          <a:lstStyle/>
          <a:p>
            <a:pPr marL="0" indent="0">
              <a:buNone/>
            </a:pPr>
            <a:r>
              <a:rPr lang="en-US" sz="1200" dirty="0" err="1">
                <a:solidFill>
                  <a:srgbClr val="FFFFFF"/>
                </a:solidFill>
                <a:latin typeface="Malgun Gothic" pitchFamily="34" charset="0"/>
                <a:ea typeface="Malgun Gothic" pitchFamily="34" charset="-122"/>
                <a:cs typeface="Malgun Gothic" pitchFamily="34" charset="-120"/>
              </a:rPr>
              <a:t>발표일</a:t>
            </a:r>
            <a:r>
              <a:rPr lang="en-US" sz="1200" dirty="0">
                <a:solidFill>
                  <a:srgbClr val="FFFFFF"/>
                </a:solidFill>
                <a:latin typeface="Malgun Gothic" pitchFamily="34" charset="0"/>
                <a:ea typeface="Malgun Gothic" pitchFamily="34" charset="-122"/>
                <a:cs typeface="Malgun Gothic" pitchFamily="34" charset="-120"/>
              </a:rPr>
              <a:t>  2026.07.26</a:t>
            </a:r>
            <a:endParaRPr lang="en-US" sz="1200" dirty="0"/>
          </a:p>
        </p:txBody>
      </p:sp>
      <p:sp>
        <p:nvSpPr>
          <p:cNvPr id="9" name="Text 7"/>
          <p:cNvSpPr/>
          <p:nvPr/>
        </p:nvSpPr>
        <p:spPr>
          <a:xfrm>
            <a:off x="5852160" y="6419088"/>
            <a:ext cx="5486400" cy="384048"/>
          </a:xfrm>
          <a:prstGeom prst="rect">
            <a:avLst/>
          </a:prstGeom>
          <a:noFill/>
          <a:ln/>
        </p:spPr>
        <p:txBody>
          <a:bodyPr wrap="square" lIns="0" tIns="0" rIns="0" bIns="0" rtlCol="0" anchor="ctr"/>
          <a:lstStyle/>
          <a:p>
            <a:pPr marL="0" indent="0" algn="r">
              <a:buNone/>
            </a:pPr>
            <a:r>
              <a:rPr lang="en-US" sz="1100" dirty="0" err="1">
                <a:solidFill>
                  <a:srgbClr val="BFDBFE"/>
                </a:solidFill>
                <a:latin typeface="Malgun Gothic" pitchFamily="34" charset="0"/>
                <a:ea typeface="Malgun Gothic" pitchFamily="34" charset="-122"/>
                <a:cs typeface="Malgun Gothic" pitchFamily="34" charset="-120"/>
              </a:rPr>
              <a:t>발표자</a:t>
            </a:r>
            <a:r>
              <a:rPr lang="en-US" sz="1100" dirty="0">
                <a:solidFill>
                  <a:srgbClr val="BFDBFE"/>
                </a:solidFill>
                <a:latin typeface="Malgun Gothic" pitchFamily="34" charset="0"/>
                <a:ea typeface="Malgun Gothic" pitchFamily="34" charset="-122"/>
                <a:cs typeface="Malgun Gothic" pitchFamily="34" charset="-120"/>
              </a:rPr>
              <a:t>  </a:t>
            </a:r>
            <a:r>
              <a:rPr lang="ko-KR" altLang="en-US" sz="1100" dirty="0">
                <a:solidFill>
                  <a:srgbClr val="BFDBFE"/>
                </a:solidFill>
                <a:latin typeface="Malgun Gothic" pitchFamily="34" charset="0"/>
                <a:ea typeface="Malgun Gothic" pitchFamily="34" charset="-122"/>
                <a:cs typeface="Malgun Gothic" pitchFamily="34" charset="-120"/>
              </a:rPr>
              <a:t>김경훈</a:t>
            </a:r>
            <a:r>
              <a:rPr lang="en-US" sz="1100" dirty="0">
                <a:solidFill>
                  <a:srgbClr val="BFDBFE"/>
                </a:solidFill>
                <a:latin typeface="Malgun Gothic" pitchFamily="34" charset="0"/>
                <a:ea typeface="Malgun Gothic" pitchFamily="34" charset="-122"/>
                <a:cs typeface="Malgun Gothic" pitchFamily="34" charset="-120"/>
              </a:rPr>
              <a:t>  ·  KOSDAQ 000250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dirty="0">
                <a:solidFill>
                  <a:srgbClr val="1D4ED8"/>
                </a:solidFill>
                <a:latin typeface="Malgun Gothic" pitchFamily="34" charset="0"/>
                <a:ea typeface="Malgun Gothic" pitchFamily="34" charset="-122"/>
                <a:cs typeface="Malgun Gothic" pitchFamily="34" charset="-120"/>
              </a:rPr>
              <a:t>CONTENTS</a:t>
            </a:r>
            <a:endParaRPr lang="en-US" sz="1100" dirty="0"/>
          </a:p>
        </p:txBody>
      </p:sp>
      <p:sp>
        <p:nvSpPr>
          <p:cNvPr id="3" name="Text 1"/>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dirty="0">
                <a:solidFill>
                  <a:srgbClr val="0E2036"/>
                </a:solidFill>
                <a:latin typeface="Malgun Gothic" pitchFamily="34" charset="0"/>
                <a:ea typeface="Malgun Gothic" pitchFamily="34" charset="-122"/>
                <a:cs typeface="Malgun Gothic" pitchFamily="34" charset="-120"/>
              </a:rPr>
              <a:t>목차</a:t>
            </a:r>
            <a:endParaRPr lang="en-US" sz="2500" dirty="0"/>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card">
            <a:extLst>
              <a:ext uri="{C183D7F6-B498-43B3-948B-1728B52AA6E4}">
                <adec:decorative xmlns:adec="http://schemas.microsoft.com/office/drawing/2017/decorative" val="1"/>
              </a:ext>
            </a:extLst>
          </p:cNvPr>
          <p:cNvSpPr/>
          <p:nvPr/>
        </p:nvSpPr>
        <p:spPr>
          <a:xfrm>
            <a:off x="658368" y="1517904"/>
            <a:ext cx="10881360" cy="841248"/>
          </a:xfrm>
          <a:prstGeom prst="rect">
            <a:avLst/>
          </a:prstGeom>
          <a:solidFill>
            <a:srgbClr val="F2F6FC"/>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6" name="accent">
            <a:extLst>
              <a:ext uri="{C183D7F6-B498-43B3-948B-1728B52AA6E4}">
                <adec:decorative xmlns:adec="http://schemas.microsoft.com/office/drawing/2017/decorative" val="1"/>
              </a:ext>
            </a:extLst>
          </p:cNvPr>
          <p:cNvSpPr/>
          <p:nvPr/>
        </p:nvSpPr>
        <p:spPr>
          <a:xfrm>
            <a:off x="658368" y="1517904"/>
            <a:ext cx="82296" cy="841248"/>
          </a:xfrm>
          <a:prstGeom prst="rect">
            <a:avLst/>
          </a:prstGeom>
          <a:solidFill>
            <a:srgbClr val="1D4ED8"/>
          </a:solidFill>
          <a:ln/>
        </p:spPr>
        <p:txBody>
          <a:bodyPr/>
          <a:lstStyle/>
          <a:p>
            <a:endParaRPr lang="ko-KR" altLang="en-US"/>
          </a:p>
        </p:txBody>
      </p:sp>
      <p:sp>
        <p:nvSpPr>
          <p:cNvPr id="7" name="Text 5"/>
          <p:cNvSpPr/>
          <p:nvPr/>
        </p:nvSpPr>
        <p:spPr>
          <a:xfrm>
            <a:off x="868680" y="1517904"/>
            <a:ext cx="1051560" cy="841248"/>
          </a:xfrm>
          <a:prstGeom prst="rect">
            <a:avLst/>
          </a:prstGeom>
          <a:noFill/>
          <a:ln/>
        </p:spPr>
        <p:txBody>
          <a:bodyPr wrap="square" lIns="0" tIns="0" rIns="0" bIns="0" rtlCol="0" anchor="ctr"/>
          <a:lstStyle/>
          <a:p>
            <a:pPr marL="0" indent="0">
              <a:buNone/>
            </a:pPr>
            <a:r>
              <a:rPr lang="en-US" sz="3000" b="1" dirty="0">
                <a:solidFill>
                  <a:srgbClr val="1D4ED8"/>
                </a:solidFill>
                <a:latin typeface="Malgun Gothic" pitchFamily="34" charset="0"/>
                <a:ea typeface="Malgun Gothic" pitchFamily="34" charset="-122"/>
                <a:cs typeface="Malgun Gothic" pitchFamily="34" charset="-120"/>
              </a:rPr>
              <a:t>01</a:t>
            </a:r>
            <a:endParaRPr lang="en-US" sz="3000" dirty="0"/>
          </a:p>
        </p:txBody>
      </p:sp>
      <p:sp>
        <p:nvSpPr>
          <p:cNvPr id="8" name="Text 6"/>
          <p:cNvSpPr/>
          <p:nvPr/>
        </p:nvSpPr>
        <p:spPr>
          <a:xfrm>
            <a:off x="2011680" y="1645920"/>
            <a:ext cx="3291840" cy="384048"/>
          </a:xfrm>
          <a:prstGeom prst="rect">
            <a:avLst/>
          </a:prstGeom>
          <a:noFill/>
          <a:ln/>
        </p:spPr>
        <p:txBody>
          <a:bodyPr wrap="square" lIns="0" tIns="0" rIns="0" bIns="0" rtlCol="0" anchor="ctr"/>
          <a:lstStyle/>
          <a:p>
            <a:pPr marL="0" indent="0">
              <a:buNone/>
            </a:pPr>
            <a:r>
              <a:rPr lang="en-US" sz="1700" b="1" dirty="0">
                <a:solidFill>
                  <a:srgbClr val="0E2036"/>
                </a:solidFill>
                <a:latin typeface="Malgun Gothic" pitchFamily="34" charset="0"/>
                <a:ea typeface="Malgun Gothic" pitchFamily="34" charset="-122"/>
                <a:cs typeface="Malgun Gothic" pitchFamily="34" charset="-120"/>
              </a:rPr>
              <a:t>기업개요</a:t>
            </a:r>
            <a:endParaRPr lang="en-US" sz="1700" dirty="0"/>
          </a:p>
        </p:txBody>
      </p:sp>
      <p:sp>
        <p:nvSpPr>
          <p:cNvPr id="9" name="Text 7"/>
          <p:cNvSpPr/>
          <p:nvPr/>
        </p:nvSpPr>
        <p:spPr>
          <a:xfrm>
            <a:off x="2011680" y="1993392"/>
            <a:ext cx="7498080" cy="292608"/>
          </a:xfrm>
          <a:prstGeom prst="rect">
            <a:avLst/>
          </a:prstGeom>
          <a:noFill/>
          <a:ln/>
        </p:spPr>
        <p:txBody>
          <a:bodyPr wrap="square" lIns="0" tIns="0" rIns="0" bIns="0" rtlCol="0" anchor="ctr"/>
          <a:lstStyle/>
          <a:p>
            <a:pPr marL="0" indent="0">
              <a:buNone/>
            </a:pPr>
            <a:r>
              <a:rPr lang="en-US" sz="1150" dirty="0">
                <a:solidFill>
                  <a:srgbClr val="6B7C90"/>
                </a:solidFill>
                <a:latin typeface="Malgun Gothic" pitchFamily="34" charset="0"/>
                <a:ea typeface="Malgun Gothic" pitchFamily="34" charset="-122"/>
                <a:cs typeface="Malgun Gothic" pitchFamily="34" charset="-120"/>
              </a:rPr>
              <a:t>어떤 회사이고, 왜 지금 신사업이 핵심인가</a:t>
            </a:r>
            <a:endParaRPr lang="en-US" sz="1150" dirty="0"/>
          </a:p>
        </p:txBody>
      </p:sp>
      <p:sp>
        <p:nvSpPr>
          <p:cNvPr id="10" name="Text 8">
            <a:extLst>
              <a:ext uri="{C183D7F6-B498-43B3-948B-1728B52AA6E4}">
                <adec:decorative xmlns:adec="http://schemas.microsoft.com/office/drawing/2017/decorative" val="1"/>
              </a:ext>
            </a:extLst>
          </p:cNvPr>
          <p:cNvSpPr/>
          <p:nvPr/>
        </p:nvSpPr>
        <p:spPr>
          <a:xfrm>
            <a:off x="9784080" y="1517904"/>
            <a:ext cx="1600200" cy="841248"/>
          </a:xfrm>
          <a:prstGeom prst="rect">
            <a:avLst/>
          </a:prstGeom>
          <a:noFill/>
          <a:ln/>
        </p:spPr>
        <p:txBody>
          <a:bodyPr wrap="square" lIns="0" tIns="0" rIns="0" bIns="0" rtlCol="0" anchor="ctr"/>
          <a:lstStyle/>
          <a:p>
            <a:pPr marL="0" indent="0" algn="r">
              <a:buNone/>
            </a:pPr>
            <a:r>
              <a:rPr lang="en-US" sz="1300" b="1" dirty="0">
                <a:solidFill>
                  <a:srgbClr val="0D9488"/>
                </a:solidFill>
                <a:latin typeface="Malgun Gothic" pitchFamily="34" charset="0"/>
                <a:ea typeface="Malgun Gothic" pitchFamily="34" charset="-122"/>
                <a:cs typeface="Malgun Gothic" pitchFamily="34" charset="-120"/>
              </a:rPr>
              <a:t>요약</a:t>
            </a:r>
            <a:endParaRPr lang="en-US" sz="1300" dirty="0"/>
          </a:p>
        </p:txBody>
      </p:sp>
      <p:sp>
        <p:nvSpPr>
          <p:cNvPr id="11" name="card">
            <a:extLst>
              <a:ext uri="{C183D7F6-B498-43B3-948B-1728B52AA6E4}">
                <adec:decorative xmlns:adec="http://schemas.microsoft.com/office/drawing/2017/decorative" val="1"/>
              </a:ext>
            </a:extLst>
          </p:cNvPr>
          <p:cNvSpPr/>
          <p:nvPr/>
        </p:nvSpPr>
        <p:spPr>
          <a:xfrm>
            <a:off x="658368" y="2459736"/>
            <a:ext cx="10881360" cy="841248"/>
          </a:xfrm>
          <a:prstGeom prst="rect">
            <a:avLst/>
          </a:prstGeom>
          <a:solidFill>
            <a:srgbClr val="F2F6FC"/>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2" name="accent">
            <a:extLst>
              <a:ext uri="{C183D7F6-B498-43B3-948B-1728B52AA6E4}">
                <adec:decorative xmlns:adec="http://schemas.microsoft.com/office/drawing/2017/decorative" val="1"/>
              </a:ext>
            </a:extLst>
          </p:cNvPr>
          <p:cNvSpPr/>
          <p:nvPr/>
        </p:nvSpPr>
        <p:spPr>
          <a:xfrm>
            <a:off x="658368" y="2459736"/>
            <a:ext cx="82296" cy="841248"/>
          </a:xfrm>
          <a:prstGeom prst="rect">
            <a:avLst/>
          </a:prstGeom>
          <a:solidFill>
            <a:srgbClr val="1D4ED8"/>
          </a:solidFill>
          <a:ln/>
        </p:spPr>
        <p:txBody>
          <a:bodyPr/>
          <a:lstStyle/>
          <a:p>
            <a:endParaRPr lang="ko-KR" altLang="en-US"/>
          </a:p>
        </p:txBody>
      </p:sp>
      <p:sp>
        <p:nvSpPr>
          <p:cNvPr id="13" name="Text 11"/>
          <p:cNvSpPr/>
          <p:nvPr/>
        </p:nvSpPr>
        <p:spPr>
          <a:xfrm>
            <a:off x="868680" y="2459736"/>
            <a:ext cx="1051560" cy="841248"/>
          </a:xfrm>
          <a:prstGeom prst="rect">
            <a:avLst/>
          </a:prstGeom>
          <a:noFill/>
          <a:ln/>
        </p:spPr>
        <p:txBody>
          <a:bodyPr wrap="square" lIns="0" tIns="0" rIns="0" bIns="0" rtlCol="0" anchor="ctr"/>
          <a:lstStyle/>
          <a:p>
            <a:pPr marL="0" indent="0">
              <a:buNone/>
            </a:pPr>
            <a:r>
              <a:rPr lang="en-US" sz="3000" b="1" dirty="0">
                <a:solidFill>
                  <a:srgbClr val="1D4ED8"/>
                </a:solidFill>
                <a:latin typeface="Malgun Gothic" pitchFamily="34" charset="0"/>
                <a:ea typeface="Malgun Gothic" pitchFamily="34" charset="-122"/>
                <a:cs typeface="Malgun Gothic" pitchFamily="34" charset="-120"/>
              </a:rPr>
              <a:t>02</a:t>
            </a:r>
            <a:endParaRPr lang="en-US" sz="3000" dirty="0"/>
          </a:p>
        </p:txBody>
      </p:sp>
      <p:sp>
        <p:nvSpPr>
          <p:cNvPr id="14" name="Text 12"/>
          <p:cNvSpPr/>
          <p:nvPr/>
        </p:nvSpPr>
        <p:spPr>
          <a:xfrm>
            <a:off x="2011680" y="2587752"/>
            <a:ext cx="3291840" cy="384048"/>
          </a:xfrm>
          <a:prstGeom prst="rect">
            <a:avLst/>
          </a:prstGeom>
          <a:noFill/>
          <a:ln/>
        </p:spPr>
        <p:txBody>
          <a:bodyPr wrap="square" lIns="0" tIns="0" rIns="0" bIns="0" rtlCol="0" anchor="ctr"/>
          <a:lstStyle/>
          <a:p>
            <a:pPr marL="0" indent="0">
              <a:buNone/>
            </a:pPr>
            <a:r>
              <a:rPr lang="en-US" sz="1700" b="1" dirty="0">
                <a:solidFill>
                  <a:srgbClr val="0E2036"/>
                </a:solidFill>
                <a:latin typeface="Malgun Gothic" pitchFamily="34" charset="0"/>
                <a:ea typeface="Malgun Gothic" pitchFamily="34" charset="-122"/>
                <a:cs typeface="Malgun Gothic" pitchFamily="34" charset="-120"/>
              </a:rPr>
              <a:t>시장 · 투자아이디어</a:t>
            </a:r>
            <a:endParaRPr lang="en-US" sz="1700" dirty="0"/>
          </a:p>
        </p:txBody>
      </p:sp>
      <p:sp>
        <p:nvSpPr>
          <p:cNvPr id="15" name="Text 13">
            <a:extLst>
              <a:ext uri="{C183D7F6-B498-43B3-948B-1728B52AA6E4}">
                <adec:decorative xmlns:adec="http://schemas.microsoft.com/office/drawing/2017/decorative" val="1"/>
              </a:ext>
            </a:extLst>
          </p:cNvPr>
          <p:cNvSpPr/>
          <p:nvPr/>
        </p:nvSpPr>
        <p:spPr>
          <a:xfrm>
            <a:off x="2011680" y="2935224"/>
            <a:ext cx="7498080" cy="292608"/>
          </a:xfrm>
          <a:prstGeom prst="rect">
            <a:avLst/>
          </a:prstGeom>
          <a:noFill/>
          <a:ln/>
        </p:spPr>
        <p:txBody>
          <a:bodyPr wrap="square" lIns="0" tIns="0" rIns="0" bIns="0" rtlCol="0" anchor="ctr"/>
          <a:lstStyle/>
          <a:p>
            <a:pPr marL="0" indent="0">
              <a:buNone/>
            </a:pPr>
            <a:r>
              <a:rPr lang="en-US" sz="1150" dirty="0">
                <a:solidFill>
                  <a:srgbClr val="6B7C90"/>
                </a:solidFill>
                <a:latin typeface="Malgun Gothic" pitchFamily="34" charset="0"/>
                <a:ea typeface="Malgun Gothic" pitchFamily="34" charset="-122"/>
                <a:cs typeface="Malgun Gothic" pitchFamily="34" charset="-120"/>
              </a:rPr>
              <a:t>아일리아 시장 · SCD411 실적화 · PFS · S-PASS · 이익률</a:t>
            </a:r>
            <a:endParaRPr lang="en-US" sz="1150" dirty="0"/>
          </a:p>
        </p:txBody>
      </p:sp>
      <p:sp>
        <p:nvSpPr>
          <p:cNvPr id="16" name="Text 14">
            <a:extLst>
              <a:ext uri="{C183D7F6-B498-43B3-948B-1728B52AA6E4}">
                <adec:decorative xmlns:adec="http://schemas.microsoft.com/office/drawing/2017/decorative" val="1"/>
              </a:ext>
            </a:extLst>
          </p:cNvPr>
          <p:cNvSpPr/>
          <p:nvPr/>
        </p:nvSpPr>
        <p:spPr>
          <a:xfrm>
            <a:off x="9784080" y="2459736"/>
            <a:ext cx="1600200" cy="841248"/>
          </a:xfrm>
          <a:prstGeom prst="rect">
            <a:avLst/>
          </a:prstGeom>
          <a:noFill/>
          <a:ln/>
        </p:spPr>
        <p:txBody>
          <a:bodyPr wrap="square" lIns="0" tIns="0" rIns="0" bIns="0" rtlCol="0" anchor="ctr"/>
          <a:lstStyle/>
          <a:p>
            <a:pPr marL="0" indent="0" algn="r">
              <a:buNone/>
            </a:pPr>
            <a:r>
              <a:rPr lang="en-US" sz="1300" b="1" dirty="0">
                <a:solidFill>
                  <a:srgbClr val="0D9488"/>
                </a:solidFill>
                <a:latin typeface="Malgun Gothic" pitchFamily="34" charset="0"/>
                <a:ea typeface="Malgun Gothic" pitchFamily="34" charset="-122"/>
                <a:cs typeface="Malgun Gothic" pitchFamily="34" charset="-120"/>
              </a:rPr>
              <a:t>핵심</a:t>
            </a:r>
            <a:endParaRPr lang="en-US" sz="1300" dirty="0"/>
          </a:p>
        </p:txBody>
      </p:sp>
      <p:sp>
        <p:nvSpPr>
          <p:cNvPr id="17" name="card">
            <a:extLst>
              <a:ext uri="{C183D7F6-B498-43B3-948B-1728B52AA6E4}">
                <adec:decorative xmlns:adec="http://schemas.microsoft.com/office/drawing/2017/decorative" val="1"/>
              </a:ext>
            </a:extLst>
          </p:cNvPr>
          <p:cNvSpPr/>
          <p:nvPr/>
        </p:nvSpPr>
        <p:spPr>
          <a:xfrm>
            <a:off x="658368" y="3401568"/>
            <a:ext cx="10881360" cy="841248"/>
          </a:xfrm>
          <a:prstGeom prst="rect">
            <a:avLst/>
          </a:prstGeom>
          <a:solidFill>
            <a:srgbClr val="F2F6FC"/>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8" name="accent">
            <a:extLst>
              <a:ext uri="{C183D7F6-B498-43B3-948B-1728B52AA6E4}">
                <adec:decorative xmlns:adec="http://schemas.microsoft.com/office/drawing/2017/decorative" val="1"/>
              </a:ext>
            </a:extLst>
          </p:cNvPr>
          <p:cNvSpPr/>
          <p:nvPr/>
        </p:nvSpPr>
        <p:spPr>
          <a:xfrm>
            <a:off x="658368" y="3401568"/>
            <a:ext cx="82296" cy="841248"/>
          </a:xfrm>
          <a:prstGeom prst="rect">
            <a:avLst/>
          </a:prstGeom>
          <a:solidFill>
            <a:srgbClr val="1D4ED8"/>
          </a:solidFill>
          <a:ln/>
        </p:spPr>
        <p:txBody>
          <a:bodyPr/>
          <a:lstStyle/>
          <a:p>
            <a:endParaRPr lang="ko-KR" altLang="en-US"/>
          </a:p>
        </p:txBody>
      </p:sp>
      <p:sp>
        <p:nvSpPr>
          <p:cNvPr id="19" name="Text 17"/>
          <p:cNvSpPr/>
          <p:nvPr/>
        </p:nvSpPr>
        <p:spPr>
          <a:xfrm>
            <a:off x="868680" y="3401568"/>
            <a:ext cx="1051560" cy="841248"/>
          </a:xfrm>
          <a:prstGeom prst="rect">
            <a:avLst/>
          </a:prstGeom>
          <a:noFill/>
          <a:ln/>
        </p:spPr>
        <p:txBody>
          <a:bodyPr wrap="square" lIns="0" tIns="0" rIns="0" bIns="0" rtlCol="0" anchor="ctr"/>
          <a:lstStyle/>
          <a:p>
            <a:pPr marL="0" indent="0">
              <a:buNone/>
            </a:pPr>
            <a:r>
              <a:rPr lang="en-US" sz="3000" b="1" dirty="0">
                <a:solidFill>
                  <a:srgbClr val="1D4ED8"/>
                </a:solidFill>
                <a:latin typeface="Malgun Gothic" pitchFamily="34" charset="0"/>
                <a:ea typeface="Malgun Gothic" pitchFamily="34" charset="-122"/>
                <a:cs typeface="Malgun Gothic" pitchFamily="34" charset="-120"/>
              </a:rPr>
              <a:t>03</a:t>
            </a:r>
            <a:endParaRPr lang="en-US" sz="3000" dirty="0"/>
          </a:p>
        </p:txBody>
      </p:sp>
      <p:sp>
        <p:nvSpPr>
          <p:cNvPr id="20" name="Text 18">
            <a:extLst>
              <a:ext uri="{C183D7F6-B498-43B3-948B-1728B52AA6E4}">
                <adec:decorative xmlns:adec="http://schemas.microsoft.com/office/drawing/2017/decorative" val="1"/>
              </a:ext>
            </a:extLst>
          </p:cNvPr>
          <p:cNvSpPr/>
          <p:nvPr/>
        </p:nvSpPr>
        <p:spPr>
          <a:xfrm>
            <a:off x="2011680" y="3529584"/>
            <a:ext cx="3291840" cy="384048"/>
          </a:xfrm>
          <a:prstGeom prst="rect">
            <a:avLst/>
          </a:prstGeom>
          <a:noFill/>
          <a:ln/>
        </p:spPr>
        <p:txBody>
          <a:bodyPr wrap="square" lIns="0" tIns="0" rIns="0" bIns="0" rtlCol="0" anchor="ctr"/>
          <a:lstStyle/>
          <a:p>
            <a:pPr marL="0" indent="0">
              <a:buNone/>
            </a:pPr>
            <a:r>
              <a:rPr lang="en-US" sz="1700" b="1" dirty="0">
                <a:solidFill>
                  <a:srgbClr val="0E2036"/>
                </a:solidFill>
                <a:latin typeface="Malgun Gothic" pitchFamily="34" charset="0"/>
                <a:ea typeface="Malgun Gothic" pitchFamily="34" charset="-122"/>
                <a:cs typeface="Malgun Gothic" pitchFamily="34" charset="-120"/>
              </a:rPr>
              <a:t>투자리스크</a:t>
            </a:r>
            <a:endParaRPr lang="en-US" sz="1700" dirty="0"/>
          </a:p>
        </p:txBody>
      </p:sp>
      <p:sp>
        <p:nvSpPr>
          <p:cNvPr id="21" name="Text 19">
            <a:extLst>
              <a:ext uri="{C183D7F6-B498-43B3-948B-1728B52AA6E4}">
                <adec:decorative xmlns:adec="http://schemas.microsoft.com/office/drawing/2017/decorative" val="1"/>
              </a:ext>
            </a:extLst>
          </p:cNvPr>
          <p:cNvSpPr/>
          <p:nvPr/>
        </p:nvSpPr>
        <p:spPr>
          <a:xfrm>
            <a:off x="2011680" y="3877056"/>
            <a:ext cx="7498080" cy="292608"/>
          </a:xfrm>
          <a:prstGeom prst="rect">
            <a:avLst/>
          </a:prstGeom>
          <a:noFill/>
          <a:ln/>
        </p:spPr>
        <p:txBody>
          <a:bodyPr wrap="square" lIns="0" tIns="0" rIns="0" bIns="0" rtlCol="0" anchor="ctr"/>
          <a:lstStyle/>
          <a:p>
            <a:pPr marL="0" indent="0">
              <a:buNone/>
            </a:pPr>
            <a:r>
              <a:rPr lang="en-US" sz="1150" dirty="0">
                <a:solidFill>
                  <a:srgbClr val="6B7C90"/>
                </a:solidFill>
                <a:latin typeface="Malgun Gothic" pitchFamily="34" charset="0"/>
                <a:ea typeface="Malgun Gothic" pitchFamily="34" charset="-122"/>
                <a:cs typeface="Malgun Gothic" pitchFamily="34" charset="-120"/>
              </a:rPr>
              <a:t>밸류에이션 · 공시 신뢰도 · 공급 · 초기 임상</a:t>
            </a:r>
            <a:endParaRPr lang="en-US" sz="1150" dirty="0"/>
          </a:p>
        </p:txBody>
      </p:sp>
      <p:sp>
        <p:nvSpPr>
          <p:cNvPr id="22" name="Text 20"/>
          <p:cNvSpPr/>
          <p:nvPr/>
        </p:nvSpPr>
        <p:spPr>
          <a:xfrm>
            <a:off x="9784080" y="3401568"/>
            <a:ext cx="1600200" cy="841248"/>
          </a:xfrm>
          <a:prstGeom prst="rect">
            <a:avLst/>
          </a:prstGeom>
          <a:noFill/>
          <a:ln/>
        </p:spPr>
        <p:txBody>
          <a:bodyPr wrap="square" lIns="0" tIns="0" rIns="0" bIns="0" rtlCol="0" anchor="ctr"/>
          <a:lstStyle/>
          <a:p>
            <a:pPr marL="0" indent="0" algn="r">
              <a:buNone/>
            </a:pPr>
            <a:r>
              <a:rPr lang="en-US" sz="1300" b="1" dirty="0">
                <a:solidFill>
                  <a:srgbClr val="0D9488"/>
                </a:solidFill>
                <a:latin typeface="Malgun Gothic" pitchFamily="34" charset="0"/>
                <a:ea typeface="Malgun Gothic" pitchFamily="34" charset="-122"/>
                <a:cs typeface="Malgun Gothic" pitchFamily="34" charset="-120"/>
              </a:rPr>
              <a:t>필수</a:t>
            </a:r>
            <a:endParaRPr lang="en-US" sz="1300" dirty="0"/>
          </a:p>
        </p:txBody>
      </p:sp>
      <p:sp>
        <p:nvSpPr>
          <p:cNvPr id="23" name="card">
            <a:extLst>
              <a:ext uri="{C183D7F6-B498-43B3-948B-1728B52AA6E4}">
                <adec:decorative xmlns:adec="http://schemas.microsoft.com/office/drawing/2017/decorative" val="1"/>
              </a:ext>
            </a:extLst>
          </p:cNvPr>
          <p:cNvSpPr/>
          <p:nvPr/>
        </p:nvSpPr>
        <p:spPr>
          <a:xfrm>
            <a:off x="658368" y="4343400"/>
            <a:ext cx="10881360" cy="841248"/>
          </a:xfrm>
          <a:prstGeom prst="rect">
            <a:avLst/>
          </a:prstGeom>
          <a:solidFill>
            <a:srgbClr val="F2F6FC"/>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24" name="accent">
            <a:extLst>
              <a:ext uri="{C183D7F6-B498-43B3-948B-1728B52AA6E4}">
                <adec:decorative xmlns:adec="http://schemas.microsoft.com/office/drawing/2017/decorative" val="1"/>
              </a:ext>
            </a:extLst>
          </p:cNvPr>
          <p:cNvSpPr/>
          <p:nvPr/>
        </p:nvSpPr>
        <p:spPr>
          <a:xfrm>
            <a:off x="658368" y="4343400"/>
            <a:ext cx="82296" cy="841248"/>
          </a:xfrm>
          <a:prstGeom prst="rect">
            <a:avLst/>
          </a:prstGeom>
          <a:solidFill>
            <a:srgbClr val="1D4ED8"/>
          </a:solidFill>
          <a:ln/>
        </p:spPr>
        <p:txBody>
          <a:bodyPr/>
          <a:lstStyle/>
          <a:p>
            <a:endParaRPr lang="ko-KR" altLang="en-US"/>
          </a:p>
        </p:txBody>
      </p:sp>
      <p:sp>
        <p:nvSpPr>
          <p:cNvPr id="25" name="Text 23">
            <a:extLst>
              <a:ext uri="{C183D7F6-B498-43B3-948B-1728B52AA6E4}">
                <adec:decorative xmlns:adec="http://schemas.microsoft.com/office/drawing/2017/decorative" val="1"/>
              </a:ext>
            </a:extLst>
          </p:cNvPr>
          <p:cNvSpPr/>
          <p:nvPr/>
        </p:nvSpPr>
        <p:spPr>
          <a:xfrm>
            <a:off x="868680" y="4343400"/>
            <a:ext cx="1051560" cy="841248"/>
          </a:xfrm>
          <a:prstGeom prst="rect">
            <a:avLst/>
          </a:prstGeom>
          <a:noFill/>
          <a:ln/>
        </p:spPr>
        <p:txBody>
          <a:bodyPr wrap="square" lIns="0" tIns="0" rIns="0" bIns="0" rtlCol="0" anchor="ctr"/>
          <a:lstStyle/>
          <a:p>
            <a:pPr marL="0" indent="0">
              <a:buNone/>
            </a:pPr>
            <a:r>
              <a:rPr lang="en-US" sz="3000" b="1" dirty="0">
                <a:solidFill>
                  <a:srgbClr val="1D4ED8"/>
                </a:solidFill>
                <a:latin typeface="Malgun Gothic" pitchFamily="34" charset="0"/>
                <a:ea typeface="Malgun Gothic" pitchFamily="34" charset="-122"/>
                <a:cs typeface="Malgun Gothic" pitchFamily="34" charset="-120"/>
              </a:rPr>
              <a:t>04</a:t>
            </a:r>
            <a:endParaRPr lang="en-US" sz="3000" dirty="0"/>
          </a:p>
        </p:txBody>
      </p:sp>
      <p:sp>
        <p:nvSpPr>
          <p:cNvPr id="26" name="Text 24"/>
          <p:cNvSpPr/>
          <p:nvPr/>
        </p:nvSpPr>
        <p:spPr>
          <a:xfrm>
            <a:off x="2011680" y="4471416"/>
            <a:ext cx="7498080" cy="384048"/>
          </a:xfrm>
          <a:prstGeom prst="rect">
            <a:avLst/>
          </a:prstGeom>
          <a:noFill/>
          <a:ln/>
        </p:spPr>
        <p:txBody>
          <a:bodyPr wrap="square" lIns="0" tIns="0" rIns="0" bIns="0" rtlCol="0" anchor="ctr"/>
          <a:lstStyle/>
          <a:p>
            <a:pPr marL="0" indent="0">
              <a:buNone/>
            </a:pPr>
            <a:r>
              <a:rPr lang="en-US" sz="1700" b="1" dirty="0">
                <a:solidFill>
                  <a:srgbClr val="0E2036"/>
                </a:solidFill>
                <a:latin typeface="Malgun Gothic" pitchFamily="34" charset="0"/>
                <a:ea typeface="Malgun Gothic" pitchFamily="34" charset="-122"/>
                <a:cs typeface="Malgun Gothic" pitchFamily="34" charset="-120"/>
              </a:rPr>
              <a:t>투자로드맵 · 가치평가</a:t>
            </a:r>
            <a:r>
              <a:rPr lang="en-US" sz="1700" b="1">
                <a:solidFill>
                  <a:srgbClr val="0E2036"/>
                </a:solidFill>
                <a:latin typeface="Malgun Gothic" pitchFamily="34" charset="0"/>
                <a:ea typeface="Malgun Gothic" pitchFamily="34" charset="-122"/>
                <a:cs typeface="Malgun Gothic" pitchFamily="34" charset="-120"/>
              </a:rPr>
              <a:t> · 최종 결론</a:t>
            </a:r>
            <a:endParaRPr lang="en-US" sz="1700" dirty="0"/>
          </a:p>
        </p:txBody>
      </p:sp>
      <p:sp>
        <p:nvSpPr>
          <p:cNvPr id="27" name="Text 25"/>
          <p:cNvSpPr/>
          <p:nvPr/>
        </p:nvSpPr>
        <p:spPr>
          <a:xfrm>
            <a:off x="2011680" y="4818888"/>
            <a:ext cx="7498080" cy="292608"/>
          </a:xfrm>
          <a:prstGeom prst="rect">
            <a:avLst/>
          </a:prstGeom>
          <a:noFill/>
          <a:ln/>
        </p:spPr>
        <p:txBody>
          <a:bodyPr wrap="square" lIns="0" tIns="0" rIns="0" bIns="0" rtlCol="0" anchor="ctr"/>
          <a:lstStyle/>
          <a:p>
            <a:pPr marL="0" indent="0">
              <a:buNone/>
            </a:pPr>
            <a:r>
              <a:rPr lang="en-US" sz="1150">
                <a:solidFill>
                  <a:srgbClr val="6B7C90"/>
                </a:solidFill>
                <a:latin typeface="Malgun Gothic" pitchFamily="34" charset="0"/>
                <a:ea typeface="Malgun Gothic" pitchFamily="34" charset="-122"/>
                <a:cs typeface="Malgun Gothic" pitchFamily="34" charset="-120"/>
              </a:rPr>
              <a:t>현재 실적 점검 · SCD411 정량 시나리오 · S-PASS 검증 프레임 </a:t>
            </a:r>
            <a:r>
              <a:rPr lang="en-US" sz="1150" dirty="0">
                <a:solidFill>
                  <a:srgbClr val="6B7C90"/>
                </a:solidFill>
                <a:latin typeface="Malgun Gothic" pitchFamily="34" charset="0"/>
                <a:ea typeface="Malgun Gothic" pitchFamily="34" charset="-122"/>
                <a:cs typeface="Malgun Gothic" pitchFamily="34" charset="-120"/>
              </a:rPr>
              <a:t>· 시나리오 밸류에이션 · </a:t>
            </a:r>
            <a:r>
              <a:rPr lang="en-US" sz="1150">
                <a:solidFill>
                  <a:srgbClr val="6B7C90"/>
                </a:solidFill>
                <a:latin typeface="Malgun Gothic" pitchFamily="34" charset="0"/>
                <a:ea typeface="Malgun Gothic" pitchFamily="34" charset="-122"/>
                <a:cs typeface="Malgun Gothic" pitchFamily="34" charset="-120"/>
              </a:rPr>
              <a:t>최종 </a:t>
            </a:r>
            <a:r>
              <a:rPr lang="en-US" sz="1150" dirty="0">
                <a:solidFill>
                  <a:srgbClr val="6B7C90"/>
                </a:solidFill>
                <a:latin typeface="Malgun Gothic" pitchFamily="34" charset="0"/>
                <a:ea typeface="Malgun Gothic" pitchFamily="34" charset="-122"/>
                <a:cs typeface="Malgun Gothic" pitchFamily="34" charset="-120"/>
              </a:rPr>
              <a:t>투자 </a:t>
            </a:r>
            <a:r>
              <a:rPr lang="en-US" sz="1150">
                <a:solidFill>
                  <a:srgbClr val="6B7C90"/>
                </a:solidFill>
                <a:latin typeface="Malgun Gothic" pitchFamily="34" charset="0"/>
                <a:ea typeface="Malgun Gothic" pitchFamily="34" charset="-122"/>
                <a:cs typeface="Malgun Gothic" pitchFamily="34" charset="-120"/>
              </a:rPr>
              <a:t>판단</a:t>
            </a:r>
            <a:endParaRPr lang="en-US" sz="1150" dirty="0"/>
          </a:p>
        </p:txBody>
      </p:sp>
      <p:sp>
        <p:nvSpPr>
          <p:cNvPr id="28" name="Text 26"/>
          <p:cNvSpPr/>
          <p:nvPr/>
        </p:nvSpPr>
        <p:spPr>
          <a:xfrm>
            <a:off x="9784080" y="4343400"/>
            <a:ext cx="1600200" cy="841248"/>
          </a:xfrm>
          <a:prstGeom prst="rect">
            <a:avLst/>
          </a:prstGeom>
          <a:noFill/>
          <a:ln/>
        </p:spPr>
        <p:txBody>
          <a:bodyPr wrap="square" lIns="0" tIns="0" rIns="0" bIns="0" rtlCol="0" anchor="ctr"/>
          <a:lstStyle/>
          <a:p>
            <a:pPr marL="0" indent="0" algn="r">
              <a:buNone/>
            </a:pPr>
            <a:r>
              <a:rPr lang="en-US" sz="1300" b="1" dirty="0">
                <a:solidFill>
                  <a:srgbClr val="0D9488"/>
                </a:solidFill>
                <a:latin typeface="Malgun Gothic" pitchFamily="34" charset="0"/>
                <a:ea typeface="Malgun Gothic" pitchFamily="34" charset="-122"/>
                <a:cs typeface="Malgun Gothic" pitchFamily="34" charset="-120"/>
              </a:rPr>
              <a:t>결론</a:t>
            </a:r>
            <a:endParaRPr lang="en-US" sz="1300" dirty="0"/>
          </a:p>
        </p:txBody>
      </p:sp>
      <p:sp>
        <p:nvSpPr>
          <p:cNvPr id="3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36" name="Text 34"/>
          <p:cNvSpPr/>
          <p:nvPr/>
        </p:nvSpPr>
        <p:spPr>
          <a:xfrm>
            <a:off x="658368" y="6574536"/>
            <a:ext cx="6400800" cy="283464"/>
          </a:xfrm>
          <a:prstGeom prst="rect">
            <a:avLst/>
          </a:prstGeom>
          <a:noFill/>
          <a:ln/>
        </p:spPr>
        <p:txBody>
          <a:bodyPr wrap="square" lIns="0" tIns="0" rIns="0" bIns="0" rtlCol="0" anchor="ctr"/>
          <a:lstStyle/>
          <a:p>
            <a:pPr marL="0" indent="0">
              <a:buNone/>
            </a:pPr>
            <a:r>
              <a:rPr lang="en-US" sz="850" dirty="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dirty="0"/>
          </a:p>
        </p:txBody>
      </p:sp>
      <p:sp>
        <p:nvSpPr>
          <p:cNvPr id="37" name="Text 35"/>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dirty="0">
                <a:solidFill>
                  <a:srgbClr val="6B7C90"/>
                </a:solidFill>
                <a:latin typeface="Malgun Gothic" pitchFamily="34" charset="0"/>
                <a:ea typeface="Malgun Gothic" pitchFamily="34" charset="-122"/>
                <a:cs typeface="Malgun Gothic"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g">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080B12"/>
          </a:solidFill>
          <a:ln/>
        </p:spPr>
        <p:txBody>
          <a:bodyPr/>
          <a:lstStyle/>
          <a:p>
            <a:endParaRPr lang="ko-KR" altLang="en-US"/>
          </a:p>
        </p:txBody>
      </p:sp>
      <p:sp>
        <p:nvSpPr>
          <p:cNvPr id="3" name="top rule">
            <a:extLst>
              <a:ext uri="{C183D7F6-B498-43B3-948B-1728B52AA6E4}">
                <adec:decorative xmlns:adec="http://schemas.microsoft.com/office/drawing/2017/decorative" val="1"/>
              </a:ext>
            </a:extLst>
          </p:cNvPr>
          <p:cNvSpPr/>
          <p:nvPr/>
        </p:nvSpPr>
        <p:spPr>
          <a:xfrm>
            <a:off x="0" y="0"/>
            <a:ext cx="12191695" cy="109728"/>
          </a:xfrm>
          <a:prstGeom prst="rect">
            <a:avLst/>
          </a:prstGeom>
          <a:solidFill>
            <a:srgbClr val="1D4ED8"/>
          </a:solidFill>
          <a:ln/>
        </p:spPr>
        <p:txBody>
          <a:bodyPr/>
          <a:lstStyle/>
          <a:p>
            <a:endParaRPr lang="ko-KR" altLang="en-US"/>
          </a:p>
        </p:txBody>
      </p:sp>
      <p:sp>
        <p:nvSpPr>
          <p:cNvPr id="4" name="bottom rule">
            <a:extLst>
              <a:ext uri="{C183D7F6-B498-43B3-948B-1728B52AA6E4}">
                <adec:decorative xmlns:adec="http://schemas.microsoft.com/office/drawing/2017/decorative" val="1"/>
              </a:ext>
            </a:extLst>
          </p:cNvPr>
          <p:cNvSpPr/>
          <p:nvPr/>
        </p:nvSpPr>
        <p:spPr>
          <a:xfrm>
            <a:off x="0" y="6784848"/>
            <a:ext cx="12191695" cy="73152"/>
          </a:xfrm>
          <a:prstGeom prst="rect">
            <a:avLst/>
          </a:prstGeom>
          <a:solidFill>
            <a:srgbClr val="1E3A8A"/>
          </a:solidFill>
          <a:ln/>
        </p:spPr>
        <p:txBody>
          <a:bodyPr/>
          <a:lstStyle/>
          <a:p>
            <a:endParaRPr lang="ko-KR" altLang="en-US"/>
          </a:p>
        </p:txBody>
      </p:sp>
      <p:sp>
        <p:nvSpPr>
          <p:cNvPr id="5" name="Text 3">
            <a:extLst>
              <a:ext uri="{C183D7F6-B498-43B3-948B-1728B52AA6E4}">
                <adec:decorative xmlns:adec="http://schemas.microsoft.com/office/drawing/2017/decorative" val="1"/>
              </a:ext>
            </a:extLst>
          </p:cNvPr>
          <p:cNvSpPr/>
          <p:nvPr/>
        </p:nvSpPr>
        <p:spPr>
          <a:xfrm>
            <a:off x="841248" y="713232"/>
            <a:ext cx="5486400" cy="365760"/>
          </a:xfrm>
          <a:prstGeom prst="rect">
            <a:avLst/>
          </a:prstGeom>
          <a:noFill/>
          <a:ln/>
        </p:spPr>
        <p:txBody>
          <a:bodyPr wrap="square" lIns="0" tIns="0" rIns="0" bIns="0" rtlCol="0" anchor="ctr"/>
          <a:lstStyle/>
          <a:p>
            <a:pPr marL="0" indent="0">
              <a:buNone/>
            </a:pPr>
            <a:r>
              <a:rPr lang="en-US" sz="1400" b="1" kern="0" spc="600" dirty="0">
                <a:solidFill>
                  <a:srgbClr val="60A5FA"/>
                </a:solidFill>
                <a:latin typeface="Malgun Gothic" pitchFamily="34" charset="0"/>
                <a:ea typeface="Malgun Gothic" pitchFamily="34" charset="-122"/>
                <a:cs typeface="Malgun Gothic" pitchFamily="34" charset="-120"/>
              </a:rPr>
              <a:t>SECTION</a:t>
            </a:r>
            <a:endParaRPr lang="en-US" sz="1400" dirty="0"/>
          </a:p>
        </p:txBody>
      </p:sp>
      <p:sp>
        <p:nvSpPr>
          <p:cNvPr id="6" name="Text 4"/>
          <p:cNvSpPr/>
          <p:nvPr/>
        </p:nvSpPr>
        <p:spPr>
          <a:xfrm>
            <a:off x="566928" y="2651760"/>
            <a:ext cx="5852160" cy="3840480"/>
          </a:xfrm>
          <a:prstGeom prst="rect">
            <a:avLst/>
          </a:prstGeom>
          <a:noFill/>
          <a:ln/>
        </p:spPr>
        <p:txBody>
          <a:bodyPr wrap="square" lIns="0" tIns="0" rIns="0" bIns="0" rtlCol="0" anchor="b"/>
          <a:lstStyle/>
          <a:p>
            <a:pPr marL="0" indent="0" algn="l">
              <a:buNone/>
            </a:pPr>
            <a:r>
              <a:rPr lang="en-US" sz="25000" b="1" dirty="0">
                <a:solidFill>
                  <a:srgbClr val="3B82F6"/>
                </a:solidFill>
                <a:latin typeface="Malgun Gothic" pitchFamily="34" charset="0"/>
                <a:ea typeface="Malgun Gothic" pitchFamily="34" charset="-122"/>
                <a:cs typeface="Malgun Gothic" pitchFamily="34" charset="-120"/>
              </a:rPr>
              <a:t>01</a:t>
            </a:r>
            <a:endParaRPr lang="en-US" sz="25000" dirty="0"/>
          </a:p>
        </p:txBody>
      </p:sp>
      <p:sp>
        <p:nvSpPr>
          <p:cNvPr id="7" name="sep">
            <a:extLst>
              <a:ext uri="{C183D7F6-B498-43B3-948B-1728B52AA6E4}">
                <adec:decorative xmlns:adec="http://schemas.microsoft.com/office/drawing/2017/decorative" val="1"/>
              </a:ext>
            </a:extLst>
          </p:cNvPr>
          <p:cNvSpPr/>
          <p:nvPr/>
        </p:nvSpPr>
        <p:spPr>
          <a:xfrm>
            <a:off x="6720840" y="2148840"/>
            <a:ext cx="25603" cy="2560320"/>
          </a:xfrm>
          <a:prstGeom prst="rect">
            <a:avLst/>
          </a:prstGeom>
          <a:solidFill>
            <a:srgbClr val="24344F"/>
          </a:solidFill>
          <a:ln/>
        </p:spPr>
        <p:txBody>
          <a:bodyPr/>
          <a:lstStyle/>
          <a:p>
            <a:endParaRPr lang="ko-KR" altLang="en-US"/>
          </a:p>
        </p:txBody>
      </p:sp>
      <p:sp>
        <p:nvSpPr>
          <p:cNvPr id="8" name="accent">
            <a:extLst>
              <a:ext uri="{C183D7F6-B498-43B3-948B-1728B52AA6E4}">
                <adec:decorative xmlns:adec="http://schemas.microsoft.com/office/drawing/2017/decorative" val="1"/>
              </a:ext>
            </a:extLst>
          </p:cNvPr>
          <p:cNvSpPr/>
          <p:nvPr/>
        </p:nvSpPr>
        <p:spPr>
          <a:xfrm>
            <a:off x="7178040" y="2724912"/>
            <a:ext cx="731520" cy="73152"/>
          </a:xfrm>
          <a:prstGeom prst="rect">
            <a:avLst/>
          </a:prstGeom>
          <a:solidFill>
            <a:srgbClr val="1D4ED8"/>
          </a:solidFill>
          <a:ln/>
        </p:spPr>
        <p:txBody>
          <a:bodyPr/>
          <a:lstStyle/>
          <a:p>
            <a:endParaRPr lang="ko-KR" altLang="en-US"/>
          </a:p>
        </p:txBody>
      </p:sp>
      <p:sp>
        <p:nvSpPr>
          <p:cNvPr id="9" name="Text 7">
            <a:extLst>
              <a:ext uri="{C183D7F6-B498-43B3-948B-1728B52AA6E4}">
                <adec:decorative xmlns:adec="http://schemas.microsoft.com/office/drawing/2017/decorative" val="1"/>
              </a:ext>
            </a:extLst>
          </p:cNvPr>
          <p:cNvSpPr/>
          <p:nvPr/>
        </p:nvSpPr>
        <p:spPr>
          <a:xfrm>
            <a:off x="7132320" y="2944368"/>
            <a:ext cx="4663440" cy="1188720"/>
          </a:xfrm>
          <a:prstGeom prst="rect">
            <a:avLst/>
          </a:prstGeom>
          <a:noFill/>
          <a:ln/>
        </p:spPr>
        <p:txBody>
          <a:bodyPr wrap="square" lIns="0" tIns="0" rIns="0" bIns="0" rtlCol="0" anchor="t"/>
          <a:lstStyle/>
          <a:p>
            <a:pPr marL="0" indent="0" algn="l">
              <a:lnSpc>
                <a:spcPct val="105000"/>
              </a:lnSpc>
              <a:buNone/>
            </a:pPr>
            <a:r>
              <a:rPr lang="en-US" sz="3300" b="1" dirty="0">
                <a:solidFill>
                  <a:srgbClr val="FFFFFF"/>
                </a:solidFill>
                <a:latin typeface="Malgun Gothic" pitchFamily="34" charset="0"/>
                <a:ea typeface="Malgun Gothic" pitchFamily="34" charset="-122"/>
                <a:cs typeface="Malgun Gothic" pitchFamily="34" charset="-120"/>
              </a:rPr>
              <a:t>기업개요</a:t>
            </a:r>
            <a:endParaRPr lang="en-US" sz="3300" dirty="0"/>
          </a:p>
        </p:txBody>
      </p:sp>
      <p:sp>
        <p:nvSpPr>
          <p:cNvPr id="10" name="Text 8"/>
          <p:cNvSpPr/>
          <p:nvPr/>
        </p:nvSpPr>
        <p:spPr>
          <a:xfrm>
            <a:off x="7178040" y="4160520"/>
            <a:ext cx="4663440" cy="457200"/>
          </a:xfrm>
          <a:prstGeom prst="rect">
            <a:avLst/>
          </a:prstGeom>
          <a:noFill/>
          <a:ln/>
        </p:spPr>
        <p:txBody>
          <a:bodyPr wrap="square" lIns="0" tIns="0" rIns="0" bIns="0" rtlCol="0" anchor="ctr"/>
          <a:lstStyle/>
          <a:p>
            <a:pPr marL="0" indent="0" algn="l">
              <a:buNone/>
            </a:pPr>
            <a:r>
              <a:rPr lang="en-US" sz="1500" kern="0" spc="300" dirty="0">
                <a:solidFill>
                  <a:srgbClr val="60A5FA"/>
                </a:solidFill>
                <a:latin typeface="Malgun Gothic" pitchFamily="34" charset="0"/>
                <a:ea typeface="Malgun Gothic" pitchFamily="34" charset="-122"/>
                <a:cs typeface="Malgun Gothic" pitchFamily="34" charset="-120"/>
              </a:rPr>
              <a:t>COMPANY OVERVIEW</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ame card">
            <a:extLst>
              <a:ext uri="{C183D7F6-B498-43B3-948B-1728B52AA6E4}">
                <adec:decorative xmlns:adec="http://schemas.microsoft.com/office/drawing/2017/decorative" val="1"/>
              </a:ext>
            </a:extLst>
          </p:cNvPr>
          <p:cNvSpPr/>
          <p:nvPr/>
        </p:nvSpPr>
        <p:spPr>
          <a:xfrm>
            <a:off x="1596542" y="1371600"/>
            <a:ext cx="8997696" cy="4781376"/>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pic>
        <p:nvPicPr>
          <p:cNvPr id="4" name="그림 3">
            <a:extLst>
              <a:ext uri="{FF2B5EF4-FFF2-40B4-BE49-F238E27FC236}">
                <a16:creationId xmlns:a16="http://schemas.microsoft.com/office/drawing/2014/main" id="{6EF233F4-08DA-DBEE-87C7-B2E7DFA3652F}"/>
              </a:ext>
            </a:extLst>
          </p:cNvPr>
          <p:cNvPicPr>
            <a:picLocks noChangeAspect="1"/>
          </p:cNvPicPr>
          <p:nvPr/>
        </p:nvPicPr>
        <p:blipFill>
          <a:blip r:embed="rId3"/>
          <a:srcRect r="-1" b="57"/>
          <a:stretch>
            <a:fillRect/>
          </a:stretch>
        </p:blipFill>
        <p:spPr>
          <a:xfrm>
            <a:off x="1706270" y="1481328"/>
            <a:ext cx="8778240" cy="4561920"/>
          </a:xfrm>
          <a:prstGeom prst="rect">
            <a:avLst/>
          </a:prstGeom>
        </p:spPr>
      </p:pic>
      <p:sp>
        <p:nvSpPr>
          <p:cNvPr id="7"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1D4ED8"/>
                </a:solidFill>
                <a:latin typeface="Malgun Gothic" pitchFamily="34" charset="0"/>
                <a:ea typeface="Malgun Gothic" pitchFamily="34" charset="-122"/>
                <a:cs typeface="Malgun Gothic" pitchFamily="34" charset="-120"/>
              </a:rPr>
              <a:t>MARKET SNAPSHOT</a:t>
            </a:r>
            <a:endParaRPr lang="en-US" sz="1100"/>
          </a:p>
        </p:txBody>
      </p:sp>
      <p:sp>
        <p:nvSpPr>
          <p:cNvPr id="8"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dirty="0" err="1">
                <a:solidFill>
                  <a:srgbClr val="0E2036"/>
                </a:solidFill>
                <a:latin typeface="Malgun Gothic" pitchFamily="34" charset="0"/>
                <a:ea typeface="Malgun Gothic" pitchFamily="34" charset="-122"/>
                <a:cs typeface="Malgun Gothic" pitchFamily="34" charset="-120"/>
              </a:rPr>
              <a:t>현재</a:t>
            </a:r>
            <a:r>
              <a:rPr lang="en-US" sz="2500" b="1" dirty="0">
                <a:solidFill>
                  <a:srgbClr val="0E2036"/>
                </a:solidFill>
                <a:latin typeface="Malgun Gothic" pitchFamily="34" charset="0"/>
                <a:ea typeface="Malgun Gothic" pitchFamily="34" charset="-122"/>
                <a:cs typeface="Malgun Gothic" pitchFamily="34" charset="-120"/>
              </a:rPr>
              <a:t> </a:t>
            </a:r>
            <a:r>
              <a:rPr lang="en-US" sz="2500" b="1" dirty="0" err="1">
                <a:solidFill>
                  <a:srgbClr val="0E2036"/>
                </a:solidFill>
                <a:latin typeface="Malgun Gothic" pitchFamily="34" charset="0"/>
                <a:ea typeface="Malgun Gothic" pitchFamily="34" charset="-122"/>
                <a:cs typeface="Malgun Gothic" pitchFamily="34" charset="-120"/>
              </a:rPr>
              <a:t>주가와</a:t>
            </a:r>
            <a:r>
              <a:rPr lang="en-US" sz="2500" b="1" dirty="0">
                <a:solidFill>
                  <a:srgbClr val="0E2036"/>
                </a:solidFill>
                <a:latin typeface="Malgun Gothic" pitchFamily="34" charset="0"/>
                <a:ea typeface="Malgun Gothic" pitchFamily="34" charset="-122"/>
                <a:cs typeface="Malgun Gothic" pitchFamily="34" charset="-120"/>
              </a:rPr>
              <a:t> </a:t>
            </a:r>
            <a:r>
              <a:rPr lang="en-US" sz="2500" b="1" dirty="0" err="1">
                <a:solidFill>
                  <a:srgbClr val="0E2036"/>
                </a:solidFill>
                <a:latin typeface="Malgun Gothic" pitchFamily="34" charset="0"/>
                <a:ea typeface="Malgun Gothic" pitchFamily="34" charset="-122"/>
                <a:cs typeface="Malgun Gothic" pitchFamily="34" charset="-120"/>
              </a:rPr>
              <a:t>시장</a:t>
            </a:r>
            <a:r>
              <a:rPr lang="en-US" sz="2500" b="1" dirty="0">
                <a:solidFill>
                  <a:srgbClr val="0E2036"/>
                </a:solidFill>
                <a:latin typeface="Malgun Gothic" pitchFamily="34" charset="0"/>
                <a:ea typeface="Malgun Gothic" pitchFamily="34" charset="-122"/>
                <a:cs typeface="Malgun Gothic" pitchFamily="34" charset="-120"/>
              </a:rPr>
              <a:t> </a:t>
            </a:r>
            <a:r>
              <a:rPr lang="en-US" sz="2500" b="1" dirty="0" err="1">
                <a:solidFill>
                  <a:srgbClr val="0E2036"/>
                </a:solidFill>
                <a:latin typeface="Malgun Gothic" pitchFamily="34" charset="0"/>
                <a:ea typeface="Malgun Gothic" pitchFamily="34" charset="-122"/>
                <a:cs typeface="Malgun Gothic" pitchFamily="34" charset="-120"/>
              </a:rPr>
              <a:t>지표</a:t>
            </a:r>
            <a:r>
              <a:rPr lang="en-US" sz="2500" b="1" dirty="0">
                <a:solidFill>
                  <a:srgbClr val="0E2036"/>
                </a:solidFill>
                <a:latin typeface="Malgun Gothic" pitchFamily="34" charset="0"/>
                <a:ea typeface="Malgun Gothic" pitchFamily="34" charset="-122"/>
                <a:cs typeface="Malgun Gothic" pitchFamily="34" charset="-120"/>
              </a:rPr>
              <a:t> (7/20 </a:t>
            </a:r>
            <a:r>
              <a:rPr lang="ko-KR" altLang="en-US" sz="2500" b="1" dirty="0">
                <a:solidFill>
                  <a:srgbClr val="0E2036"/>
                </a:solidFill>
                <a:latin typeface="Malgun Gothic" pitchFamily="34" charset="0"/>
                <a:ea typeface="Malgun Gothic" pitchFamily="34" charset="-122"/>
                <a:cs typeface="Malgun Gothic" pitchFamily="34" charset="-120"/>
              </a:rPr>
              <a:t>기준</a:t>
            </a:r>
            <a:r>
              <a:rPr lang="en-US" altLang="ko-KR" sz="2500" b="1" dirty="0">
                <a:solidFill>
                  <a:srgbClr val="0E2036"/>
                </a:solidFill>
                <a:latin typeface="Malgun Gothic" pitchFamily="34" charset="0"/>
                <a:ea typeface="Malgun Gothic" pitchFamily="34" charset="-122"/>
                <a:cs typeface="Malgun Gothic" pitchFamily="34" charset="-120"/>
              </a:rPr>
              <a:t>)</a:t>
            </a:r>
            <a:endParaRPr lang="en-US" sz="2500" dirty="0"/>
          </a:p>
        </p:txBody>
      </p:sp>
      <p:sp>
        <p:nvSpPr>
          <p:cNvPr id="9"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6" name="caption"/>
          <p:cNvSpPr/>
          <p:nvPr/>
        </p:nvSpPr>
        <p:spPr>
          <a:xfrm>
            <a:off x="1596542" y="6216000"/>
            <a:ext cx="8997696" cy="256032"/>
          </a:xfrm>
          <a:prstGeom prst="rect">
            <a:avLst/>
          </a:prstGeom>
          <a:noFill/>
          <a:ln/>
        </p:spPr>
        <p:txBody>
          <a:bodyPr wrap="square" lIns="0" tIns="0" rIns="0" bIns="0" rtlCol="0" anchor="ctr"/>
          <a:lstStyle/>
          <a:p>
            <a:pPr marL="0" indent="0" algn="ctr">
              <a:buNone/>
            </a:pPr>
            <a:r>
              <a:rPr lang="en-US" sz="950" i="1" dirty="0">
                <a:solidFill>
                  <a:srgbClr val="6B7C90"/>
                </a:solidFill>
                <a:latin typeface="Malgun Gothic" pitchFamily="34" charset="0"/>
                <a:ea typeface="Malgun Gothic" pitchFamily="34" charset="-122"/>
                <a:cs typeface="Malgun Gothic" pitchFamily="34" charset="-120"/>
              </a:rPr>
              <a:t>※ </a:t>
            </a:r>
            <a:r>
              <a:rPr lang="en-US" sz="950" i="1" dirty="0" err="1">
                <a:solidFill>
                  <a:srgbClr val="6B7C90"/>
                </a:solidFill>
                <a:latin typeface="Malgun Gothic" pitchFamily="34" charset="0"/>
                <a:ea typeface="Malgun Gothic" pitchFamily="34" charset="-122"/>
                <a:cs typeface="Malgun Gothic" pitchFamily="34" charset="-120"/>
              </a:rPr>
              <a:t>공개</a:t>
            </a:r>
            <a:r>
              <a:rPr lang="en-US" sz="950" i="1" dirty="0">
                <a:solidFill>
                  <a:srgbClr val="6B7C90"/>
                </a:solidFill>
                <a:latin typeface="Malgun Gothic" pitchFamily="34" charset="0"/>
                <a:ea typeface="Malgun Gothic" pitchFamily="34" charset="-122"/>
                <a:cs typeface="Malgun Gothic" pitchFamily="34" charset="-120"/>
              </a:rPr>
              <a:t> </a:t>
            </a:r>
            <a:r>
              <a:rPr lang="en-US" sz="950" i="1" dirty="0" err="1">
                <a:solidFill>
                  <a:srgbClr val="6B7C90"/>
                </a:solidFill>
                <a:latin typeface="Malgun Gothic" pitchFamily="34" charset="0"/>
                <a:ea typeface="Malgun Gothic" pitchFamily="34" charset="-122"/>
                <a:cs typeface="Malgun Gothic" pitchFamily="34" charset="-120"/>
              </a:rPr>
              <a:t>시세</a:t>
            </a:r>
            <a:r>
              <a:rPr lang="en-US" sz="950" i="1" dirty="0">
                <a:solidFill>
                  <a:srgbClr val="6B7C90"/>
                </a:solidFill>
                <a:latin typeface="Malgun Gothic" pitchFamily="34" charset="0"/>
                <a:ea typeface="Malgun Gothic" pitchFamily="34" charset="-122"/>
                <a:cs typeface="Malgun Gothic" pitchFamily="34" charset="-120"/>
              </a:rPr>
              <a:t> </a:t>
            </a:r>
            <a:r>
              <a:rPr lang="en-US" sz="950" i="1" dirty="0" err="1">
                <a:solidFill>
                  <a:srgbClr val="6B7C90"/>
                </a:solidFill>
                <a:latin typeface="Malgun Gothic" pitchFamily="34" charset="0"/>
                <a:ea typeface="Malgun Gothic" pitchFamily="34" charset="-122"/>
                <a:cs typeface="Malgun Gothic" pitchFamily="34" charset="-120"/>
              </a:rPr>
              <a:t>화면</a:t>
            </a:r>
            <a:r>
              <a:rPr lang="en-US" sz="950" i="1" dirty="0">
                <a:solidFill>
                  <a:srgbClr val="6B7C90"/>
                </a:solidFill>
                <a:latin typeface="Malgun Gothic" pitchFamily="34" charset="0"/>
                <a:ea typeface="Malgun Gothic" pitchFamily="34" charset="-122"/>
                <a:cs typeface="Malgun Gothic" pitchFamily="34" charset="-120"/>
              </a:rPr>
              <a:t> </a:t>
            </a:r>
            <a:r>
              <a:rPr lang="en-US" sz="950" i="1" dirty="0" err="1">
                <a:solidFill>
                  <a:srgbClr val="6B7C90"/>
                </a:solidFill>
                <a:latin typeface="Malgun Gothic" pitchFamily="34" charset="0"/>
                <a:ea typeface="Malgun Gothic" pitchFamily="34" charset="-122"/>
                <a:cs typeface="Malgun Gothic" pitchFamily="34" charset="-120"/>
              </a:rPr>
              <a:t>캡처</a:t>
            </a:r>
            <a:r>
              <a:rPr lang="en-US" sz="950" i="1" dirty="0">
                <a:solidFill>
                  <a:srgbClr val="6B7C90"/>
                </a:solidFill>
                <a:latin typeface="Malgun Gothic" pitchFamily="34" charset="0"/>
                <a:ea typeface="Malgun Gothic" pitchFamily="34" charset="-122"/>
                <a:cs typeface="Malgun Gothic" pitchFamily="34" charset="-120"/>
              </a:rPr>
              <a:t> </a:t>
            </a:r>
            <a:r>
              <a:rPr lang="en-US" sz="950" i="1" dirty="0" err="1">
                <a:solidFill>
                  <a:srgbClr val="6B7C90"/>
                </a:solidFill>
                <a:latin typeface="Malgun Gothic" pitchFamily="34" charset="0"/>
                <a:ea typeface="Malgun Gothic" pitchFamily="34" charset="-122"/>
                <a:cs typeface="Malgun Gothic" pitchFamily="34" charset="-120"/>
              </a:rPr>
              <a:t>이미지</a:t>
            </a:r>
            <a:r>
              <a:rPr lang="en-US" sz="950" i="1" dirty="0">
                <a:solidFill>
                  <a:srgbClr val="6B7C90"/>
                </a:solidFill>
                <a:latin typeface="Malgun Gothic" pitchFamily="34" charset="0"/>
                <a:ea typeface="Malgun Gothic" pitchFamily="34" charset="-122"/>
                <a:cs typeface="Malgun Gothic" pitchFamily="34" charset="-120"/>
              </a:rPr>
              <a:t> — </a:t>
            </a:r>
            <a:r>
              <a:rPr lang="en-US" sz="950" i="1" dirty="0" err="1">
                <a:solidFill>
                  <a:srgbClr val="6B7C90"/>
                </a:solidFill>
                <a:latin typeface="Malgun Gothic" pitchFamily="34" charset="0"/>
                <a:ea typeface="Malgun Gothic" pitchFamily="34" charset="-122"/>
                <a:cs typeface="Malgun Gothic" pitchFamily="34" charset="-120"/>
              </a:rPr>
              <a:t>수치는</a:t>
            </a:r>
            <a:r>
              <a:rPr lang="en-US" sz="950" i="1" dirty="0">
                <a:solidFill>
                  <a:srgbClr val="6B7C90"/>
                </a:solidFill>
                <a:latin typeface="Malgun Gothic" pitchFamily="34" charset="0"/>
                <a:ea typeface="Malgun Gothic" pitchFamily="34" charset="-122"/>
                <a:cs typeface="Malgun Gothic" pitchFamily="34" charset="-120"/>
              </a:rPr>
              <a:t> </a:t>
            </a:r>
            <a:r>
              <a:rPr lang="en-US" sz="950" i="1" dirty="0" err="1">
                <a:solidFill>
                  <a:srgbClr val="6B7C90"/>
                </a:solidFill>
                <a:latin typeface="Malgun Gothic" pitchFamily="34" charset="0"/>
                <a:ea typeface="Malgun Gothic" pitchFamily="34" charset="-122"/>
                <a:cs typeface="Malgun Gothic" pitchFamily="34" charset="-120"/>
              </a:rPr>
              <a:t>캡처</a:t>
            </a:r>
            <a:r>
              <a:rPr lang="en-US" sz="950" i="1" dirty="0">
                <a:solidFill>
                  <a:srgbClr val="6B7C90"/>
                </a:solidFill>
                <a:latin typeface="Malgun Gothic" pitchFamily="34" charset="0"/>
                <a:ea typeface="Malgun Gothic" pitchFamily="34" charset="-122"/>
                <a:cs typeface="Malgun Gothic" pitchFamily="34" charset="-120"/>
              </a:rPr>
              <a:t> </a:t>
            </a:r>
            <a:r>
              <a:rPr lang="en-US" sz="950" i="1" dirty="0" err="1">
                <a:solidFill>
                  <a:srgbClr val="6B7C90"/>
                </a:solidFill>
                <a:latin typeface="Malgun Gothic" pitchFamily="34" charset="0"/>
                <a:ea typeface="Malgun Gothic" pitchFamily="34" charset="-122"/>
                <a:cs typeface="Malgun Gothic" pitchFamily="34" charset="-120"/>
              </a:rPr>
              <a:t>시점</a:t>
            </a:r>
            <a:r>
              <a:rPr lang="en-US" sz="950" i="1" dirty="0">
                <a:solidFill>
                  <a:srgbClr val="6B7C90"/>
                </a:solidFill>
                <a:latin typeface="Malgun Gothic" pitchFamily="34" charset="0"/>
                <a:ea typeface="Malgun Gothic" pitchFamily="34" charset="-122"/>
                <a:cs typeface="Malgun Gothic" pitchFamily="34" charset="-120"/>
              </a:rPr>
              <a:t> </a:t>
            </a:r>
            <a:r>
              <a:rPr lang="en-US" sz="950" i="1" dirty="0" err="1">
                <a:solidFill>
                  <a:srgbClr val="6B7C90"/>
                </a:solidFill>
                <a:latin typeface="Malgun Gothic" pitchFamily="34" charset="0"/>
                <a:ea typeface="Malgun Gothic" pitchFamily="34" charset="-122"/>
                <a:cs typeface="Malgun Gothic" pitchFamily="34" charset="-120"/>
              </a:rPr>
              <a:t>기준</a:t>
            </a:r>
            <a:endParaRPr lang="en-US" sz="950" dirty="0"/>
          </a:p>
        </p:txBody>
      </p:sp>
      <p:sp>
        <p:nvSpPr>
          <p:cNvPr id="10"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11"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12"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4</a:t>
            </a:r>
            <a:endParaRPr lang="en-US" sz="850"/>
          </a:p>
        </p:txBody>
      </p:sp>
    </p:spTree>
    <p:extLst>
      <p:ext uri="{BB962C8B-B14F-4D97-AF65-F5344CB8AC3E}">
        <p14:creationId xmlns:p14="http://schemas.microsoft.com/office/powerpoint/2010/main" val="4249546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1D4ED8"/>
                </a:solidFill>
                <a:latin typeface="Malgun Gothic" pitchFamily="34" charset="0"/>
                <a:ea typeface="Malgun Gothic" pitchFamily="34" charset="-122"/>
                <a:cs typeface="Malgun Gothic" pitchFamily="34" charset="-120"/>
              </a:rPr>
              <a:t>01 · 기업개요</a:t>
            </a:r>
            <a:endParaRPr lang="en-US" sz="1100"/>
          </a:p>
        </p:txBody>
      </p:sp>
      <p:sp>
        <p:nvSpPr>
          <p:cNvPr id="3" name="title"/>
          <p:cNvSpPr/>
          <p:nvPr/>
        </p:nvSpPr>
        <p:spPr>
          <a:xfrm>
            <a:off x="658368" y="566928"/>
            <a:ext cx="10881360" cy="603504"/>
          </a:xfrm>
          <a:prstGeom prst="rect">
            <a:avLst/>
          </a:prstGeom>
          <a:noFill/>
          <a:ln/>
        </p:spPr>
        <p:txBody>
          <a:bodyPr wrap="squar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01-1. 삼천당제약의 현재 사업 구조와 실적</a:t>
            </a:r>
            <a:endParaRPr lang="en-US" sz="2500"/>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p:cNvSpPr/>
          <p:nvPr/>
        </p:nvSpPr>
        <p:spPr>
          <a:xfrm>
            <a:off x="676656" y="1371600"/>
            <a:ext cx="10881360" cy="360000"/>
          </a:xfrm>
          <a:prstGeom prst="rect">
            <a:avLst/>
          </a:prstGeom>
          <a:noFill/>
          <a:ln/>
        </p:spPr>
        <p:txBody>
          <a:bodyPr wrap="square" lIns="0" tIns="0" rIns="0" bIns="0" rtlCol="0" anchor="ctr"/>
          <a:lstStyle/>
          <a:p>
            <a:pPr marL="0" indent="0">
              <a:buNone/>
            </a:pPr>
            <a:r>
              <a:rPr lang="en-US" sz="1400">
                <a:solidFill>
                  <a:srgbClr val="6B7C90"/>
                </a:solidFill>
                <a:latin typeface="Malgun Gothic" pitchFamily="34" charset="0"/>
                <a:ea typeface="Malgun Gothic" pitchFamily="34" charset="-122"/>
                <a:cs typeface="Malgun Gothic" pitchFamily="34" charset="-120"/>
              </a:rPr>
              <a:t>현재 매출은 안과용제 중심의 기존 사업이 만들고, 수출 확대가 글로벌 전환의 초기 신호로 나타나고 있다</a:t>
            </a:r>
            <a:endParaRPr lang="en-US" sz="1400"/>
          </a:p>
        </p:txBody>
      </p:sp>
      <p:sp>
        <p:nvSpPr>
          <p:cNvPr id="500" name="biz card">
            <a:extLst>
              <a:ext uri="{C183D7F6-B498-43B3-948B-1728B52AA6E4}">
                <adec:decorative xmlns:adec="http://schemas.microsoft.com/office/drawing/2017/decorative" val="1"/>
              </a:ext>
            </a:extLst>
          </p:cNvPr>
          <p:cNvSpPr/>
          <p:nvPr/>
        </p:nvSpPr>
        <p:spPr>
          <a:xfrm>
            <a:off x="658368" y="1800000"/>
            <a:ext cx="5350000" cy="2140000"/>
          </a:xfrm>
          <a:prstGeom prst="rect">
            <a:avLst/>
          </a:prstGeom>
          <a:solidFill>
            <a:srgbClr val="F2F6FC"/>
          </a:solidFill>
          <a:ln w="12700">
            <a:solidFill>
              <a:srgbClr val="D5E0F0"/>
            </a:solidFill>
          </a:ln>
          <a:effectLst>
            <a:outerShdw blurRad="88900" dist="25400" dir="5400000" algn="bl" rotWithShape="0">
              <a:srgbClr val="0E2036">
                <a:alpha val="10000"/>
              </a:srgbClr>
            </a:outerShdw>
          </a:effectLst>
        </p:spPr>
        <p:txBody>
          <a:bodyPr/>
          <a:lstStyle/>
          <a:p>
            <a:endParaRPr lang="ko-KR" altLang="en-US"/>
          </a:p>
        </p:txBody>
      </p:sp>
      <p:sp>
        <p:nvSpPr>
          <p:cNvPr id="501" name="hdr"/>
          <p:cNvSpPr/>
          <p:nvPr/>
        </p:nvSpPr>
        <p:spPr>
          <a:xfrm>
            <a:off x="658368" y="1800000"/>
            <a:ext cx="5350000" cy="430000"/>
          </a:xfrm>
          <a:prstGeom prst="round2SameRect">
            <a:avLst>
              <a:gd name="adj1" fmla="val 3500"/>
              <a:gd name="adj2" fmla="val 0"/>
            </a:avLst>
          </a:prstGeom>
          <a:solidFill>
            <a:srgbClr val="0B2038"/>
          </a:solidFill>
          <a:ln/>
        </p:spPr>
        <p:txBody>
          <a:bodyPr wrap="square" lIns="182880" tIns="0" rIns="91440" bIns="0" rtlCol="0" anchor="ctr"/>
          <a:lstStyle/>
          <a:p>
            <a:pPr>
              <a:buNone/>
            </a:pPr>
            <a:r>
              <a:rPr lang="ko-KR" altLang="en-US" sz="1150" b="1">
                <a:solidFill>
                  <a:srgbClr val="FFFFFF"/>
                </a:solidFill>
                <a:latin typeface="Malgun Gothic" pitchFamily="34" charset="0"/>
                <a:ea typeface="Malgun Gothic" pitchFamily="34" charset="-122"/>
                <a:cs typeface="Malgun Gothic" pitchFamily="34" charset="-120"/>
              </a:rPr>
              <a:t>사업 구조 · 2026년 1분기 제품 매출 구성</a:t>
            </a:r>
          </a:p>
        </p:txBody>
      </p:sp>
      <p:sp>
        <p:nvSpPr>
          <p:cNvPr id="502" name="biz intro"/>
          <p:cNvSpPr/>
          <p:nvPr/>
        </p:nvSpPr>
        <p:spPr>
          <a:xfrm>
            <a:off x="858368" y="2300000"/>
            <a:ext cx="4950000" cy="250000"/>
          </a:xfrm>
          <a:prstGeom prst="rect">
            <a:avLst/>
          </a:prstGeom>
          <a:noFill/>
          <a:ln/>
        </p:spPr>
        <p:txBody>
          <a:bodyPr wrap="square" lIns="0" tIns="0" rIns="0" bIns="0" rtlCol="0" anchor="ctr"/>
          <a:lstStyle/>
          <a:p>
            <a:pPr>
              <a:buNone/>
            </a:pPr>
            <a:r>
              <a:rPr lang="ko-KR" altLang="en-US" sz="950" b="1">
                <a:solidFill>
                  <a:srgbClr val="1F3350"/>
                </a:solidFill>
                <a:latin typeface="Malgun Gothic" pitchFamily="34" charset="0"/>
                <a:ea typeface="Malgun Gothic" pitchFamily="34" charset="-122"/>
                <a:cs typeface="Malgun Gothic" pitchFamily="34" charset="-120"/>
              </a:rPr>
              <a:t>삼천당제약은 안과용 전문의약품 중심 사업을 영위하고 있다.</a:t>
            </a:r>
          </a:p>
        </p:txBody>
      </p:sp>
      <p:graphicFrame>
        <p:nvGraphicFramePr>
          <p:cNvPr id="510" name="donut chart" descr="Chart"/>
          <p:cNvGraphicFramePr/>
          <p:nvPr>
            <p:extLst>
              <p:ext uri="{D42A27DB-BD31-4B8C-83A1-F6EECF244321}">
                <p14:modId xmlns:p14="http://schemas.microsoft.com/office/powerpoint/2010/main" val="333010583"/>
              </p:ext>
            </p:extLst>
          </p:nvPr>
        </p:nvGraphicFramePr>
        <p:xfrm>
          <a:off x="760000" y="2620000"/>
          <a:ext cx="1260000" cy="1260000"/>
        </p:xfrm>
        <a:graphic>
          <a:graphicData uri="http://schemas.openxmlformats.org/drawingml/2006/chart">
            <c:chart xmlns:c="http://schemas.openxmlformats.org/drawingml/2006/chart" xmlns:r="http://schemas.openxmlformats.org/officeDocument/2006/relationships" r:id="rId3"/>
          </a:graphicData>
        </a:graphic>
      </p:graphicFrame>
      <p:sp>
        <p:nvSpPr>
          <p:cNvPr id="511" name="donut center"/>
          <p:cNvSpPr/>
          <p:nvPr/>
        </p:nvSpPr>
        <p:spPr>
          <a:xfrm>
            <a:off x="870000" y="2965000"/>
            <a:ext cx="1040000" cy="520000"/>
          </a:xfrm>
          <a:prstGeom prst="rect">
            <a:avLst/>
          </a:prstGeom>
          <a:noFill/>
          <a:ln/>
        </p:spPr>
        <p:txBody>
          <a:bodyPr wrap="square" lIns="0" tIns="0" rIns="0" bIns="0" rtlCol="0" anchor="ctr"/>
          <a:lstStyle/>
          <a:p>
            <a:pPr algn="ctr">
              <a:buNone/>
            </a:pPr>
            <a:r>
              <a:rPr lang="ko-KR" altLang="en-US" sz="900" b="1">
                <a:solidFill>
                  <a:srgbClr val="6B7C90"/>
                </a:solidFill>
                <a:latin typeface="Malgun Gothic" pitchFamily="34" charset="0"/>
                <a:ea typeface="Malgun Gothic" pitchFamily="34" charset="-122"/>
                <a:cs typeface="Malgun Gothic" pitchFamily="34" charset="-120"/>
              </a:rPr>
              <a:t>안과용제</a:t>
            </a:r>
          </a:p>
          <a:p>
            <a:pPr algn="ctr">
              <a:buNone/>
            </a:pPr>
            <a:r>
              <a:rPr lang="ko-KR" altLang="en-US" sz="1500" b="1">
                <a:solidFill>
                  <a:srgbClr val="1D4ED8"/>
                </a:solidFill>
                <a:latin typeface="Malgun Gothic" pitchFamily="34" charset="0"/>
                <a:ea typeface="Malgun Gothic" pitchFamily="34" charset="-122"/>
                <a:cs typeface="Malgun Gothic" pitchFamily="34" charset="-120"/>
              </a:rPr>
              <a:t>63.6%</a:t>
            </a:r>
          </a:p>
        </p:txBody>
      </p:sp>
      <p:sp>
        <p:nvSpPr>
          <p:cNvPr id="520" name="sw0"/>
          <p:cNvSpPr/>
          <p:nvPr/>
        </p:nvSpPr>
        <p:spPr>
          <a:xfrm>
            <a:off x="2360000" y="2660000"/>
            <a:ext cx="150000" cy="150000"/>
          </a:xfrm>
          <a:prstGeom prst="rect">
            <a:avLst/>
          </a:prstGeom>
          <a:solidFill>
            <a:srgbClr val="1D4ED8"/>
          </a:solidFill>
          <a:ln/>
        </p:spPr>
        <p:txBody>
          <a:bodyPr/>
          <a:lstStyle/>
          <a:p>
            <a:endParaRPr lang="ko-KR" altLang="en-US"/>
          </a:p>
        </p:txBody>
      </p:sp>
      <p:sp>
        <p:nvSpPr>
          <p:cNvPr id="521" name="lg0"/>
          <p:cNvSpPr/>
          <p:nvPr/>
        </p:nvSpPr>
        <p:spPr>
          <a:xfrm>
            <a:off x="2610000" y="2625000"/>
            <a:ext cx="3200000" cy="200000"/>
          </a:xfrm>
          <a:prstGeom prst="rect">
            <a:avLst/>
          </a:prstGeom>
          <a:noFill/>
          <a:ln/>
        </p:spPr>
        <p:txBody>
          <a:bodyPr wrap="square" lIns="0" tIns="0" rIns="0" bIns="0" rtlCol="0" anchor="ctr"/>
          <a:lstStyle/>
          <a:p>
            <a:pPr>
              <a:buNone/>
            </a:pPr>
            <a:r>
              <a:rPr lang="ko-KR" altLang="en-US" sz="1000" b="1">
                <a:solidFill>
                  <a:srgbClr val="0E2036"/>
                </a:solidFill>
                <a:latin typeface="Malgun Gothic" pitchFamily="34" charset="0"/>
                <a:ea typeface="Malgun Gothic" pitchFamily="34" charset="-122"/>
                <a:cs typeface="Malgun Gothic" pitchFamily="34" charset="-120"/>
              </a:rPr>
              <a:t>안과용제   </a:t>
            </a:r>
            <a:r>
              <a:rPr lang="ko-KR" altLang="en-US" sz="1000" b="1">
                <a:solidFill>
                  <a:srgbClr val="1D4ED8"/>
                </a:solidFill>
                <a:latin typeface="Malgun Gothic" pitchFamily="34" charset="0"/>
                <a:ea typeface="Malgun Gothic" pitchFamily="34" charset="-122"/>
                <a:cs typeface="Malgun Gothic" pitchFamily="34" charset="-120"/>
              </a:rPr>
              <a:t>63.6%</a:t>
            </a:r>
          </a:p>
        </p:txBody>
      </p:sp>
      <p:sp>
        <p:nvSpPr>
          <p:cNvPr id="522" name="sw1"/>
          <p:cNvSpPr/>
          <p:nvPr/>
        </p:nvSpPr>
        <p:spPr>
          <a:xfrm>
            <a:off x="2360000" y="2818000"/>
            <a:ext cx="150000" cy="150000"/>
          </a:xfrm>
          <a:prstGeom prst="rect">
            <a:avLst/>
          </a:prstGeom>
          <a:solidFill>
            <a:srgbClr val="64748B"/>
          </a:solidFill>
          <a:ln/>
        </p:spPr>
        <p:txBody>
          <a:bodyPr/>
          <a:lstStyle/>
          <a:p>
            <a:endParaRPr lang="ko-KR" altLang="en-US"/>
          </a:p>
        </p:txBody>
      </p:sp>
      <p:sp>
        <p:nvSpPr>
          <p:cNvPr id="523" name="lg1"/>
          <p:cNvSpPr/>
          <p:nvPr/>
        </p:nvSpPr>
        <p:spPr>
          <a:xfrm>
            <a:off x="2610000" y="2783000"/>
            <a:ext cx="3200000" cy="200000"/>
          </a:xfrm>
          <a:prstGeom prst="rect">
            <a:avLst/>
          </a:prstGeom>
          <a:noFill/>
          <a:ln/>
        </p:spPr>
        <p:txBody>
          <a:bodyPr wrap="square" lIns="0" tIns="0" rIns="0" bIns="0" rtlCol="0" anchor="ctr"/>
          <a:lstStyle/>
          <a:p>
            <a:pPr>
              <a:buNone/>
            </a:pPr>
            <a:r>
              <a:rPr lang="ko-KR" altLang="en-US" sz="900">
                <a:solidFill>
                  <a:srgbClr val="334155"/>
                </a:solidFill>
                <a:latin typeface="Malgun Gothic" pitchFamily="34" charset="0"/>
                <a:ea typeface="Malgun Gothic" pitchFamily="34" charset="-122"/>
                <a:cs typeface="Malgun Gothic" pitchFamily="34" charset="-120"/>
              </a:rPr>
              <a:t>상품   </a:t>
            </a:r>
            <a:r>
              <a:rPr lang="ko-KR" altLang="en-US" sz="900" b="1">
                <a:solidFill>
                  <a:srgbClr val="475569"/>
                </a:solidFill>
                <a:latin typeface="Malgun Gothic" pitchFamily="34" charset="0"/>
                <a:ea typeface="Malgun Gothic" pitchFamily="34" charset="-122"/>
                <a:cs typeface="Malgun Gothic" pitchFamily="34" charset="-120"/>
              </a:rPr>
              <a:t>18.6%</a:t>
            </a:r>
          </a:p>
        </p:txBody>
      </p:sp>
      <p:sp>
        <p:nvSpPr>
          <p:cNvPr id="524" name="sw2"/>
          <p:cNvSpPr/>
          <p:nvPr/>
        </p:nvSpPr>
        <p:spPr>
          <a:xfrm>
            <a:off x="2360000" y="2976000"/>
            <a:ext cx="150000" cy="150000"/>
          </a:xfrm>
          <a:prstGeom prst="rect">
            <a:avLst/>
          </a:prstGeom>
          <a:solidFill>
            <a:srgbClr val="7C8CA0"/>
          </a:solidFill>
          <a:ln/>
        </p:spPr>
        <p:txBody>
          <a:bodyPr/>
          <a:lstStyle/>
          <a:p>
            <a:endParaRPr lang="ko-KR" altLang="en-US"/>
          </a:p>
        </p:txBody>
      </p:sp>
      <p:sp>
        <p:nvSpPr>
          <p:cNvPr id="525" name="lg2"/>
          <p:cNvSpPr/>
          <p:nvPr/>
        </p:nvSpPr>
        <p:spPr>
          <a:xfrm>
            <a:off x="2610000" y="2941000"/>
            <a:ext cx="3200000" cy="200000"/>
          </a:xfrm>
          <a:prstGeom prst="rect">
            <a:avLst/>
          </a:prstGeom>
          <a:noFill/>
          <a:ln/>
        </p:spPr>
        <p:txBody>
          <a:bodyPr wrap="square" lIns="0" tIns="0" rIns="0" bIns="0" rtlCol="0" anchor="ctr"/>
          <a:lstStyle/>
          <a:p>
            <a:pPr>
              <a:buNone/>
            </a:pPr>
            <a:r>
              <a:rPr lang="ko-KR" altLang="en-US" sz="900">
                <a:solidFill>
                  <a:srgbClr val="334155"/>
                </a:solidFill>
                <a:latin typeface="Malgun Gothic" pitchFamily="34" charset="0"/>
                <a:ea typeface="Malgun Gothic" pitchFamily="34" charset="-122"/>
                <a:cs typeface="Malgun Gothic" pitchFamily="34" charset="-120"/>
              </a:rPr>
              <a:t>순환기질환 치료제   </a:t>
            </a:r>
            <a:r>
              <a:rPr lang="ko-KR" altLang="en-US" sz="900" b="1">
                <a:solidFill>
                  <a:srgbClr val="475569"/>
                </a:solidFill>
                <a:latin typeface="Malgun Gothic" pitchFamily="34" charset="0"/>
                <a:ea typeface="Malgun Gothic" pitchFamily="34" charset="-122"/>
                <a:cs typeface="Malgun Gothic" pitchFamily="34" charset="-120"/>
              </a:rPr>
              <a:t>5.9%</a:t>
            </a:r>
          </a:p>
        </p:txBody>
      </p:sp>
      <p:sp>
        <p:nvSpPr>
          <p:cNvPr id="526" name="sw3"/>
          <p:cNvSpPr/>
          <p:nvPr/>
        </p:nvSpPr>
        <p:spPr>
          <a:xfrm>
            <a:off x="2360000" y="3134000"/>
            <a:ext cx="150000" cy="150000"/>
          </a:xfrm>
          <a:prstGeom prst="rect">
            <a:avLst/>
          </a:prstGeom>
          <a:solidFill>
            <a:srgbClr val="94A3B8"/>
          </a:solidFill>
          <a:ln/>
        </p:spPr>
        <p:txBody>
          <a:bodyPr/>
          <a:lstStyle/>
          <a:p>
            <a:endParaRPr lang="ko-KR" altLang="en-US"/>
          </a:p>
        </p:txBody>
      </p:sp>
      <p:sp>
        <p:nvSpPr>
          <p:cNvPr id="527" name="lg3"/>
          <p:cNvSpPr/>
          <p:nvPr/>
        </p:nvSpPr>
        <p:spPr>
          <a:xfrm>
            <a:off x="2610000" y="3099000"/>
            <a:ext cx="3200000" cy="200000"/>
          </a:xfrm>
          <a:prstGeom prst="rect">
            <a:avLst/>
          </a:prstGeom>
          <a:noFill/>
          <a:ln/>
        </p:spPr>
        <p:txBody>
          <a:bodyPr wrap="square" lIns="0" tIns="0" rIns="0" bIns="0" rtlCol="0" anchor="ctr"/>
          <a:lstStyle/>
          <a:p>
            <a:pPr>
              <a:buNone/>
            </a:pPr>
            <a:r>
              <a:rPr lang="ko-KR" altLang="en-US" sz="900">
                <a:solidFill>
                  <a:srgbClr val="334155"/>
                </a:solidFill>
                <a:latin typeface="Malgun Gothic" pitchFamily="34" charset="0"/>
                <a:ea typeface="Malgun Gothic" pitchFamily="34" charset="-122"/>
                <a:cs typeface="Malgun Gothic" pitchFamily="34" charset="-120"/>
              </a:rPr>
              <a:t>항생제   </a:t>
            </a:r>
            <a:r>
              <a:rPr lang="ko-KR" altLang="en-US" sz="900" b="1">
                <a:solidFill>
                  <a:srgbClr val="475569"/>
                </a:solidFill>
                <a:latin typeface="Malgun Gothic" pitchFamily="34" charset="0"/>
                <a:ea typeface="Malgun Gothic" pitchFamily="34" charset="-122"/>
                <a:cs typeface="Malgun Gothic" pitchFamily="34" charset="-120"/>
              </a:rPr>
              <a:t>3.4%</a:t>
            </a:r>
          </a:p>
        </p:txBody>
      </p:sp>
      <p:sp>
        <p:nvSpPr>
          <p:cNvPr id="528" name="sw4"/>
          <p:cNvSpPr/>
          <p:nvPr/>
        </p:nvSpPr>
        <p:spPr>
          <a:xfrm>
            <a:off x="2360000" y="3292000"/>
            <a:ext cx="150000" cy="150000"/>
          </a:xfrm>
          <a:prstGeom prst="rect">
            <a:avLst/>
          </a:prstGeom>
          <a:solidFill>
            <a:srgbClr val="A8B4C4"/>
          </a:solidFill>
          <a:ln/>
        </p:spPr>
        <p:txBody>
          <a:bodyPr/>
          <a:lstStyle/>
          <a:p>
            <a:endParaRPr lang="ko-KR" altLang="en-US"/>
          </a:p>
        </p:txBody>
      </p:sp>
      <p:sp>
        <p:nvSpPr>
          <p:cNvPr id="529" name="lg4"/>
          <p:cNvSpPr/>
          <p:nvPr/>
        </p:nvSpPr>
        <p:spPr>
          <a:xfrm>
            <a:off x="2610000" y="3257000"/>
            <a:ext cx="3200000" cy="200000"/>
          </a:xfrm>
          <a:prstGeom prst="rect">
            <a:avLst/>
          </a:prstGeom>
          <a:noFill/>
          <a:ln/>
        </p:spPr>
        <p:txBody>
          <a:bodyPr wrap="square" lIns="0" tIns="0" rIns="0" bIns="0" rtlCol="0" anchor="ctr"/>
          <a:lstStyle/>
          <a:p>
            <a:pPr>
              <a:buNone/>
            </a:pPr>
            <a:r>
              <a:rPr lang="ko-KR" altLang="en-US" sz="900">
                <a:solidFill>
                  <a:srgbClr val="334155"/>
                </a:solidFill>
                <a:latin typeface="Malgun Gothic" pitchFamily="34" charset="0"/>
                <a:ea typeface="Malgun Gothic" pitchFamily="34" charset="-122"/>
                <a:cs typeface="Malgun Gothic" pitchFamily="34" charset="-120"/>
              </a:rPr>
              <a:t>소화기계용제   </a:t>
            </a:r>
            <a:r>
              <a:rPr lang="ko-KR" altLang="en-US" sz="900" b="1">
                <a:solidFill>
                  <a:srgbClr val="475569"/>
                </a:solidFill>
                <a:latin typeface="Malgun Gothic" pitchFamily="34" charset="0"/>
                <a:ea typeface="Malgun Gothic" pitchFamily="34" charset="-122"/>
                <a:cs typeface="Malgun Gothic" pitchFamily="34" charset="-120"/>
              </a:rPr>
              <a:t>3.2%</a:t>
            </a:r>
          </a:p>
        </p:txBody>
      </p:sp>
      <p:sp>
        <p:nvSpPr>
          <p:cNvPr id="530" name="sw5"/>
          <p:cNvSpPr/>
          <p:nvPr/>
        </p:nvSpPr>
        <p:spPr>
          <a:xfrm>
            <a:off x="2360000" y="3450000"/>
            <a:ext cx="150000" cy="150000"/>
          </a:xfrm>
          <a:prstGeom prst="rect">
            <a:avLst/>
          </a:prstGeom>
          <a:solidFill>
            <a:srgbClr val="B8C2D0"/>
          </a:solidFill>
          <a:ln/>
        </p:spPr>
        <p:txBody>
          <a:bodyPr/>
          <a:lstStyle/>
          <a:p>
            <a:endParaRPr lang="ko-KR" altLang="en-US"/>
          </a:p>
        </p:txBody>
      </p:sp>
      <p:sp>
        <p:nvSpPr>
          <p:cNvPr id="531" name="lg5"/>
          <p:cNvSpPr/>
          <p:nvPr/>
        </p:nvSpPr>
        <p:spPr>
          <a:xfrm>
            <a:off x="2610000" y="3415000"/>
            <a:ext cx="3200000" cy="200000"/>
          </a:xfrm>
          <a:prstGeom prst="rect">
            <a:avLst/>
          </a:prstGeom>
          <a:noFill/>
          <a:ln/>
        </p:spPr>
        <p:txBody>
          <a:bodyPr wrap="square" lIns="0" tIns="0" rIns="0" bIns="0" rtlCol="0" anchor="ctr"/>
          <a:lstStyle/>
          <a:p>
            <a:pPr>
              <a:buNone/>
            </a:pPr>
            <a:r>
              <a:rPr lang="ko-KR" altLang="en-US" sz="900">
                <a:solidFill>
                  <a:srgbClr val="334155"/>
                </a:solidFill>
                <a:latin typeface="Malgun Gothic" pitchFamily="34" charset="0"/>
                <a:ea typeface="Malgun Gothic" pitchFamily="34" charset="-122"/>
                <a:cs typeface="Malgun Gothic" pitchFamily="34" charset="-120"/>
              </a:rPr>
              <a:t>호흡기질환 치료제   </a:t>
            </a:r>
            <a:r>
              <a:rPr lang="ko-KR" altLang="en-US" sz="900" b="1">
                <a:solidFill>
                  <a:srgbClr val="475569"/>
                </a:solidFill>
                <a:latin typeface="Malgun Gothic" pitchFamily="34" charset="0"/>
                <a:ea typeface="Malgun Gothic" pitchFamily="34" charset="-122"/>
                <a:cs typeface="Malgun Gothic" pitchFamily="34" charset="-120"/>
              </a:rPr>
              <a:t>2.2%</a:t>
            </a:r>
          </a:p>
        </p:txBody>
      </p:sp>
      <p:sp>
        <p:nvSpPr>
          <p:cNvPr id="532" name="sw6"/>
          <p:cNvSpPr/>
          <p:nvPr/>
        </p:nvSpPr>
        <p:spPr>
          <a:xfrm>
            <a:off x="2360000" y="3608000"/>
            <a:ext cx="150000" cy="150000"/>
          </a:xfrm>
          <a:prstGeom prst="rect">
            <a:avLst/>
          </a:prstGeom>
          <a:solidFill>
            <a:srgbClr val="C7CFD9"/>
          </a:solidFill>
          <a:ln/>
        </p:spPr>
        <p:txBody>
          <a:bodyPr/>
          <a:lstStyle/>
          <a:p>
            <a:endParaRPr lang="ko-KR" altLang="en-US"/>
          </a:p>
        </p:txBody>
      </p:sp>
      <p:sp>
        <p:nvSpPr>
          <p:cNvPr id="533" name="lg6"/>
          <p:cNvSpPr/>
          <p:nvPr/>
        </p:nvSpPr>
        <p:spPr>
          <a:xfrm>
            <a:off x="2610000" y="3573000"/>
            <a:ext cx="3200000" cy="200000"/>
          </a:xfrm>
          <a:prstGeom prst="rect">
            <a:avLst/>
          </a:prstGeom>
          <a:noFill/>
          <a:ln/>
        </p:spPr>
        <p:txBody>
          <a:bodyPr wrap="square" lIns="0" tIns="0" rIns="0" bIns="0" rtlCol="0" anchor="ctr"/>
          <a:lstStyle/>
          <a:p>
            <a:pPr>
              <a:buNone/>
            </a:pPr>
            <a:r>
              <a:rPr lang="ko-KR" altLang="en-US" sz="900">
                <a:solidFill>
                  <a:srgbClr val="334155"/>
                </a:solidFill>
                <a:latin typeface="Malgun Gothic" pitchFamily="34" charset="0"/>
                <a:ea typeface="Malgun Gothic" pitchFamily="34" charset="-122"/>
                <a:cs typeface="Malgun Gothic" pitchFamily="34" charset="-120"/>
              </a:rPr>
              <a:t>기타 제품   </a:t>
            </a:r>
            <a:r>
              <a:rPr lang="ko-KR" altLang="en-US" sz="900" b="1">
                <a:solidFill>
                  <a:srgbClr val="475569"/>
                </a:solidFill>
                <a:latin typeface="Malgun Gothic" pitchFamily="34" charset="0"/>
                <a:ea typeface="Malgun Gothic" pitchFamily="34" charset="-122"/>
                <a:cs typeface="Malgun Gothic" pitchFamily="34" charset="-120"/>
              </a:rPr>
              <a:t>2.4%</a:t>
            </a:r>
          </a:p>
        </p:txBody>
      </p:sp>
      <p:sp>
        <p:nvSpPr>
          <p:cNvPr id="534" name="sw7"/>
          <p:cNvSpPr/>
          <p:nvPr/>
        </p:nvSpPr>
        <p:spPr>
          <a:xfrm>
            <a:off x="2360000" y="3766000"/>
            <a:ext cx="150000" cy="150000"/>
          </a:xfrm>
          <a:prstGeom prst="rect">
            <a:avLst/>
          </a:prstGeom>
          <a:solidFill>
            <a:srgbClr val="CBD3DD"/>
          </a:solidFill>
          <a:ln/>
        </p:spPr>
        <p:txBody>
          <a:bodyPr/>
          <a:lstStyle/>
          <a:p>
            <a:endParaRPr lang="ko-KR" altLang="en-US"/>
          </a:p>
        </p:txBody>
      </p:sp>
      <p:sp>
        <p:nvSpPr>
          <p:cNvPr id="535" name="lg7"/>
          <p:cNvSpPr/>
          <p:nvPr/>
        </p:nvSpPr>
        <p:spPr>
          <a:xfrm>
            <a:off x="2610000" y="3731000"/>
            <a:ext cx="3200000" cy="200000"/>
          </a:xfrm>
          <a:prstGeom prst="rect">
            <a:avLst/>
          </a:prstGeom>
          <a:noFill/>
          <a:ln/>
        </p:spPr>
        <p:txBody>
          <a:bodyPr wrap="square" lIns="0" tIns="0" rIns="0" bIns="0" rtlCol="0" anchor="ctr"/>
          <a:lstStyle/>
          <a:p>
            <a:pPr>
              <a:buNone/>
            </a:pPr>
            <a:r>
              <a:rPr lang="ko-KR" altLang="en-US" sz="900">
                <a:solidFill>
                  <a:srgbClr val="334155"/>
                </a:solidFill>
                <a:latin typeface="Malgun Gothic" pitchFamily="34" charset="0"/>
                <a:ea typeface="Malgun Gothic" pitchFamily="34" charset="-122"/>
                <a:cs typeface="Malgun Gothic" pitchFamily="34" charset="-120"/>
              </a:rPr>
              <a:t>소염제   </a:t>
            </a:r>
            <a:r>
              <a:rPr lang="ko-KR" altLang="en-US" sz="900" b="1">
                <a:solidFill>
                  <a:srgbClr val="475569"/>
                </a:solidFill>
                <a:latin typeface="Malgun Gothic" pitchFamily="34" charset="0"/>
                <a:ea typeface="Malgun Gothic" pitchFamily="34" charset="-122"/>
                <a:cs typeface="Malgun Gothic" pitchFamily="34" charset="-120"/>
              </a:rPr>
              <a:t>0.8%</a:t>
            </a:r>
          </a:p>
        </p:txBody>
      </p:sp>
      <p:sp>
        <p:nvSpPr>
          <p:cNvPr id="540" name="feat card">
            <a:extLst>
              <a:ext uri="{C183D7F6-B498-43B3-948B-1728B52AA6E4}">
                <adec:decorative xmlns:adec="http://schemas.microsoft.com/office/drawing/2017/decorative" val="1"/>
              </a:ext>
            </a:extLst>
          </p:cNvPr>
          <p:cNvSpPr/>
          <p:nvPr/>
        </p:nvSpPr>
        <p:spPr>
          <a:xfrm>
            <a:off x="6250000" y="1800000"/>
            <a:ext cx="5290000" cy="2140000"/>
          </a:xfrm>
          <a:prstGeom prst="rect">
            <a:avLst/>
          </a:prstGeom>
          <a:solidFill>
            <a:srgbClr val="F2F6FC"/>
          </a:solidFill>
          <a:ln w="12700">
            <a:solidFill>
              <a:srgbClr val="D5E0F0"/>
            </a:solidFill>
          </a:ln>
          <a:effectLst>
            <a:outerShdw blurRad="88900" dist="25400" dir="5400000" algn="bl" rotWithShape="0">
              <a:srgbClr val="0E2036">
                <a:alpha val="10000"/>
              </a:srgbClr>
            </a:outerShdw>
          </a:effectLst>
        </p:spPr>
        <p:txBody>
          <a:bodyPr/>
          <a:lstStyle/>
          <a:p>
            <a:endParaRPr lang="ko-KR" altLang="en-US"/>
          </a:p>
        </p:txBody>
      </p:sp>
      <p:sp>
        <p:nvSpPr>
          <p:cNvPr id="541" name="hdr"/>
          <p:cNvSpPr/>
          <p:nvPr/>
        </p:nvSpPr>
        <p:spPr>
          <a:xfrm>
            <a:off x="6250000" y="1800000"/>
            <a:ext cx="5290000" cy="430000"/>
          </a:xfrm>
          <a:prstGeom prst="round2SameRect">
            <a:avLst>
              <a:gd name="adj1" fmla="val 3500"/>
              <a:gd name="adj2" fmla="val 0"/>
            </a:avLst>
          </a:prstGeom>
          <a:solidFill>
            <a:srgbClr val="0B2038"/>
          </a:solidFill>
          <a:ln/>
        </p:spPr>
        <p:txBody>
          <a:bodyPr wrap="square" lIns="182880" tIns="0" rIns="91440" bIns="0" rtlCol="0" anchor="ctr"/>
          <a:lstStyle/>
          <a:p>
            <a:pPr>
              <a:buNone/>
            </a:pPr>
            <a:r>
              <a:rPr lang="ko-KR" altLang="en-US" sz="1150" b="1">
                <a:solidFill>
                  <a:srgbClr val="FFFFFF"/>
                </a:solidFill>
                <a:latin typeface="Malgun Gothic" pitchFamily="34" charset="0"/>
                <a:ea typeface="Malgun Gothic" pitchFamily="34" charset="-122"/>
                <a:cs typeface="Malgun Gothic" pitchFamily="34" charset="-120"/>
              </a:rPr>
              <a:t>사업 특징</a:t>
            </a:r>
          </a:p>
        </p:txBody>
      </p:sp>
      <p:sp>
        <p:nvSpPr>
          <p:cNvPr id="542" name="feat0"/>
          <p:cNvSpPr/>
          <p:nvPr/>
        </p:nvSpPr>
        <p:spPr>
          <a:xfrm>
            <a:off x="6450000" y="2440000"/>
            <a:ext cx="4890000" cy="320000"/>
          </a:xfrm>
          <a:prstGeom prst="rect">
            <a:avLst/>
          </a:prstGeom>
          <a:noFill/>
          <a:ln/>
        </p:spPr>
        <p:txBody>
          <a:bodyPr wrap="square" lIns="0" tIns="0" rIns="0" bIns="0" rtlCol="0" anchor="ctr"/>
          <a:lstStyle/>
          <a:p>
            <a:pPr>
              <a:buNone/>
            </a:pPr>
            <a:r>
              <a:rPr lang="ko-KR" altLang="en-US" sz="1050" b="1">
                <a:solidFill>
                  <a:srgbClr val="0D9488"/>
                </a:solidFill>
                <a:latin typeface="Malgun Gothic" pitchFamily="34" charset="0"/>
                <a:ea typeface="Malgun Gothic" pitchFamily="34" charset="-122"/>
                <a:cs typeface="Malgun Gothic" pitchFamily="34" charset="-120"/>
              </a:rPr>
              <a:t>✓  </a:t>
            </a:r>
            <a:r>
              <a:rPr lang="ko-KR" altLang="en-US" sz="1050">
                <a:solidFill>
                  <a:srgbClr val="33465B"/>
                </a:solidFill>
                <a:latin typeface="Malgun Gothic" pitchFamily="34" charset="0"/>
                <a:ea typeface="Malgun Gothic" pitchFamily="34" charset="-122"/>
                <a:cs typeface="Malgun Gothic" pitchFamily="34" charset="-120"/>
              </a:rPr>
              <a:t>국내 안과용 전문의약품 중심 사업</a:t>
            </a:r>
          </a:p>
        </p:txBody>
      </p:sp>
      <p:sp>
        <p:nvSpPr>
          <p:cNvPr id="543" name="feat1"/>
          <p:cNvSpPr/>
          <p:nvPr/>
        </p:nvSpPr>
        <p:spPr>
          <a:xfrm>
            <a:off x="6450000" y="2795000"/>
            <a:ext cx="4890000" cy="320000"/>
          </a:xfrm>
          <a:prstGeom prst="rect">
            <a:avLst/>
          </a:prstGeom>
          <a:noFill/>
          <a:ln/>
        </p:spPr>
        <p:txBody>
          <a:bodyPr wrap="square" lIns="0" tIns="0" rIns="0" bIns="0" rtlCol="0" anchor="ctr"/>
          <a:lstStyle/>
          <a:p>
            <a:pPr>
              <a:buNone/>
            </a:pPr>
            <a:r>
              <a:rPr lang="ko-KR" altLang="en-US" sz="1050" b="1">
                <a:solidFill>
                  <a:srgbClr val="0D9488"/>
                </a:solidFill>
                <a:latin typeface="Malgun Gothic" pitchFamily="34" charset="0"/>
                <a:ea typeface="Malgun Gothic" pitchFamily="34" charset="-122"/>
                <a:cs typeface="Malgun Gothic" pitchFamily="34" charset="-120"/>
              </a:rPr>
              <a:t>✓  </a:t>
            </a:r>
            <a:r>
              <a:rPr lang="ko-KR" altLang="en-US" sz="1050">
                <a:solidFill>
                  <a:srgbClr val="33465B"/>
                </a:solidFill>
                <a:latin typeface="Malgun Gothic" pitchFamily="34" charset="0"/>
                <a:ea typeface="Malgun Gothic" pitchFamily="34" charset="-122"/>
                <a:cs typeface="Malgun Gothic" pitchFamily="34" charset="-120"/>
              </a:rPr>
              <a:t>전체 제품 매출의 63.6%가 안과용제</a:t>
            </a:r>
          </a:p>
        </p:txBody>
      </p:sp>
      <p:sp>
        <p:nvSpPr>
          <p:cNvPr id="544" name="feat2"/>
          <p:cNvSpPr/>
          <p:nvPr/>
        </p:nvSpPr>
        <p:spPr>
          <a:xfrm>
            <a:off x="6450000" y="3150000"/>
            <a:ext cx="4890000" cy="320000"/>
          </a:xfrm>
          <a:prstGeom prst="rect">
            <a:avLst/>
          </a:prstGeom>
          <a:noFill/>
          <a:ln/>
        </p:spPr>
        <p:txBody>
          <a:bodyPr wrap="square" lIns="0" tIns="0" rIns="0" bIns="0" rtlCol="0" anchor="ctr"/>
          <a:lstStyle/>
          <a:p>
            <a:pPr>
              <a:buNone/>
            </a:pPr>
            <a:r>
              <a:rPr lang="ko-KR" altLang="en-US" sz="1050" b="1">
                <a:solidFill>
                  <a:srgbClr val="0D9488"/>
                </a:solidFill>
                <a:latin typeface="Malgun Gothic" pitchFamily="34" charset="0"/>
                <a:ea typeface="Malgun Gothic" pitchFamily="34" charset="-122"/>
                <a:cs typeface="Malgun Gothic" pitchFamily="34" charset="-120"/>
              </a:rPr>
              <a:t>✓  </a:t>
            </a:r>
            <a:r>
              <a:rPr lang="ko-KR" altLang="en-US" sz="1050">
                <a:solidFill>
                  <a:srgbClr val="33465B"/>
                </a:solidFill>
                <a:latin typeface="Malgun Gothic" pitchFamily="34" charset="0"/>
                <a:ea typeface="Malgun Gothic" pitchFamily="34" charset="-122"/>
                <a:cs typeface="Malgun Gothic" pitchFamily="34" charset="-120"/>
              </a:rPr>
              <a:t>옵투스제약 인수를 기반으로 점안제 시장 경쟁력 확보</a:t>
            </a:r>
          </a:p>
        </p:txBody>
      </p:sp>
      <p:sp>
        <p:nvSpPr>
          <p:cNvPr id="545" name="feat3"/>
          <p:cNvSpPr/>
          <p:nvPr/>
        </p:nvSpPr>
        <p:spPr>
          <a:xfrm>
            <a:off x="6450000" y="3505000"/>
            <a:ext cx="4890000" cy="320000"/>
          </a:xfrm>
          <a:prstGeom prst="rect">
            <a:avLst/>
          </a:prstGeom>
          <a:noFill/>
          <a:ln/>
        </p:spPr>
        <p:txBody>
          <a:bodyPr wrap="square" lIns="0" tIns="0" rIns="0" bIns="0" rtlCol="0" anchor="ctr"/>
          <a:lstStyle/>
          <a:p>
            <a:pPr>
              <a:buNone/>
            </a:pPr>
            <a:r>
              <a:rPr lang="ko-KR" altLang="en-US" sz="1050" b="1">
                <a:solidFill>
                  <a:srgbClr val="0D9488"/>
                </a:solidFill>
                <a:latin typeface="Malgun Gothic" pitchFamily="34" charset="0"/>
                <a:ea typeface="Malgun Gothic" pitchFamily="34" charset="-122"/>
                <a:cs typeface="Malgun Gothic" pitchFamily="34" charset="-120"/>
              </a:rPr>
              <a:t>✓  </a:t>
            </a:r>
            <a:r>
              <a:rPr lang="ko-KR" altLang="en-US" sz="1050">
                <a:solidFill>
                  <a:srgbClr val="33465B"/>
                </a:solidFill>
                <a:latin typeface="Malgun Gothic" pitchFamily="34" charset="0"/>
                <a:ea typeface="Malgun Gothic" pitchFamily="34" charset="-122"/>
                <a:cs typeface="Malgun Gothic" pitchFamily="34" charset="-120"/>
              </a:rPr>
              <a:t>안정적인 현금창출 사업 기반 구축</a:t>
            </a:r>
          </a:p>
        </p:txBody>
      </p:sp>
      <p:sp>
        <p:nvSpPr>
          <p:cNvPr id="560" name="perf card">
            <a:extLst>
              <a:ext uri="{C183D7F6-B498-43B3-948B-1728B52AA6E4}">
                <adec:decorative xmlns:adec="http://schemas.microsoft.com/office/drawing/2017/decorative" val="1"/>
              </a:ext>
            </a:extLst>
          </p:cNvPr>
          <p:cNvSpPr/>
          <p:nvPr/>
        </p:nvSpPr>
        <p:spPr>
          <a:xfrm>
            <a:off x="658368" y="4000000"/>
            <a:ext cx="5350000" cy="2050000"/>
          </a:xfrm>
          <a:prstGeom prst="rect">
            <a:avLst/>
          </a:prstGeom>
          <a:solidFill>
            <a:srgbClr val="F2F6FC"/>
          </a:solidFill>
          <a:ln w="12700">
            <a:solidFill>
              <a:srgbClr val="D5E0F0"/>
            </a:solidFill>
          </a:ln>
          <a:effectLst>
            <a:outerShdw blurRad="88900" dist="25400" dir="5400000" algn="bl" rotWithShape="0">
              <a:srgbClr val="0E2036">
                <a:alpha val="10000"/>
              </a:srgbClr>
            </a:outerShdw>
          </a:effectLst>
        </p:spPr>
        <p:txBody>
          <a:bodyPr/>
          <a:lstStyle/>
          <a:p>
            <a:endParaRPr lang="ko-KR" altLang="en-US"/>
          </a:p>
        </p:txBody>
      </p:sp>
      <p:sp>
        <p:nvSpPr>
          <p:cNvPr id="561" name="hdr"/>
          <p:cNvSpPr/>
          <p:nvPr/>
        </p:nvSpPr>
        <p:spPr>
          <a:xfrm>
            <a:off x="658368" y="4000000"/>
            <a:ext cx="5350000" cy="430000"/>
          </a:xfrm>
          <a:prstGeom prst="round2SameRect">
            <a:avLst>
              <a:gd name="adj1" fmla="val 3500"/>
              <a:gd name="adj2" fmla="val 0"/>
            </a:avLst>
          </a:prstGeom>
          <a:solidFill>
            <a:srgbClr val="0B2038"/>
          </a:solidFill>
          <a:ln/>
        </p:spPr>
        <p:txBody>
          <a:bodyPr wrap="square" lIns="182880" tIns="0" rIns="91440" bIns="0" rtlCol="0" anchor="ctr"/>
          <a:lstStyle/>
          <a:p>
            <a:pPr>
              <a:buNone/>
            </a:pPr>
            <a:r>
              <a:rPr lang="ko-KR" altLang="en-US" sz="1150" b="1">
                <a:solidFill>
                  <a:srgbClr val="FFFFFF"/>
                </a:solidFill>
                <a:latin typeface="Malgun Gothic" pitchFamily="34" charset="0"/>
                <a:ea typeface="Malgun Gothic" pitchFamily="34" charset="-122"/>
                <a:cs typeface="Malgun Gothic" pitchFamily="34" charset="-120"/>
              </a:rPr>
              <a:t>최근 실적 추이</a:t>
            </a:r>
          </a:p>
        </p:txBody>
      </p:sp>
      <p:sp>
        <p:nvSpPr>
          <p:cNvPr id="580" name="glob card">
            <a:extLst>
              <a:ext uri="{C183D7F6-B498-43B3-948B-1728B52AA6E4}">
                <adec:decorative xmlns:adec="http://schemas.microsoft.com/office/drawing/2017/decorative" val="1"/>
              </a:ext>
            </a:extLst>
          </p:cNvPr>
          <p:cNvSpPr/>
          <p:nvPr/>
        </p:nvSpPr>
        <p:spPr>
          <a:xfrm>
            <a:off x="6250000" y="4000000"/>
            <a:ext cx="5290000" cy="2050000"/>
          </a:xfrm>
          <a:prstGeom prst="rect">
            <a:avLst/>
          </a:prstGeom>
          <a:solidFill>
            <a:srgbClr val="EAF7F5"/>
          </a:solidFill>
          <a:ln w="12700">
            <a:solidFill>
              <a:srgbClr val="0D9488"/>
            </a:solidFill>
          </a:ln>
          <a:effectLst>
            <a:outerShdw blurRad="88900" dist="25400" dir="5400000" algn="bl" rotWithShape="0">
              <a:srgbClr val="0E2036">
                <a:alpha val="10000"/>
              </a:srgbClr>
            </a:outerShdw>
          </a:effectLst>
        </p:spPr>
        <p:txBody>
          <a:bodyPr/>
          <a:lstStyle/>
          <a:p>
            <a:endParaRPr lang="ko-KR" altLang="en-US"/>
          </a:p>
        </p:txBody>
      </p:sp>
      <p:sp>
        <p:nvSpPr>
          <p:cNvPr id="581" name="hdr"/>
          <p:cNvSpPr/>
          <p:nvPr/>
        </p:nvSpPr>
        <p:spPr>
          <a:xfrm>
            <a:off x="6250000" y="4000000"/>
            <a:ext cx="5290000" cy="430000"/>
          </a:xfrm>
          <a:prstGeom prst="round2SameRect">
            <a:avLst>
              <a:gd name="adj1" fmla="val 3500"/>
              <a:gd name="adj2" fmla="val 0"/>
            </a:avLst>
          </a:prstGeom>
          <a:solidFill>
            <a:srgbClr val="0D9488"/>
          </a:solidFill>
          <a:ln/>
        </p:spPr>
        <p:txBody>
          <a:bodyPr wrap="square" lIns="182880" tIns="0" rIns="91440" bIns="0" rtlCol="0" anchor="ctr"/>
          <a:lstStyle/>
          <a:p>
            <a:pPr>
              <a:buNone/>
            </a:pPr>
            <a:r>
              <a:rPr lang="ko-KR" altLang="en-US" sz="1150" b="1">
                <a:solidFill>
                  <a:srgbClr val="FFFFFF"/>
                </a:solidFill>
                <a:latin typeface="Malgun Gothic" pitchFamily="34" charset="0"/>
                <a:ea typeface="Malgun Gothic" pitchFamily="34" charset="-122"/>
                <a:cs typeface="Malgun Gothic" pitchFamily="34" charset="-120"/>
              </a:rPr>
              <a:t>수출 비중 확대 · 1분기 매출 기준</a:t>
            </a:r>
          </a:p>
        </p:txBody>
      </p:sp>
      <p:sp>
        <p:nvSpPr>
          <p:cNvPr id="590" name="key band">
            <a:extLst>
              <a:ext uri="{C183D7F6-B498-43B3-948B-1728B52AA6E4}">
                <adec:decorative xmlns:adec="http://schemas.microsoft.com/office/drawing/2017/decorative" val="1"/>
              </a:ext>
            </a:extLst>
          </p:cNvPr>
          <p:cNvSpPr/>
          <p:nvPr/>
        </p:nvSpPr>
        <p:spPr>
          <a:xfrm>
            <a:off x="658368" y="6150000"/>
            <a:ext cx="10881360" cy="340000"/>
          </a:xfrm>
          <a:prstGeom prst="rect">
            <a:avLst/>
          </a:prstGeom>
          <a:solidFill>
            <a:srgbClr val="EAF0FA"/>
          </a:solidFill>
          <a:ln w="9525">
            <a:solidFill>
              <a:srgbClr val="BFD4F7"/>
            </a:solidFill>
          </a:ln>
        </p:spPr>
        <p:txBody>
          <a:bodyPr/>
          <a:lstStyle/>
          <a:p>
            <a:endParaRPr lang="ko-KR" altLang="en-US"/>
          </a:p>
        </p:txBody>
      </p:sp>
      <p:sp>
        <p:nvSpPr>
          <p:cNvPr id="591" name="key accent">
            <a:extLst>
              <a:ext uri="{C183D7F6-B498-43B3-948B-1728B52AA6E4}">
                <adec:decorative xmlns:adec="http://schemas.microsoft.com/office/drawing/2017/decorative" val="1"/>
              </a:ext>
            </a:extLst>
          </p:cNvPr>
          <p:cNvSpPr/>
          <p:nvPr/>
        </p:nvSpPr>
        <p:spPr>
          <a:xfrm>
            <a:off x="658368" y="6150000"/>
            <a:ext cx="110000" cy="340000"/>
          </a:xfrm>
          <a:prstGeom prst="rect">
            <a:avLst/>
          </a:prstGeom>
          <a:solidFill>
            <a:srgbClr val="1D4ED8"/>
          </a:solidFill>
          <a:ln/>
        </p:spPr>
        <p:txBody>
          <a:bodyPr/>
          <a:lstStyle/>
          <a:p>
            <a:endParaRPr lang="ko-KR" altLang="en-US"/>
          </a:p>
        </p:txBody>
      </p:sp>
      <p:sp>
        <p:nvSpPr>
          <p:cNvPr id="592" name="key text"/>
          <p:cNvSpPr/>
          <p:nvPr/>
        </p:nvSpPr>
        <p:spPr>
          <a:xfrm>
            <a:off x="918368" y="6150000"/>
            <a:ext cx="10500000" cy="340000"/>
          </a:xfrm>
          <a:prstGeom prst="rect">
            <a:avLst/>
          </a:prstGeom>
          <a:noFill/>
          <a:ln/>
        </p:spPr>
        <p:txBody>
          <a:bodyPr wrap="square" lIns="0" tIns="0" rIns="0" bIns="0" rtlCol="0" anchor="ctr"/>
          <a:lstStyle/>
          <a:p>
            <a:pPr>
              <a:buNone/>
            </a:pPr>
            <a:r>
              <a:rPr lang="ko-KR" altLang="en-US" sz="950" b="1">
                <a:solidFill>
                  <a:srgbClr val="0E2036"/>
                </a:solidFill>
                <a:latin typeface="Malgun Gothic" pitchFamily="34" charset="0"/>
                <a:ea typeface="Malgun Gothic" pitchFamily="34" charset="-122"/>
                <a:cs typeface="Malgun Gothic" pitchFamily="34" charset="-120"/>
              </a:rPr>
              <a:t>현재 사업은 안정적 현금흐름을 만들고, SCD411과 S-PASS는 이 현금흐름 위에 얹히는 성장 옵션이다.</a:t>
            </a:r>
          </a:p>
        </p:txBody>
      </p:sp>
      <p:sp>
        <p:nvSpPr>
          <p:cNvPr id="610" name="trend cap"/>
          <p:cNvSpPr/>
          <p:nvPr/>
        </p:nvSpPr>
        <p:spPr>
          <a:xfrm>
            <a:off x="858368" y="4460000"/>
            <a:ext cx="4950000" cy="150000"/>
          </a:xfrm>
          <a:prstGeom prst="rect">
            <a:avLst/>
          </a:prstGeom>
          <a:noFill/>
          <a:ln/>
        </p:spPr>
        <p:txBody>
          <a:bodyPr wrap="square" lIns="0" tIns="0" rIns="0" bIns="0" rtlCol="0" anchor="ctr"/>
          <a:lstStyle/>
          <a:p>
            <a:pPr>
              <a:buNone/>
            </a:pPr>
            <a:r>
              <a:rPr lang="ko-KR" altLang="en-US" sz="850" b="1">
                <a:solidFill>
                  <a:srgbClr val="6B7C90"/>
                </a:solidFill>
                <a:latin typeface="Malgun Gothic" pitchFamily="34" charset="0"/>
                <a:ea typeface="Malgun Gothic" pitchFamily="34" charset="-122"/>
                <a:cs typeface="Malgun Gothic" pitchFamily="34" charset="-120"/>
              </a:rPr>
              <a:t>최근 매출액 추이 (억원)</a:t>
            </a:r>
          </a:p>
        </p:txBody>
      </p:sp>
      <p:sp>
        <p:nvSpPr>
          <p:cNvPr id="611" name="tb0">
            <a:extLst>
              <a:ext uri="{C183D7F6-B498-43B3-948B-1728B52AA6E4}">
                <adec:decorative xmlns:adec="http://schemas.microsoft.com/office/drawing/2017/decorative" val="1"/>
              </a:ext>
            </a:extLst>
          </p:cNvPr>
          <p:cNvSpPr/>
          <p:nvPr/>
        </p:nvSpPr>
        <p:spPr>
          <a:xfrm>
            <a:off x="1533368" y="4922000"/>
            <a:ext cx="300000" cy="88000"/>
          </a:xfrm>
          <a:prstGeom prst="round2SameRect">
            <a:avLst>
              <a:gd name="adj1" fmla="val 30000"/>
              <a:gd name="adj2" fmla="val 0"/>
            </a:avLst>
          </a:prstGeom>
          <a:solidFill>
            <a:srgbClr val="B8C6DF"/>
          </a:solidFill>
          <a:ln/>
        </p:spPr>
        <p:txBody>
          <a:bodyPr/>
          <a:lstStyle/>
          <a:p>
            <a:endParaRPr lang="ko-KR" altLang="en-US"/>
          </a:p>
        </p:txBody>
      </p:sp>
      <p:sp>
        <p:nvSpPr>
          <p:cNvPr id="612" name="tv0"/>
          <p:cNvSpPr/>
          <p:nvPr/>
        </p:nvSpPr>
        <p:spPr>
          <a:xfrm>
            <a:off x="858368" y="4732000"/>
            <a:ext cx="1650000" cy="180000"/>
          </a:xfrm>
          <a:prstGeom prst="rect">
            <a:avLst/>
          </a:prstGeom>
          <a:noFill/>
          <a:ln/>
        </p:spPr>
        <p:txBody>
          <a:bodyPr wrap="square" lIns="0" tIns="0" rIns="0" bIns="0" rtlCol="0" anchor="ctr"/>
          <a:lstStyle/>
          <a:p>
            <a:pPr algn="ctr">
              <a:buNone/>
            </a:pPr>
            <a:r>
              <a:rPr lang="ko-KR" altLang="en-US" sz="1000" b="1">
                <a:solidFill>
                  <a:srgbClr val="33465B"/>
                </a:solidFill>
                <a:latin typeface="Malgun Gothic" pitchFamily="34" charset="0"/>
                <a:ea typeface="Malgun Gothic" pitchFamily="34" charset="-122"/>
                <a:cs typeface="Malgun Gothic" pitchFamily="34" charset="-120"/>
              </a:rPr>
              <a:t>2,099</a:t>
            </a:r>
          </a:p>
        </p:txBody>
      </p:sp>
      <p:sp>
        <p:nvSpPr>
          <p:cNvPr id="613" name="ty0"/>
          <p:cNvSpPr/>
          <p:nvPr/>
        </p:nvSpPr>
        <p:spPr>
          <a:xfrm>
            <a:off x="858368" y="5030000"/>
            <a:ext cx="1650000" cy="150000"/>
          </a:xfrm>
          <a:prstGeom prst="rect">
            <a:avLst/>
          </a:prstGeom>
          <a:noFill/>
          <a:ln/>
        </p:spPr>
        <p:txBody>
          <a:bodyPr wrap="square" lIns="0" tIns="0" rIns="0" bIns="0" rtlCol="0" anchor="ctr"/>
          <a:lstStyle/>
          <a:p>
            <a:pPr algn="ctr">
              <a:buNone/>
            </a:pPr>
            <a:r>
              <a:rPr lang="ko-KR" altLang="en-US" sz="800">
                <a:solidFill>
                  <a:srgbClr val="6B7C90"/>
                </a:solidFill>
                <a:latin typeface="Malgun Gothic" pitchFamily="34" charset="0"/>
                <a:ea typeface="Malgun Gothic" pitchFamily="34" charset="-122"/>
                <a:cs typeface="Malgun Gothic" pitchFamily="34" charset="-120"/>
              </a:rPr>
              <a:t>2023년</a:t>
            </a:r>
          </a:p>
        </p:txBody>
      </p:sp>
      <p:sp>
        <p:nvSpPr>
          <p:cNvPr id="614" name="tb1">
            <a:extLst>
              <a:ext uri="{C183D7F6-B498-43B3-948B-1728B52AA6E4}">
                <adec:decorative xmlns:adec="http://schemas.microsoft.com/office/drawing/2017/decorative" val="1"/>
              </a:ext>
            </a:extLst>
          </p:cNvPr>
          <p:cNvSpPr/>
          <p:nvPr/>
        </p:nvSpPr>
        <p:spPr>
          <a:xfrm>
            <a:off x="3183368" y="4854000"/>
            <a:ext cx="300000" cy="156000"/>
          </a:xfrm>
          <a:prstGeom prst="round2SameRect">
            <a:avLst>
              <a:gd name="adj1" fmla="val 30000"/>
              <a:gd name="adj2" fmla="val 0"/>
            </a:avLst>
          </a:prstGeom>
          <a:solidFill>
            <a:srgbClr val="B8C6DF"/>
          </a:solidFill>
          <a:ln/>
        </p:spPr>
        <p:txBody>
          <a:bodyPr/>
          <a:lstStyle/>
          <a:p>
            <a:endParaRPr lang="ko-KR" altLang="en-US"/>
          </a:p>
        </p:txBody>
      </p:sp>
      <p:sp>
        <p:nvSpPr>
          <p:cNvPr id="615" name="tv1"/>
          <p:cNvSpPr/>
          <p:nvPr/>
        </p:nvSpPr>
        <p:spPr>
          <a:xfrm>
            <a:off x="2508368" y="4664000"/>
            <a:ext cx="1650000" cy="180000"/>
          </a:xfrm>
          <a:prstGeom prst="rect">
            <a:avLst/>
          </a:prstGeom>
          <a:noFill/>
          <a:ln/>
        </p:spPr>
        <p:txBody>
          <a:bodyPr wrap="square" lIns="0" tIns="0" rIns="0" bIns="0" rtlCol="0" anchor="ctr"/>
          <a:lstStyle/>
          <a:p>
            <a:pPr algn="ctr">
              <a:buNone/>
            </a:pPr>
            <a:r>
              <a:rPr lang="ko-KR" altLang="en-US" sz="1000" b="1">
                <a:solidFill>
                  <a:srgbClr val="33465B"/>
                </a:solidFill>
                <a:latin typeface="Malgun Gothic" pitchFamily="34" charset="0"/>
                <a:ea typeface="Malgun Gothic" pitchFamily="34" charset="-122"/>
                <a:cs typeface="Malgun Gothic" pitchFamily="34" charset="-120"/>
              </a:rPr>
              <a:t>2,245</a:t>
            </a:r>
          </a:p>
        </p:txBody>
      </p:sp>
      <p:sp>
        <p:nvSpPr>
          <p:cNvPr id="616" name="ty1"/>
          <p:cNvSpPr/>
          <p:nvPr/>
        </p:nvSpPr>
        <p:spPr>
          <a:xfrm>
            <a:off x="2508368" y="5030000"/>
            <a:ext cx="1650000" cy="150000"/>
          </a:xfrm>
          <a:prstGeom prst="rect">
            <a:avLst/>
          </a:prstGeom>
          <a:noFill/>
          <a:ln/>
        </p:spPr>
        <p:txBody>
          <a:bodyPr wrap="square" lIns="0" tIns="0" rIns="0" bIns="0" rtlCol="0" anchor="ctr"/>
          <a:lstStyle/>
          <a:p>
            <a:pPr algn="ctr">
              <a:buNone/>
            </a:pPr>
            <a:r>
              <a:rPr lang="ko-KR" altLang="en-US" sz="800">
                <a:solidFill>
                  <a:srgbClr val="6B7C90"/>
                </a:solidFill>
                <a:latin typeface="Malgun Gothic" pitchFamily="34" charset="0"/>
                <a:ea typeface="Malgun Gothic" pitchFamily="34" charset="-122"/>
                <a:cs typeface="Malgun Gothic" pitchFamily="34" charset="-120"/>
              </a:rPr>
              <a:t>2024년</a:t>
            </a:r>
          </a:p>
        </p:txBody>
      </p:sp>
      <p:sp>
        <p:nvSpPr>
          <p:cNvPr id="617" name="tb2">
            <a:extLst>
              <a:ext uri="{C183D7F6-B498-43B3-948B-1728B52AA6E4}">
                <adec:decorative xmlns:adec="http://schemas.microsoft.com/office/drawing/2017/decorative" val="1"/>
              </a:ext>
            </a:extLst>
          </p:cNvPr>
          <p:cNvSpPr/>
          <p:nvPr/>
        </p:nvSpPr>
        <p:spPr>
          <a:xfrm>
            <a:off x="4833368" y="4810000"/>
            <a:ext cx="300000" cy="200000"/>
          </a:xfrm>
          <a:prstGeom prst="round2SameRect">
            <a:avLst>
              <a:gd name="adj1" fmla="val 30000"/>
              <a:gd name="adj2" fmla="val 0"/>
            </a:avLst>
          </a:prstGeom>
          <a:solidFill>
            <a:srgbClr val="1D4ED8"/>
          </a:solidFill>
          <a:ln/>
        </p:spPr>
        <p:txBody>
          <a:bodyPr/>
          <a:lstStyle/>
          <a:p>
            <a:endParaRPr lang="ko-KR" altLang="en-US"/>
          </a:p>
        </p:txBody>
      </p:sp>
      <p:sp>
        <p:nvSpPr>
          <p:cNvPr id="618" name="tv2"/>
          <p:cNvSpPr/>
          <p:nvPr/>
        </p:nvSpPr>
        <p:spPr>
          <a:xfrm>
            <a:off x="4158368" y="4620000"/>
            <a:ext cx="1650000" cy="180000"/>
          </a:xfrm>
          <a:prstGeom prst="rect">
            <a:avLst/>
          </a:prstGeom>
          <a:noFill/>
          <a:ln/>
        </p:spPr>
        <p:txBody>
          <a:bodyPr wrap="square" lIns="0" tIns="0" rIns="0" bIns="0" rtlCol="0" anchor="ctr"/>
          <a:lstStyle/>
          <a:p>
            <a:pPr algn="ctr">
              <a:buNone/>
            </a:pPr>
            <a:r>
              <a:rPr lang="ko-KR" altLang="en-US" sz="1000" b="1">
                <a:solidFill>
                  <a:srgbClr val="0B2038"/>
                </a:solidFill>
                <a:latin typeface="Malgun Gothic" pitchFamily="34" charset="0"/>
                <a:ea typeface="Malgun Gothic" pitchFamily="34" charset="-122"/>
                <a:cs typeface="Malgun Gothic" pitchFamily="34" charset="-120"/>
              </a:rPr>
              <a:t>2,318</a:t>
            </a:r>
          </a:p>
        </p:txBody>
      </p:sp>
      <p:sp>
        <p:nvSpPr>
          <p:cNvPr id="619" name="ty2"/>
          <p:cNvSpPr/>
          <p:nvPr/>
        </p:nvSpPr>
        <p:spPr>
          <a:xfrm>
            <a:off x="4158368" y="5030000"/>
            <a:ext cx="1650000" cy="150000"/>
          </a:xfrm>
          <a:prstGeom prst="rect">
            <a:avLst/>
          </a:prstGeom>
          <a:noFill/>
          <a:ln/>
        </p:spPr>
        <p:txBody>
          <a:bodyPr wrap="square" lIns="0" tIns="0" rIns="0" bIns="0" rtlCol="0" anchor="ctr"/>
          <a:lstStyle/>
          <a:p>
            <a:pPr algn="ctr">
              <a:buNone/>
            </a:pPr>
            <a:r>
              <a:rPr lang="ko-KR" altLang="en-US" sz="800">
                <a:solidFill>
                  <a:srgbClr val="6B7C90"/>
                </a:solidFill>
                <a:latin typeface="Malgun Gothic" pitchFamily="34" charset="0"/>
                <a:ea typeface="Malgun Gothic" pitchFamily="34" charset="-122"/>
                <a:cs typeface="Malgun Gothic" pitchFamily="34" charset="-120"/>
              </a:rPr>
              <a:t>2025년</a:t>
            </a:r>
          </a:p>
        </p:txBody>
      </p:sp>
      <p:sp>
        <p:nvSpPr>
          <p:cNvPr id="625" name="divider">
            <a:extLst>
              <a:ext uri="{C183D7F6-B498-43B3-948B-1728B52AA6E4}">
                <adec:decorative xmlns:adec="http://schemas.microsoft.com/office/drawing/2017/decorative" val="1"/>
              </a:ext>
            </a:extLst>
          </p:cNvPr>
          <p:cNvSpPr/>
          <p:nvPr/>
        </p:nvSpPr>
        <p:spPr>
          <a:xfrm>
            <a:off x="858368" y="5290000"/>
            <a:ext cx="4950000" cy="12700"/>
          </a:xfrm>
          <a:prstGeom prst="rect">
            <a:avLst/>
          </a:prstGeom>
          <a:solidFill>
            <a:srgbClr val="D5E0F0"/>
          </a:solidFill>
          <a:ln/>
        </p:spPr>
        <p:txBody>
          <a:bodyPr/>
          <a:lstStyle/>
          <a:p>
            <a:endParaRPr lang="ko-KR" altLang="en-US"/>
          </a:p>
        </p:txBody>
      </p:sp>
      <p:sp>
        <p:nvSpPr>
          <p:cNvPr id="626" name="q1 lbl"/>
          <p:cNvSpPr/>
          <p:nvPr/>
        </p:nvSpPr>
        <p:spPr>
          <a:xfrm>
            <a:off x="858368" y="5360000"/>
            <a:ext cx="4950000" cy="170000"/>
          </a:xfrm>
          <a:prstGeom prst="rect">
            <a:avLst/>
          </a:prstGeom>
          <a:noFill/>
          <a:ln/>
        </p:spPr>
        <p:txBody>
          <a:bodyPr wrap="square" lIns="0" tIns="0" rIns="0" bIns="0" rtlCol="0" anchor="ctr"/>
          <a:lstStyle/>
          <a:p>
            <a:pPr>
              <a:buNone/>
            </a:pPr>
            <a:r>
              <a:rPr lang="ko-KR" altLang="en-US" sz="900" b="1">
                <a:solidFill>
                  <a:srgbClr val="1D4ED8"/>
                </a:solidFill>
                <a:latin typeface="Malgun Gothic" pitchFamily="34" charset="0"/>
                <a:ea typeface="Malgun Gothic" pitchFamily="34" charset="-122"/>
                <a:cs typeface="Malgun Gothic" pitchFamily="34" charset="-120"/>
              </a:rPr>
              <a:t>2026년 1분기 (연결기준)</a:t>
            </a:r>
          </a:p>
        </p:txBody>
      </p:sp>
      <p:sp>
        <p:nvSpPr>
          <p:cNvPr id="627" name="q1m0"/>
          <p:cNvSpPr/>
          <p:nvPr/>
        </p:nvSpPr>
        <p:spPr>
          <a:xfrm>
            <a:off x="858368" y="5560000"/>
            <a:ext cx="1650000" cy="400000"/>
          </a:xfrm>
          <a:prstGeom prst="rect">
            <a:avLst/>
          </a:prstGeom>
          <a:noFill/>
          <a:ln/>
        </p:spPr>
        <p:txBody>
          <a:bodyPr wrap="square" lIns="0" tIns="0" rIns="0" bIns="0" rtlCol="0" anchor="t"/>
          <a:lstStyle/>
          <a:p>
            <a:pPr algn="ctr">
              <a:buNone/>
            </a:pPr>
            <a:r>
              <a:rPr lang="ko-KR" altLang="en-US" sz="800">
                <a:solidFill>
                  <a:srgbClr val="6B7C90"/>
                </a:solidFill>
                <a:latin typeface="Malgun Gothic" pitchFamily="34" charset="0"/>
                <a:ea typeface="Malgun Gothic" pitchFamily="34" charset="-122"/>
                <a:cs typeface="Malgun Gothic" pitchFamily="34" charset="-120"/>
              </a:rPr>
              <a:t>매출액</a:t>
            </a:r>
          </a:p>
          <a:p>
            <a:pPr algn="ctr">
              <a:buNone/>
            </a:pPr>
            <a:r>
              <a:rPr lang="ko-KR" altLang="en-US" sz="1200" b="1">
                <a:solidFill>
                  <a:srgbClr val="0B2038"/>
                </a:solidFill>
                <a:latin typeface="Malgun Gothic" pitchFamily="34" charset="0"/>
                <a:ea typeface="Malgun Gothic" pitchFamily="34" charset="-122"/>
                <a:cs typeface="Malgun Gothic" pitchFamily="34" charset="-120"/>
              </a:rPr>
              <a:t>649억</a:t>
            </a:r>
          </a:p>
        </p:txBody>
      </p:sp>
      <p:sp>
        <p:nvSpPr>
          <p:cNvPr id="628" name="q1m1"/>
          <p:cNvSpPr/>
          <p:nvPr/>
        </p:nvSpPr>
        <p:spPr>
          <a:xfrm>
            <a:off x="2508368" y="5560000"/>
            <a:ext cx="1650000" cy="400000"/>
          </a:xfrm>
          <a:prstGeom prst="rect">
            <a:avLst/>
          </a:prstGeom>
          <a:noFill/>
          <a:ln/>
        </p:spPr>
        <p:txBody>
          <a:bodyPr wrap="square" lIns="0" tIns="0" rIns="0" bIns="0" rtlCol="0" anchor="t"/>
          <a:lstStyle/>
          <a:p>
            <a:pPr algn="ctr">
              <a:buNone/>
            </a:pPr>
            <a:r>
              <a:rPr lang="ko-KR" altLang="en-US" sz="800">
                <a:solidFill>
                  <a:srgbClr val="6B7C90"/>
                </a:solidFill>
                <a:latin typeface="Malgun Gothic" pitchFamily="34" charset="0"/>
                <a:ea typeface="Malgun Gothic" pitchFamily="34" charset="-122"/>
                <a:cs typeface="Malgun Gothic" pitchFamily="34" charset="-120"/>
              </a:rPr>
              <a:t>영업이익</a:t>
            </a:r>
          </a:p>
          <a:p>
            <a:pPr algn="ctr">
              <a:buNone/>
            </a:pPr>
            <a:r>
              <a:rPr lang="ko-KR" altLang="en-US" sz="1200" b="1">
                <a:solidFill>
                  <a:srgbClr val="0B2038"/>
                </a:solidFill>
                <a:latin typeface="Malgun Gothic" pitchFamily="34" charset="0"/>
                <a:ea typeface="Malgun Gothic" pitchFamily="34" charset="-122"/>
                <a:cs typeface="Malgun Gothic" pitchFamily="34" charset="-120"/>
              </a:rPr>
              <a:t>54억</a:t>
            </a:r>
          </a:p>
        </p:txBody>
      </p:sp>
      <p:sp>
        <p:nvSpPr>
          <p:cNvPr id="629" name="q1m2"/>
          <p:cNvSpPr/>
          <p:nvPr/>
        </p:nvSpPr>
        <p:spPr>
          <a:xfrm>
            <a:off x="4158368" y="5560000"/>
            <a:ext cx="1650000" cy="400000"/>
          </a:xfrm>
          <a:prstGeom prst="rect">
            <a:avLst/>
          </a:prstGeom>
          <a:noFill/>
          <a:ln/>
        </p:spPr>
        <p:txBody>
          <a:bodyPr wrap="square" lIns="0" tIns="0" rIns="0" bIns="0" rtlCol="0" anchor="t"/>
          <a:lstStyle/>
          <a:p>
            <a:pPr algn="ctr">
              <a:buNone/>
            </a:pPr>
            <a:r>
              <a:rPr lang="ko-KR" altLang="en-US" sz="800">
                <a:solidFill>
                  <a:srgbClr val="6B7C90"/>
                </a:solidFill>
                <a:latin typeface="Malgun Gothic" pitchFamily="34" charset="0"/>
                <a:ea typeface="Malgun Gothic" pitchFamily="34" charset="-122"/>
                <a:cs typeface="Malgun Gothic" pitchFamily="34" charset="-120"/>
              </a:rPr>
              <a:t>당기순이익</a:t>
            </a:r>
          </a:p>
          <a:p>
            <a:pPr algn="ctr">
              <a:buNone/>
            </a:pPr>
            <a:r>
              <a:rPr lang="ko-KR" altLang="en-US" sz="1200" b="1">
                <a:solidFill>
                  <a:srgbClr val="0B2038"/>
                </a:solidFill>
                <a:latin typeface="Malgun Gothic" pitchFamily="34" charset="0"/>
                <a:ea typeface="Malgun Gothic" pitchFamily="34" charset="-122"/>
                <a:cs typeface="Malgun Gothic" pitchFamily="34" charset="-120"/>
              </a:rPr>
              <a:t>69억</a:t>
            </a:r>
          </a:p>
        </p:txBody>
      </p:sp>
      <p:sp>
        <p:nvSpPr>
          <p:cNvPr id="600" name="exp cap"/>
          <p:cNvSpPr/>
          <p:nvPr/>
        </p:nvSpPr>
        <p:spPr>
          <a:xfrm>
            <a:off x="6450000" y="4470000"/>
            <a:ext cx="4890000" cy="150000"/>
          </a:xfrm>
          <a:prstGeom prst="rect">
            <a:avLst/>
          </a:prstGeom>
          <a:noFill/>
          <a:ln/>
        </p:spPr>
        <p:txBody>
          <a:bodyPr wrap="square" lIns="0" tIns="0" rIns="0" bIns="0" rtlCol="0" anchor="ctr"/>
          <a:lstStyle/>
          <a:p>
            <a:pPr>
              <a:buNone/>
            </a:pPr>
            <a:r>
              <a:rPr lang="ko-KR" altLang="en-US" sz="800" b="1">
                <a:solidFill>
                  <a:srgbClr val="6B7C90"/>
                </a:solidFill>
                <a:latin typeface="Malgun Gothic" pitchFamily="34" charset="0"/>
                <a:ea typeface="Malgun Gothic" pitchFamily="34" charset="-122"/>
                <a:cs typeface="Malgun Gothic" pitchFamily="34" charset="-120"/>
              </a:rPr>
              <a:t>국내 · 해외 매출 비중 (1분기 기준)</a:t>
            </a:r>
          </a:p>
        </p:txBody>
      </p:sp>
      <p:sp>
        <p:nvSpPr>
          <p:cNvPr id="602" name="yl"/>
          <p:cNvSpPr/>
          <p:nvPr/>
        </p:nvSpPr>
        <p:spPr>
          <a:xfrm>
            <a:off x="6450000" y="4672000"/>
            <a:ext cx="850000" cy="190000"/>
          </a:xfrm>
          <a:prstGeom prst="rect">
            <a:avLst/>
          </a:prstGeom>
          <a:noFill/>
          <a:ln/>
        </p:spPr>
        <p:txBody>
          <a:bodyPr wrap="square" lIns="0" tIns="0" rIns="0" bIns="0" rtlCol="0" anchor="ctr"/>
          <a:lstStyle/>
          <a:p>
            <a:pPr>
              <a:buNone/>
            </a:pPr>
            <a:r>
              <a:rPr lang="ko-KR" altLang="en-US" sz="850" b="1">
                <a:solidFill>
                  <a:srgbClr val="0B2038"/>
                </a:solidFill>
                <a:latin typeface="Malgun Gothic" pitchFamily="34" charset="0"/>
                <a:ea typeface="Malgun Gothic" pitchFamily="34" charset="-122"/>
                <a:cs typeface="Malgun Gothic" pitchFamily="34" charset="-120"/>
              </a:rPr>
              <a:t>2025 1Q</a:t>
            </a:r>
          </a:p>
        </p:txBody>
      </p:sp>
      <p:sp>
        <p:nvSpPr>
          <p:cNvPr id="603" name="dom">
            <a:extLst>
              <a:ext uri="{C183D7F6-B498-43B3-948B-1728B52AA6E4}">
                <adec:decorative xmlns:adec="http://schemas.microsoft.com/office/drawing/2017/decorative" val="1"/>
              </a:ext>
            </a:extLst>
          </p:cNvPr>
          <p:cNvSpPr/>
          <p:nvPr/>
        </p:nvSpPr>
        <p:spPr>
          <a:xfrm>
            <a:off x="7350000" y="4680000"/>
            <a:ext cx="2836500" cy="175000"/>
          </a:xfrm>
          <a:prstGeom prst="rect">
            <a:avLst/>
          </a:prstGeom>
          <a:solidFill>
            <a:srgbClr val="94A3B8"/>
          </a:solidFill>
          <a:ln/>
        </p:spPr>
        <p:txBody>
          <a:bodyPr/>
          <a:lstStyle/>
          <a:p>
            <a:endParaRPr lang="ko-KR" altLang="en-US"/>
          </a:p>
        </p:txBody>
      </p:sp>
      <p:sp>
        <p:nvSpPr>
          <p:cNvPr id="604" name="exp">
            <a:extLst>
              <a:ext uri="{C183D7F6-B498-43B3-948B-1728B52AA6E4}">
                <adec:decorative xmlns:adec="http://schemas.microsoft.com/office/drawing/2017/decorative" val="1"/>
              </a:ext>
            </a:extLst>
          </p:cNvPr>
          <p:cNvSpPr/>
          <p:nvPr/>
        </p:nvSpPr>
        <p:spPr>
          <a:xfrm>
            <a:off x="10186500" y="4680000"/>
            <a:ext cx="213500" cy="175000"/>
          </a:xfrm>
          <a:prstGeom prst="rect">
            <a:avLst/>
          </a:prstGeom>
          <a:solidFill>
            <a:srgbClr val="5FBFB4"/>
          </a:solidFill>
          <a:ln/>
        </p:spPr>
        <p:txBody>
          <a:bodyPr/>
          <a:lstStyle/>
          <a:p>
            <a:endParaRPr lang="ko-KR" altLang="en-US"/>
          </a:p>
        </p:txBody>
      </p:sp>
      <p:sp>
        <p:nvSpPr>
          <p:cNvPr id="605" name="pct"/>
          <p:cNvSpPr/>
          <p:nvPr/>
        </p:nvSpPr>
        <p:spPr>
          <a:xfrm>
            <a:off x="10500000" y="4650000"/>
            <a:ext cx="760000" cy="240000"/>
          </a:xfrm>
          <a:prstGeom prst="rect">
            <a:avLst/>
          </a:prstGeom>
          <a:noFill/>
          <a:ln/>
        </p:spPr>
        <p:txBody>
          <a:bodyPr wrap="square" lIns="0" tIns="0" rIns="0" bIns="0" rtlCol="0" anchor="ctr"/>
          <a:lstStyle/>
          <a:p>
            <a:pPr algn="l">
              <a:buNone/>
            </a:pPr>
            <a:r>
              <a:rPr lang="ko-KR" altLang="en-US" sz="900" b="1">
                <a:solidFill>
                  <a:srgbClr val="6B7C90"/>
                </a:solidFill>
                <a:latin typeface="Malgun Gothic" pitchFamily="34" charset="0"/>
                <a:ea typeface="Malgun Gothic" pitchFamily="34" charset="-122"/>
                <a:cs typeface="Malgun Gothic" pitchFamily="34" charset="-120"/>
              </a:rPr>
              <a:t>해외 7%</a:t>
            </a:r>
          </a:p>
        </p:txBody>
      </p:sp>
      <p:sp>
        <p:nvSpPr>
          <p:cNvPr id="606" name="yl"/>
          <p:cNvSpPr/>
          <p:nvPr/>
        </p:nvSpPr>
        <p:spPr>
          <a:xfrm>
            <a:off x="6450000" y="4922000"/>
            <a:ext cx="850000" cy="190000"/>
          </a:xfrm>
          <a:prstGeom prst="rect">
            <a:avLst/>
          </a:prstGeom>
          <a:noFill/>
          <a:ln/>
        </p:spPr>
        <p:txBody>
          <a:bodyPr wrap="square" lIns="0" tIns="0" rIns="0" bIns="0" rtlCol="0" anchor="ctr"/>
          <a:lstStyle/>
          <a:p>
            <a:pPr>
              <a:buNone/>
            </a:pPr>
            <a:r>
              <a:rPr lang="ko-KR" altLang="en-US" sz="850" b="1">
                <a:solidFill>
                  <a:srgbClr val="0B2038"/>
                </a:solidFill>
                <a:latin typeface="Malgun Gothic" pitchFamily="34" charset="0"/>
                <a:ea typeface="Malgun Gothic" pitchFamily="34" charset="-122"/>
                <a:cs typeface="Malgun Gothic" pitchFamily="34" charset="-120"/>
              </a:rPr>
              <a:t>2026 1Q</a:t>
            </a:r>
          </a:p>
        </p:txBody>
      </p:sp>
      <p:sp>
        <p:nvSpPr>
          <p:cNvPr id="607" name="dom">
            <a:extLst>
              <a:ext uri="{C183D7F6-B498-43B3-948B-1728B52AA6E4}">
                <adec:decorative xmlns:adec="http://schemas.microsoft.com/office/drawing/2017/decorative" val="1"/>
              </a:ext>
            </a:extLst>
          </p:cNvPr>
          <p:cNvSpPr/>
          <p:nvPr/>
        </p:nvSpPr>
        <p:spPr>
          <a:xfrm>
            <a:off x="7350000" y="4930000"/>
            <a:ext cx="2409500" cy="175000"/>
          </a:xfrm>
          <a:prstGeom prst="rect">
            <a:avLst/>
          </a:prstGeom>
          <a:solidFill>
            <a:srgbClr val="94A3B8"/>
          </a:solidFill>
          <a:ln/>
        </p:spPr>
        <p:txBody>
          <a:bodyPr/>
          <a:lstStyle/>
          <a:p>
            <a:endParaRPr lang="ko-KR" altLang="en-US"/>
          </a:p>
        </p:txBody>
      </p:sp>
      <p:sp>
        <p:nvSpPr>
          <p:cNvPr id="608" name="exp">
            <a:extLst>
              <a:ext uri="{C183D7F6-B498-43B3-948B-1728B52AA6E4}">
                <adec:decorative xmlns:adec="http://schemas.microsoft.com/office/drawing/2017/decorative" val="1"/>
              </a:ext>
            </a:extLst>
          </p:cNvPr>
          <p:cNvSpPr/>
          <p:nvPr/>
        </p:nvSpPr>
        <p:spPr>
          <a:xfrm>
            <a:off x="9759500" y="4930000"/>
            <a:ext cx="640500" cy="175000"/>
          </a:xfrm>
          <a:prstGeom prst="rect">
            <a:avLst/>
          </a:prstGeom>
          <a:solidFill>
            <a:srgbClr val="0D9488"/>
          </a:solidFill>
          <a:ln/>
        </p:spPr>
        <p:txBody>
          <a:bodyPr/>
          <a:lstStyle/>
          <a:p>
            <a:endParaRPr lang="ko-KR" altLang="en-US"/>
          </a:p>
        </p:txBody>
      </p:sp>
      <p:sp>
        <p:nvSpPr>
          <p:cNvPr id="609" name="pct"/>
          <p:cNvSpPr/>
          <p:nvPr/>
        </p:nvSpPr>
        <p:spPr>
          <a:xfrm>
            <a:off x="10500000" y="4900000"/>
            <a:ext cx="760000" cy="240000"/>
          </a:xfrm>
          <a:prstGeom prst="rect">
            <a:avLst/>
          </a:prstGeom>
          <a:noFill/>
          <a:ln/>
        </p:spPr>
        <p:txBody>
          <a:bodyPr wrap="square" lIns="0" tIns="0" rIns="0" bIns="0" rtlCol="0" anchor="ctr"/>
          <a:lstStyle/>
          <a:p>
            <a:pPr algn="l">
              <a:buNone/>
            </a:pPr>
            <a:r>
              <a:rPr lang="ko-KR" altLang="en-US" sz="1050" b="1">
                <a:solidFill>
                  <a:srgbClr val="0D9488"/>
                </a:solidFill>
                <a:latin typeface="Malgun Gothic" pitchFamily="34" charset="0"/>
                <a:ea typeface="Malgun Gothic" pitchFamily="34" charset="-122"/>
                <a:cs typeface="Malgun Gothic" pitchFamily="34" charset="-120"/>
              </a:rPr>
              <a:t>해외 21%</a:t>
            </a:r>
          </a:p>
        </p:txBody>
      </p:sp>
      <p:sp>
        <p:nvSpPr>
          <p:cNvPr id="1010" name="exp facts"/>
          <p:cNvSpPr/>
          <p:nvPr/>
        </p:nvSpPr>
        <p:spPr>
          <a:xfrm>
            <a:off x="6450000" y="5220000"/>
            <a:ext cx="4890000" cy="320000"/>
          </a:xfrm>
          <a:prstGeom prst="rect">
            <a:avLst/>
          </a:prstGeom>
          <a:noFill/>
          <a:ln/>
        </p:spPr>
        <p:txBody>
          <a:bodyPr wrap="square" lIns="0" tIns="0" rIns="0" bIns="0" rtlCol="0" anchor="t"/>
          <a:lstStyle/>
          <a:p>
            <a:pPr>
              <a:buNone/>
            </a:pPr>
            <a:r>
              <a:rPr lang="ko-KR" altLang="en-US" sz="800">
                <a:solidFill>
                  <a:srgbClr val="33465B"/>
                </a:solidFill>
                <a:latin typeface="Malgun Gothic" pitchFamily="34" charset="0"/>
                <a:ea typeface="Malgun Gothic" pitchFamily="34" charset="-122"/>
                <a:cs typeface="Malgun Gothic" pitchFamily="34" charset="-120"/>
              </a:rPr>
              <a:t>국내 471→513억</a:t>
            </a:r>
            <a:r>
              <a:rPr lang="ko-KR" altLang="en-US" sz="800">
                <a:solidFill>
                  <a:srgbClr val="B8C2D0"/>
                </a:solidFill>
                <a:latin typeface="Malgun Gothic" pitchFamily="34" charset="0"/>
                <a:ea typeface="Malgun Gothic" pitchFamily="34" charset="-122"/>
                <a:cs typeface="Malgun Gothic" pitchFamily="34" charset="-120"/>
              </a:rPr>
              <a:t>   ·   </a:t>
            </a:r>
            <a:r>
              <a:rPr lang="ko-KR" altLang="en-US" sz="800" b="1">
                <a:solidFill>
                  <a:srgbClr val="33465B"/>
                </a:solidFill>
                <a:latin typeface="Malgun Gothic" pitchFamily="34" charset="0"/>
                <a:ea typeface="Malgun Gothic" pitchFamily="34" charset="-122"/>
                <a:cs typeface="Malgun Gothic" pitchFamily="34" charset="-120"/>
              </a:rPr>
              <a:t>해외 35→136억</a:t>
            </a:r>
          </a:p>
          <a:p>
            <a:pPr>
              <a:buNone/>
            </a:pPr>
            <a:r>
              <a:rPr lang="ko-KR" altLang="en-US" sz="800" b="1">
                <a:solidFill>
                  <a:srgbClr val="33465B"/>
                </a:solidFill>
                <a:latin typeface="Malgun Gothic" pitchFamily="34" charset="0"/>
                <a:ea typeface="Malgun Gothic" pitchFamily="34" charset="-122"/>
                <a:cs typeface="Malgun Gothic" pitchFamily="34" charset="-120"/>
              </a:rPr>
              <a:t>안과용제 수출 40 → 73억원</a:t>
            </a:r>
          </a:p>
        </p:txBody>
      </p:sp>
      <p:sp>
        <p:nvSpPr>
          <p:cNvPr id="1015" name="exp msg"/>
          <p:cNvSpPr/>
          <p:nvPr/>
        </p:nvSpPr>
        <p:spPr>
          <a:xfrm>
            <a:off x="6450000" y="5560000"/>
            <a:ext cx="4890000" cy="430000"/>
          </a:xfrm>
          <a:prstGeom prst="rect">
            <a:avLst/>
          </a:prstGeom>
          <a:solidFill>
            <a:srgbClr val="FFFFFF"/>
          </a:solidFill>
          <a:ln w="9525">
            <a:solidFill>
              <a:srgbClr val="BEE3DE"/>
            </a:solidFill>
          </a:ln>
        </p:spPr>
        <p:txBody>
          <a:bodyPr wrap="square" lIns="0" tIns="0" rIns="0" bIns="0" rtlCol="0" anchor="ctr"/>
          <a:lstStyle/>
          <a:p>
            <a:pPr algn="ctr">
              <a:buNone/>
            </a:pPr>
            <a:r>
              <a:rPr lang="ko-KR" altLang="en-US" sz="900" b="1">
                <a:solidFill>
                  <a:srgbClr val="0B4A44"/>
                </a:solidFill>
                <a:latin typeface="Malgun Gothic" pitchFamily="34" charset="0"/>
                <a:ea typeface="Malgun Gothic" pitchFamily="34" charset="-122"/>
                <a:cs typeface="Malgun Gothic" pitchFamily="34" charset="-120"/>
              </a:rPr>
              <a:t>기존 내수 중심 사업 구조에서 수출 비중이 빠르게 확대되며</a:t>
            </a:r>
          </a:p>
          <a:p>
            <a:pPr algn="ctr">
              <a:buNone/>
            </a:pPr>
            <a:r>
              <a:rPr lang="ko-KR" altLang="en-US" sz="900" b="1">
                <a:solidFill>
                  <a:srgbClr val="0B4A44"/>
                </a:solidFill>
                <a:latin typeface="Malgun Gothic" pitchFamily="34" charset="0"/>
                <a:ea typeface="Malgun Gothic" pitchFamily="34" charset="-122"/>
                <a:cs typeface="Malgun Gothic" pitchFamily="34" charset="-120"/>
              </a:rPr>
              <a:t>글로벌 사업 구조로 전환 중</a:t>
            </a:r>
          </a:p>
        </p:txBody>
      </p:sp>
      <p:sp>
        <p:nvSpPr>
          <p:cNvPr id="91"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2"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4" name="source footnote"/>
          <p:cNvSpPr/>
          <p:nvPr/>
        </p:nvSpPr>
        <p:spPr>
          <a:xfrm>
            <a:off x="6000000" y="6574536"/>
            <a:ext cx="4900000" cy="283464"/>
          </a:xfrm>
          <a:prstGeom prst="rect">
            <a:avLst/>
          </a:prstGeom>
          <a:noFill/>
          <a:ln/>
        </p:spPr>
        <p:txBody>
          <a:bodyPr wrap="square" lIns="0" tIns="0" rIns="0" bIns="0" rtlCol="0" anchor="ctr"/>
          <a:lstStyle/>
          <a:p>
            <a:pPr marL="0" indent="0" algn="r">
              <a:buNone/>
            </a:pPr>
            <a:r>
              <a:rPr lang="en-US" sz="750">
                <a:solidFill>
                  <a:srgbClr val="6B7C90"/>
                </a:solidFill>
                <a:latin typeface="Malgun Gothic" pitchFamily="34" charset="0"/>
                <a:ea typeface="Malgun Gothic" pitchFamily="34" charset="-122"/>
                <a:cs typeface="Malgun Gothic" pitchFamily="34" charset="-120"/>
              </a:rPr>
              <a:t>출처: 삼천당제약 2026년 1분기 분기보고서 (DART, 2026.05.15)</a:t>
            </a:r>
            <a:endParaRPr lang="en-US" sz="7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5</a:t>
            </a:r>
            <a:endParaRPr lang="en-US" sz="8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1D4ED8"/>
                </a:solidFill>
                <a:latin typeface="Malgun Gothic" pitchFamily="34" charset="0"/>
                <a:ea typeface="Malgun Gothic" pitchFamily="34" charset="-122"/>
                <a:cs typeface="Malgun Gothic" pitchFamily="34" charset="-120"/>
              </a:rPr>
              <a:t>01 · 기업개요</a:t>
            </a:r>
            <a:endParaRPr lang="en-US" sz="110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01-2. 삼천당제약의 사업 축적 경로</a:t>
            </a:r>
            <a:endParaRPr lang="en-US" sz="2500"/>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p:cNvSpPr/>
          <p:nvPr/>
        </p:nvSpPr>
        <p:spPr>
          <a:xfrm>
            <a:off x="676656" y="1371600"/>
            <a:ext cx="10881360" cy="360000"/>
          </a:xfrm>
          <a:prstGeom prst="rect">
            <a:avLst/>
          </a:prstGeom>
          <a:noFill/>
          <a:ln/>
        </p:spPr>
        <p:txBody>
          <a:bodyPr wrap="square" lIns="0" tIns="0" rIns="0" bIns="0" rtlCol="0" anchor="ctr"/>
          <a:lstStyle/>
          <a:p>
            <a:pPr marL="0" indent="0">
              <a:buNone/>
            </a:pPr>
            <a:r>
              <a:rPr lang="en-US" sz="1400">
                <a:solidFill>
                  <a:srgbClr val="6B7C90"/>
                </a:solidFill>
                <a:latin typeface="Malgun Gothic" pitchFamily="34" charset="0"/>
                <a:ea typeface="Malgun Gothic" pitchFamily="34" charset="-122"/>
                <a:cs typeface="Malgun Gothic" pitchFamily="34" charset="-120"/>
              </a:rPr>
              <a:t>연혁의 핵심은 안과 기반이 SCD411과 S-PASS로 확장되어 온 과정이다</a:t>
            </a:r>
            <a:endParaRPr lang="en-US" sz="1400"/>
          </a:p>
        </p:txBody>
      </p:sp>
      <p:sp>
        <p:nvSpPr>
          <p:cNvPr id="6" name="top band">
            <a:extLst>
              <a:ext uri="{C183D7F6-B498-43B3-948B-1728B52AA6E4}">
                <adec:decorative xmlns:adec="http://schemas.microsoft.com/office/drawing/2017/decorative" val="1"/>
              </a:ext>
            </a:extLst>
          </p:cNvPr>
          <p:cNvSpPr/>
          <p:nvPr/>
        </p:nvSpPr>
        <p:spPr>
          <a:xfrm>
            <a:off x="658368" y="1810000"/>
            <a:ext cx="10881360" cy="560000"/>
          </a:xfrm>
          <a:prstGeom prst="rect">
            <a:avLst/>
          </a:prstGeom>
          <a:solidFill>
            <a:srgbClr val="EAF1FC"/>
          </a:solidFill>
          <a:ln/>
        </p:spPr>
        <p:txBody>
          <a:bodyPr/>
          <a:lstStyle/>
          <a:p>
            <a:endParaRPr lang="ko-KR" altLang="en-US"/>
          </a:p>
        </p:txBody>
      </p:sp>
      <p:sp>
        <p:nvSpPr>
          <p:cNvPr id="7" name="top band accent">
            <a:extLst>
              <a:ext uri="{C183D7F6-B498-43B3-948B-1728B52AA6E4}">
                <adec:decorative xmlns:adec="http://schemas.microsoft.com/office/drawing/2017/decorative" val="1"/>
              </a:ext>
            </a:extLst>
          </p:cNvPr>
          <p:cNvSpPr/>
          <p:nvPr/>
        </p:nvSpPr>
        <p:spPr>
          <a:xfrm>
            <a:off x="658368" y="1810000"/>
            <a:ext cx="66000" cy="560000"/>
          </a:xfrm>
          <a:prstGeom prst="rect">
            <a:avLst/>
          </a:prstGeom>
          <a:solidFill>
            <a:srgbClr val="1D4ED8"/>
          </a:solidFill>
          <a:ln/>
        </p:spPr>
        <p:txBody>
          <a:bodyPr/>
          <a:lstStyle/>
          <a:p>
            <a:endParaRPr lang="ko-KR" altLang="en-US"/>
          </a:p>
        </p:txBody>
      </p:sp>
      <p:sp>
        <p:nvSpPr>
          <p:cNvPr id="8" name="top band text"/>
          <p:cNvSpPr/>
          <p:nvPr/>
        </p:nvSpPr>
        <p:spPr>
          <a:xfrm>
            <a:off x="958368" y="1810000"/>
            <a:ext cx="10381360" cy="560000"/>
          </a:xfrm>
          <a:prstGeom prst="rect">
            <a:avLst/>
          </a:prstGeom>
          <a:noFill/>
          <a:ln/>
        </p:spPr>
        <p:txBody>
          <a:bodyPr wrap="square" lIns="0" tIns="0" rIns="0" bIns="0" rtlCol="0" anchor="ctr"/>
          <a:lstStyle/>
          <a:p>
            <a:pPr marL="0" indent="0">
              <a:buNone/>
            </a:pPr>
            <a:r>
              <a:rPr lang="en-US" sz="1250" b="1">
                <a:solidFill>
                  <a:srgbClr val="1E3A8A"/>
                </a:solidFill>
                <a:latin typeface="Malgun Gothic" pitchFamily="34" charset="0"/>
                <a:ea typeface="Malgun Gothic" pitchFamily="34" charset="-122"/>
                <a:cs typeface="Malgun Gothic" pitchFamily="34" charset="-120"/>
              </a:rPr>
              <a:t>안과 전문 제약사</a:t>
            </a:r>
            <a:r>
              <a:rPr lang="en-US" sz="1250">
                <a:solidFill>
                  <a:srgbClr val="6B7C90"/>
                </a:solidFill>
                <a:latin typeface="Malgun Gothic" pitchFamily="34" charset="0"/>
                <a:ea typeface="Malgun Gothic" pitchFamily="34" charset="-122"/>
                <a:cs typeface="Malgun Gothic" pitchFamily="34" charset="-120"/>
              </a:rPr>
              <a:t>  →  </a:t>
            </a:r>
            <a:r>
              <a:rPr lang="en-US" sz="1250" b="1">
                <a:solidFill>
                  <a:srgbClr val="1D4ED8"/>
                </a:solidFill>
                <a:latin typeface="Malgun Gothic" pitchFamily="34" charset="0"/>
                <a:ea typeface="Malgun Gothic" pitchFamily="34" charset="-122"/>
                <a:cs typeface="Malgun Gothic" pitchFamily="34" charset="-120"/>
              </a:rPr>
              <a:t>글로벌 안과 바이오시밀러</a:t>
            </a:r>
            <a:r>
              <a:rPr lang="en-US" sz="1250">
                <a:solidFill>
                  <a:srgbClr val="6B7C90"/>
                </a:solidFill>
                <a:latin typeface="Malgun Gothic" pitchFamily="34" charset="0"/>
                <a:ea typeface="Malgun Gothic" pitchFamily="34" charset="-122"/>
                <a:cs typeface="Malgun Gothic" pitchFamily="34" charset="-120"/>
              </a:rPr>
              <a:t>  →  </a:t>
            </a:r>
            <a:r>
              <a:rPr lang="en-US" sz="1250" b="1">
                <a:solidFill>
                  <a:srgbClr val="0D9488"/>
                </a:solidFill>
                <a:latin typeface="Malgun Gothic" pitchFamily="34" charset="0"/>
                <a:ea typeface="Malgun Gothic" pitchFamily="34" charset="-122"/>
                <a:cs typeface="Malgun Gothic" pitchFamily="34" charset="-120"/>
              </a:rPr>
              <a:t>경구 플랫폼 기업</a:t>
            </a:r>
            <a:r>
              <a:rPr lang="en-US" sz="1250">
                <a:solidFill>
                  <a:srgbClr val="6B7C90"/>
                </a:solidFill>
                <a:latin typeface="Malgun Gothic" pitchFamily="34" charset="0"/>
                <a:ea typeface="Malgun Gothic" pitchFamily="34" charset="-122"/>
                <a:cs typeface="Malgun Gothic" pitchFamily="34" charset="-120"/>
              </a:rPr>
              <a:t>  으로 이어지는 확장 경로</a:t>
            </a:r>
            <a:endParaRPr lang="en-US" sz="1250"/>
          </a:p>
        </p:txBody>
      </p:sp>
      <p:sp>
        <p:nvSpPr>
          <p:cNvPr id="100" name="arrow1">
            <a:extLst>
              <a:ext uri="{C183D7F6-B498-43B3-948B-1728B52AA6E4}">
                <adec:decorative xmlns:adec="http://schemas.microsoft.com/office/drawing/2017/decorative" val="1"/>
              </a:ext>
            </a:extLst>
          </p:cNvPr>
          <p:cNvSpPr/>
          <p:nvPr/>
        </p:nvSpPr>
        <p:spPr>
          <a:xfrm>
            <a:off x="3253708" y="3560000"/>
            <a:ext cx="150000" cy="200000"/>
          </a:xfrm>
          <a:prstGeom prst="rightArrow">
            <a:avLst/>
          </a:prstGeom>
          <a:solidFill>
            <a:srgbClr val="93C5FD"/>
          </a:solidFill>
          <a:ln/>
        </p:spPr>
        <p:txBody>
          <a:bodyPr/>
          <a:lstStyle/>
          <a:p>
            <a:endParaRPr lang="ko-KR" altLang="en-US"/>
          </a:p>
        </p:txBody>
      </p:sp>
      <p:sp>
        <p:nvSpPr>
          <p:cNvPr id="101" name="arrow2">
            <a:extLst>
              <a:ext uri="{C183D7F6-B498-43B3-948B-1728B52AA6E4}">
                <adec:decorative xmlns:adec="http://schemas.microsoft.com/office/drawing/2017/decorative" val="1"/>
              </a:ext>
            </a:extLst>
          </p:cNvPr>
          <p:cNvSpPr/>
          <p:nvPr/>
        </p:nvSpPr>
        <p:spPr>
          <a:xfrm>
            <a:off x="6024048" y="3560000"/>
            <a:ext cx="150000" cy="200000"/>
          </a:xfrm>
          <a:prstGeom prst="rightArrow">
            <a:avLst/>
          </a:prstGeom>
          <a:solidFill>
            <a:srgbClr val="5EEAD4"/>
          </a:solidFill>
          <a:ln/>
        </p:spPr>
        <p:txBody>
          <a:bodyPr/>
          <a:lstStyle/>
          <a:p>
            <a:endParaRPr lang="ko-KR" altLang="en-US"/>
          </a:p>
        </p:txBody>
      </p:sp>
      <p:sp>
        <p:nvSpPr>
          <p:cNvPr id="102" name="arrow3">
            <a:extLst>
              <a:ext uri="{C183D7F6-B498-43B3-948B-1728B52AA6E4}">
                <adec:decorative xmlns:adec="http://schemas.microsoft.com/office/drawing/2017/decorative" val="1"/>
              </a:ext>
            </a:extLst>
          </p:cNvPr>
          <p:cNvSpPr/>
          <p:nvPr/>
        </p:nvSpPr>
        <p:spPr>
          <a:xfrm>
            <a:off x="8794388" y="3560000"/>
            <a:ext cx="150000" cy="200000"/>
          </a:xfrm>
          <a:prstGeom prst="rightArrow">
            <a:avLst/>
          </a:prstGeom>
          <a:solidFill>
            <a:srgbClr val="5EEAD4"/>
          </a:solidFill>
          <a:ln/>
        </p:spPr>
        <p:txBody>
          <a:bodyPr/>
          <a:lstStyle/>
          <a:p>
            <a:endParaRPr lang="ko-KR" altLang="en-US"/>
          </a:p>
        </p:txBody>
      </p:sp>
      <p:sp>
        <p:nvSpPr>
          <p:cNvPr id="10" name="s1 card">
            <a:extLst>
              <a:ext uri="{C183D7F6-B498-43B3-948B-1728B52AA6E4}">
                <adec:decorative xmlns:adec="http://schemas.microsoft.com/office/drawing/2017/decorative" val="1"/>
              </a:ext>
            </a:extLst>
          </p:cNvPr>
          <p:cNvSpPr/>
          <p:nvPr/>
        </p:nvSpPr>
        <p:spPr>
          <a:xfrm>
            <a:off x="658368" y="2470000"/>
            <a:ext cx="2570340" cy="282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1" name="s1 acc">
            <a:extLst>
              <a:ext uri="{C183D7F6-B498-43B3-948B-1728B52AA6E4}">
                <adec:decorative xmlns:adec="http://schemas.microsoft.com/office/drawing/2017/decorative" val="1"/>
              </a:ext>
            </a:extLst>
          </p:cNvPr>
          <p:cNvSpPr/>
          <p:nvPr/>
        </p:nvSpPr>
        <p:spPr>
          <a:xfrm>
            <a:off x="658368" y="2470000"/>
            <a:ext cx="2570340" cy="72000"/>
          </a:xfrm>
          <a:prstGeom prst="rect">
            <a:avLst/>
          </a:prstGeom>
          <a:solidFill>
            <a:srgbClr val="1E3A8A"/>
          </a:solidFill>
          <a:ln/>
        </p:spPr>
        <p:txBody>
          <a:bodyPr/>
          <a:lstStyle/>
          <a:p>
            <a:endParaRPr lang="ko-KR" altLang="en-US"/>
          </a:p>
        </p:txBody>
      </p:sp>
      <p:sp>
        <p:nvSpPr>
          <p:cNvPr id="12" name="s1 label">
            <a:extLst>
              <a:ext uri="{C183D7F6-B498-43B3-948B-1728B52AA6E4}">
                <adec:decorative xmlns:adec="http://schemas.microsoft.com/office/drawing/2017/decorative" val="1"/>
              </a:ext>
            </a:extLst>
          </p:cNvPr>
          <p:cNvSpPr/>
          <p:nvPr/>
        </p:nvSpPr>
        <p:spPr>
          <a:xfrm>
            <a:off x="828368" y="2610000"/>
            <a:ext cx="2230340" cy="230000"/>
          </a:xfrm>
          <a:prstGeom prst="rect">
            <a:avLst/>
          </a:prstGeom>
          <a:noFill/>
          <a:ln/>
        </p:spPr>
        <p:txBody>
          <a:bodyPr wrap="square" lIns="0" tIns="0" rIns="0" bIns="0" rtlCol="0" anchor="ctr"/>
          <a:lstStyle/>
          <a:p>
            <a:pPr marL="0" indent="0">
              <a:buNone/>
            </a:pPr>
            <a:r>
              <a:rPr lang="en-US" sz="1000" b="1" spc="120">
                <a:solidFill>
                  <a:srgbClr val="1E3A8A"/>
                </a:solidFill>
                <a:latin typeface="Malgun Gothic" pitchFamily="34" charset="0"/>
                <a:ea typeface="Malgun Gothic" pitchFamily="34" charset="-122"/>
                <a:cs typeface="Malgun Gothic" pitchFamily="34" charset="-120"/>
              </a:rPr>
              <a:t>STEP 1</a:t>
            </a:r>
            <a:endParaRPr lang="en-US" sz="1000"/>
          </a:p>
        </p:txBody>
      </p:sp>
      <p:sp>
        <p:nvSpPr>
          <p:cNvPr id="13" name="s1 title"/>
          <p:cNvSpPr/>
          <p:nvPr/>
        </p:nvSpPr>
        <p:spPr>
          <a:xfrm>
            <a:off x="828368" y="2850000"/>
            <a:ext cx="2230340" cy="540000"/>
          </a:xfrm>
          <a:prstGeom prst="rect">
            <a:avLst/>
          </a:prstGeom>
          <a:noFill/>
          <a:ln/>
        </p:spPr>
        <p:txBody>
          <a:bodyPr wrap="square" lIns="0" tIns="0" rIns="0" bIns="0" rtlCol="0" anchor="t"/>
          <a:lstStyle/>
          <a:p>
            <a:pPr marL="0" indent="0">
              <a:lnSpc>
                <a:spcPct val="108000"/>
              </a:lnSpc>
              <a:buNone/>
            </a:pPr>
            <a:r>
              <a:rPr lang="en-US" sz="1350" b="1">
                <a:solidFill>
                  <a:srgbClr val="0E2036"/>
                </a:solidFill>
                <a:latin typeface="Malgun Gothic" pitchFamily="34" charset="0"/>
                <a:ea typeface="Malgun Gothic" pitchFamily="34" charset="-122"/>
                <a:cs typeface="Malgun Gothic" pitchFamily="34" charset="-120"/>
              </a:rPr>
              <a:t>안과 전문 제약사</a:t>
            </a:r>
            <a:endParaRPr lang="en-US" sz="1350"/>
          </a:p>
        </p:txBody>
      </p:sp>
      <p:sp>
        <p:nvSpPr>
          <p:cNvPr id="14" name="s1 body"/>
          <p:cNvSpPr/>
          <p:nvPr/>
        </p:nvSpPr>
        <p:spPr>
          <a:xfrm>
            <a:off x="828368" y="3420000"/>
            <a:ext cx="2230340" cy="1180000"/>
          </a:xfrm>
          <a:prstGeom prst="rect">
            <a:avLst/>
          </a:prstGeom>
          <a:noFill/>
          <a:ln/>
        </p:spPr>
        <p:txBody>
          <a:bodyPr wrap="square" lIns="0" tIns="0" rIns="0" bIns="0" rtlCol="0" anchor="t"/>
          <a:lstStyle/>
          <a:p>
            <a:pPr marL="160000" indent="-160000">
              <a:lnSpc>
                <a:spcPct val="110000"/>
              </a:lnSpc>
              <a:spcBef>
                <a:spcPts val="500"/>
              </a:spcBef>
              <a:buClr>
                <a:srgbClr val="1E3A8A"/>
              </a:buClr>
              <a:buFont typeface="Arial"/>
              <a:buChar char="•"/>
            </a:pPr>
            <a:r>
              <a:rPr lang="en-US" sz="1000">
                <a:solidFill>
                  <a:srgbClr val="33465B"/>
                </a:solidFill>
                <a:latin typeface="Malgun Gothic" pitchFamily="34" charset="0"/>
                <a:ea typeface="Malgun Gothic" pitchFamily="34" charset="-122"/>
                <a:cs typeface="Malgun Gothic" pitchFamily="34" charset="-120"/>
              </a:rPr>
              <a:t>1943년 설립 · 안과용 · 전문의약품 기반</a:t>
            </a:r>
          </a:p>
          <a:p>
            <a:pPr marL="160000" indent="-160000">
              <a:lnSpc>
                <a:spcPct val="110000"/>
              </a:lnSpc>
              <a:spcBef>
                <a:spcPts val="500"/>
              </a:spcBef>
              <a:buClr>
                <a:srgbClr val="1E3A8A"/>
              </a:buClr>
              <a:buFont typeface="Arial"/>
              <a:buChar char="•"/>
            </a:pPr>
            <a:r>
              <a:rPr lang="en-US" sz="1000">
                <a:solidFill>
                  <a:srgbClr val="33465B"/>
                </a:solidFill>
                <a:latin typeface="Malgun Gothic" pitchFamily="34" charset="0"/>
                <a:ea typeface="Malgun Gothic" pitchFamily="34" charset="-122"/>
                <a:cs typeface="Malgun Gothic" pitchFamily="34" charset="-120"/>
              </a:rPr>
              <a:t>국내 안과용제 시장의 안정적 지위</a:t>
            </a:r>
          </a:p>
          <a:p>
            <a:pPr marL="160000" indent="-160000">
              <a:lnSpc>
                <a:spcPct val="110000"/>
              </a:lnSpc>
              <a:spcBef>
                <a:spcPts val="500"/>
              </a:spcBef>
              <a:buClr>
                <a:srgbClr val="1E3A8A"/>
              </a:buClr>
              <a:buFont typeface="Arial"/>
              <a:buChar char="•"/>
            </a:pPr>
            <a:r>
              <a:rPr lang="en-US" sz="1000">
                <a:solidFill>
                  <a:srgbClr val="33465B"/>
                </a:solidFill>
                <a:latin typeface="Malgun Gothic" pitchFamily="34" charset="0"/>
                <a:ea typeface="Malgun Gothic" pitchFamily="34" charset="-122"/>
                <a:cs typeface="Malgun Gothic" pitchFamily="34" charset="-120"/>
              </a:rPr>
              <a:t>꾸준한 매출과 현금흐름 창출</a:t>
            </a:r>
          </a:p>
        </p:txBody>
      </p:sp>
      <p:sp>
        <p:nvSpPr>
          <p:cNvPr id="15" name="s1 meaning">
            <a:extLst>
              <a:ext uri="{C183D7F6-B498-43B3-948B-1728B52AA6E4}">
                <adec:decorative xmlns:adec="http://schemas.microsoft.com/office/drawing/2017/decorative" val="1"/>
              </a:ext>
            </a:extLst>
          </p:cNvPr>
          <p:cNvSpPr/>
          <p:nvPr/>
        </p:nvSpPr>
        <p:spPr>
          <a:xfrm>
            <a:off x="778368" y="4670000"/>
            <a:ext cx="2330340" cy="530000"/>
          </a:xfrm>
          <a:prstGeom prst="roundRect">
            <a:avLst>
              <a:gd name="adj" fmla="val 10000"/>
            </a:avLst>
          </a:prstGeom>
          <a:solidFill>
            <a:srgbClr val="E9EDF7"/>
          </a:solidFill>
          <a:ln/>
        </p:spPr>
        <p:txBody>
          <a:bodyPr wrap="square" lIns="120000" tIns="0" rIns="100000" bIns="0" rtlCol="0" anchor="ctr"/>
          <a:lstStyle/>
          <a:p>
            <a:pPr marL="0" indent="0">
              <a:lnSpc>
                <a:spcPct val="106000"/>
              </a:lnSpc>
              <a:buNone/>
            </a:pPr>
            <a:r>
              <a:rPr lang="en-US" sz="950" b="1">
                <a:solidFill>
                  <a:srgbClr val="1E3A8A"/>
                </a:solidFill>
                <a:latin typeface="Malgun Gothic" pitchFamily="34" charset="0"/>
                <a:ea typeface="Malgun Gothic" pitchFamily="34" charset="-122"/>
                <a:cs typeface="Malgun Gothic" pitchFamily="34" charset="-120"/>
              </a:rPr>
              <a:t>의미  </a:t>
            </a:r>
            <a:r>
              <a:rPr lang="en-US" sz="950">
                <a:solidFill>
                  <a:srgbClr val="33465B"/>
                </a:solidFill>
                <a:latin typeface="Malgun Gothic" pitchFamily="34" charset="0"/>
                <a:ea typeface="Malgun Gothic" pitchFamily="34" charset="-122"/>
                <a:cs typeface="Malgun Gothic" pitchFamily="34" charset="-120"/>
              </a:rPr>
              <a:t>현재 사업의 하방 역할</a:t>
            </a:r>
            <a:endParaRPr lang="en-US" sz="950"/>
          </a:p>
        </p:txBody>
      </p:sp>
      <p:sp>
        <p:nvSpPr>
          <p:cNvPr id="20" name="s2 card">
            <a:extLst>
              <a:ext uri="{C183D7F6-B498-43B3-948B-1728B52AA6E4}">
                <adec:decorative xmlns:adec="http://schemas.microsoft.com/office/drawing/2017/decorative" val="1"/>
              </a:ext>
            </a:extLst>
          </p:cNvPr>
          <p:cNvSpPr/>
          <p:nvPr/>
        </p:nvSpPr>
        <p:spPr>
          <a:xfrm>
            <a:off x="3428708" y="2470000"/>
            <a:ext cx="2570340" cy="282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21" name="s2 acc">
            <a:extLst>
              <a:ext uri="{C183D7F6-B498-43B3-948B-1728B52AA6E4}">
                <adec:decorative xmlns:adec="http://schemas.microsoft.com/office/drawing/2017/decorative" val="1"/>
              </a:ext>
            </a:extLst>
          </p:cNvPr>
          <p:cNvSpPr/>
          <p:nvPr/>
        </p:nvSpPr>
        <p:spPr>
          <a:xfrm>
            <a:off x="3428708" y="2470000"/>
            <a:ext cx="2570340" cy="72000"/>
          </a:xfrm>
          <a:prstGeom prst="rect">
            <a:avLst/>
          </a:prstGeom>
          <a:solidFill>
            <a:srgbClr val="1D4ED8"/>
          </a:solidFill>
          <a:ln/>
        </p:spPr>
        <p:txBody>
          <a:bodyPr/>
          <a:lstStyle/>
          <a:p>
            <a:endParaRPr lang="ko-KR" altLang="en-US"/>
          </a:p>
        </p:txBody>
      </p:sp>
      <p:sp>
        <p:nvSpPr>
          <p:cNvPr id="22" name="s2 label">
            <a:extLst>
              <a:ext uri="{C183D7F6-B498-43B3-948B-1728B52AA6E4}">
                <adec:decorative xmlns:adec="http://schemas.microsoft.com/office/drawing/2017/decorative" val="1"/>
              </a:ext>
            </a:extLst>
          </p:cNvPr>
          <p:cNvSpPr/>
          <p:nvPr/>
        </p:nvSpPr>
        <p:spPr>
          <a:xfrm>
            <a:off x="3598708" y="2610000"/>
            <a:ext cx="2230340" cy="230000"/>
          </a:xfrm>
          <a:prstGeom prst="rect">
            <a:avLst/>
          </a:prstGeom>
          <a:noFill/>
          <a:ln/>
        </p:spPr>
        <p:txBody>
          <a:bodyPr wrap="square" lIns="0" tIns="0" rIns="0" bIns="0" rtlCol="0" anchor="ctr"/>
          <a:lstStyle/>
          <a:p>
            <a:pPr marL="0" indent="0">
              <a:buNone/>
            </a:pPr>
            <a:r>
              <a:rPr lang="en-US" sz="1000" b="1" spc="120">
                <a:solidFill>
                  <a:srgbClr val="1D4ED8"/>
                </a:solidFill>
                <a:latin typeface="Malgun Gothic" pitchFamily="34" charset="0"/>
                <a:ea typeface="Malgun Gothic" pitchFamily="34" charset="-122"/>
                <a:cs typeface="Malgun Gothic" pitchFamily="34" charset="-120"/>
              </a:rPr>
              <a:t>STEP 2</a:t>
            </a:r>
            <a:endParaRPr lang="en-US" sz="1000"/>
          </a:p>
        </p:txBody>
      </p:sp>
      <p:sp>
        <p:nvSpPr>
          <p:cNvPr id="23" name="s2 title"/>
          <p:cNvSpPr/>
          <p:nvPr/>
        </p:nvSpPr>
        <p:spPr>
          <a:xfrm>
            <a:off x="3598708" y="2850000"/>
            <a:ext cx="2230340" cy="540000"/>
          </a:xfrm>
          <a:prstGeom prst="rect">
            <a:avLst/>
          </a:prstGeom>
          <a:noFill/>
          <a:ln/>
        </p:spPr>
        <p:txBody>
          <a:bodyPr wrap="square" lIns="0" tIns="0" rIns="0" bIns="0" rtlCol="0" anchor="t"/>
          <a:lstStyle/>
          <a:p>
            <a:pPr marL="0" indent="0">
              <a:lnSpc>
                <a:spcPct val="108000"/>
              </a:lnSpc>
              <a:buNone/>
            </a:pPr>
            <a:r>
              <a:rPr lang="en-US" sz="1350" b="1">
                <a:solidFill>
                  <a:srgbClr val="0E2036"/>
                </a:solidFill>
                <a:latin typeface="Malgun Gothic" pitchFamily="34" charset="0"/>
                <a:ea typeface="Malgun Gothic" pitchFamily="34" charset="-122"/>
                <a:cs typeface="Malgun Gothic" pitchFamily="34" charset="-120"/>
              </a:rPr>
              <a:t>글로벌 안과 시장 진입</a:t>
            </a:r>
            <a:endParaRPr lang="en-US" sz="1350"/>
          </a:p>
        </p:txBody>
      </p:sp>
      <p:sp>
        <p:nvSpPr>
          <p:cNvPr id="24" name="s2 body"/>
          <p:cNvSpPr/>
          <p:nvPr/>
        </p:nvSpPr>
        <p:spPr>
          <a:xfrm>
            <a:off x="3598708" y="3420000"/>
            <a:ext cx="2230340" cy="1180000"/>
          </a:xfrm>
          <a:prstGeom prst="rect">
            <a:avLst/>
          </a:prstGeom>
          <a:noFill/>
          <a:ln/>
        </p:spPr>
        <p:txBody>
          <a:bodyPr wrap="square" lIns="0" tIns="0" rIns="0" bIns="0" rtlCol="0" anchor="t"/>
          <a:lstStyle/>
          <a:p>
            <a:pPr marL="160000" indent="-160000">
              <a:lnSpc>
                <a:spcPct val="110000"/>
              </a:lnSpc>
              <a:spcBef>
                <a:spcPts val="500"/>
              </a:spcBef>
              <a:buClr>
                <a:srgbClr val="1D4ED8"/>
              </a:buClr>
              <a:buFont typeface="Arial"/>
              <a:buChar char="•"/>
            </a:pPr>
            <a:r>
              <a:rPr lang="en-US" sz="1000">
                <a:solidFill>
                  <a:srgbClr val="33465B"/>
                </a:solidFill>
                <a:latin typeface="Malgun Gothic" pitchFamily="34" charset="0"/>
                <a:ea typeface="Malgun Gothic" pitchFamily="34" charset="-122"/>
                <a:cs typeface="Malgun Gothic" pitchFamily="34" charset="-120"/>
              </a:rPr>
              <a:t>SCD411 (아일리아 바이오시밀러) 개발</a:t>
            </a:r>
          </a:p>
          <a:p>
            <a:pPr marL="160000" indent="-160000">
              <a:lnSpc>
                <a:spcPct val="110000"/>
              </a:lnSpc>
              <a:spcBef>
                <a:spcPts val="500"/>
              </a:spcBef>
              <a:buClr>
                <a:srgbClr val="1D4ED8"/>
              </a:buClr>
              <a:buFont typeface="Arial"/>
              <a:buChar char="•"/>
            </a:pPr>
            <a:r>
              <a:rPr lang="en-US" sz="1000">
                <a:solidFill>
                  <a:srgbClr val="33465B"/>
                </a:solidFill>
                <a:latin typeface="Malgun Gothic" pitchFamily="34" charset="0"/>
                <a:ea typeface="Malgun Gothic" pitchFamily="34" charset="-122"/>
                <a:cs typeface="Malgun Gothic" pitchFamily="34" charset="-120"/>
              </a:rPr>
              <a:t>캐나다 · 유럽 · 한국 판매 단계 진입</a:t>
            </a:r>
          </a:p>
          <a:p>
            <a:pPr marL="160000" indent="-160000">
              <a:lnSpc>
                <a:spcPct val="110000"/>
              </a:lnSpc>
              <a:spcBef>
                <a:spcPts val="500"/>
              </a:spcBef>
              <a:buClr>
                <a:srgbClr val="1D4ED8"/>
              </a:buClr>
              <a:buFont typeface="Arial"/>
              <a:buChar char="•"/>
            </a:pPr>
            <a:r>
              <a:rPr lang="en-US" sz="1000">
                <a:solidFill>
                  <a:srgbClr val="33465B"/>
                </a:solidFill>
                <a:latin typeface="Malgun Gothic" pitchFamily="34" charset="0"/>
                <a:ea typeface="Malgun Gothic" pitchFamily="34" charset="-122"/>
                <a:cs typeface="Malgun Gothic" pitchFamily="34" charset="-120"/>
              </a:rPr>
              <a:t>미국 등 추가 시장 진입 기대</a:t>
            </a:r>
          </a:p>
        </p:txBody>
      </p:sp>
      <p:sp>
        <p:nvSpPr>
          <p:cNvPr id="25" name="s2 meaning">
            <a:extLst>
              <a:ext uri="{C183D7F6-B498-43B3-948B-1728B52AA6E4}">
                <adec:decorative xmlns:adec="http://schemas.microsoft.com/office/drawing/2017/decorative" val="1"/>
              </a:ext>
            </a:extLst>
          </p:cNvPr>
          <p:cNvSpPr/>
          <p:nvPr/>
        </p:nvSpPr>
        <p:spPr>
          <a:xfrm>
            <a:off x="3548708" y="4670000"/>
            <a:ext cx="2330340" cy="530000"/>
          </a:xfrm>
          <a:prstGeom prst="roundRect">
            <a:avLst>
              <a:gd name="adj" fmla="val 10000"/>
            </a:avLst>
          </a:prstGeom>
          <a:solidFill>
            <a:srgbClr val="EAF1FC"/>
          </a:solidFill>
          <a:ln/>
        </p:spPr>
        <p:txBody>
          <a:bodyPr wrap="square" lIns="120000" tIns="0" rIns="100000" bIns="0" rtlCol="0" anchor="ctr"/>
          <a:lstStyle/>
          <a:p>
            <a:pPr marL="0" indent="0">
              <a:lnSpc>
                <a:spcPct val="106000"/>
              </a:lnSpc>
              <a:buNone/>
            </a:pPr>
            <a:r>
              <a:rPr lang="en-US" sz="950" b="1">
                <a:solidFill>
                  <a:srgbClr val="1D4ED8"/>
                </a:solidFill>
                <a:latin typeface="Malgun Gothic" pitchFamily="34" charset="0"/>
                <a:ea typeface="Malgun Gothic" pitchFamily="34" charset="-122"/>
                <a:cs typeface="Malgun Gothic" pitchFamily="34" charset="-120"/>
              </a:rPr>
              <a:t>의미  </a:t>
            </a:r>
            <a:r>
              <a:rPr lang="en-US" sz="950">
                <a:solidFill>
                  <a:srgbClr val="33465B"/>
                </a:solidFill>
                <a:latin typeface="Malgun Gothic" pitchFamily="34" charset="0"/>
                <a:ea typeface="Malgun Gothic" pitchFamily="34" charset="-122"/>
                <a:cs typeface="Malgun Gothic" pitchFamily="34" charset="-120"/>
              </a:rPr>
              <a:t>기존 안과 사업의 글로벌 확장</a:t>
            </a:r>
            <a:endParaRPr lang="en-US" sz="950"/>
          </a:p>
        </p:txBody>
      </p:sp>
      <p:sp>
        <p:nvSpPr>
          <p:cNvPr id="30" name="s3 card">
            <a:extLst>
              <a:ext uri="{C183D7F6-B498-43B3-948B-1728B52AA6E4}">
                <adec:decorative xmlns:adec="http://schemas.microsoft.com/office/drawing/2017/decorative" val="1"/>
              </a:ext>
            </a:extLst>
          </p:cNvPr>
          <p:cNvSpPr/>
          <p:nvPr/>
        </p:nvSpPr>
        <p:spPr>
          <a:xfrm>
            <a:off x="6199048" y="2470000"/>
            <a:ext cx="2570340" cy="2820000"/>
          </a:xfrm>
          <a:prstGeom prst="rect">
            <a:avLst/>
          </a:prstGeom>
          <a:solidFill>
            <a:srgbClr val="FFFFFF"/>
          </a:solidFill>
          <a:ln w="12700">
            <a:solidFill>
              <a:srgbClr val="CCE9E4"/>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31" name="s3 acc">
            <a:extLst>
              <a:ext uri="{C183D7F6-B498-43B3-948B-1728B52AA6E4}">
                <adec:decorative xmlns:adec="http://schemas.microsoft.com/office/drawing/2017/decorative" val="1"/>
              </a:ext>
            </a:extLst>
          </p:cNvPr>
          <p:cNvSpPr/>
          <p:nvPr/>
        </p:nvSpPr>
        <p:spPr>
          <a:xfrm>
            <a:off x="6199048" y="2470000"/>
            <a:ext cx="2570340" cy="72000"/>
          </a:xfrm>
          <a:prstGeom prst="rect">
            <a:avLst/>
          </a:prstGeom>
          <a:solidFill>
            <a:srgbClr val="0D9488"/>
          </a:solidFill>
          <a:ln/>
        </p:spPr>
        <p:txBody>
          <a:bodyPr/>
          <a:lstStyle/>
          <a:p>
            <a:endParaRPr lang="ko-KR" altLang="en-US"/>
          </a:p>
        </p:txBody>
      </p:sp>
      <p:sp>
        <p:nvSpPr>
          <p:cNvPr id="32" name="s3 label">
            <a:extLst>
              <a:ext uri="{C183D7F6-B498-43B3-948B-1728B52AA6E4}">
                <adec:decorative xmlns:adec="http://schemas.microsoft.com/office/drawing/2017/decorative" val="1"/>
              </a:ext>
            </a:extLst>
          </p:cNvPr>
          <p:cNvSpPr/>
          <p:nvPr/>
        </p:nvSpPr>
        <p:spPr>
          <a:xfrm>
            <a:off x="6369048" y="2610000"/>
            <a:ext cx="2230340" cy="230000"/>
          </a:xfrm>
          <a:prstGeom prst="rect">
            <a:avLst/>
          </a:prstGeom>
          <a:noFill/>
          <a:ln/>
        </p:spPr>
        <p:txBody>
          <a:bodyPr wrap="square" lIns="0" tIns="0" rIns="0" bIns="0" rtlCol="0" anchor="ctr"/>
          <a:lstStyle/>
          <a:p>
            <a:pPr marL="0" indent="0">
              <a:buNone/>
            </a:pPr>
            <a:r>
              <a:rPr lang="en-US" sz="1000" b="1" spc="120">
                <a:solidFill>
                  <a:srgbClr val="0D9488"/>
                </a:solidFill>
                <a:latin typeface="Malgun Gothic" pitchFamily="34" charset="0"/>
                <a:ea typeface="Malgun Gothic" pitchFamily="34" charset="-122"/>
                <a:cs typeface="Malgun Gothic" pitchFamily="34" charset="-120"/>
              </a:rPr>
              <a:t>STEP 3</a:t>
            </a:r>
            <a:endParaRPr lang="en-US" sz="1000"/>
          </a:p>
        </p:txBody>
      </p:sp>
      <p:sp>
        <p:nvSpPr>
          <p:cNvPr id="33" name="s3 title"/>
          <p:cNvSpPr/>
          <p:nvPr/>
        </p:nvSpPr>
        <p:spPr>
          <a:xfrm>
            <a:off x="6369048" y="2850000"/>
            <a:ext cx="2230340" cy="540000"/>
          </a:xfrm>
          <a:prstGeom prst="rect">
            <a:avLst/>
          </a:prstGeom>
          <a:noFill/>
          <a:ln/>
        </p:spPr>
        <p:txBody>
          <a:bodyPr wrap="square" lIns="0" tIns="0" rIns="0" bIns="0" rtlCol="0" anchor="t"/>
          <a:lstStyle/>
          <a:p>
            <a:pPr marL="0" indent="0">
              <a:lnSpc>
                <a:spcPct val="108000"/>
              </a:lnSpc>
              <a:buNone/>
            </a:pPr>
            <a:r>
              <a:rPr lang="en-US" sz="1350" b="1">
                <a:solidFill>
                  <a:srgbClr val="0E2036"/>
                </a:solidFill>
                <a:latin typeface="Malgun Gothic" pitchFamily="34" charset="0"/>
                <a:ea typeface="Malgun Gothic" pitchFamily="34" charset="-122"/>
                <a:cs typeface="Malgun Gothic" pitchFamily="34" charset="-120"/>
              </a:rPr>
              <a:t>플랫폼 기업으로 전환 시도</a:t>
            </a:r>
            <a:endParaRPr lang="en-US" sz="1350"/>
          </a:p>
        </p:txBody>
      </p:sp>
      <p:sp>
        <p:nvSpPr>
          <p:cNvPr id="34" name="s3 body"/>
          <p:cNvSpPr/>
          <p:nvPr/>
        </p:nvSpPr>
        <p:spPr>
          <a:xfrm>
            <a:off x="6369048" y="3420000"/>
            <a:ext cx="2230340" cy="1180000"/>
          </a:xfrm>
          <a:prstGeom prst="rect">
            <a:avLst/>
          </a:prstGeom>
          <a:noFill/>
          <a:ln/>
        </p:spPr>
        <p:txBody>
          <a:bodyPr wrap="square" lIns="0" tIns="0" rIns="0" bIns="0" rtlCol="0" anchor="t"/>
          <a:lstStyle/>
          <a:p>
            <a:pPr marL="160000" indent="-160000">
              <a:lnSpc>
                <a:spcPct val="110000"/>
              </a:lnSpc>
              <a:spcBef>
                <a:spcPts val="500"/>
              </a:spcBef>
              <a:buClr>
                <a:srgbClr val="0D9488"/>
              </a:buClr>
              <a:buFont typeface="Arial"/>
              <a:buChar char="•"/>
            </a:pPr>
            <a:r>
              <a:rPr lang="en-US" sz="1000">
                <a:solidFill>
                  <a:srgbClr val="33465B"/>
                </a:solidFill>
                <a:latin typeface="Malgun Gothic" pitchFamily="34" charset="0"/>
                <a:ea typeface="Malgun Gothic" pitchFamily="34" charset="-122"/>
                <a:cs typeface="Malgun Gothic" pitchFamily="34" charset="-120"/>
              </a:rPr>
              <a:t>S-PASS 경구 흡수 플랫폼 개발</a:t>
            </a:r>
          </a:p>
          <a:p>
            <a:pPr marL="160000" indent="-160000">
              <a:lnSpc>
                <a:spcPct val="110000"/>
              </a:lnSpc>
              <a:spcBef>
                <a:spcPts val="500"/>
              </a:spcBef>
              <a:buClr>
                <a:srgbClr val="0D9488"/>
              </a:buClr>
              <a:buFont typeface="Arial"/>
              <a:buChar char="•"/>
            </a:pPr>
            <a:r>
              <a:rPr lang="en-US" sz="1000">
                <a:solidFill>
                  <a:srgbClr val="33465B"/>
                </a:solidFill>
                <a:latin typeface="Malgun Gothic" pitchFamily="34" charset="0"/>
                <a:ea typeface="Malgun Gothic" pitchFamily="34" charset="-122"/>
                <a:cs typeface="Malgun Gothic" pitchFamily="34" charset="-120"/>
              </a:rPr>
              <a:t>경구 세마글루타이드로 첫 검증 진행</a:t>
            </a:r>
          </a:p>
          <a:p>
            <a:pPr marL="160000" indent="-160000">
              <a:lnSpc>
                <a:spcPct val="110000"/>
              </a:lnSpc>
              <a:spcBef>
                <a:spcPts val="500"/>
              </a:spcBef>
              <a:buClr>
                <a:srgbClr val="0D9488"/>
              </a:buClr>
              <a:buFont typeface="Arial"/>
              <a:buChar char="•"/>
            </a:pPr>
            <a:r>
              <a:rPr lang="en-US" sz="1000">
                <a:solidFill>
                  <a:srgbClr val="33465B"/>
                </a:solidFill>
                <a:latin typeface="Malgun Gothic" pitchFamily="34" charset="0"/>
                <a:ea typeface="Malgun Gothic" pitchFamily="34" charset="-122"/>
                <a:cs typeface="Malgun Gothic" pitchFamily="34" charset="-120"/>
              </a:rPr>
              <a:t>경구 인슐린·터제파타이드로 적용 범위 확대 시도</a:t>
            </a:r>
          </a:p>
          <a:p>
            <a:pPr marL="160000" indent="-160000">
              <a:lnSpc>
                <a:spcPct val="106000"/>
              </a:lnSpc>
              <a:spcBef>
                <a:spcPts val="500"/>
              </a:spcBef>
              <a:buClr>
                <a:srgbClr val="0D9488"/>
              </a:buClr>
              <a:buFont typeface="Arial"/>
              <a:buChar char="•"/>
            </a:pPr>
            <a:r>
              <a:rPr lang="en-US" sz="1000">
                <a:solidFill>
                  <a:srgbClr val="33465B"/>
                </a:solidFill>
                <a:latin typeface="Malgun Gothic" pitchFamily="34" charset="0"/>
                <a:ea typeface="Malgun Gothic" pitchFamily="34" charset="-122"/>
                <a:cs typeface="Malgun Gothic" pitchFamily="34" charset="-120"/>
              </a:rPr>
              <a:t>아직 상업화 실적이 아니라 데이터·규제·계약으로 검증이 필요한 옵션가치</a:t>
            </a:r>
          </a:p>
        </p:txBody>
      </p:sp>
      <p:sp>
        <p:nvSpPr>
          <p:cNvPr id="35" name="s3 meaning">
            <a:extLst>
              <a:ext uri="{C183D7F6-B498-43B3-948B-1728B52AA6E4}">
                <adec:decorative xmlns:adec="http://schemas.microsoft.com/office/drawing/2017/decorative" val="1"/>
              </a:ext>
            </a:extLst>
          </p:cNvPr>
          <p:cNvSpPr/>
          <p:nvPr/>
        </p:nvSpPr>
        <p:spPr>
          <a:xfrm>
            <a:off x="6319048" y="4620000"/>
            <a:ext cx="2330340" cy="650000"/>
          </a:xfrm>
          <a:prstGeom prst="roundRect">
            <a:avLst>
              <a:gd name="adj" fmla="val 10000"/>
            </a:avLst>
          </a:prstGeom>
          <a:solidFill>
            <a:srgbClr val="E1F2EF"/>
          </a:solidFill>
          <a:ln/>
        </p:spPr>
        <p:txBody>
          <a:bodyPr wrap="square" lIns="120000" tIns="0" rIns="100000" bIns="0" rtlCol="0" anchor="ctr"/>
          <a:lstStyle/>
          <a:p>
            <a:pPr marL="0" indent="0">
              <a:lnSpc>
                <a:spcPct val="106000"/>
              </a:lnSpc>
              <a:buNone/>
            </a:pPr>
            <a:r>
              <a:rPr lang="en-US" sz="850" b="1">
                <a:solidFill>
                  <a:srgbClr val="0F766E"/>
                </a:solidFill>
                <a:latin typeface="Malgun Gothic" pitchFamily="34" charset="0"/>
                <a:ea typeface="Malgun Gothic" pitchFamily="34" charset="-122"/>
                <a:cs typeface="Malgun Gothic" pitchFamily="34" charset="-120"/>
              </a:rPr>
              <a:t>의미  </a:t>
            </a:r>
            <a:r>
              <a:rPr lang="en-US" sz="850">
                <a:solidFill>
                  <a:srgbClr val="33465B"/>
                </a:solidFill>
                <a:latin typeface="Malgun Gothic" pitchFamily="34" charset="0"/>
                <a:ea typeface="Malgun Gothic" pitchFamily="34" charset="-122"/>
                <a:cs typeface="Malgun Gothic" pitchFamily="34" charset="-120"/>
              </a:rPr>
              <a:t>단일 제품을 넘어 플랫폼 기업으로 전환을 시도하는 단계이나, 아직은 검증 중인 옵션가치</a:t>
            </a:r>
            <a:endParaRPr lang="en-US" sz="950"/>
          </a:p>
        </p:txBody>
      </p:sp>
      <p:sp>
        <p:nvSpPr>
          <p:cNvPr id="40" name="s4 card">
            <a:extLst>
              <a:ext uri="{C183D7F6-B498-43B3-948B-1728B52AA6E4}">
                <adec:decorative xmlns:adec="http://schemas.microsoft.com/office/drawing/2017/decorative" val="1"/>
              </a:ext>
            </a:extLst>
          </p:cNvPr>
          <p:cNvSpPr/>
          <p:nvPr/>
        </p:nvSpPr>
        <p:spPr>
          <a:xfrm>
            <a:off x="8969388" y="2470000"/>
            <a:ext cx="2570340" cy="2820000"/>
          </a:xfrm>
          <a:prstGeom prst="rect">
            <a:avLst/>
          </a:prstGeom>
          <a:solidFill>
            <a:srgbClr val="FFFFFF"/>
          </a:solidFill>
          <a:ln w="12700">
            <a:solidFill>
              <a:srgbClr val="CCE9E4"/>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41" name="s4 acc">
            <a:extLst>
              <a:ext uri="{C183D7F6-B498-43B3-948B-1728B52AA6E4}">
                <adec:decorative xmlns:adec="http://schemas.microsoft.com/office/drawing/2017/decorative" val="1"/>
              </a:ext>
            </a:extLst>
          </p:cNvPr>
          <p:cNvSpPr/>
          <p:nvPr/>
        </p:nvSpPr>
        <p:spPr>
          <a:xfrm>
            <a:off x="8969388" y="2470000"/>
            <a:ext cx="2570340" cy="72000"/>
          </a:xfrm>
          <a:prstGeom prst="rect">
            <a:avLst/>
          </a:prstGeom>
          <a:solidFill>
            <a:srgbClr val="0F766E"/>
          </a:solidFill>
          <a:ln/>
        </p:spPr>
        <p:txBody>
          <a:bodyPr/>
          <a:lstStyle/>
          <a:p>
            <a:endParaRPr lang="ko-KR" altLang="en-US"/>
          </a:p>
        </p:txBody>
      </p:sp>
      <p:sp>
        <p:nvSpPr>
          <p:cNvPr id="42" name="s4 label">
            <a:extLst>
              <a:ext uri="{C183D7F6-B498-43B3-948B-1728B52AA6E4}">
                <adec:decorative xmlns:adec="http://schemas.microsoft.com/office/drawing/2017/decorative" val="1"/>
              </a:ext>
            </a:extLst>
          </p:cNvPr>
          <p:cNvSpPr/>
          <p:nvPr/>
        </p:nvSpPr>
        <p:spPr>
          <a:xfrm>
            <a:off x="9139388" y="2610000"/>
            <a:ext cx="2230340" cy="230000"/>
          </a:xfrm>
          <a:prstGeom prst="rect">
            <a:avLst/>
          </a:prstGeom>
          <a:noFill/>
          <a:ln/>
        </p:spPr>
        <p:txBody>
          <a:bodyPr wrap="square" lIns="0" tIns="0" rIns="0" bIns="0" rtlCol="0" anchor="ctr"/>
          <a:lstStyle/>
          <a:p>
            <a:pPr marL="0" indent="0">
              <a:buNone/>
            </a:pPr>
            <a:r>
              <a:rPr lang="en-US" sz="1000" b="1" spc="120">
                <a:solidFill>
                  <a:srgbClr val="0F766E"/>
                </a:solidFill>
                <a:latin typeface="Malgun Gothic" pitchFamily="34" charset="0"/>
                <a:ea typeface="Malgun Gothic" pitchFamily="34" charset="-122"/>
                <a:cs typeface="Malgun Gothic" pitchFamily="34" charset="-120"/>
              </a:rPr>
              <a:t>STEP 4</a:t>
            </a:r>
            <a:endParaRPr lang="en-US" sz="1000"/>
          </a:p>
        </p:txBody>
      </p:sp>
      <p:sp>
        <p:nvSpPr>
          <p:cNvPr id="43" name="s4 title"/>
          <p:cNvSpPr/>
          <p:nvPr/>
        </p:nvSpPr>
        <p:spPr>
          <a:xfrm>
            <a:off x="9139388" y="2850000"/>
            <a:ext cx="2230340" cy="540000"/>
          </a:xfrm>
          <a:prstGeom prst="rect">
            <a:avLst/>
          </a:prstGeom>
          <a:noFill/>
          <a:ln/>
        </p:spPr>
        <p:txBody>
          <a:bodyPr wrap="square" lIns="0" tIns="0" rIns="0" bIns="0" rtlCol="0" anchor="t"/>
          <a:lstStyle/>
          <a:p>
            <a:pPr marL="0" indent="0">
              <a:lnSpc>
                <a:spcPct val="108000"/>
              </a:lnSpc>
              <a:buNone/>
            </a:pPr>
            <a:r>
              <a:rPr lang="en-US" sz="1350" b="1">
                <a:solidFill>
                  <a:srgbClr val="0E2036"/>
                </a:solidFill>
                <a:latin typeface="Malgun Gothic" pitchFamily="34" charset="0"/>
                <a:ea typeface="Malgun Gothic" pitchFamily="34" charset="-122"/>
                <a:cs typeface="Malgun Gothic" pitchFamily="34" charset="-120"/>
              </a:rPr>
              <a:t>차세대 성장 옵션</a:t>
            </a:r>
            <a:endParaRPr lang="en-US" sz="1350"/>
          </a:p>
        </p:txBody>
      </p:sp>
      <p:sp>
        <p:nvSpPr>
          <p:cNvPr id="44" name="s4 body"/>
          <p:cNvSpPr/>
          <p:nvPr/>
        </p:nvSpPr>
        <p:spPr>
          <a:xfrm>
            <a:off x="9139388" y="3420000"/>
            <a:ext cx="2230340" cy="1180000"/>
          </a:xfrm>
          <a:prstGeom prst="rect">
            <a:avLst/>
          </a:prstGeom>
          <a:noFill/>
          <a:ln/>
        </p:spPr>
        <p:txBody>
          <a:bodyPr wrap="square" lIns="0" tIns="0" rIns="0" bIns="0" rtlCol="0" anchor="t"/>
          <a:lstStyle/>
          <a:p>
            <a:pPr marL="160000" indent="-160000">
              <a:lnSpc>
                <a:spcPct val="110000"/>
              </a:lnSpc>
              <a:spcBef>
                <a:spcPts val="500"/>
              </a:spcBef>
              <a:buClr>
                <a:srgbClr val="0F766E"/>
              </a:buClr>
              <a:buFont typeface="Arial"/>
              <a:buChar char="•"/>
            </a:pPr>
            <a:r>
              <a:rPr lang="en-US" sz="1000">
                <a:solidFill>
                  <a:srgbClr val="33465B"/>
                </a:solidFill>
                <a:latin typeface="Malgun Gothic" pitchFamily="34" charset="0"/>
                <a:ea typeface="Malgun Gothic" pitchFamily="34" charset="-122"/>
                <a:cs typeface="Malgun Gothic" pitchFamily="34" charset="-120"/>
              </a:rPr>
              <a:t>Eylea HD · Vabysmo Biosimilar</a:t>
            </a:r>
          </a:p>
          <a:p>
            <a:pPr marL="160000" indent="-160000">
              <a:lnSpc>
                <a:spcPct val="110000"/>
              </a:lnSpc>
              <a:spcBef>
                <a:spcPts val="500"/>
              </a:spcBef>
              <a:buClr>
                <a:srgbClr val="0F766E"/>
              </a:buClr>
              <a:buFont typeface="Arial"/>
              <a:buChar char="•"/>
            </a:pPr>
            <a:r>
              <a:rPr lang="en-US" sz="1000">
                <a:solidFill>
                  <a:srgbClr val="33465B"/>
                </a:solidFill>
                <a:latin typeface="Malgun Gothic" pitchFamily="34" charset="0"/>
                <a:ea typeface="Malgun Gothic" pitchFamily="34" charset="-122"/>
                <a:cs typeface="Malgun Gothic" pitchFamily="34" charset="-120"/>
              </a:rPr>
              <a:t>Long Acting Injectable</a:t>
            </a:r>
          </a:p>
          <a:p>
            <a:pPr marL="160000" indent="-160000">
              <a:lnSpc>
                <a:spcPct val="110000"/>
              </a:lnSpc>
              <a:spcBef>
                <a:spcPts val="500"/>
              </a:spcBef>
              <a:buClr>
                <a:srgbClr val="0F766E"/>
              </a:buClr>
              <a:buFont typeface="Arial"/>
              <a:buChar char="•"/>
            </a:pPr>
            <a:r>
              <a:rPr lang="en-US" sz="1000">
                <a:solidFill>
                  <a:srgbClr val="33465B"/>
                </a:solidFill>
                <a:latin typeface="Malgun Gothic" pitchFamily="34" charset="0"/>
                <a:ea typeface="Malgun Gothic" pitchFamily="34" charset="-122"/>
                <a:cs typeface="Malgun Gothic" pitchFamily="34" charset="-120"/>
              </a:rPr>
              <a:t>SC Reform 등 후속 과제 보유</a:t>
            </a:r>
          </a:p>
        </p:txBody>
      </p:sp>
      <p:sp>
        <p:nvSpPr>
          <p:cNvPr id="45" name="s4 meaning">
            <a:extLst>
              <a:ext uri="{C183D7F6-B498-43B3-948B-1728B52AA6E4}">
                <adec:decorative xmlns:adec="http://schemas.microsoft.com/office/drawing/2017/decorative" val="1"/>
              </a:ext>
            </a:extLst>
          </p:cNvPr>
          <p:cNvSpPr/>
          <p:nvPr/>
        </p:nvSpPr>
        <p:spPr>
          <a:xfrm>
            <a:off x="9089388" y="4670000"/>
            <a:ext cx="2330340" cy="530000"/>
          </a:xfrm>
          <a:prstGeom prst="roundRect">
            <a:avLst>
              <a:gd name="adj" fmla="val 10000"/>
            </a:avLst>
          </a:prstGeom>
          <a:solidFill>
            <a:srgbClr val="E1F2EF"/>
          </a:solidFill>
          <a:ln/>
        </p:spPr>
        <p:txBody>
          <a:bodyPr wrap="square" lIns="120000" tIns="0" rIns="100000" bIns="0" rtlCol="0" anchor="ctr"/>
          <a:lstStyle/>
          <a:p>
            <a:pPr marL="0" indent="0">
              <a:lnSpc>
                <a:spcPct val="106000"/>
              </a:lnSpc>
              <a:buNone/>
            </a:pPr>
            <a:r>
              <a:rPr lang="en-US" sz="950" b="1">
                <a:solidFill>
                  <a:srgbClr val="0F766E"/>
                </a:solidFill>
                <a:latin typeface="Malgun Gothic" pitchFamily="34" charset="0"/>
                <a:ea typeface="Malgun Gothic" pitchFamily="34" charset="-122"/>
                <a:cs typeface="Malgun Gothic" pitchFamily="34" charset="-120"/>
              </a:rPr>
              <a:t>의미  </a:t>
            </a:r>
            <a:r>
              <a:rPr lang="en-US" sz="950">
                <a:solidFill>
                  <a:srgbClr val="33465B"/>
                </a:solidFill>
                <a:latin typeface="Malgun Gothic" pitchFamily="34" charset="0"/>
                <a:ea typeface="Malgun Gothic" pitchFamily="34" charset="-122"/>
                <a:cs typeface="Malgun Gothic" pitchFamily="34" charset="-120"/>
              </a:rPr>
              <a:t>후속 성장 옵션 보유</a:t>
            </a:r>
            <a:endParaRPr lang="en-US" sz="950"/>
          </a:p>
        </p:txBody>
      </p:sp>
      <p:sp>
        <p:nvSpPr>
          <p:cNvPr id="90" name="msg band">
            <a:extLst>
              <a:ext uri="{C183D7F6-B498-43B3-948B-1728B52AA6E4}">
                <adec:decorative xmlns:adec="http://schemas.microsoft.com/office/drawing/2017/decorative" val="1"/>
              </a:ext>
            </a:extLst>
          </p:cNvPr>
          <p:cNvSpPr/>
          <p:nvPr/>
        </p:nvSpPr>
        <p:spPr>
          <a:xfrm>
            <a:off x="658368" y="5560000"/>
            <a:ext cx="10881360" cy="820000"/>
          </a:xfrm>
          <a:prstGeom prst="rect">
            <a:avLst/>
          </a:prstGeom>
          <a:solidFill>
            <a:srgbClr val="0B2038"/>
          </a:solidFill>
          <a:ln/>
        </p:spPr>
        <p:txBody>
          <a:bodyPr wrap="square" lIns="228600" tIns="0" rIns="228600" bIns="0" rtlCol="0" anchor="ctr"/>
          <a:lstStyle/>
          <a:p>
            <a:pPr marL="0" indent="0">
              <a:buNone/>
            </a:pPr>
            <a:r>
              <a:rPr lang="en-US" sz="1100" b="1" spc="60">
                <a:solidFill>
                  <a:srgbClr val="60A5FA"/>
                </a:solidFill>
                <a:latin typeface="Malgun Gothic" pitchFamily="34" charset="0"/>
                <a:ea typeface="Malgun Gothic" pitchFamily="34" charset="-122"/>
                <a:cs typeface="Malgun Gothic" pitchFamily="34" charset="-120"/>
              </a:rPr>
              <a:t>핵심   </a:t>
            </a:r>
            <a:r>
              <a:rPr lang="en-US" sz="1100">
                <a:solidFill>
                  <a:srgbClr val="FFFFFF"/>
                </a:solidFill>
                <a:latin typeface="Malgun Gothic" pitchFamily="34" charset="0"/>
                <a:ea typeface="Malgun Gothic" pitchFamily="34" charset="-122"/>
                <a:cs typeface="Malgun Gothic" pitchFamily="34" charset="-120"/>
              </a:rPr>
              <a:t>삼천당제약의 연혁은 단순히 오래된 회사라는 의미가 아니다. 안과 전문 제약사에서 SCD411을 통해 글로벌 시장으로 확장했고, S-PASS를 통해 플랫폼 기업으로 전환을 시도하는 사업 축적 경로다. 다만 S-PASS의 가치는 아직 데이터와 상업화로 검증되어야 한다.</a:t>
            </a:r>
            <a:endParaRPr lang="en-US" sz="1200"/>
          </a:p>
        </p:txBody>
      </p:sp>
      <p:sp>
        <p:nvSpPr>
          <p:cNvPr id="91"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2"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6</a:t>
            </a:r>
            <a:endParaRPr lang="en-US" sz="850"/>
          </a:p>
        </p:txBody>
      </p:sp>
    </p:spTree>
    <p:extLst>
      <p:ext uri="{BB962C8B-B14F-4D97-AF65-F5344CB8AC3E}">
        <p14:creationId xmlns:p14="http://schemas.microsoft.com/office/powerpoint/2010/main" val="1713808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1D4ED8"/>
                </a:solidFill>
                <a:latin typeface="Malgun Gothic" pitchFamily="34" charset="0"/>
                <a:ea typeface="Malgun Gothic" pitchFamily="34" charset="-122"/>
                <a:cs typeface="Malgun Gothic" pitchFamily="34" charset="-120"/>
              </a:rPr>
              <a:t>01 · 기업개요</a:t>
            </a:r>
            <a:endParaRPr lang="en-US" sz="110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01-3. 경영진 관점에서 보는 삼천당제약</a:t>
            </a:r>
            <a:endParaRPr lang="en-US" sz="2500"/>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76656" y="1371600"/>
            <a:ext cx="10881360" cy="360000"/>
          </a:xfrm>
          <a:prstGeom prst="rect">
            <a:avLst/>
          </a:prstGeom>
          <a:noFill/>
          <a:ln/>
        </p:spPr>
        <p:txBody>
          <a:bodyPr wrap="square" lIns="0" tIns="0" rIns="0" bIns="0" rtlCol="0" anchor="ctr"/>
          <a:lstStyle/>
          <a:p>
            <a:pPr marL="0" indent="0">
              <a:buNone/>
            </a:pPr>
            <a:r>
              <a:rPr lang="en-US" sz="1400">
                <a:solidFill>
                  <a:srgbClr val="6B7C90"/>
                </a:solidFill>
                <a:latin typeface="Malgun Gothic" pitchFamily="34" charset="0"/>
                <a:ea typeface="Malgun Gothic" pitchFamily="34" charset="-122"/>
                <a:cs typeface="Malgun Gothic" pitchFamily="34" charset="-120"/>
              </a:rPr>
              <a:t>좋은 성장기업은 숫자만이 아니라 경영진의 장기 방향성과 실행력도 함께 봐야 한다</a:t>
            </a:r>
            <a:endParaRPr lang="en-US" sz="1400" dirty="0"/>
          </a:p>
        </p:txBody>
      </p:sp>
      <p:sp>
        <p:nvSpPr>
          <p:cNvPr id="6" name="top band">
            <a:extLst>
              <a:ext uri="{C183D7F6-B498-43B3-948B-1728B52AA6E4}">
                <adec:decorative xmlns:adec="http://schemas.microsoft.com/office/drawing/2017/decorative" val="1"/>
              </a:ext>
            </a:extLst>
          </p:cNvPr>
          <p:cNvSpPr/>
          <p:nvPr/>
        </p:nvSpPr>
        <p:spPr>
          <a:xfrm>
            <a:off x="658368" y="1810000"/>
            <a:ext cx="10881360" cy="590000"/>
          </a:xfrm>
          <a:prstGeom prst="rect">
            <a:avLst/>
          </a:prstGeom>
          <a:solidFill>
            <a:srgbClr val="EAF1FC"/>
          </a:solidFill>
          <a:ln/>
        </p:spPr>
        <p:txBody>
          <a:bodyPr/>
          <a:lstStyle/>
          <a:p>
            <a:endParaRPr lang="ko-KR" altLang="en-US"/>
          </a:p>
        </p:txBody>
      </p:sp>
      <p:sp>
        <p:nvSpPr>
          <p:cNvPr id="7" name="top band accent">
            <a:extLst>
              <a:ext uri="{C183D7F6-B498-43B3-948B-1728B52AA6E4}">
                <adec:decorative xmlns:adec="http://schemas.microsoft.com/office/drawing/2017/decorative" val="1"/>
              </a:ext>
            </a:extLst>
          </p:cNvPr>
          <p:cNvSpPr/>
          <p:nvPr/>
        </p:nvSpPr>
        <p:spPr>
          <a:xfrm>
            <a:off x="658368" y="1810000"/>
            <a:ext cx="66000" cy="590000"/>
          </a:xfrm>
          <a:prstGeom prst="rect">
            <a:avLst/>
          </a:prstGeom>
          <a:solidFill>
            <a:srgbClr val="1D4ED8"/>
          </a:solidFill>
          <a:ln/>
        </p:spPr>
        <p:txBody>
          <a:bodyPr/>
          <a:lstStyle/>
          <a:p>
            <a:endParaRPr lang="ko-KR" altLang="en-US"/>
          </a:p>
        </p:txBody>
      </p:sp>
      <p:sp>
        <p:nvSpPr>
          <p:cNvPr id="8" name="top band text"/>
          <p:cNvSpPr/>
          <p:nvPr/>
        </p:nvSpPr>
        <p:spPr>
          <a:xfrm>
            <a:off x="958368" y="1810000"/>
            <a:ext cx="10381360" cy="590000"/>
          </a:xfrm>
          <a:prstGeom prst="rect">
            <a:avLst/>
          </a:prstGeom>
          <a:noFill/>
          <a:ln/>
        </p:spPr>
        <p:txBody>
          <a:bodyPr wrap="square" lIns="0" tIns="0" rIns="0" bIns="0" rtlCol="0" anchor="ctr"/>
          <a:lstStyle/>
          <a:p>
            <a:pPr marL="0" indent="0">
              <a:lnSpc>
                <a:spcPct val="126000"/>
              </a:lnSpc>
              <a:buNone/>
            </a:pPr>
            <a:r>
              <a:rPr lang="en-US" sz="1200">
                <a:solidFill>
                  <a:srgbClr val="0E2036"/>
                </a:solidFill>
                <a:latin typeface="Malgun Gothic" pitchFamily="34" charset="0"/>
                <a:ea typeface="Malgun Gothic" pitchFamily="34" charset="-122"/>
                <a:cs typeface="Malgun Gothic" pitchFamily="34" charset="-120"/>
              </a:rPr>
              <a:t>삼천당제약은 안과 전문 제약사에서 </a:t>
            </a:r>
            <a:r>
              <a:rPr lang="en-US" sz="1200" b="1">
                <a:solidFill>
                  <a:srgbClr val="1D4ED8"/>
                </a:solidFill>
                <a:latin typeface="Malgun Gothic" pitchFamily="34" charset="0"/>
                <a:ea typeface="Malgun Gothic" pitchFamily="34" charset="-122"/>
                <a:cs typeface="Malgun Gothic" pitchFamily="34" charset="-120"/>
              </a:rPr>
              <a:t>글로벌 바이오 기업으로 전환</a:t>
            </a:r>
            <a:r>
              <a:rPr lang="en-US" sz="1200">
                <a:solidFill>
                  <a:srgbClr val="0E2036"/>
                </a:solidFill>
                <a:latin typeface="Malgun Gothic" pitchFamily="34" charset="0"/>
                <a:ea typeface="Malgun Gothic" pitchFamily="34" charset="-122"/>
                <a:cs typeface="Malgun Gothic" pitchFamily="34" charset="-120"/>
              </a:rPr>
              <a:t> 중이며, 경영진 평가는 </a:t>
            </a:r>
            <a:r>
              <a:rPr lang="en-US" sz="1200" b="1">
                <a:solidFill>
                  <a:srgbClr val="0E2036"/>
                </a:solidFill>
                <a:latin typeface="Malgun Gothic" pitchFamily="34" charset="0"/>
                <a:ea typeface="Malgun Gothic" pitchFamily="34" charset="-122"/>
                <a:cs typeface="Malgun Gothic" pitchFamily="34" charset="-120"/>
              </a:rPr>
              <a:t>장기 전략의 일관성 · 신사업 실행력 · 공시와 실적의 신뢰성</a:t>
            </a:r>
            <a:r>
              <a:rPr lang="en-US" sz="1200">
                <a:solidFill>
                  <a:srgbClr val="0E2036"/>
                </a:solidFill>
                <a:latin typeface="Malgun Gothic" pitchFamily="34" charset="0"/>
                <a:ea typeface="Malgun Gothic" pitchFamily="34" charset="-122"/>
                <a:cs typeface="Malgun Gothic" pitchFamily="34" charset="-120"/>
              </a:rPr>
              <a:t>으로 판단해야 한다.</a:t>
            </a:r>
            <a:endParaRPr lang="en-US" sz="1200"/>
          </a:p>
        </p:txBody>
      </p:sp>
      <p:sp>
        <p:nvSpPr>
          <p:cNvPr id="10" name="card1">
            <a:extLst>
              <a:ext uri="{C183D7F6-B498-43B3-948B-1728B52AA6E4}">
                <adec:decorative xmlns:adec="http://schemas.microsoft.com/office/drawing/2017/decorative" val="1"/>
              </a:ext>
            </a:extLst>
          </p:cNvPr>
          <p:cNvSpPr/>
          <p:nvPr/>
        </p:nvSpPr>
        <p:spPr>
          <a:xfrm>
            <a:off x="658368" y="2510000"/>
            <a:ext cx="3467120" cy="308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1" name="acc1">
            <a:extLst>
              <a:ext uri="{C183D7F6-B498-43B3-948B-1728B52AA6E4}">
                <adec:decorative xmlns:adec="http://schemas.microsoft.com/office/drawing/2017/decorative" val="1"/>
              </a:ext>
            </a:extLst>
          </p:cNvPr>
          <p:cNvSpPr/>
          <p:nvPr/>
        </p:nvSpPr>
        <p:spPr>
          <a:xfrm>
            <a:off x="658368" y="2510000"/>
            <a:ext cx="3467120" cy="72000"/>
          </a:xfrm>
          <a:prstGeom prst="rect">
            <a:avLst/>
          </a:prstGeom>
          <a:solidFill>
            <a:srgbClr val="1E3A8A"/>
          </a:solidFill>
          <a:ln/>
        </p:spPr>
        <p:txBody>
          <a:bodyPr/>
          <a:lstStyle/>
          <a:p>
            <a:endParaRPr lang="ko-KR" altLang="en-US"/>
          </a:p>
        </p:txBody>
      </p:sp>
      <p:sp>
        <p:nvSpPr>
          <p:cNvPr id="12" name="h1"/>
          <p:cNvSpPr/>
          <p:nvPr/>
        </p:nvSpPr>
        <p:spPr>
          <a:xfrm>
            <a:off x="858368" y="2650000"/>
            <a:ext cx="3067120" cy="340000"/>
          </a:xfrm>
          <a:prstGeom prst="rect">
            <a:avLst/>
          </a:prstGeom>
          <a:noFill/>
          <a:ln/>
        </p:spPr>
        <p:txBody>
          <a:bodyPr wrap="square" lIns="0" tIns="0" rIns="0" bIns="0" rtlCol="0" anchor="ctr"/>
          <a:lstStyle/>
          <a:p>
            <a:pPr marL="0" indent="0">
              <a:buNone/>
            </a:pPr>
            <a:r>
              <a:rPr lang="en-US" sz="1350" b="1">
                <a:solidFill>
                  <a:srgbClr val="1E3A8A"/>
                </a:solidFill>
                <a:latin typeface="Malgun Gothic" pitchFamily="34" charset="0"/>
                <a:ea typeface="Malgun Gothic" pitchFamily="34" charset="-122"/>
                <a:cs typeface="Malgun Gothic" pitchFamily="34" charset="-120"/>
              </a:rPr>
              <a:t>경영 방향</a:t>
            </a:r>
            <a:endParaRPr lang="en-US" sz="1350"/>
          </a:p>
        </p:txBody>
      </p:sp>
      <p:sp>
        <p:nvSpPr>
          <p:cNvPr id="13" name="b1"/>
          <p:cNvSpPr/>
          <p:nvPr/>
        </p:nvSpPr>
        <p:spPr>
          <a:xfrm>
            <a:off x="858368" y="3020000"/>
            <a:ext cx="3067120" cy="1960000"/>
          </a:xfrm>
          <a:prstGeom prst="rect">
            <a:avLst/>
          </a:prstGeom>
          <a:noFill/>
          <a:ln/>
        </p:spPr>
        <p:txBody>
          <a:bodyPr wrap="square" lIns="0" tIns="0" rIns="0" bIns="0" rtlCol="0" anchor="t"/>
          <a:lstStyle/>
          <a:p>
            <a:pPr marL="180000" indent="-180000">
              <a:lnSpc>
                <a:spcPct val="112000"/>
              </a:lnSpc>
              <a:spcBef>
                <a:spcPts val="500"/>
              </a:spcBef>
              <a:buClr>
                <a:srgbClr val="1E3A8A"/>
              </a:buClr>
              <a:buFont typeface="Arial"/>
              <a:buChar char="•"/>
            </a:pPr>
            <a:r>
              <a:rPr lang="en-US" sz="1050">
                <a:solidFill>
                  <a:srgbClr val="33465B"/>
                </a:solidFill>
                <a:latin typeface="Malgun Gothic" pitchFamily="34" charset="0"/>
                <a:ea typeface="Malgun Gothic" pitchFamily="34" charset="-122"/>
                <a:cs typeface="Malgun Gothic" pitchFamily="34" charset="-120"/>
              </a:rPr>
              <a:t>안과 전문 제약사에서 글로벌 바이오 기업으로 사업 영역 확장</a:t>
            </a:r>
          </a:p>
          <a:p>
            <a:pPr marL="180000" indent="-180000">
              <a:lnSpc>
                <a:spcPct val="112000"/>
              </a:lnSpc>
              <a:spcBef>
                <a:spcPts val="500"/>
              </a:spcBef>
              <a:buClr>
                <a:srgbClr val="1E3A8A"/>
              </a:buClr>
              <a:buFont typeface="Arial"/>
              <a:buChar char="•"/>
            </a:pPr>
            <a:r>
              <a:rPr lang="en-US" sz="1050">
                <a:solidFill>
                  <a:srgbClr val="33465B"/>
                </a:solidFill>
                <a:latin typeface="Malgun Gothic" pitchFamily="34" charset="0"/>
                <a:ea typeface="Malgun Gothic" pitchFamily="34" charset="-122"/>
                <a:cs typeface="Malgun Gothic" pitchFamily="34" charset="-120"/>
              </a:rPr>
              <a:t>SCD411 글로벌 상업화를 최우선 과제로 추진</a:t>
            </a:r>
          </a:p>
          <a:p>
            <a:pPr marL="180000" indent="-180000">
              <a:lnSpc>
                <a:spcPct val="112000"/>
              </a:lnSpc>
              <a:spcBef>
                <a:spcPts val="500"/>
              </a:spcBef>
              <a:buClr>
                <a:srgbClr val="1E3A8A"/>
              </a:buClr>
              <a:buFont typeface="Arial"/>
              <a:buChar char="•"/>
            </a:pPr>
            <a:r>
              <a:rPr lang="en-US" sz="1050">
                <a:solidFill>
                  <a:srgbClr val="33465B"/>
                </a:solidFill>
                <a:latin typeface="Malgun Gothic" pitchFamily="34" charset="0"/>
                <a:ea typeface="Malgun Gothic" pitchFamily="34" charset="-122"/>
                <a:cs typeface="Malgun Gothic" pitchFamily="34" charset="-120"/>
              </a:rPr>
              <a:t>S-PASS 경구화 플랫폼으로 파이프라인 다각화</a:t>
            </a:r>
          </a:p>
          <a:p>
            <a:pPr marL="180000" indent="-180000">
              <a:lnSpc>
                <a:spcPct val="112000"/>
              </a:lnSpc>
              <a:spcBef>
                <a:spcPts val="500"/>
              </a:spcBef>
              <a:buClr>
                <a:srgbClr val="1E3A8A"/>
              </a:buClr>
              <a:buFont typeface="Arial"/>
              <a:buChar char="•"/>
            </a:pPr>
            <a:r>
              <a:rPr lang="en-US" sz="1050">
                <a:solidFill>
                  <a:srgbClr val="33465B"/>
                </a:solidFill>
                <a:latin typeface="Malgun Gothic" pitchFamily="34" charset="0"/>
                <a:ea typeface="Malgun Gothic" pitchFamily="34" charset="-122"/>
                <a:cs typeface="Malgun Gothic" pitchFamily="34" charset="-120"/>
              </a:rPr>
              <a:t>캐나다 · 유럽 · 한국 등 지역별 파트너십 기반 해외 진출</a:t>
            </a:r>
          </a:p>
          <a:p>
            <a:pPr marL="180000" indent="-180000">
              <a:lnSpc>
                <a:spcPct val="112000"/>
              </a:lnSpc>
              <a:spcBef>
                <a:spcPts val="500"/>
              </a:spcBef>
              <a:buClr>
                <a:srgbClr val="1E3A8A"/>
              </a:buClr>
              <a:buFont typeface="Arial"/>
              <a:buChar char="•"/>
            </a:pPr>
            <a:r>
              <a:rPr lang="en-US" sz="1050">
                <a:solidFill>
                  <a:srgbClr val="33465B"/>
                </a:solidFill>
                <a:latin typeface="Malgun Gothic" pitchFamily="34" charset="0"/>
                <a:ea typeface="Malgun Gothic" pitchFamily="34" charset="-122"/>
                <a:cs typeface="Malgun Gothic" pitchFamily="34" charset="-120"/>
              </a:rPr>
              <a:t>기존 안과 현금흐름 위에 신사업을 얹는 단계적 확장</a:t>
            </a:r>
          </a:p>
        </p:txBody>
      </p:sp>
      <p:sp>
        <p:nvSpPr>
          <p:cNvPr id="14" name="e1 strip">
            <a:extLst>
              <a:ext uri="{C183D7F6-B498-43B3-948B-1728B52AA6E4}">
                <adec:decorative xmlns:adec="http://schemas.microsoft.com/office/drawing/2017/decorative" val="1"/>
              </a:ext>
            </a:extLst>
          </p:cNvPr>
          <p:cNvSpPr/>
          <p:nvPr/>
        </p:nvSpPr>
        <p:spPr>
          <a:xfrm>
            <a:off x="808368" y="5040000"/>
            <a:ext cx="3167120" cy="470000"/>
          </a:xfrm>
          <a:prstGeom prst="roundRect">
            <a:avLst>
              <a:gd name="adj" fmla="val 12000"/>
            </a:avLst>
          </a:prstGeom>
          <a:solidFill>
            <a:srgbClr val="E9EDF7"/>
          </a:solidFill>
          <a:ln/>
        </p:spPr>
        <p:txBody>
          <a:bodyPr wrap="square" lIns="140000" tIns="0" rIns="120000" bIns="0" rtlCol="0" anchor="ctr"/>
          <a:lstStyle/>
          <a:p>
            <a:pPr marL="0" indent="0">
              <a:lnSpc>
                <a:spcPct val="106000"/>
              </a:lnSpc>
              <a:buNone/>
            </a:pPr>
            <a:r>
              <a:rPr lang="en-US" sz="1000" b="1">
                <a:solidFill>
                  <a:srgbClr val="1E3A8A"/>
                </a:solidFill>
                <a:latin typeface="Malgun Gothic" pitchFamily="34" charset="0"/>
                <a:ea typeface="Malgun Gothic" pitchFamily="34" charset="-122"/>
                <a:cs typeface="Malgun Gothic" pitchFamily="34" charset="-120"/>
              </a:rPr>
              <a:t>안과 전문 제약사에서 글로벌 바이오</a:t>
            </a:r>
            <a:br>
              <a:rPr lang="en-US" sz="1000" b="1"/>
            </a:br>
            <a:r>
              <a:rPr lang="en-US" sz="1000" b="1">
                <a:solidFill>
                  <a:srgbClr val="1E3A8A"/>
                </a:solidFill>
                <a:latin typeface="Malgun Gothic" pitchFamily="34" charset="0"/>
                <a:ea typeface="Malgun Gothic" pitchFamily="34" charset="-122"/>
                <a:cs typeface="Malgun Gothic" pitchFamily="34" charset="-120"/>
              </a:rPr>
              <a:t>기업으로 전환을 추진 중</a:t>
            </a:r>
            <a:endParaRPr lang="en-US" sz="1000"/>
          </a:p>
        </p:txBody>
      </p:sp>
      <p:sp>
        <p:nvSpPr>
          <p:cNvPr id="20" name="card2">
            <a:extLst>
              <a:ext uri="{C183D7F6-B498-43B3-948B-1728B52AA6E4}">
                <adec:decorative xmlns:adec="http://schemas.microsoft.com/office/drawing/2017/decorative" val="1"/>
              </a:ext>
            </a:extLst>
          </p:cNvPr>
          <p:cNvSpPr/>
          <p:nvPr/>
        </p:nvSpPr>
        <p:spPr>
          <a:xfrm>
            <a:off x="4365488" y="2510000"/>
            <a:ext cx="3467120" cy="308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21" name="acc2">
            <a:extLst>
              <a:ext uri="{C183D7F6-B498-43B3-948B-1728B52AA6E4}">
                <adec:decorative xmlns:adec="http://schemas.microsoft.com/office/drawing/2017/decorative" val="1"/>
              </a:ext>
            </a:extLst>
          </p:cNvPr>
          <p:cNvSpPr/>
          <p:nvPr/>
        </p:nvSpPr>
        <p:spPr>
          <a:xfrm>
            <a:off x="4365488" y="2510000"/>
            <a:ext cx="3467120" cy="72000"/>
          </a:xfrm>
          <a:prstGeom prst="rect">
            <a:avLst/>
          </a:prstGeom>
          <a:solidFill>
            <a:srgbClr val="1D4ED8"/>
          </a:solidFill>
          <a:ln/>
        </p:spPr>
        <p:txBody>
          <a:bodyPr/>
          <a:lstStyle/>
          <a:p>
            <a:endParaRPr lang="ko-KR" altLang="en-US"/>
          </a:p>
        </p:txBody>
      </p:sp>
      <p:sp>
        <p:nvSpPr>
          <p:cNvPr id="22" name="h2">
            <a:extLst>
              <a:ext uri="{C183D7F6-B498-43B3-948B-1728B52AA6E4}">
                <adec:decorative xmlns:adec="http://schemas.microsoft.com/office/drawing/2017/decorative" val="1"/>
              </a:ext>
            </a:extLst>
          </p:cNvPr>
          <p:cNvSpPr/>
          <p:nvPr/>
        </p:nvSpPr>
        <p:spPr>
          <a:xfrm>
            <a:off x="4565488" y="2650000"/>
            <a:ext cx="3067120" cy="340000"/>
          </a:xfrm>
          <a:prstGeom prst="rect">
            <a:avLst/>
          </a:prstGeom>
          <a:noFill/>
          <a:ln/>
        </p:spPr>
        <p:txBody>
          <a:bodyPr wrap="square" lIns="0" tIns="0" rIns="0" bIns="0" rtlCol="0" anchor="ctr"/>
          <a:lstStyle/>
          <a:p>
            <a:pPr marL="0" indent="0">
              <a:buNone/>
            </a:pPr>
            <a:r>
              <a:rPr lang="en-US" sz="1350" b="1">
                <a:solidFill>
                  <a:srgbClr val="1D4ED8"/>
                </a:solidFill>
                <a:latin typeface="Malgun Gothic" pitchFamily="34" charset="0"/>
                <a:ea typeface="Malgun Gothic" pitchFamily="34" charset="-122"/>
                <a:cs typeface="Malgun Gothic" pitchFamily="34" charset="-120"/>
              </a:rPr>
              <a:t>긍정적으로 볼 부분</a:t>
            </a:r>
            <a:endParaRPr lang="en-US" sz="1350"/>
          </a:p>
        </p:txBody>
      </p:sp>
      <p:sp>
        <p:nvSpPr>
          <p:cNvPr id="23" name="b2"/>
          <p:cNvSpPr/>
          <p:nvPr/>
        </p:nvSpPr>
        <p:spPr>
          <a:xfrm>
            <a:off x="4565488" y="3020000"/>
            <a:ext cx="3067120" cy="1960000"/>
          </a:xfrm>
          <a:prstGeom prst="rect">
            <a:avLst/>
          </a:prstGeom>
          <a:noFill/>
          <a:ln/>
        </p:spPr>
        <p:txBody>
          <a:bodyPr wrap="square" lIns="0" tIns="0" rIns="0" bIns="0" rtlCol="0" anchor="t"/>
          <a:lstStyle/>
          <a:p>
            <a:pPr marL="180000" indent="-180000">
              <a:lnSpc>
                <a:spcPct val="112000"/>
              </a:lnSpc>
              <a:spcBef>
                <a:spcPts val="500"/>
              </a:spcBef>
              <a:buClr>
                <a:srgbClr val="1D4ED8"/>
              </a:buClr>
              <a:buFont typeface="Arial"/>
              <a:buChar char="•"/>
            </a:pPr>
            <a:r>
              <a:rPr lang="en-US" sz="1050">
                <a:solidFill>
                  <a:srgbClr val="33465B"/>
                </a:solidFill>
                <a:latin typeface="Malgun Gothic" pitchFamily="34" charset="0"/>
                <a:ea typeface="Malgun Gothic" pitchFamily="34" charset="-122"/>
                <a:cs typeface="Malgun Gothic" pitchFamily="34" charset="-120"/>
              </a:rPr>
              <a:t>78년 업력의 안정적 본업 현금흐름을 신사업 재원으로 활용</a:t>
            </a:r>
          </a:p>
          <a:p>
            <a:pPr marL="180000" indent="-180000">
              <a:lnSpc>
                <a:spcPct val="112000"/>
              </a:lnSpc>
              <a:spcBef>
                <a:spcPts val="500"/>
              </a:spcBef>
              <a:buClr>
                <a:srgbClr val="1D4ED8"/>
              </a:buClr>
              <a:buFont typeface="Arial"/>
              <a:buChar char="•"/>
            </a:pPr>
            <a:r>
              <a:rPr lang="en-US" sz="1050">
                <a:solidFill>
                  <a:srgbClr val="33465B"/>
                </a:solidFill>
                <a:latin typeface="Malgun Gothic" pitchFamily="34" charset="0"/>
                <a:ea typeface="Malgun Gothic" pitchFamily="34" charset="-122"/>
                <a:cs typeface="Malgun Gothic" pitchFamily="34" charset="-120"/>
              </a:rPr>
              <a:t>테마가 아니라 실제 제품 · 플랫폼(SCD411 · S-PASS)에 기반</a:t>
            </a:r>
          </a:p>
          <a:p>
            <a:pPr marL="180000" indent="-180000">
              <a:lnSpc>
                <a:spcPct val="112000"/>
              </a:lnSpc>
              <a:spcBef>
                <a:spcPts val="500"/>
              </a:spcBef>
              <a:buClr>
                <a:srgbClr val="1D4ED8"/>
              </a:buClr>
              <a:buFont typeface="Arial"/>
              <a:buChar char="•"/>
            </a:pPr>
            <a:r>
              <a:rPr lang="en-US" sz="1050">
                <a:solidFill>
                  <a:srgbClr val="33465B"/>
                </a:solidFill>
                <a:latin typeface="Malgun Gothic" pitchFamily="34" charset="0"/>
                <a:ea typeface="Malgun Gothic" pitchFamily="34" charset="-122"/>
                <a:cs typeface="Malgun Gothic" pitchFamily="34" charset="-120"/>
              </a:rPr>
              <a:t>안과라는 익숙한 도메인에서 글로벌 시장으로 연결</a:t>
            </a:r>
          </a:p>
          <a:p>
            <a:pPr marL="180000" indent="-180000">
              <a:lnSpc>
                <a:spcPct val="112000"/>
              </a:lnSpc>
              <a:spcBef>
                <a:spcPts val="500"/>
              </a:spcBef>
              <a:buClr>
                <a:srgbClr val="1D4ED8"/>
              </a:buClr>
              <a:buFont typeface="Arial"/>
              <a:buChar char="•"/>
            </a:pPr>
            <a:r>
              <a:rPr lang="en-US" sz="1050">
                <a:solidFill>
                  <a:srgbClr val="33465B"/>
                </a:solidFill>
                <a:latin typeface="Malgun Gothic" pitchFamily="34" charset="0"/>
                <a:ea typeface="Malgun Gothic" pitchFamily="34" charset="-122"/>
                <a:cs typeface="Malgun Gothic" pitchFamily="34" charset="-120"/>
              </a:rPr>
              <a:t>바이오시밀러 · 경구화 등 확장 방향성이 일관되게 유지</a:t>
            </a:r>
          </a:p>
          <a:p>
            <a:pPr marL="180000" indent="-180000">
              <a:lnSpc>
                <a:spcPct val="112000"/>
              </a:lnSpc>
              <a:spcBef>
                <a:spcPts val="500"/>
              </a:spcBef>
              <a:buClr>
                <a:srgbClr val="1D4ED8"/>
              </a:buClr>
              <a:buFont typeface="Arial"/>
              <a:buChar char="•"/>
            </a:pPr>
            <a:r>
              <a:rPr lang="en-US" sz="1050">
                <a:solidFill>
                  <a:srgbClr val="33465B"/>
                </a:solidFill>
                <a:latin typeface="Malgun Gothic" pitchFamily="34" charset="0"/>
                <a:ea typeface="Malgun Gothic" pitchFamily="34" charset="-122"/>
                <a:cs typeface="Malgun Gothic" pitchFamily="34" charset="-120"/>
              </a:rPr>
              <a:t>현금 창출 사업과 성장 옵션을 함께 보유한 구조</a:t>
            </a:r>
          </a:p>
        </p:txBody>
      </p:sp>
      <p:sp>
        <p:nvSpPr>
          <p:cNvPr id="24" name="e2 strip">
            <a:extLst>
              <a:ext uri="{C183D7F6-B498-43B3-948B-1728B52AA6E4}">
                <adec:decorative xmlns:adec="http://schemas.microsoft.com/office/drawing/2017/decorative" val="1"/>
              </a:ext>
            </a:extLst>
          </p:cNvPr>
          <p:cNvSpPr/>
          <p:nvPr/>
        </p:nvSpPr>
        <p:spPr>
          <a:xfrm>
            <a:off x="4515488" y="5040000"/>
            <a:ext cx="3167120" cy="470000"/>
          </a:xfrm>
          <a:prstGeom prst="roundRect">
            <a:avLst>
              <a:gd name="adj" fmla="val 12000"/>
            </a:avLst>
          </a:prstGeom>
          <a:solidFill>
            <a:srgbClr val="EAF1FC"/>
          </a:solidFill>
          <a:ln/>
        </p:spPr>
        <p:txBody>
          <a:bodyPr wrap="square" lIns="140000" tIns="0" rIns="120000" bIns="0" rtlCol="0" anchor="ctr"/>
          <a:lstStyle/>
          <a:p>
            <a:pPr marL="0" indent="0">
              <a:lnSpc>
                <a:spcPct val="106000"/>
              </a:lnSpc>
              <a:buNone/>
            </a:pPr>
            <a:r>
              <a:rPr lang="en-US" sz="1000" b="1">
                <a:solidFill>
                  <a:srgbClr val="1D4ED8"/>
                </a:solidFill>
                <a:latin typeface="Malgun Gothic" pitchFamily="34" charset="0"/>
                <a:ea typeface="Malgun Gothic" pitchFamily="34" charset="-122"/>
                <a:cs typeface="Malgun Gothic" pitchFamily="34" charset="-120"/>
              </a:rPr>
              <a:t>단순 테마 기업이 아니라 기존 사업 기반 위에</a:t>
            </a:r>
            <a:br>
              <a:rPr lang="en-US" sz="1000" b="1"/>
            </a:br>
            <a:r>
              <a:rPr lang="en-US" sz="1000" b="1">
                <a:solidFill>
                  <a:srgbClr val="1D4ED8"/>
                </a:solidFill>
                <a:latin typeface="Malgun Gothic" pitchFamily="34" charset="0"/>
                <a:ea typeface="Malgun Gothic" pitchFamily="34" charset="-122"/>
                <a:cs typeface="Malgun Gothic" pitchFamily="34" charset="-120"/>
              </a:rPr>
              <a:t>신사업을 붙이는 구조</a:t>
            </a:r>
            <a:endParaRPr lang="en-US" sz="1000"/>
          </a:p>
        </p:txBody>
      </p:sp>
      <p:sp>
        <p:nvSpPr>
          <p:cNvPr id="30" name="card3">
            <a:extLst>
              <a:ext uri="{C183D7F6-B498-43B3-948B-1728B52AA6E4}">
                <adec:decorative xmlns:adec="http://schemas.microsoft.com/office/drawing/2017/decorative" val="1"/>
              </a:ext>
            </a:extLst>
          </p:cNvPr>
          <p:cNvSpPr/>
          <p:nvPr/>
        </p:nvSpPr>
        <p:spPr>
          <a:xfrm>
            <a:off x="8072608" y="2510000"/>
            <a:ext cx="3467120" cy="308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31" name="acc3">
            <a:extLst>
              <a:ext uri="{C183D7F6-B498-43B3-948B-1728B52AA6E4}">
                <adec:decorative xmlns:adec="http://schemas.microsoft.com/office/drawing/2017/decorative" val="1"/>
              </a:ext>
            </a:extLst>
          </p:cNvPr>
          <p:cNvSpPr/>
          <p:nvPr/>
        </p:nvSpPr>
        <p:spPr>
          <a:xfrm>
            <a:off x="8072608" y="2510000"/>
            <a:ext cx="3467120" cy="72000"/>
          </a:xfrm>
          <a:prstGeom prst="rect">
            <a:avLst/>
          </a:prstGeom>
          <a:solidFill>
            <a:srgbClr val="64748B"/>
          </a:solidFill>
          <a:ln/>
        </p:spPr>
        <p:txBody>
          <a:bodyPr/>
          <a:lstStyle/>
          <a:p>
            <a:endParaRPr lang="ko-KR" altLang="en-US"/>
          </a:p>
        </p:txBody>
      </p:sp>
      <p:sp>
        <p:nvSpPr>
          <p:cNvPr id="32" name="h3"/>
          <p:cNvSpPr/>
          <p:nvPr/>
        </p:nvSpPr>
        <p:spPr>
          <a:xfrm>
            <a:off x="8272608" y="2650000"/>
            <a:ext cx="3067120" cy="340000"/>
          </a:xfrm>
          <a:prstGeom prst="rect">
            <a:avLst/>
          </a:prstGeom>
          <a:noFill/>
          <a:ln/>
        </p:spPr>
        <p:txBody>
          <a:bodyPr wrap="square" lIns="0" tIns="0" rIns="0" bIns="0" rtlCol="0" anchor="ctr"/>
          <a:lstStyle/>
          <a:p>
            <a:pPr marL="0" indent="0">
              <a:buNone/>
            </a:pPr>
            <a:r>
              <a:rPr lang="en-US" sz="1350" b="1">
                <a:solidFill>
                  <a:srgbClr val="475569"/>
                </a:solidFill>
                <a:latin typeface="Malgun Gothic" pitchFamily="34" charset="0"/>
                <a:ea typeface="Malgun Gothic" pitchFamily="34" charset="-122"/>
                <a:cs typeface="Malgun Gothic" pitchFamily="34" charset="-120"/>
              </a:rPr>
              <a:t>아직 검증할 부분</a:t>
            </a:r>
            <a:endParaRPr lang="en-US" sz="1350"/>
          </a:p>
        </p:txBody>
      </p:sp>
      <p:sp>
        <p:nvSpPr>
          <p:cNvPr id="33" name="b3"/>
          <p:cNvSpPr/>
          <p:nvPr/>
        </p:nvSpPr>
        <p:spPr>
          <a:xfrm>
            <a:off x="8272608" y="3020000"/>
            <a:ext cx="3067120" cy="1960000"/>
          </a:xfrm>
          <a:prstGeom prst="rect">
            <a:avLst/>
          </a:prstGeom>
          <a:noFill/>
          <a:ln/>
        </p:spPr>
        <p:txBody>
          <a:bodyPr wrap="square" lIns="0" tIns="0" rIns="0" bIns="0" rtlCol="0" anchor="t"/>
          <a:lstStyle/>
          <a:p>
            <a:pPr marL="180000" indent="-180000">
              <a:lnSpc>
                <a:spcPct val="112000"/>
              </a:lnSpc>
              <a:spcBef>
                <a:spcPts val="500"/>
              </a:spcBef>
              <a:buClr>
                <a:srgbClr val="64748B"/>
              </a:buClr>
              <a:buFont typeface="Arial"/>
              <a:buChar char="•"/>
            </a:pPr>
            <a:r>
              <a:rPr lang="en-US" sz="1050">
                <a:solidFill>
                  <a:srgbClr val="33465B"/>
                </a:solidFill>
                <a:latin typeface="Malgun Gothic" pitchFamily="34" charset="0"/>
                <a:ea typeface="Malgun Gothic" pitchFamily="34" charset="-122"/>
                <a:cs typeface="Malgun Gothic" pitchFamily="34" charset="-120"/>
              </a:rPr>
              <a:t>SCD411의 미국 등 핵심 시장 허가 · 판매가 아직 진행 중</a:t>
            </a:r>
          </a:p>
          <a:p>
            <a:pPr marL="180000" indent="-180000">
              <a:lnSpc>
                <a:spcPct val="112000"/>
              </a:lnSpc>
              <a:spcBef>
                <a:spcPts val="500"/>
              </a:spcBef>
              <a:buClr>
                <a:srgbClr val="64748B"/>
              </a:buClr>
              <a:buFont typeface="Arial"/>
              <a:buChar char="•"/>
            </a:pPr>
            <a:r>
              <a:rPr lang="en-US" sz="1050">
                <a:solidFill>
                  <a:srgbClr val="33465B"/>
                </a:solidFill>
                <a:latin typeface="Malgun Gothic" pitchFamily="34" charset="0"/>
                <a:ea typeface="Malgun Gothic" pitchFamily="34" charset="-122"/>
                <a:cs typeface="Malgun Gothic" pitchFamily="34" charset="-120"/>
              </a:rPr>
              <a:t>글로벌 매출 인식 · Profit Sharing 조건의 실제 실현 여부</a:t>
            </a:r>
          </a:p>
          <a:p>
            <a:pPr marL="180000" indent="-180000">
              <a:lnSpc>
                <a:spcPct val="112000"/>
              </a:lnSpc>
              <a:spcBef>
                <a:spcPts val="500"/>
              </a:spcBef>
              <a:buClr>
                <a:srgbClr val="64748B"/>
              </a:buClr>
              <a:buFont typeface="Arial"/>
              <a:buChar char="•"/>
            </a:pPr>
            <a:r>
              <a:rPr lang="en-US" sz="1050">
                <a:solidFill>
                  <a:srgbClr val="33465B"/>
                </a:solidFill>
                <a:latin typeface="Malgun Gothic" pitchFamily="34" charset="0"/>
                <a:ea typeface="Malgun Gothic" pitchFamily="34" charset="-122"/>
                <a:cs typeface="Malgun Gothic" pitchFamily="34" charset="-120"/>
              </a:rPr>
              <a:t>S-PASS 플랫폼의 임상 데이터 · 상업화 성과는 미확정</a:t>
            </a:r>
          </a:p>
          <a:p>
            <a:pPr marL="180000" indent="-180000">
              <a:lnSpc>
                <a:spcPct val="112000"/>
              </a:lnSpc>
              <a:spcBef>
                <a:spcPts val="500"/>
              </a:spcBef>
              <a:buClr>
                <a:srgbClr val="64748B"/>
              </a:buClr>
              <a:buFont typeface="Arial"/>
              <a:buChar char="•"/>
            </a:pPr>
            <a:r>
              <a:rPr lang="en-US" sz="1050">
                <a:solidFill>
                  <a:srgbClr val="33465B"/>
                </a:solidFill>
                <a:latin typeface="Malgun Gothic" pitchFamily="34" charset="0"/>
                <a:ea typeface="Malgun Gothic" pitchFamily="34" charset="-122"/>
                <a:cs typeface="Malgun Gothic" pitchFamily="34" charset="-120"/>
              </a:rPr>
              <a:t>다수 파이프라인 동시 추진에 따른 자금 · 실행 리스크</a:t>
            </a:r>
          </a:p>
          <a:p>
            <a:pPr marL="180000" indent="-180000">
              <a:lnSpc>
                <a:spcPct val="112000"/>
              </a:lnSpc>
              <a:spcBef>
                <a:spcPts val="500"/>
              </a:spcBef>
              <a:buClr>
                <a:srgbClr val="64748B"/>
              </a:buClr>
              <a:buFont typeface="Arial"/>
              <a:buChar char="•"/>
            </a:pPr>
            <a:r>
              <a:rPr lang="en-US" sz="1050">
                <a:solidFill>
                  <a:srgbClr val="33465B"/>
                </a:solidFill>
                <a:latin typeface="Malgun Gothic" pitchFamily="34" charset="0"/>
                <a:ea typeface="Malgun Gothic" pitchFamily="34" charset="-122"/>
                <a:cs typeface="Malgun Gothic" pitchFamily="34" charset="-120"/>
              </a:rPr>
              <a:t>제시된 목표가 실제 공시 · 분기 실적으로 확인되는지</a:t>
            </a:r>
          </a:p>
        </p:txBody>
      </p:sp>
      <p:sp>
        <p:nvSpPr>
          <p:cNvPr id="34" name="e3 strip">
            <a:extLst>
              <a:ext uri="{C183D7F6-B498-43B3-948B-1728B52AA6E4}">
                <adec:decorative xmlns:adec="http://schemas.microsoft.com/office/drawing/2017/decorative" val="1"/>
              </a:ext>
            </a:extLst>
          </p:cNvPr>
          <p:cNvSpPr/>
          <p:nvPr/>
        </p:nvSpPr>
        <p:spPr>
          <a:xfrm>
            <a:off x="8222608" y="5040000"/>
            <a:ext cx="3167120" cy="470000"/>
          </a:xfrm>
          <a:prstGeom prst="roundRect">
            <a:avLst>
              <a:gd name="adj" fmla="val 12000"/>
            </a:avLst>
          </a:prstGeom>
          <a:solidFill>
            <a:srgbClr val="EAEDF1"/>
          </a:solidFill>
          <a:ln/>
        </p:spPr>
        <p:txBody>
          <a:bodyPr wrap="square" lIns="140000" tIns="0" rIns="120000" bIns="0" rtlCol="0" anchor="ctr"/>
          <a:lstStyle/>
          <a:p>
            <a:pPr marL="0" indent="0">
              <a:lnSpc>
                <a:spcPct val="106000"/>
              </a:lnSpc>
              <a:buNone/>
            </a:pPr>
            <a:r>
              <a:rPr lang="en-US" sz="1000" b="1">
                <a:solidFill>
                  <a:srgbClr val="475569"/>
                </a:solidFill>
                <a:latin typeface="Malgun Gothic" pitchFamily="34" charset="0"/>
                <a:ea typeface="Malgun Gothic" pitchFamily="34" charset="-122"/>
                <a:cs typeface="Malgun Gothic" pitchFamily="34" charset="-120"/>
              </a:rPr>
              <a:t>경영진 평가는 말보다</a:t>
            </a:r>
            <a:br>
              <a:rPr lang="en-US" sz="1000" b="1"/>
            </a:br>
            <a:r>
              <a:rPr lang="en-US" sz="1000" b="1">
                <a:solidFill>
                  <a:srgbClr val="475569"/>
                </a:solidFill>
                <a:latin typeface="Malgun Gothic" pitchFamily="34" charset="0"/>
                <a:ea typeface="Malgun Gothic" pitchFamily="34" charset="-122"/>
                <a:cs typeface="Malgun Gothic" pitchFamily="34" charset="-120"/>
              </a:rPr>
              <a:t>공시와 실적으로 검증되어야 한다</a:t>
            </a:r>
            <a:endParaRPr lang="en-US" sz="1000"/>
          </a:p>
        </p:txBody>
      </p:sp>
      <p:sp>
        <p:nvSpPr>
          <p:cNvPr id="40" name="msg band">
            <a:extLst>
              <a:ext uri="{C183D7F6-B498-43B3-948B-1728B52AA6E4}">
                <adec:decorative xmlns:adec="http://schemas.microsoft.com/office/drawing/2017/decorative" val="1"/>
              </a:ext>
            </a:extLst>
          </p:cNvPr>
          <p:cNvSpPr/>
          <p:nvPr/>
        </p:nvSpPr>
        <p:spPr>
          <a:xfrm>
            <a:off x="658368" y="5710000"/>
            <a:ext cx="10881360" cy="660000"/>
          </a:xfrm>
          <a:prstGeom prst="rect">
            <a:avLst/>
          </a:prstGeom>
          <a:solidFill>
            <a:srgbClr val="0B2038"/>
          </a:solidFill>
          <a:ln/>
        </p:spPr>
        <p:txBody>
          <a:bodyPr wrap="square" lIns="228600" tIns="0" rIns="228600" bIns="0" rtlCol="0" anchor="ctr"/>
          <a:lstStyle/>
          <a:p>
            <a:pPr marL="0" indent="0">
              <a:buNone/>
            </a:pPr>
            <a:r>
              <a:rPr lang="en-US" sz="1200" b="1" spc="60">
                <a:solidFill>
                  <a:srgbClr val="60A5FA"/>
                </a:solidFill>
                <a:latin typeface="Malgun Gothic" pitchFamily="34" charset="0"/>
                <a:ea typeface="Malgun Gothic" pitchFamily="34" charset="-122"/>
                <a:cs typeface="Malgun Gothic" pitchFamily="34" charset="-120"/>
              </a:rPr>
              <a:t>관점   </a:t>
            </a:r>
            <a:r>
              <a:rPr lang="en-US" sz="1200">
                <a:solidFill>
                  <a:srgbClr val="FFFFFF"/>
                </a:solidFill>
                <a:latin typeface="Malgun Gothic" pitchFamily="34" charset="0"/>
                <a:ea typeface="Malgun Gothic" pitchFamily="34" charset="-122"/>
                <a:cs typeface="Malgun Gothic" pitchFamily="34" charset="-120"/>
              </a:rPr>
              <a:t>대표이사의 이력보다, 일관된 사업 확장과 숫자로 증명되는 실행력이 경영진을 평가하는 기준이다.</a:t>
            </a:r>
            <a:endParaRPr lang="en-US" sz="1200"/>
          </a:p>
        </p:txBody>
      </p:sp>
      <p:sp>
        <p:nvSpPr>
          <p:cNvPr id="91"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2"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7</a:t>
            </a:r>
            <a:endParaRPr lang="en-US" sz="850"/>
          </a:p>
        </p:txBody>
      </p:sp>
    </p:spTree>
    <p:extLst>
      <p:ext uri="{BB962C8B-B14F-4D97-AF65-F5344CB8AC3E}">
        <p14:creationId xmlns:p14="http://schemas.microsoft.com/office/powerpoint/2010/main" val="2259205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1D4ED8"/>
                </a:solidFill>
                <a:latin typeface="Malgun Gothic" pitchFamily="34" charset="0"/>
                <a:ea typeface="Malgun Gothic" pitchFamily="34" charset="-122"/>
                <a:cs typeface="Malgun Gothic" pitchFamily="34" charset="-120"/>
              </a:rPr>
              <a:t>01 · 기업개요</a:t>
            </a:r>
            <a:endParaRPr lang="en-US" sz="110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01-4. 삼천당제약 한 장 요약</a:t>
            </a:r>
            <a:endParaRPr lang="en-US" sz="2500"/>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p:cNvSpPr/>
          <p:nvPr/>
        </p:nvSpPr>
        <p:spPr>
          <a:xfrm>
            <a:off x="676656" y="1371600"/>
            <a:ext cx="10881360" cy="360000"/>
          </a:xfrm>
          <a:prstGeom prst="rect">
            <a:avLst/>
          </a:prstGeom>
          <a:noFill/>
          <a:ln/>
        </p:spPr>
        <p:txBody>
          <a:bodyPr wrap="square" lIns="0" tIns="0" rIns="0" bIns="0" rtlCol="0" anchor="ctr"/>
          <a:lstStyle/>
          <a:p>
            <a:pPr marL="0" indent="0">
              <a:buNone/>
            </a:pPr>
            <a:r>
              <a:rPr lang="en-US" sz="1400">
                <a:solidFill>
                  <a:srgbClr val="6B7C90"/>
                </a:solidFill>
                <a:latin typeface="Malgun Gothic" pitchFamily="34" charset="0"/>
                <a:ea typeface="Malgun Gothic" pitchFamily="34" charset="-122"/>
                <a:cs typeface="Malgun Gothic" pitchFamily="34" charset="-120"/>
              </a:rPr>
              <a:t>현재 사업은 하방을 만들고, SCD411과 S-PASS가 미래 기업가치를 결정한다</a:t>
            </a:r>
            <a:endParaRPr lang="en-US" sz="1400"/>
          </a:p>
        </p:txBody>
      </p:sp>
      <p:sp>
        <p:nvSpPr>
          <p:cNvPr id="6" name="top key band"/>
          <p:cNvSpPr/>
          <p:nvPr/>
        </p:nvSpPr>
        <p:spPr>
          <a:xfrm>
            <a:off x="658368" y="1780000"/>
            <a:ext cx="10881360" cy="540000"/>
          </a:xfrm>
          <a:prstGeom prst="roundRect">
            <a:avLst>
              <a:gd name="adj" fmla="val 12000"/>
            </a:avLst>
          </a:prstGeom>
          <a:solidFill>
            <a:srgbClr val="F2F6FC"/>
          </a:solidFill>
          <a:ln w="12700">
            <a:solidFill>
              <a:srgbClr val="D5E0F0"/>
            </a:solidFill>
          </a:ln>
        </p:spPr>
        <p:txBody>
          <a:bodyPr wrap="square" lIns="228600" tIns="0" rIns="228600" bIns="0" rtlCol="0" anchor="ctr"/>
          <a:lstStyle/>
          <a:p>
            <a:pPr marL="0" indent="0">
              <a:buNone/>
            </a:pPr>
            <a:r>
              <a:rPr lang="en-US" sz="1200" b="1">
                <a:solidFill>
                  <a:srgbClr val="1D4ED8"/>
                </a:solidFill>
                <a:latin typeface="Malgun Gothic" pitchFamily="34" charset="0"/>
                <a:ea typeface="Malgun Gothic" pitchFamily="34" charset="-122"/>
                <a:cs typeface="Malgun Gothic" pitchFamily="34" charset="-120"/>
              </a:rPr>
              <a:t>한 장 요약   </a:t>
            </a:r>
            <a:r>
              <a:rPr lang="en-US" sz="1200">
                <a:solidFill>
                  <a:srgbClr val="0E2036"/>
                </a:solidFill>
                <a:latin typeface="Malgun Gothic" pitchFamily="34" charset="0"/>
                <a:ea typeface="Malgun Gothic" pitchFamily="34" charset="-122"/>
                <a:cs typeface="Malgun Gothic" pitchFamily="34" charset="-120"/>
              </a:rPr>
              <a:t>현재의 안과 사업이라는 하방 위에 SCD411·S-PASS라는 미래 가치를 얹은 구조 — 투자 판단에서는 현재와 미래를 분리해서 봐야 한다.</a:t>
            </a:r>
            <a:endParaRPr lang="en-US" sz="1200"/>
          </a:p>
        </p:txBody>
      </p:sp>
      <p:sp>
        <p:nvSpPr>
          <p:cNvPr id="10" name="card1 bg">
            <a:extLst>
              <a:ext uri="{C183D7F6-B498-43B3-948B-1728B52AA6E4}">
                <adec:decorative xmlns:adec="http://schemas.microsoft.com/office/drawing/2017/decorative" val="1"/>
              </a:ext>
            </a:extLst>
          </p:cNvPr>
          <p:cNvSpPr/>
          <p:nvPr/>
        </p:nvSpPr>
        <p:spPr>
          <a:xfrm>
            <a:off x="658368" y="2440000"/>
            <a:ext cx="3436880" cy="2680000"/>
          </a:xfrm>
          <a:prstGeom prst="roundRect">
            <a:avLst>
              <a:gd name="adj" fmla="val 5000"/>
            </a:avLst>
          </a:prstGeom>
          <a:solidFill>
            <a:srgbClr val="FFFFFF"/>
          </a:solidFill>
          <a:ln w="12700">
            <a:solidFill>
              <a:srgbClr val="D5DEE8"/>
            </a:solidFill>
          </a:ln>
          <a:effectLst>
            <a:outerShdw blurRad="88900" dist="25400" dir="5400000" algn="bl" rotWithShape="0">
              <a:srgbClr val="0E2036">
                <a:alpha val="10000"/>
              </a:srgbClr>
            </a:outerShdw>
          </a:effectLst>
        </p:spPr>
        <p:txBody>
          <a:bodyPr/>
          <a:lstStyle/>
          <a:p>
            <a:endParaRPr lang="ko-KR" altLang="en-US"/>
          </a:p>
        </p:txBody>
      </p:sp>
      <p:sp>
        <p:nvSpPr>
          <p:cNvPr id="11" name="card1 head">
            <a:extLst>
              <a:ext uri="{C183D7F6-B498-43B3-948B-1728B52AA6E4}">
                <adec:decorative xmlns:adec="http://schemas.microsoft.com/office/drawing/2017/decorative" val="1"/>
              </a:ext>
            </a:extLst>
          </p:cNvPr>
          <p:cNvSpPr/>
          <p:nvPr/>
        </p:nvSpPr>
        <p:spPr>
          <a:xfrm>
            <a:off x="908368" y="2590000"/>
            <a:ext cx="2936880" cy="360000"/>
          </a:xfrm>
          <a:prstGeom prst="rect">
            <a:avLst/>
          </a:prstGeom>
          <a:noFill/>
          <a:ln/>
        </p:spPr>
        <p:txBody>
          <a:bodyPr wrap="square" lIns="0" tIns="0" rIns="0" bIns="0" rtlCol="0" anchor="ctr"/>
          <a:lstStyle/>
          <a:p>
            <a:pPr marL="0" indent="0">
              <a:buNone/>
            </a:pPr>
            <a:r>
              <a:rPr lang="en-US" sz="1700" b="1">
                <a:solidFill>
                  <a:srgbClr val="334155"/>
                </a:solidFill>
                <a:latin typeface="Malgun Gothic" pitchFamily="34" charset="0"/>
                <a:ea typeface="Malgun Gothic" pitchFamily="34" charset="-122"/>
                <a:cs typeface="Malgun Gothic" pitchFamily="34" charset="-120"/>
              </a:rPr>
              <a:t>현재 사업</a:t>
            </a:r>
            <a:endParaRPr lang="en-US" sz="1700"/>
          </a:p>
        </p:txBody>
      </p:sp>
      <p:sp>
        <p:nvSpPr>
          <p:cNvPr id="12" name="card1 tag"/>
          <p:cNvSpPr/>
          <p:nvPr/>
        </p:nvSpPr>
        <p:spPr>
          <a:xfrm>
            <a:off x="908368" y="2965000"/>
            <a:ext cx="2936880" cy="250000"/>
          </a:xfrm>
          <a:prstGeom prst="rect">
            <a:avLst/>
          </a:prstGeom>
          <a:noFill/>
          <a:ln/>
        </p:spPr>
        <p:txBody>
          <a:bodyPr wrap="square" lIns="0" tIns="0" rIns="0" bIns="0" rtlCol="0" anchor="ctr"/>
          <a:lstStyle/>
          <a:p>
            <a:pPr marL="0" indent="0">
              <a:buNone/>
            </a:pPr>
            <a:r>
              <a:rPr lang="en-US" sz="1050" b="1">
                <a:solidFill>
                  <a:srgbClr val="64748B"/>
                </a:solidFill>
                <a:latin typeface="Malgun Gothic" pitchFamily="34" charset="0"/>
                <a:ea typeface="Malgun Gothic" pitchFamily="34" charset="-122"/>
                <a:cs typeface="Malgun Gothic" pitchFamily="34" charset="-120"/>
              </a:rPr>
              <a:t>안과·전문의약품 기반</a:t>
            </a:r>
            <a:endParaRPr lang="en-US" sz="1050"/>
          </a:p>
        </p:txBody>
      </p:sp>
      <p:sp>
        <p:nvSpPr>
          <p:cNvPr id="13" name="card1 divider">
            <a:extLst>
              <a:ext uri="{C183D7F6-B498-43B3-948B-1728B52AA6E4}">
                <adec:decorative xmlns:adec="http://schemas.microsoft.com/office/drawing/2017/decorative" val="1"/>
              </a:ext>
            </a:extLst>
          </p:cNvPr>
          <p:cNvSpPr/>
          <p:nvPr/>
        </p:nvSpPr>
        <p:spPr>
          <a:xfrm>
            <a:off x="908368" y="3230000"/>
            <a:ext cx="2936880" cy="16000"/>
          </a:xfrm>
          <a:prstGeom prst="rect">
            <a:avLst/>
          </a:prstGeom>
          <a:solidFill>
            <a:srgbClr val="CBD5E1"/>
          </a:solidFill>
          <a:ln/>
        </p:spPr>
        <p:txBody>
          <a:bodyPr/>
          <a:lstStyle/>
          <a:p>
            <a:endParaRPr lang="ko-KR" altLang="en-US"/>
          </a:p>
        </p:txBody>
      </p:sp>
      <p:sp>
        <p:nvSpPr>
          <p:cNvPr id="14" name="card1 bullets"/>
          <p:cNvSpPr/>
          <p:nvPr/>
        </p:nvSpPr>
        <p:spPr>
          <a:xfrm>
            <a:off x="908368" y="3300000"/>
            <a:ext cx="2936880" cy="1320000"/>
          </a:xfrm>
          <a:prstGeom prst="rect">
            <a:avLst/>
          </a:prstGeom>
          <a:noFill/>
          <a:ln/>
        </p:spPr>
        <p:txBody>
          <a:bodyPr wrap="square" lIns="0" tIns="0" rIns="0" bIns="0" rtlCol="0" anchor="t"/>
          <a:lstStyle/>
          <a:p>
            <a:pPr marL="180000" indent="-180000">
              <a:lnSpc>
                <a:spcPct val="112000"/>
              </a:lnSpc>
              <a:spcBef>
                <a:spcPts val="500"/>
              </a:spcBef>
              <a:buClr>
                <a:srgbClr val="64748B"/>
              </a:buClr>
              <a:buFont typeface="Arial"/>
              <a:buChar char="•"/>
            </a:pPr>
            <a:r>
              <a:rPr lang="en-US" sz="1050">
                <a:solidFill>
                  <a:srgbClr val="3E4C5E"/>
                </a:solidFill>
                <a:latin typeface="Malgun Gothic" pitchFamily="34" charset="0"/>
                <a:ea typeface="Malgun Gothic" pitchFamily="34" charset="-122"/>
                <a:cs typeface="Malgun Gothic" pitchFamily="34" charset="-120"/>
              </a:rPr>
              <a:t>2025년 매출 </a:t>
            </a:r>
            <a:r>
              <a:rPr lang="en-US" sz="1050" b="1">
                <a:solidFill>
                  <a:srgbClr val="334155"/>
                </a:solidFill>
                <a:latin typeface="Malgun Gothic" pitchFamily="34" charset="0"/>
                <a:ea typeface="Malgun Gothic" pitchFamily="34" charset="-122"/>
                <a:cs typeface="Malgun Gothic" pitchFamily="34" charset="-120"/>
              </a:rPr>
              <a:t>2,318억원</a:t>
            </a:r>
          </a:p>
          <a:p>
            <a:pPr marL="180000" indent="-180000">
              <a:lnSpc>
                <a:spcPct val="112000"/>
              </a:lnSpc>
              <a:spcBef>
                <a:spcPts val="500"/>
              </a:spcBef>
              <a:buClr>
                <a:srgbClr val="64748B"/>
              </a:buClr>
              <a:buFont typeface="Arial"/>
              <a:buChar char="•"/>
            </a:pPr>
            <a:r>
              <a:rPr lang="en-US" sz="1050">
                <a:solidFill>
                  <a:srgbClr val="3E4C5E"/>
                </a:solidFill>
                <a:latin typeface="Malgun Gothic" pitchFamily="34" charset="0"/>
                <a:ea typeface="Malgun Gothic" pitchFamily="34" charset="-122"/>
                <a:cs typeface="Malgun Gothic" pitchFamily="34" charset="-120"/>
              </a:rPr>
              <a:t>안과용제 매출 비중 </a:t>
            </a:r>
            <a:r>
              <a:rPr lang="en-US" sz="1050" b="1">
                <a:solidFill>
                  <a:srgbClr val="1D4ED8"/>
                </a:solidFill>
                <a:latin typeface="Malgun Gothic" pitchFamily="34" charset="0"/>
                <a:ea typeface="Malgun Gothic" pitchFamily="34" charset="-122"/>
                <a:cs typeface="Malgun Gothic" pitchFamily="34" charset="-120"/>
              </a:rPr>
              <a:t>63.6%</a:t>
            </a:r>
          </a:p>
          <a:p>
            <a:pPr marL="180000" indent="-180000">
              <a:lnSpc>
                <a:spcPct val="112000"/>
              </a:lnSpc>
              <a:spcBef>
                <a:spcPts val="500"/>
              </a:spcBef>
              <a:buClr>
                <a:srgbClr val="64748B"/>
              </a:buClr>
              <a:buFont typeface="Arial"/>
              <a:buChar char="•"/>
            </a:pPr>
            <a:r>
              <a:rPr lang="en-US" sz="1050">
                <a:solidFill>
                  <a:srgbClr val="3E4C5E"/>
                </a:solidFill>
                <a:latin typeface="Malgun Gothic" pitchFamily="34" charset="0"/>
                <a:ea typeface="Malgun Gothic" pitchFamily="34" charset="-122"/>
                <a:cs typeface="Malgun Gothic" pitchFamily="34" charset="-120"/>
              </a:rPr>
              <a:t>꾸준한 매출과 안정적 현금흐름</a:t>
            </a:r>
          </a:p>
          <a:p>
            <a:pPr marL="180000" indent="-180000">
              <a:lnSpc>
                <a:spcPct val="112000"/>
              </a:lnSpc>
              <a:spcBef>
                <a:spcPts val="500"/>
              </a:spcBef>
              <a:buClr>
                <a:srgbClr val="64748B"/>
              </a:buClr>
              <a:buFont typeface="Arial"/>
              <a:buChar char="•"/>
            </a:pPr>
            <a:r>
              <a:rPr lang="en-US" sz="1050">
                <a:solidFill>
                  <a:srgbClr val="3E4C5E"/>
                </a:solidFill>
                <a:latin typeface="Malgun Gothic" pitchFamily="34" charset="0"/>
                <a:ea typeface="Malgun Gothic" pitchFamily="34" charset="-122"/>
                <a:cs typeface="Malgun Gothic" pitchFamily="34" charset="-120"/>
              </a:rPr>
              <a:t>실적 변동성이 낮은 캐시카우</a:t>
            </a:r>
          </a:p>
          <a:p>
            <a:pPr marL="180000" indent="-180000">
              <a:lnSpc>
                <a:spcPct val="112000"/>
              </a:lnSpc>
              <a:spcBef>
                <a:spcPts val="500"/>
              </a:spcBef>
              <a:buClr>
                <a:srgbClr val="64748B"/>
              </a:buClr>
              <a:buFont typeface="Arial"/>
              <a:buChar char="•"/>
            </a:pPr>
            <a:r>
              <a:rPr lang="en-US" sz="1050">
                <a:solidFill>
                  <a:srgbClr val="3E4C5E"/>
                </a:solidFill>
                <a:latin typeface="Malgun Gothic" pitchFamily="34" charset="0"/>
                <a:ea typeface="Malgun Gothic" pitchFamily="34" charset="-122"/>
                <a:cs typeface="Malgun Gothic" pitchFamily="34" charset="-120"/>
              </a:rPr>
              <a:t>현재 사업만으로 시가총액 </a:t>
            </a:r>
            <a:r>
              <a:rPr lang="en-US" sz="1050" b="1">
                <a:solidFill>
                  <a:srgbClr val="EA580C"/>
                </a:solidFill>
                <a:latin typeface="Malgun Gothic" pitchFamily="34" charset="0"/>
                <a:ea typeface="Malgun Gothic" pitchFamily="34" charset="-122"/>
                <a:cs typeface="Malgun Gothic" pitchFamily="34" charset="-120"/>
              </a:rPr>
              <a:t>5.6조</a:t>
            </a:r>
            <a:r>
              <a:rPr lang="en-US" sz="1050">
                <a:solidFill>
                  <a:srgbClr val="3E4C5E"/>
                </a:solidFill>
                <a:latin typeface="Malgun Gothic" pitchFamily="34" charset="0"/>
                <a:ea typeface="Malgun Gothic" pitchFamily="34" charset="-122"/>
                <a:cs typeface="Malgun Gothic" pitchFamily="34" charset="-120"/>
              </a:rPr>
              <a:t> 설명은 어려움</a:t>
            </a:r>
          </a:p>
        </p:txBody>
      </p:sp>
      <p:sp>
        <p:nvSpPr>
          <p:cNvPr id="15" name="card1 strip"/>
          <p:cNvSpPr/>
          <p:nvPr/>
        </p:nvSpPr>
        <p:spPr>
          <a:xfrm>
            <a:off x="808368" y="4660000"/>
            <a:ext cx="3136880" cy="380000"/>
          </a:xfrm>
          <a:prstGeom prst="roundRect">
            <a:avLst>
              <a:gd name="adj" fmla="val 22000"/>
            </a:avLst>
          </a:prstGeom>
          <a:solidFill>
            <a:srgbClr val="EEF2F7"/>
          </a:solidFill>
          <a:ln/>
        </p:spPr>
        <p:txBody>
          <a:bodyPr wrap="square" lIns="91440" tIns="0" rIns="91440" bIns="0" rtlCol="0" anchor="ctr"/>
          <a:lstStyle/>
          <a:p>
            <a:pPr marL="0" indent="0" algn="ctr">
              <a:buNone/>
            </a:pPr>
            <a:r>
              <a:rPr lang="en-US" sz="1100" b="1">
                <a:solidFill>
                  <a:srgbClr val="334155"/>
                </a:solidFill>
                <a:latin typeface="Malgun Gothic" pitchFamily="34" charset="0"/>
                <a:ea typeface="Malgun Gothic" pitchFamily="34" charset="-122"/>
                <a:cs typeface="Malgun Gothic" pitchFamily="34" charset="-120"/>
              </a:rPr>
              <a:t>현재 사업 = 하방과 현금흐름</a:t>
            </a:r>
            <a:endParaRPr lang="en-US" sz="1100"/>
          </a:p>
        </p:txBody>
      </p:sp>
      <p:sp>
        <p:nvSpPr>
          <p:cNvPr id="20" name="card2 bg">
            <a:extLst>
              <a:ext uri="{C183D7F6-B498-43B3-948B-1728B52AA6E4}">
                <adec:decorative xmlns:adec="http://schemas.microsoft.com/office/drawing/2017/decorative" val="1"/>
              </a:ext>
            </a:extLst>
          </p:cNvPr>
          <p:cNvSpPr/>
          <p:nvPr/>
        </p:nvSpPr>
        <p:spPr>
          <a:xfrm>
            <a:off x="4380608" y="2440000"/>
            <a:ext cx="3436880" cy="2680000"/>
          </a:xfrm>
          <a:prstGeom prst="roundRect">
            <a:avLst>
              <a:gd name="adj" fmla="val 5000"/>
            </a:avLst>
          </a:prstGeom>
          <a:solidFill>
            <a:srgbClr val="FFFFFF"/>
          </a:solidFill>
          <a:ln w="12700">
            <a:solidFill>
              <a:srgbClr val="CFE0FB"/>
            </a:solidFill>
          </a:ln>
          <a:effectLst>
            <a:outerShdw blurRad="88900" dist="25400" dir="5400000" algn="bl" rotWithShape="0">
              <a:srgbClr val="0E2036">
                <a:alpha val="10000"/>
              </a:srgbClr>
            </a:outerShdw>
          </a:effectLst>
        </p:spPr>
        <p:txBody>
          <a:bodyPr/>
          <a:lstStyle/>
          <a:p>
            <a:endParaRPr lang="ko-KR" altLang="en-US"/>
          </a:p>
        </p:txBody>
      </p:sp>
      <p:sp>
        <p:nvSpPr>
          <p:cNvPr id="21" name="card2 head">
            <a:extLst>
              <a:ext uri="{C183D7F6-B498-43B3-948B-1728B52AA6E4}">
                <adec:decorative xmlns:adec="http://schemas.microsoft.com/office/drawing/2017/decorative" val="1"/>
              </a:ext>
            </a:extLst>
          </p:cNvPr>
          <p:cNvSpPr/>
          <p:nvPr/>
        </p:nvSpPr>
        <p:spPr>
          <a:xfrm>
            <a:off x="4630608" y="2590000"/>
            <a:ext cx="2936880" cy="360000"/>
          </a:xfrm>
          <a:prstGeom prst="rect">
            <a:avLst/>
          </a:prstGeom>
          <a:noFill/>
          <a:ln/>
        </p:spPr>
        <p:txBody>
          <a:bodyPr wrap="square" lIns="0" tIns="0" rIns="0" bIns="0" rtlCol="0" anchor="ctr"/>
          <a:lstStyle/>
          <a:p>
            <a:pPr marL="0" indent="0">
              <a:buNone/>
            </a:pPr>
            <a:r>
              <a:rPr lang="en-US" sz="1700" b="1">
                <a:solidFill>
                  <a:srgbClr val="1D4ED8"/>
                </a:solidFill>
                <a:latin typeface="Malgun Gothic" pitchFamily="34" charset="0"/>
                <a:ea typeface="Malgun Gothic" pitchFamily="34" charset="-122"/>
                <a:cs typeface="Malgun Gothic" pitchFamily="34" charset="-120"/>
              </a:rPr>
              <a:t>SCD411</a:t>
            </a:r>
            <a:endParaRPr lang="en-US" sz="1700"/>
          </a:p>
        </p:txBody>
      </p:sp>
      <p:sp>
        <p:nvSpPr>
          <p:cNvPr id="22" name="card2 tag">
            <a:extLst>
              <a:ext uri="{C183D7F6-B498-43B3-948B-1728B52AA6E4}">
                <adec:decorative xmlns:adec="http://schemas.microsoft.com/office/drawing/2017/decorative" val="1"/>
              </a:ext>
            </a:extLst>
          </p:cNvPr>
          <p:cNvSpPr/>
          <p:nvPr/>
        </p:nvSpPr>
        <p:spPr>
          <a:xfrm>
            <a:off x="4630608" y="2965000"/>
            <a:ext cx="2936880" cy="250000"/>
          </a:xfrm>
          <a:prstGeom prst="rect">
            <a:avLst/>
          </a:prstGeom>
          <a:noFill/>
          <a:ln/>
        </p:spPr>
        <p:txBody>
          <a:bodyPr wrap="square" lIns="0" tIns="0" rIns="0" bIns="0" rtlCol="0" anchor="ctr"/>
          <a:lstStyle/>
          <a:p>
            <a:pPr marL="0" indent="0">
              <a:buNone/>
            </a:pPr>
            <a:r>
              <a:rPr lang="en-US" sz="1050" b="1">
                <a:solidFill>
                  <a:srgbClr val="3B82F6"/>
                </a:solidFill>
                <a:latin typeface="Malgun Gothic" pitchFamily="34" charset="0"/>
                <a:ea typeface="Malgun Gothic" pitchFamily="34" charset="-122"/>
                <a:cs typeface="Malgun Gothic" pitchFamily="34" charset="-120"/>
              </a:rPr>
              <a:t>아일리아 바이오시밀러</a:t>
            </a:r>
            <a:endParaRPr lang="en-US" sz="1050"/>
          </a:p>
        </p:txBody>
      </p:sp>
      <p:sp>
        <p:nvSpPr>
          <p:cNvPr id="23" name="card2 divider">
            <a:extLst>
              <a:ext uri="{C183D7F6-B498-43B3-948B-1728B52AA6E4}">
                <adec:decorative xmlns:adec="http://schemas.microsoft.com/office/drawing/2017/decorative" val="1"/>
              </a:ext>
            </a:extLst>
          </p:cNvPr>
          <p:cNvSpPr/>
          <p:nvPr/>
        </p:nvSpPr>
        <p:spPr>
          <a:xfrm>
            <a:off x="4630608" y="3230000"/>
            <a:ext cx="2936880" cy="16000"/>
          </a:xfrm>
          <a:prstGeom prst="rect">
            <a:avLst/>
          </a:prstGeom>
          <a:solidFill>
            <a:srgbClr val="BFDBFE"/>
          </a:solidFill>
          <a:ln/>
        </p:spPr>
        <p:txBody>
          <a:bodyPr/>
          <a:lstStyle/>
          <a:p>
            <a:endParaRPr lang="ko-KR" altLang="en-US"/>
          </a:p>
        </p:txBody>
      </p:sp>
      <p:sp>
        <p:nvSpPr>
          <p:cNvPr id="24" name="card2 bullets">
            <a:extLst>
              <a:ext uri="{C183D7F6-B498-43B3-948B-1728B52AA6E4}">
                <adec:decorative xmlns:adec="http://schemas.microsoft.com/office/drawing/2017/decorative" val="1"/>
              </a:ext>
            </a:extLst>
          </p:cNvPr>
          <p:cNvSpPr/>
          <p:nvPr/>
        </p:nvSpPr>
        <p:spPr>
          <a:xfrm>
            <a:off x="4630608" y="3300000"/>
            <a:ext cx="2936880" cy="1320000"/>
          </a:xfrm>
          <a:prstGeom prst="rect">
            <a:avLst/>
          </a:prstGeom>
          <a:noFill/>
          <a:ln/>
        </p:spPr>
        <p:txBody>
          <a:bodyPr wrap="square" lIns="0" tIns="0" rIns="0" bIns="0" rtlCol="0" anchor="t"/>
          <a:lstStyle/>
          <a:p>
            <a:pPr marL="180000" indent="-180000">
              <a:lnSpc>
                <a:spcPct val="112000"/>
              </a:lnSpc>
              <a:spcBef>
                <a:spcPts val="500"/>
              </a:spcBef>
              <a:buClr>
                <a:srgbClr val="1D4ED8"/>
              </a:buClr>
              <a:buFont typeface="Arial"/>
              <a:buChar char="•"/>
            </a:pPr>
            <a:r>
              <a:rPr lang="en-US" sz="1050">
                <a:solidFill>
                  <a:srgbClr val="3E4C5E"/>
                </a:solidFill>
                <a:latin typeface="Malgun Gothic" pitchFamily="34" charset="0"/>
                <a:ea typeface="Malgun Gothic" pitchFamily="34" charset="-122"/>
                <a:cs typeface="Malgun Gothic" pitchFamily="34" charset="-120"/>
              </a:rPr>
              <a:t>글로벌 아일리아 시장 약 </a:t>
            </a:r>
            <a:r>
              <a:rPr lang="en-US" sz="1050" b="1">
                <a:solidFill>
                  <a:srgbClr val="1D4ED8"/>
                </a:solidFill>
                <a:latin typeface="Malgun Gothic" pitchFamily="34" charset="0"/>
                <a:ea typeface="Malgun Gothic" pitchFamily="34" charset="-122"/>
                <a:cs typeface="Malgun Gothic" pitchFamily="34" charset="-120"/>
              </a:rPr>
              <a:t>13~14조원</a:t>
            </a:r>
          </a:p>
          <a:p>
            <a:pPr marL="180000" indent="-180000">
              <a:lnSpc>
                <a:spcPct val="112000"/>
              </a:lnSpc>
              <a:spcBef>
                <a:spcPts val="500"/>
              </a:spcBef>
              <a:buClr>
                <a:srgbClr val="1D4ED8"/>
              </a:buClr>
              <a:buFont typeface="Arial"/>
              <a:buChar char="•"/>
            </a:pPr>
            <a:r>
              <a:rPr lang="en-US" sz="1050">
                <a:solidFill>
                  <a:srgbClr val="3E4C5E"/>
                </a:solidFill>
                <a:latin typeface="Malgun Gothic" pitchFamily="34" charset="0"/>
                <a:ea typeface="Malgun Gothic" pitchFamily="34" charset="-122"/>
                <a:cs typeface="Malgun Gothic" pitchFamily="34" charset="-120"/>
              </a:rPr>
              <a:t>캐나다·유럽·한국 판매 단계 진입</a:t>
            </a:r>
          </a:p>
          <a:p>
            <a:pPr marL="180000" indent="-180000">
              <a:lnSpc>
                <a:spcPct val="112000"/>
              </a:lnSpc>
              <a:spcBef>
                <a:spcPts val="500"/>
              </a:spcBef>
              <a:buClr>
                <a:srgbClr val="1D4ED8"/>
              </a:buClr>
              <a:buFont typeface="Arial"/>
              <a:buChar char="•"/>
            </a:pPr>
            <a:r>
              <a:rPr lang="en-US" sz="1050">
                <a:solidFill>
                  <a:srgbClr val="3E4C5E"/>
                </a:solidFill>
                <a:latin typeface="Malgun Gothic" pitchFamily="34" charset="0"/>
                <a:ea typeface="Malgun Gothic" pitchFamily="34" charset="-122"/>
                <a:cs typeface="Malgun Gothic" pitchFamily="34" charset="-120"/>
              </a:rPr>
              <a:t>미국 시장 진출 기대</a:t>
            </a:r>
          </a:p>
          <a:p>
            <a:pPr marL="180000" indent="-180000">
              <a:lnSpc>
                <a:spcPct val="112000"/>
              </a:lnSpc>
              <a:spcBef>
                <a:spcPts val="500"/>
              </a:spcBef>
              <a:buClr>
                <a:srgbClr val="1D4ED8"/>
              </a:buClr>
              <a:buFont typeface="Arial"/>
              <a:buChar char="•"/>
            </a:pPr>
            <a:r>
              <a:rPr lang="en-US" sz="1050">
                <a:solidFill>
                  <a:srgbClr val="3E4C5E"/>
                </a:solidFill>
                <a:latin typeface="Malgun Gothic" pitchFamily="34" charset="0"/>
                <a:ea typeface="Malgun Gothic" pitchFamily="34" charset="-122"/>
                <a:cs typeface="Malgun Gothic" pitchFamily="34" charset="-120"/>
              </a:rPr>
              <a:t>현재 판매·실적 검증 단계</a:t>
            </a:r>
          </a:p>
          <a:p>
            <a:pPr marL="180000" indent="-180000">
              <a:lnSpc>
                <a:spcPct val="112000"/>
              </a:lnSpc>
              <a:spcBef>
                <a:spcPts val="500"/>
              </a:spcBef>
              <a:buClr>
                <a:srgbClr val="1D4ED8"/>
              </a:buClr>
              <a:buFont typeface="Arial"/>
              <a:buChar char="•"/>
            </a:pPr>
            <a:r>
              <a:rPr lang="en-US" sz="1050">
                <a:solidFill>
                  <a:srgbClr val="3E4C5E"/>
                </a:solidFill>
                <a:latin typeface="Malgun Gothic" pitchFamily="34" charset="0"/>
                <a:ea typeface="Malgun Gothic" pitchFamily="34" charset="-122"/>
                <a:cs typeface="Malgun Gothic" pitchFamily="34" charset="-120"/>
              </a:rPr>
              <a:t>시가총액 정당화의 핵심 변수</a:t>
            </a:r>
          </a:p>
        </p:txBody>
      </p:sp>
      <p:sp>
        <p:nvSpPr>
          <p:cNvPr id="25" name="card2 strip">
            <a:extLst>
              <a:ext uri="{C183D7F6-B498-43B3-948B-1728B52AA6E4}">
                <adec:decorative xmlns:adec="http://schemas.microsoft.com/office/drawing/2017/decorative" val="1"/>
              </a:ext>
            </a:extLst>
          </p:cNvPr>
          <p:cNvSpPr/>
          <p:nvPr/>
        </p:nvSpPr>
        <p:spPr>
          <a:xfrm>
            <a:off x="4530608" y="4660000"/>
            <a:ext cx="3136880" cy="380000"/>
          </a:xfrm>
          <a:prstGeom prst="roundRect">
            <a:avLst>
              <a:gd name="adj" fmla="val 22000"/>
            </a:avLst>
          </a:prstGeom>
          <a:solidFill>
            <a:srgbClr val="EFF6FF"/>
          </a:solidFill>
          <a:ln/>
        </p:spPr>
        <p:txBody>
          <a:bodyPr wrap="square" lIns="91440" tIns="0" rIns="91440" bIns="0" rtlCol="0" anchor="ctr"/>
          <a:lstStyle/>
          <a:p>
            <a:pPr marL="0" indent="0" algn="ctr">
              <a:buNone/>
            </a:pPr>
            <a:r>
              <a:rPr lang="en-US" sz="1100" b="1">
                <a:solidFill>
                  <a:srgbClr val="1D4ED8"/>
                </a:solidFill>
                <a:latin typeface="Malgun Gothic" pitchFamily="34" charset="0"/>
                <a:ea typeface="Malgun Gothic" pitchFamily="34" charset="-122"/>
                <a:cs typeface="Malgun Gothic" pitchFamily="34" charset="-120"/>
              </a:rPr>
              <a:t>SCD411 = 실적 성장의 검증 구간</a:t>
            </a:r>
            <a:endParaRPr lang="en-US" sz="1100"/>
          </a:p>
        </p:txBody>
      </p:sp>
      <p:sp>
        <p:nvSpPr>
          <p:cNvPr id="30" name="card3 bg">
            <a:extLst>
              <a:ext uri="{C183D7F6-B498-43B3-948B-1728B52AA6E4}">
                <adec:decorative xmlns:adec="http://schemas.microsoft.com/office/drawing/2017/decorative" val="1"/>
              </a:ext>
            </a:extLst>
          </p:cNvPr>
          <p:cNvSpPr/>
          <p:nvPr/>
        </p:nvSpPr>
        <p:spPr>
          <a:xfrm>
            <a:off x="8102848" y="2440000"/>
            <a:ext cx="3436880" cy="2680000"/>
          </a:xfrm>
          <a:prstGeom prst="roundRect">
            <a:avLst>
              <a:gd name="adj" fmla="val 5000"/>
            </a:avLst>
          </a:prstGeom>
          <a:solidFill>
            <a:srgbClr val="FFFFFF"/>
          </a:solidFill>
          <a:ln w="12700">
            <a:solidFill>
              <a:srgbClr val="CDEDE8"/>
            </a:solidFill>
          </a:ln>
          <a:effectLst>
            <a:outerShdw blurRad="88900" dist="25400" dir="5400000" algn="bl" rotWithShape="0">
              <a:srgbClr val="0E2036">
                <a:alpha val="10000"/>
              </a:srgbClr>
            </a:outerShdw>
          </a:effectLst>
        </p:spPr>
        <p:txBody>
          <a:bodyPr/>
          <a:lstStyle/>
          <a:p>
            <a:endParaRPr lang="ko-KR" altLang="en-US"/>
          </a:p>
        </p:txBody>
      </p:sp>
      <p:sp>
        <p:nvSpPr>
          <p:cNvPr id="31" name="card3 head"/>
          <p:cNvSpPr/>
          <p:nvPr/>
        </p:nvSpPr>
        <p:spPr>
          <a:xfrm>
            <a:off x="8352848" y="2590000"/>
            <a:ext cx="2936880" cy="360000"/>
          </a:xfrm>
          <a:prstGeom prst="rect">
            <a:avLst/>
          </a:prstGeom>
          <a:noFill/>
          <a:ln/>
        </p:spPr>
        <p:txBody>
          <a:bodyPr wrap="square" lIns="0" tIns="0" rIns="0" bIns="0" rtlCol="0" anchor="ctr"/>
          <a:lstStyle/>
          <a:p>
            <a:pPr marL="0" indent="0">
              <a:buNone/>
            </a:pPr>
            <a:r>
              <a:rPr lang="en-US" sz="1700" b="1">
                <a:solidFill>
                  <a:srgbClr val="0D9488"/>
                </a:solidFill>
                <a:latin typeface="Malgun Gothic" pitchFamily="34" charset="0"/>
                <a:ea typeface="Malgun Gothic" pitchFamily="34" charset="-122"/>
                <a:cs typeface="Malgun Gothic" pitchFamily="34" charset="-120"/>
              </a:rPr>
              <a:t>S-PASS</a:t>
            </a:r>
            <a:endParaRPr lang="en-US" sz="1700"/>
          </a:p>
        </p:txBody>
      </p:sp>
      <p:sp>
        <p:nvSpPr>
          <p:cNvPr id="32" name="card3 tag"/>
          <p:cNvSpPr/>
          <p:nvPr/>
        </p:nvSpPr>
        <p:spPr>
          <a:xfrm>
            <a:off x="8352848" y="2965000"/>
            <a:ext cx="2936880" cy="250000"/>
          </a:xfrm>
          <a:prstGeom prst="rect">
            <a:avLst/>
          </a:prstGeom>
          <a:noFill/>
          <a:ln/>
        </p:spPr>
        <p:txBody>
          <a:bodyPr wrap="square" lIns="0" tIns="0" rIns="0" bIns="0" rtlCol="0" anchor="ctr"/>
          <a:lstStyle/>
          <a:p>
            <a:pPr marL="0" indent="0">
              <a:buNone/>
            </a:pPr>
            <a:r>
              <a:rPr lang="en-US" sz="1050" b="1">
                <a:solidFill>
                  <a:srgbClr val="0D9488"/>
                </a:solidFill>
                <a:latin typeface="Malgun Gothic" pitchFamily="34" charset="0"/>
                <a:ea typeface="Malgun Gothic" pitchFamily="34" charset="-122"/>
                <a:cs typeface="Malgun Gothic" pitchFamily="34" charset="-120"/>
              </a:rPr>
              <a:t>주사제 경구화 플랫폼</a:t>
            </a:r>
            <a:endParaRPr lang="en-US" sz="1050"/>
          </a:p>
        </p:txBody>
      </p:sp>
      <p:sp>
        <p:nvSpPr>
          <p:cNvPr id="33" name="card3 divider">
            <a:extLst>
              <a:ext uri="{C183D7F6-B498-43B3-948B-1728B52AA6E4}">
                <adec:decorative xmlns:adec="http://schemas.microsoft.com/office/drawing/2017/decorative" val="1"/>
              </a:ext>
            </a:extLst>
          </p:cNvPr>
          <p:cNvSpPr/>
          <p:nvPr/>
        </p:nvSpPr>
        <p:spPr>
          <a:xfrm>
            <a:off x="8352848" y="3230000"/>
            <a:ext cx="2936880" cy="16000"/>
          </a:xfrm>
          <a:prstGeom prst="rect">
            <a:avLst/>
          </a:prstGeom>
          <a:solidFill>
            <a:srgbClr val="99F6E4"/>
          </a:solidFill>
          <a:ln/>
        </p:spPr>
        <p:txBody>
          <a:bodyPr/>
          <a:lstStyle/>
          <a:p>
            <a:endParaRPr lang="ko-KR" altLang="en-US"/>
          </a:p>
        </p:txBody>
      </p:sp>
      <p:sp>
        <p:nvSpPr>
          <p:cNvPr id="34" name="card3 bullets"/>
          <p:cNvSpPr/>
          <p:nvPr/>
        </p:nvSpPr>
        <p:spPr>
          <a:xfrm>
            <a:off x="8352848" y="3300000"/>
            <a:ext cx="2936880" cy="1320000"/>
          </a:xfrm>
          <a:prstGeom prst="rect">
            <a:avLst/>
          </a:prstGeom>
          <a:noFill/>
          <a:ln/>
        </p:spPr>
        <p:txBody>
          <a:bodyPr wrap="square" lIns="0" tIns="0" rIns="0" bIns="0" rtlCol="0" anchor="t"/>
          <a:lstStyle/>
          <a:p>
            <a:pPr marL="180000" indent="-180000">
              <a:lnSpc>
                <a:spcPct val="112000"/>
              </a:lnSpc>
              <a:spcBef>
                <a:spcPts val="500"/>
              </a:spcBef>
              <a:buClr>
                <a:srgbClr val="0D9488"/>
              </a:buClr>
              <a:buFont typeface="Arial"/>
              <a:buChar char="•"/>
            </a:pPr>
            <a:r>
              <a:rPr lang="en-US" sz="1050">
                <a:solidFill>
                  <a:srgbClr val="3E4C5E"/>
                </a:solidFill>
                <a:latin typeface="Malgun Gothic" pitchFamily="34" charset="0"/>
                <a:ea typeface="Malgun Gothic" pitchFamily="34" charset="-122"/>
                <a:cs typeface="Malgun Gothic" pitchFamily="34" charset="-120"/>
              </a:rPr>
              <a:t>잠재 적용 시장 </a:t>
            </a:r>
            <a:r>
              <a:rPr lang="en-US" sz="1050" b="1">
                <a:solidFill>
                  <a:srgbClr val="0D9488"/>
                </a:solidFill>
                <a:latin typeface="Malgun Gothic" pitchFamily="34" charset="0"/>
                <a:ea typeface="Malgun Gothic" pitchFamily="34" charset="-122"/>
                <a:cs typeface="Malgun Gothic" pitchFamily="34" charset="-120"/>
              </a:rPr>
              <a:t>100~300조원+</a:t>
            </a:r>
          </a:p>
          <a:p>
            <a:pPr marL="180000" indent="-180000">
              <a:lnSpc>
                <a:spcPct val="112000"/>
              </a:lnSpc>
              <a:spcBef>
                <a:spcPts val="500"/>
              </a:spcBef>
              <a:buClr>
                <a:srgbClr val="0D9488"/>
              </a:buClr>
              <a:buFont typeface="Arial"/>
              <a:buChar char="•"/>
            </a:pPr>
            <a:r>
              <a:rPr lang="en-US" sz="1050">
                <a:solidFill>
                  <a:srgbClr val="3E4C5E"/>
                </a:solidFill>
                <a:latin typeface="Malgun Gothic" pitchFamily="34" charset="0"/>
                <a:ea typeface="Malgun Gothic" pitchFamily="34" charset="-122"/>
                <a:cs typeface="Malgun Gothic" pitchFamily="34" charset="-120"/>
              </a:rPr>
              <a:t>경구 세마글루타이드·인슐린·터제파타이드</a:t>
            </a:r>
          </a:p>
          <a:p>
            <a:pPr marL="180000" indent="-180000">
              <a:lnSpc>
                <a:spcPct val="112000"/>
              </a:lnSpc>
              <a:spcBef>
                <a:spcPts val="500"/>
              </a:spcBef>
              <a:buClr>
                <a:srgbClr val="0D9488"/>
              </a:buClr>
              <a:buFont typeface="Arial"/>
              <a:buChar char="•"/>
            </a:pPr>
            <a:r>
              <a:rPr lang="en-US" sz="1050">
                <a:solidFill>
                  <a:srgbClr val="3E4C5E"/>
                </a:solidFill>
                <a:latin typeface="Malgun Gothic" pitchFamily="34" charset="0"/>
                <a:ea typeface="Malgun Gothic" pitchFamily="34" charset="-122"/>
                <a:cs typeface="Malgun Gothic" pitchFamily="34" charset="-120"/>
              </a:rPr>
              <a:t>성공 시 플랫폼 가치로 확장될 수 있는 잠재력</a:t>
            </a:r>
          </a:p>
          <a:p>
            <a:pPr marL="180000" indent="-180000">
              <a:lnSpc>
                <a:spcPct val="112000"/>
              </a:lnSpc>
              <a:spcBef>
                <a:spcPts val="500"/>
              </a:spcBef>
              <a:buClr>
                <a:srgbClr val="0D9488"/>
              </a:buClr>
              <a:buFont typeface="Arial"/>
              <a:buChar char="•"/>
            </a:pPr>
            <a:r>
              <a:rPr lang="en-US" sz="1050">
                <a:solidFill>
                  <a:srgbClr val="3E4C5E"/>
                </a:solidFill>
                <a:latin typeface="Malgun Gothic" pitchFamily="34" charset="0"/>
                <a:ea typeface="Malgun Gothic" pitchFamily="34" charset="-122"/>
                <a:cs typeface="Malgun Gothic" pitchFamily="34" charset="-120"/>
              </a:rPr>
              <a:t>아직 옵션가치 성격의 미래 기대</a:t>
            </a:r>
          </a:p>
          <a:p>
            <a:pPr marL="180000" indent="-180000">
              <a:lnSpc>
                <a:spcPct val="112000"/>
              </a:lnSpc>
              <a:spcBef>
                <a:spcPts val="500"/>
              </a:spcBef>
              <a:buClr>
                <a:srgbClr val="0D9488"/>
              </a:buClr>
              <a:buFont typeface="Arial"/>
              <a:buChar char="•"/>
            </a:pPr>
            <a:r>
              <a:rPr lang="en-US" sz="1050">
                <a:solidFill>
                  <a:srgbClr val="3E4C5E"/>
                </a:solidFill>
                <a:latin typeface="Malgun Gothic" pitchFamily="34" charset="0"/>
                <a:ea typeface="Malgun Gothic" pitchFamily="34" charset="-122"/>
                <a:cs typeface="Malgun Gothic" pitchFamily="34" charset="-120"/>
              </a:rPr>
              <a:t>규제·데이터·계약·상업화 검증 필요</a:t>
            </a:r>
          </a:p>
        </p:txBody>
      </p:sp>
      <p:sp>
        <p:nvSpPr>
          <p:cNvPr id="35" name="card3 strip"/>
          <p:cNvSpPr/>
          <p:nvPr/>
        </p:nvSpPr>
        <p:spPr>
          <a:xfrm>
            <a:off x="8252848" y="4660000"/>
            <a:ext cx="3136880" cy="380000"/>
          </a:xfrm>
          <a:prstGeom prst="roundRect">
            <a:avLst>
              <a:gd name="adj" fmla="val 22000"/>
            </a:avLst>
          </a:prstGeom>
          <a:solidFill>
            <a:srgbClr val="EAFBF7"/>
          </a:solidFill>
          <a:ln/>
        </p:spPr>
        <p:txBody>
          <a:bodyPr wrap="square" lIns="91440" tIns="0" rIns="91440" bIns="0" rtlCol="0" anchor="ctr"/>
          <a:lstStyle/>
          <a:p>
            <a:pPr marL="0" indent="0" algn="ctr">
              <a:buNone/>
            </a:pPr>
            <a:r>
              <a:rPr lang="en-US" sz="1100" b="1">
                <a:solidFill>
                  <a:srgbClr val="0D9488"/>
                </a:solidFill>
                <a:latin typeface="Malgun Gothic" pitchFamily="34" charset="0"/>
                <a:ea typeface="Malgun Gothic" pitchFamily="34" charset="-122"/>
                <a:cs typeface="Malgun Gothic" pitchFamily="34" charset="-120"/>
              </a:rPr>
              <a:t>S-PASS = 추가 업사이드 옵션</a:t>
            </a:r>
            <a:endParaRPr lang="en-US" sz="1100"/>
          </a:p>
        </p:txBody>
      </p:sp>
      <p:sp>
        <p:nvSpPr>
          <p:cNvPr id="40" name="formula strip">
            <a:extLst>
              <a:ext uri="{C183D7F6-B498-43B3-948B-1728B52AA6E4}">
                <adec:decorative xmlns:adec="http://schemas.microsoft.com/office/drawing/2017/decorative" val="1"/>
              </a:ext>
            </a:extLst>
          </p:cNvPr>
          <p:cNvSpPr/>
          <p:nvPr/>
        </p:nvSpPr>
        <p:spPr>
          <a:xfrm>
            <a:off x="658368" y="5230000"/>
            <a:ext cx="10881360" cy="470000"/>
          </a:xfrm>
          <a:prstGeom prst="roundRect">
            <a:avLst>
              <a:gd name="adj" fmla="val 14000"/>
            </a:avLst>
          </a:prstGeom>
          <a:solidFill>
            <a:srgbClr val="EFF4FB"/>
          </a:solidFill>
          <a:ln w="12700">
            <a:solidFill>
              <a:srgbClr val="D5E0F0"/>
            </a:solidFill>
          </a:ln>
        </p:spPr>
        <p:txBody>
          <a:bodyPr wrap="square" lIns="91440" tIns="0" rIns="91440" bIns="0" rtlCol="0" anchor="ctr"/>
          <a:lstStyle/>
          <a:p>
            <a:pPr marL="0" indent="0" algn="ctr">
              <a:buNone/>
            </a:pPr>
            <a:r>
              <a:rPr lang="en-US" sz="1100" b="1">
                <a:solidFill>
                  <a:srgbClr val="334155"/>
                </a:solidFill>
                <a:latin typeface="Malgun Gothic" pitchFamily="34" charset="0"/>
                <a:ea typeface="Malgun Gothic" pitchFamily="34" charset="-122"/>
                <a:cs typeface="Malgun Gothic" pitchFamily="34" charset="-120"/>
              </a:rPr>
              <a:t>현재 사업 = 2,318억원 매출의 하방</a:t>
            </a:r>
            <a:r>
              <a:rPr lang="en-US" sz="1100" b="1">
                <a:solidFill>
                  <a:srgbClr val="64748B"/>
                </a:solidFill>
                <a:latin typeface="Malgun Gothic" pitchFamily="34" charset="0"/>
                <a:ea typeface="Malgun Gothic" pitchFamily="34" charset="-122"/>
                <a:cs typeface="Malgun Gothic" pitchFamily="34" charset="-120"/>
              </a:rPr>
              <a:t>  ·  </a:t>
            </a:r>
            <a:r>
              <a:rPr lang="en-US" sz="1100" b="1">
                <a:solidFill>
                  <a:srgbClr val="1D4ED8"/>
                </a:solidFill>
                <a:latin typeface="Malgun Gothic" pitchFamily="34" charset="0"/>
                <a:ea typeface="Malgun Gothic" pitchFamily="34" charset="-122"/>
                <a:cs typeface="Malgun Gothic" pitchFamily="34" charset="-120"/>
              </a:rPr>
              <a:t>SCD411 = 13~14조원 시장의 실적 성장 검증</a:t>
            </a:r>
            <a:r>
              <a:rPr lang="en-US" sz="1100" b="1">
                <a:solidFill>
                  <a:srgbClr val="64748B"/>
                </a:solidFill>
                <a:latin typeface="Malgun Gothic" pitchFamily="34" charset="0"/>
                <a:ea typeface="Malgun Gothic" pitchFamily="34" charset="-122"/>
                <a:cs typeface="Malgun Gothic" pitchFamily="34" charset="-120"/>
              </a:rPr>
              <a:t>  ·  </a:t>
            </a:r>
            <a:r>
              <a:rPr lang="en-US" sz="1100" b="1">
                <a:solidFill>
                  <a:srgbClr val="0D9488"/>
                </a:solidFill>
                <a:latin typeface="Malgun Gothic" pitchFamily="34" charset="0"/>
                <a:ea typeface="Malgun Gothic" pitchFamily="34" charset="-122"/>
                <a:cs typeface="Malgun Gothic" pitchFamily="34" charset="-120"/>
              </a:rPr>
              <a:t>S-PASS = 100~300조원+ 시장의 장기 옵션가치</a:t>
            </a:r>
            <a:endParaRPr lang="en-US" sz="1100"/>
          </a:p>
        </p:txBody>
      </p:sp>
      <p:sp>
        <p:nvSpPr>
          <p:cNvPr id="41" name="msg band"/>
          <p:cNvSpPr/>
          <p:nvPr/>
        </p:nvSpPr>
        <p:spPr>
          <a:xfrm>
            <a:off x="658368" y="5850000"/>
            <a:ext cx="10881360" cy="560000"/>
          </a:xfrm>
          <a:prstGeom prst="rect">
            <a:avLst/>
          </a:prstGeom>
          <a:solidFill>
            <a:srgbClr val="0B2038"/>
          </a:solidFill>
          <a:ln/>
        </p:spPr>
        <p:txBody>
          <a:bodyPr wrap="square" lIns="228600" tIns="0" rIns="228600" bIns="0" rtlCol="0" anchor="ctr"/>
          <a:lstStyle/>
          <a:p>
            <a:pPr marL="0" indent="0">
              <a:buNone/>
            </a:pPr>
            <a:r>
              <a:rPr lang="en-US" sz="1200" b="1" spc="60">
                <a:solidFill>
                  <a:srgbClr val="60A5FA"/>
                </a:solidFill>
                <a:latin typeface="Malgun Gothic" pitchFamily="34" charset="0"/>
                <a:ea typeface="Malgun Gothic" pitchFamily="34" charset="-122"/>
                <a:cs typeface="Malgun Gothic" pitchFamily="34" charset="-120"/>
              </a:rPr>
              <a:t>핵심   </a:t>
            </a:r>
            <a:r>
              <a:rPr lang="en-US" sz="1200">
                <a:solidFill>
                  <a:srgbClr val="FFFFFF"/>
                </a:solidFill>
                <a:latin typeface="Malgun Gothic" pitchFamily="34" charset="0"/>
                <a:ea typeface="Malgun Gothic" pitchFamily="34" charset="-122"/>
                <a:cs typeface="Malgun Gothic" pitchFamily="34" charset="-120"/>
              </a:rPr>
              <a:t>안과는 하방, SCD411은 실적 성장 검증, S-PASS는 장기 플랫폼 옵션가치 — 모든 가치는 공시와 분기 실적으로 확인되어야 한다.</a:t>
            </a:r>
            <a:endParaRPr lang="en-US" sz="1200"/>
          </a:p>
        </p:txBody>
      </p:sp>
      <p:sp>
        <p:nvSpPr>
          <p:cNvPr id="91"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2"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4" name="source note"/>
          <p:cNvSpPr/>
          <p:nvPr/>
        </p:nvSpPr>
        <p:spPr>
          <a:xfrm>
            <a:off x="7000000" y="6574536"/>
            <a:ext cx="3900000" cy="283464"/>
          </a:xfrm>
          <a:prstGeom prst="rect">
            <a:avLst/>
          </a:prstGeom>
          <a:noFill/>
          <a:ln/>
        </p:spPr>
        <p:txBody>
          <a:bodyPr wrap="square" lIns="0" tIns="0" rIns="0" bIns="0" rtlCol="0" anchor="ctr"/>
          <a:lstStyle/>
          <a:p>
            <a:pPr marL="0" indent="0" algn="r">
              <a:buNone/>
            </a:pPr>
            <a:r>
              <a:rPr lang="en-US" sz="750">
                <a:solidFill>
                  <a:srgbClr val="6B7C90"/>
                </a:solidFill>
                <a:latin typeface="Malgun Gothic" pitchFamily="34" charset="0"/>
                <a:ea typeface="Malgun Gothic" pitchFamily="34" charset="-122"/>
                <a:cs typeface="Malgun Gothic" pitchFamily="34" charset="-120"/>
              </a:rPr>
              <a:t>출처: 삼천당제약 홈페이지 · DART 사업보고서 · 회사 재무자료 · 언론보도</a:t>
            </a:r>
            <a:endParaRPr lang="en-US" sz="7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8</a:t>
            </a:r>
            <a:endParaRPr lang="en-US" sz="8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g">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080B12"/>
          </a:solidFill>
          <a:ln/>
        </p:spPr>
        <p:txBody>
          <a:bodyPr/>
          <a:lstStyle/>
          <a:p>
            <a:endParaRPr lang="ko-KR" altLang="en-US"/>
          </a:p>
        </p:txBody>
      </p:sp>
      <p:sp>
        <p:nvSpPr>
          <p:cNvPr id="3" name="top rule">
            <a:extLst>
              <a:ext uri="{C183D7F6-B498-43B3-948B-1728B52AA6E4}">
                <adec:decorative xmlns:adec="http://schemas.microsoft.com/office/drawing/2017/decorative" val="1"/>
              </a:ext>
            </a:extLst>
          </p:cNvPr>
          <p:cNvSpPr/>
          <p:nvPr/>
        </p:nvSpPr>
        <p:spPr>
          <a:xfrm>
            <a:off x="0" y="0"/>
            <a:ext cx="12191695" cy="109728"/>
          </a:xfrm>
          <a:prstGeom prst="rect">
            <a:avLst/>
          </a:prstGeom>
          <a:solidFill>
            <a:srgbClr val="1D4ED8"/>
          </a:solidFill>
          <a:ln/>
        </p:spPr>
        <p:txBody>
          <a:bodyPr/>
          <a:lstStyle/>
          <a:p>
            <a:endParaRPr lang="ko-KR" altLang="en-US"/>
          </a:p>
        </p:txBody>
      </p:sp>
      <p:sp>
        <p:nvSpPr>
          <p:cNvPr id="4" name="bottom rule">
            <a:extLst>
              <a:ext uri="{C183D7F6-B498-43B3-948B-1728B52AA6E4}">
                <adec:decorative xmlns:adec="http://schemas.microsoft.com/office/drawing/2017/decorative" val="1"/>
              </a:ext>
            </a:extLst>
          </p:cNvPr>
          <p:cNvSpPr/>
          <p:nvPr/>
        </p:nvSpPr>
        <p:spPr>
          <a:xfrm>
            <a:off x="0" y="6784848"/>
            <a:ext cx="12191695" cy="73152"/>
          </a:xfrm>
          <a:prstGeom prst="rect">
            <a:avLst/>
          </a:prstGeom>
          <a:solidFill>
            <a:srgbClr val="1E3A8A"/>
          </a:solidFill>
          <a:ln/>
        </p:spPr>
        <p:txBody>
          <a:bodyPr/>
          <a:lstStyle/>
          <a:p>
            <a:endParaRPr lang="ko-KR" altLang="en-US"/>
          </a:p>
        </p:txBody>
      </p:sp>
      <p:sp>
        <p:nvSpPr>
          <p:cNvPr id="5" name="Text 3"/>
          <p:cNvSpPr/>
          <p:nvPr/>
        </p:nvSpPr>
        <p:spPr>
          <a:xfrm>
            <a:off x="841248" y="713232"/>
            <a:ext cx="5486400" cy="365760"/>
          </a:xfrm>
          <a:prstGeom prst="rect">
            <a:avLst/>
          </a:prstGeom>
          <a:noFill/>
          <a:ln/>
        </p:spPr>
        <p:txBody>
          <a:bodyPr wrap="square" lIns="0" tIns="0" rIns="0" bIns="0" rtlCol="0" anchor="ctr"/>
          <a:lstStyle/>
          <a:p>
            <a:pPr marL="0" indent="0">
              <a:buNone/>
            </a:pPr>
            <a:r>
              <a:rPr lang="en-US" sz="1400" b="1" kern="0" spc="600" dirty="0">
                <a:solidFill>
                  <a:srgbClr val="60A5FA"/>
                </a:solidFill>
                <a:latin typeface="Malgun Gothic" pitchFamily="34" charset="0"/>
                <a:ea typeface="Malgun Gothic" pitchFamily="34" charset="-122"/>
                <a:cs typeface="Malgun Gothic" pitchFamily="34" charset="-120"/>
              </a:rPr>
              <a:t>SECTION</a:t>
            </a:r>
            <a:endParaRPr lang="en-US" sz="1400" dirty="0"/>
          </a:p>
        </p:txBody>
      </p:sp>
      <p:sp>
        <p:nvSpPr>
          <p:cNvPr id="6" name="Text 4">
            <a:extLst>
              <a:ext uri="{C183D7F6-B498-43B3-948B-1728B52AA6E4}">
                <adec:decorative xmlns:adec="http://schemas.microsoft.com/office/drawing/2017/decorative" val="1"/>
              </a:ext>
            </a:extLst>
          </p:cNvPr>
          <p:cNvSpPr/>
          <p:nvPr/>
        </p:nvSpPr>
        <p:spPr>
          <a:xfrm>
            <a:off x="566928" y="2651760"/>
            <a:ext cx="5852160" cy="3840480"/>
          </a:xfrm>
          <a:prstGeom prst="rect">
            <a:avLst/>
          </a:prstGeom>
          <a:noFill/>
          <a:ln/>
        </p:spPr>
        <p:txBody>
          <a:bodyPr wrap="square" lIns="0" tIns="0" rIns="0" bIns="0" rtlCol="0" anchor="b"/>
          <a:lstStyle/>
          <a:p>
            <a:pPr marL="0" indent="0" algn="l">
              <a:buNone/>
            </a:pPr>
            <a:r>
              <a:rPr lang="en-US" sz="25000" b="1" dirty="0">
                <a:solidFill>
                  <a:srgbClr val="3B82F6"/>
                </a:solidFill>
                <a:latin typeface="Malgun Gothic" pitchFamily="34" charset="0"/>
                <a:ea typeface="Malgun Gothic" pitchFamily="34" charset="-122"/>
                <a:cs typeface="Malgun Gothic" pitchFamily="34" charset="-120"/>
              </a:rPr>
              <a:t>02</a:t>
            </a:r>
            <a:endParaRPr lang="en-US" sz="25000" dirty="0"/>
          </a:p>
        </p:txBody>
      </p:sp>
      <p:sp>
        <p:nvSpPr>
          <p:cNvPr id="7" name="sep">
            <a:extLst>
              <a:ext uri="{C183D7F6-B498-43B3-948B-1728B52AA6E4}">
                <adec:decorative xmlns:adec="http://schemas.microsoft.com/office/drawing/2017/decorative" val="1"/>
              </a:ext>
            </a:extLst>
          </p:cNvPr>
          <p:cNvSpPr/>
          <p:nvPr/>
        </p:nvSpPr>
        <p:spPr>
          <a:xfrm>
            <a:off x="6720840" y="2148840"/>
            <a:ext cx="25603" cy="2560320"/>
          </a:xfrm>
          <a:prstGeom prst="rect">
            <a:avLst/>
          </a:prstGeom>
          <a:solidFill>
            <a:srgbClr val="24344F"/>
          </a:solidFill>
          <a:ln/>
        </p:spPr>
        <p:txBody>
          <a:bodyPr/>
          <a:lstStyle/>
          <a:p>
            <a:endParaRPr lang="ko-KR" altLang="en-US"/>
          </a:p>
        </p:txBody>
      </p:sp>
      <p:sp>
        <p:nvSpPr>
          <p:cNvPr id="8" name="accent">
            <a:extLst>
              <a:ext uri="{C183D7F6-B498-43B3-948B-1728B52AA6E4}">
                <adec:decorative xmlns:adec="http://schemas.microsoft.com/office/drawing/2017/decorative" val="1"/>
              </a:ext>
            </a:extLst>
          </p:cNvPr>
          <p:cNvSpPr/>
          <p:nvPr/>
        </p:nvSpPr>
        <p:spPr>
          <a:xfrm>
            <a:off x="7178040" y="2724912"/>
            <a:ext cx="731520" cy="73152"/>
          </a:xfrm>
          <a:prstGeom prst="rect">
            <a:avLst/>
          </a:prstGeom>
          <a:solidFill>
            <a:srgbClr val="1D4ED8"/>
          </a:solidFill>
          <a:ln/>
        </p:spPr>
        <p:txBody>
          <a:bodyPr/>
          <a:lstStyle/>
          <a:p>
            <a:endParaRPr lang="ko-KR" altLang="en-US"/>
          </a:p>
        </p:txBody>
      </p:sp>
      <p:sp>
        <p:nvSpPr>
          <p:cNvPr id="9" name="Text 7"/>
          <p:cNvSpPr/>
          <p:nvPr/>
        </p:nvSpPr>
        <p:spPr>
          <a:xfrm>
            <a:off x="7132320" y="2944368"/>
            <a:ext cx="4663440" cy="1188720"/>
          </a:xfrm>
          <a:prstGeom prst="rect">
            <a:avLst/>
          </a:prstGeom>
          <a:noFill/>
          <a:ln/>
        </p:spPr>
        <p:txBody>
          <a:bodyPr wrap="square" lIns="0" tIns="0" rIns="0" bIns="0" rtlCol="0" anchor="t"/>
          <a:lstStyle/>
          <a:p>
            <a:pPr marL="0" indent="0" algn="l">
              <a:lnSpc>
                <a:spcPct val="105000"/>
              </a:lnSpc>
              <a:buNone/>
            </a:pPr>
            <a:r>
              <a:rPr lang="en-US" sz="3300" b="1" dirty="0">
                <a:solidFill>
                  <a:srgbClr val="FFFFFF"/>
                </a:solidFill>
                <a:latin typeface="Malgun Gothic" pitchFamily="34" charset="0"/>
                <a:ea typeface="Malgun Gothic" pitchFamily="34" charset="-122"/>
                <a:cs typeface="Malgun Gothic" pitchFamily="34" charset="-120"/>
              </a:rPr>
              <a:t>시장 · 투자아이디어</a:t>
            </a:r>
            <a:endParaRPr lang="en-US" sz="3300" dirty="0"/>
          </a:p>
        </p:txBody>
      </p:sp>
      <p:sp>
        <p:nvSpPr>
          <p:cNvPr id="10" name="Text 8"/>
          <p:cNvSpPr/>
          <p:nvPr/>
        </p:nvSpPr>
        <p:spPr>
          <a:xfrm>
            <a:off x="7178040" y="4160520"/>
            <a:ext cx="4663440" cy="457200"/>
          </a:xfrm>
          <a:prstGeom prst="rect">
            <a:avLst/>
          </a:prstGeom>
          <a:noFill/>
          <a:ln/>
        </p:spPr>
        <p:txBody>
          <a:bodyPr wrap="square" lIns="0" tIns="0" rIns="0" bIns="0" rtlCol="0" anchor="ctr"/>
          <a:lstStyle/>
          <a:p>
            <a:pPr marL="0" indent="0" algn="l">
              <a:buNone/>
            </a:pPr>
            <a:r>
              <a:rPr lang="en-US" sz="1500" kern="0" spc="300" dirty="0">
                <a:solidFill>
                  <a:srgbClr val="60A5FA"/>
                </a:solidFill>
                <a:latin typeface="Malgun Gothic" pitchFamily="34" charset="0"/>
                <a:ea typeface="Malgun Gothic" pitchFamily="34" charset="-122"/>
                <a:cs typeface="Malgun Gothic" pitchFamily="34" charset="-120"/>
              </a:rPr>
              <a:t>INVESTMENT THESIS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ko-KR" altLang="en-US" sz="1100" b="1" kern="0" spc="200">
                <a:solidFill>
                  <a:srgbClr val="1D4ED8"/>
                </a:solidFill>
                <a:latin typeface="Malgun Gothic" pitchFamily="34" charset="0"/>
                <a:ea typeface="Malgun Gothic" pitchFamily="34" charset="-122"/>
                <a:cs typeface="Malgun Gothic" pitchFamily="34" charset="-120"/>
              </a:rPr>
              <a:t>INVESTMENT THESIS</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ko-KR" altLang="en-US" sz="2500" b="1">
                <a:solidFill>
                  <a:srgbClr val="0E2036"/>
                </a:solidFill>
                <a:latin typeface="Malgun Gothic" pitchFamily="34" charset="0"/>
                <a:ea typeface="Malgun Gothic" pitchFamily="34" charset="-122"/>
                <a:cs typeface="Malgun Gothic" pitchFamily="34" charset="-120"/>
              </a:rPr>
              <a:t>삼천당제약 투자포인트</a:t>
            </a:r>
            <a:endParaRPr lang="en-US" sz="2500" dirty="0"/>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p:cNvSpPr/>
          <p:nvPr/>
        </p:nvSpPr>
        <p:spPr>
          <a:xfrm>
            <a:off x="658368" y="1330000"/>
            <a:ext cx="10875264" cy="300000"/>
          </a:xfrm>
          <a:prstGeom prst="rect">
            <a:avLst/>
          </a:prstGeom>
          <a:noFill/>
          <a:ln/>
        </p:spPr>
        <p:txBody>
          <a:bodyPr wrap="square" lIns="0" tIns="0" rIns="0" bIns="0" rtlCol="0" anchor="ctr"/>
          <a:lstStyle/>
          <a:p>
            <a:pPr marL="0" indent="0">
              <a:buNone/>
            </a:pPr>
            <a:r>
              <a:rPr lang="ko-KR" altLang="en-US" sz="1250">
                <a:solidFill>
                  <a:srgbClr val="33465B"/>
                </a:solidFill>
                <a:latin typeface="Malgun Gothic" pitchFamily="34" charset="0"/>
                <a:ea typeface="Malgun Gothic" pitchFamily="34" charset="-122"/>
                <a:cs typeface="Malgun Gothic" pitchFamily="34" charset="-120"/>
              </a:rPr>
              <a:t>현재 시가총액은 </a:t>
            </a:r>
            <a:r>
              <a:rPr lang="ko-KR" altLang="en-US" sz="1250" dirty="0">
                <a:solidFill>
                  <a:srgbClr val="33465B"/>
                </a:solidFill>
                <a:latin typeface="Malgun Gothic" pitchFamily="34" charset="0"/>
                <a:ea typeface="Malgun Gothic" pitchFamily="34" charset="-122"/>
                <a:cs typeface="Malgun Gothic" pitchFamily="34" charset="-120"/>
              </a:rPr>
              <a:t>SCD411</a:t>
            </a:r>
            <a:r>
              <a:rPr lang="ko-KR" altLang="en-US" sz="1250">
                <a:solidFill>
                  <a:srgbClr val="33465B"/>
                </a:solidFill>
                <a:latin typeface="Malgun Gothic" pitchFamily="34" charset="0"/>
                <a:ea typeface="Malgun Gothic" pitchFamily="34" charset="-122"/>
                <a:cs typeface="Malgun Gothic" pitchFamily="34" charset="-120"/>
              </a:rPr>
              <a:t> 실적화 가능성과 </a:t>
            </a:r>
            <a:r>
              <a:rPr lang="ko-KR" altLang="en-US" sz="1250" dirty="0">
                <a:solidFill>
                  <a:srgbClr val="33465B"/>
                </a:solidFill>
                <a:latin typeface="Malgun Gothic" pitchFamily="34" charset="0"/>
                <a:ea typeface="Malgun Gothic" pitchFamily="34" charset="-122"/>
                <a:cs typeface="Malgun Gothic" pitchFamily="34" charset="-120"/>
              </a:rPr>
              <a:t>S-PASS </a:t>
            </a:r>
            <a:r>
              <a:rPr lang="ko-KR" altLang="en-US" sz="1250">
                <a:solidFill>
                  <a:srgbClr val="33465B"/>
                </a:solidFill>
                <a:latin typeface="Malgun Gothic" pitchFamily="34" charset="0"/>
                <a:ea typeface="Malgun Gothic" pitchFamily="34" charset="-122"/>
                <a:cs typeface="Malgun Gothic" pitchFamily="34" charset="-120"/>
              </a:rPr>
              <a:t>옵션가치, 두 가지 핵심 투자아이디어를 상당 부분 반영하고</a:t>
            </a:r>
            <a:r>
              <a:rPr lang="ko-KR" altLang="en-US" sz="1250" dirty="0">
                <a:solidFill>
                  <a:srgbClr val="33465B"/>
                </a:solidFill>
                <a:latin typeface="Malgun Gothic" pitchFamily="34" charset="0"/>
                <a:ea typeface="Malgun Gothic" pitchFamily="34" charset="-122"/>
                <a:cs typeface="Malgun Gothic" pitchFamily="34" charset="-120"/>
              </a:rPr>
              <a:t> 있다.</a:t>
            </a:r>
            <a:endParaRPr lang="ko-KR" altLang="en-US" sz="1250">
              <a:solidFill>
                <a:srgbClr val="33465B"/>
              </a:solidFill>
              <a:latin typeface="Malgun Gothic" pitchFamily="34" charset="0"/>
              <a:ea typeface="Malgun Gothic" pitchFamily="34" charset="-122"/>
              <a:cs typeface="Malgun Gothic" pitchFamily="34" charset="-120"/>
            </a:endParaRPr>
          </a:p>
        </p:txBody>
      </p:sp>
      <p:sp>
        <p:nvSpPr>
          <p:cNvPr id="100" name="card">
            <a:extLst>
              <a:ext uri="{C183D7F6-B498-43B3-948B-1728B52AA6E4}">
                <adec:decorative xmlns:adec="http://schemas.microsoft.com/office/drawing/2017/decorative" val="1"/>
              </a:ext>
            </a:extLst>
          </p:cNvPr>
          <p:cNvSpPr/>
          <p:nvPr/>
        </p:nvSpPr>
        <p:spPr>
          <a:xfrm>
            <a:off x="658368" y="1560000"/>
            <a:ext cx="5337632" cy="266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101" name="hdr">
            <a:extLst>
              <a:ext uri="{C183D7F6-B498-43B3-948B-1728B52AA6E4}">
                <adec:decorative xmlns:adec="http://schemas.microsoft.com/office/drawing/2017/decorative" val="1"/>
              </a:ext>
            </a:extLst>
          </p:cNvPr>
          <p:cNvSpPr/>
          <p:nvPr/>
        </p:nvSpPr>
        <p:spPr>
          <a:xfrm>
            <a:off x="658368" y="1560000"/>
            <a:ext cx="5337632" cy="470000"/>
          </a:xfrm>
          <a:prstGeom prst="round2SameRect">
            <a:avLst>
              <a:gd name="adj1" fmla="val 4200"/>
              <a:gd name="adj2" fmla="val 0"/>
            </a:avLst>
          </a:prstGeom>
          <a:solidFill>
            <a:srgbClr val="1D4ED8"/>
          </a:solidFill>
          <a:ln/>
        </p:spPr>
        <p:txBody>
          <a:bodyPr wrap="square" lIns="170000" tIns="0" rIns="90000" bIns="0" rtlCol="0" anchor="ctr"/>
          <a:lstStyle/>
          <a:p>
            <a:pPr>
              <a:buNone/>
            </a:pPr>
            <a:r>
              <a:rPr lang="ko-KR" altLang="en-US" sz="900" b="1">
                <a:solidFill>
                  <a:srgbClr val="FFFFFF"/>
                </a:solidFill>
                <a:latin typeface="Malgun Gothic" pitchFamily="34" charset="0"/>
                <a:ea typeface="Malgun Gothic" pitchFamily="34" charset="-122"/>
                <a:cs typeface="Malgun Gothic" pitchFamily="34" charset="-120"/>
              </a:rPr>
              <a:t>투자포인트 ①   </a:t>
            </a:r>
            <a:r>
              <a:rPr lang="ko-KR" altLang="en-US" sz="1250" b="1">
                <a:solidFill>
                  <a:srgbClr val="FFFFFF"/>
                </a:solidFill>
                <a:latin typeface="Malgun Gothic" pitchFamily="34" charset="0"/>
                <a:ea typeface="Malgun Gothic" pitchFamily="34" charset="-122"/>
                <a:cs typeface="Malgun Gothic" pitchFamily="34" charset="-120"/>
              </a:rPr>
              <a:t>SCD411 실적화</a:t>
            </a:r>
            <a:r>
              <a:rPr lang="ko-KR" altLang="en-US" sz="830">
                <a:solidFill>
                  <a:srgbClr val="FFFFFF"/>
                </a:solidFill>
                <a:latin typeface="Malgun Gothic" pitchFamily="34" charset="0"/>
                <a:ea typeface="Malgun Gothic" pitchFamily="34" charset="-122"/>
                <a:cs typeface="Malgun Gothic" pitchFamily="34" charset="-120"/>
              </a:rPr>
              <a:t>    Eylea Biosimilar</a:t>
            </a:r>
          </a:p>
        </p:txBody>
      </p:sp>
      <p:sp>
        <p:nvSpPr>
          <p:cNvPr id="102" name="metric"/>
          <p:cNvSpPr/>
          <p:nvPr/>
        </p:nvSpPr>
        <p:spPr>
          <a:xfrm>
            <a:off x="848368" y="2120000"/>
            <a:ext cx="2403816" cy="560000"/>
          </a:xfrm>
          <a:prstGeom prst="rect">
            <a:avLst/>
          </a:prstGeom>
          <a:solidFill>
            <a:srgbClr val="EAF0FA"/>
          </a:solidFill>
          <a:ln w="9525">
            <a:solidFill>
              <a:srgbClr val="BFD4F7"/>
            </a:solidFill>
          </a:ln>
        </p:spPr>
        <p:txBody>
          <a:bodyPr wrap="square" lIns="0" tIns="0" rIns="0" bIns="0" rtlCol="0" anchor="ctr"/>
          <a:lstStyle/>
          <a:p>
            <a:pPr algn="ctr">
              <a:buNone/>
            </a:pPr>
            <a:r>
              <a:rPr lang="ko-KR" altLang="en-US" sz="780" b="1">
                <a:solidFill>
                  <a:srgbClr val="5A6B7E"/>
                </a:solidFill>
                <a:latin typeface="Malgun Gothic" pitchFamily="34" charset="0"/>
                <a:ea typeface="Malgun Gothic" pitchFamily="34" charset="-122"/>
                <a:cs typeface="Malgun Gothic" pitchFamily="34" charset="-120"/>
              </a:rPr>
              <a:t>시장 규모</a:t>
            </a:r>
          </a:p>
          <a:p>
            <a:pPr algn="ctr">
              <a:spcBef>
                <a:spcPts val="150"/>
              </a:spcBef>
              <a:buNone/>
            </a:pPr>
            <a:r>
              <a:rPr lang="ko-KR" altLang="en-US" sz="2000" b="1">
                <a:solidFill>
                  <a:srgbClr val="1D4ED8"/>
                </a:solidFill>
                <a:latin typeface="Malgun Gothic" pitchFamily="34" charset="0"/>
                <a:ea typeface="Malgun Gothic" pitchFamily="34" charset="-122"/>
                <a:cs typeface="Malgun Gothic" pitchFamily="34" charset="-120"/>
              </a:rPr>
              <a:t>약 14조원</a:t>
            </a:r>
          </a:p>
        </p:txBody>
      </p:sp>
      <p:sp>
        <p:nvSpPr>
          <p:cNvPr id="103" name="summary"/>
          <p:cNvSpPr/>
          <p:nvPr/>
        </p:nvSpPr>
        <p:spPr>
          <a:xfrm>
            <a:off x="3402184" y="2120000"/>
            <a:ext cx="2403816" cy="560000"/>
          </a:xfrm>
          <a:prstGeom prst="rect">
            <a:avLst/>
          </a:prstGeom>
          <a:solidFill>
            <a:srgbClr val="1D4ED8"/>
          </a:solidFill>
          <a:ln/>
        </p:spPr>
        <p:txBody>
          <a:bodyPr wrap="square" lIns="0" tIns="0" rIns="0" bIns="0" rtlCol="0" anchor="ctr"/>
          <a:lstStyle/>
          <a:p>
            <a:pPr algn="ctr">
              <a:buNone/>
            </a:pPr>
            <a:r>
              <a:rPr lang="ko-KR" altLang="en-US" sz="760" b="1">
                <a:solidFill>
                  <a:srgbClr val="FFFFFF"/>
                </a:solidFill>
                <a:latin typeface="Malgun Gothic" pitchFamily="34" charset="0"/>
                <a:ea typeface="Malgun Gothic" pitchFamily="34" charset="-122"/>
                <a:cs typeface="Malgun Gothic" pitchFamily="34" charset="-120"/>
              </a:rPr>
              <a:t>한 줄 요약</a:t>
            </a:r>
          </a:p>
          <a:p>
            <a:pPr algn="ctr">
              <a:spcBef>
                <a:spcPts val="200"/>
              </a:spcBef>
              <a:buNone/>
            </a:pPr>
            <a:r>
              <a:rPr lang="ko-KR" altLang="en-US" sz="1000" b="1">
                <a:solidFill>
                  <a:srgbClr val="FFFFFF"/>
                </a:solidFill>
                <a:latin typeface="Malgun Gothic" pitchFamily="34" charset="0"/>
                <a:ea typeface="Malgun Gothic" pitchFamily="34" charset="-122"/>
                <a:cs typeface="Malgun Gothic" pitchFamily="34" charset="-120"/>
              </a:rPr>
              <a:t>“실적을 검증하는 성장동력”</a:t>
            </a:r>
          </a:p>
        </p:txBody>
      </p:sp>
      <p:sp>
        <p:nvSpPr>
          <p:cNvPr id="104" name="lbl"/>
          <p:cNvSpPr/>
          <p:nvPr/>
        </p:nvSpPr>
        <p:spPr>
          <a:xfrm>
            <a:off x="848368" y="2800000"/>
            <a:ext cx="2403816" cy="185000"/>
          </a:xfrm>
          <a:prstGeom prst="rect">
            <a:avLst/>
          </a:prstGeom>
          <a:noFill/>
          <a:ln/>
        </p:spPr>
        <p:txBody>
          <a:bodyPr wrap="square" lIns="0" tIns="0" rIns="0" bIns="0" rtlCol="0" anchor="ctr"/>
          <a:lstStyle/>
          <a:p>
            <a:pPr>
              <a:buNone/>
            </a:pPr>
            <a:r>
              <a:rPr lang="ko-KR" altLang="en-US" sz="830" b="1">
                <a:solidFill>
                  <a:srgbClr val="1D4ED8"/>
                </a:solidFill>
                <a:latin typeface="Malgun Gothic" pitchFamily="34" charset="0"/>
                <a:ea typeface="Malgun Gothic" pitchFamily="34" charset="-122"/>
                <a:cs typeface="Malgun Gothic" pitchFamily="34" charset="-120"/>
              </a:rPr>
              <a:t>현재 위치</a:t>
            </a:r>
          </a:p>
        </p:txBody>
      </p:sp>
      <p:sp>
        <p:nvSpPr>
          <p:cNvPr id="105" name="col"/>
          <p:cNvSpPr/>
          <p:nvPr/>
        </p:nvSpPr>
        <p:spPr>
          <a:xfrm>
            <a:off x="848368" y="3010000"/>
            <a:ext cx="2403816" cy="940000"/>
          </a:xfrm>
          <a:prstGeom prst="rect">
            <a:avLst/>
          </a:prstGeom>
          <a:noFill/>
          <a:ln/>
        </p:spPr>
        <p:txBody>
          <a:bodyPr wrap="square" lIns="0" tIns="0" rIns="0" bIns="0" rtlCol="0" anchor="t"/>
          <a:lstStyle/>
          <a:p>
            <a:pPr marL="165000" indent="-165000">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개발 완료</a:t>
            </a:r>
          </a:p>
          <a:p>
            <a:pPr marL="165000" indent="-165000">
              <a:spcBef>
                <a:spcPts val="300"/>
              </a:spcBef>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허가</a:t>
            </a:r>
          </a:p>
          <a:p>
            <a:pPr marL="165000" indent="-165000">
              <a:spcBef>
                <a:spcPts val="300"/>
              </a:spcBef>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판매</a:t>
            </a:r>
          </a:p>
          <a:p>
            <a:pPr marL="165000" indent="-165000">
              <a:spcBef>
                <a:spcPts val="300"/>
              </a:spcBef>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매출 인식</a:t>
            </a:r>
          </a:p>
        </p:txBody>
      </p:sp>
      <p:sp>
        <p:nvSpPr>
          <p:cNvPr id="106" name="lbl">
            <a:extLst>
              <a:ext uri="{C183D7F6-B498-43B3-948B-1728B52AA6E4}">
                <adec:decorative xmlns:adec="http://schemas.microsoft.com/office/drawing/2017/decorative" val="1"/>
              </a:ext>
            </a:extLst>
          </p:cNvPr>
          <p:cNvSpPr/>
          <p:nvPr/>
        </p:nvSpPr>
        <p:spPr>
          <a:xfrm>
            <a:off x="3402184" y="2800000"/>
            <a:ext cx="2403816" cy="185000"/>
          </a:xfrm>
          <a:prstGeom prst="rect">
            <a:avLst/>
          </a:prstGeom>
          <a:noFill/>
          <a:ln/>
        </p:spPr>
        <p:txBody>
          <a:bodyPr wrap="square" lIns="0" tIns="0" rIns="0" bIns="0" rtlCol="0" anchor="ctr"/>
          <a:lstStyle/>
          <a:p>
            <a:pPr>
              <a:buNone/>
            </a:pPr>
            <a:r>
              <a:rPr lang="ko-KR" altLang="en-US" sz="830" b="1">
                <a:solidFill>
                  <a:srgbClr val="1D4ED8"/>
                </a:solidFill>
                <a:latin typeface="Malgun Gothic" pitchFamily="34" charset="0"/>
                <a:ea typeface="Malgun Gothic" pitchFamily="34" charset="-122"/>
                <a:cs typeface="Malgun Gothic" pitchFamily="34" charset="-120"/>
              </a:rPr>
              <a:t>핵심 투자포인트</a:t>
            </a:r>
          </a:p>
        </p:txBody>
      </p:sp>
      <p:sp>
        <p:nvSpPr>
          <p:cNvPr id="107" name="col"/>
          <p:cNvSpPr/>
          <p:nvPr/>
        </p:nvSpPr>
        <p:spPr>
          <a:xfrm>
            <a:off x="3402184" y="3010000"/>
            <a:ext cx="2403816" cy="940000"/>
          </a:xfrm>
          <a:prstGeom prst="rect">
            <a:avLst/>
          </a:prstGeom>
          <a:noFill/>
          <a:ln/>
        </p:spPr>
        <p:txBody>
          <a:bodyPr wrap="square" lIns="0" tIns="0" rIns="0" bIns="0" rtlCol="0" anchor="t"/>
          <a:lstStyle/>
          <a:p>
            <a:pPr marL="165000" indent="-165000">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글로벌 판매 시작</a:t>
            </a:r>
          </a:p>
          <a:p>
            <a:pPr marL="165000" indent="-165000">
              <a:spcBef>
                <a:spcPts val="300"/>
              </a:spcBef>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국가별 출하량과 매출 인식 확대 여부</a:t>
            </a:r>
          </a:p>
          <a:p>
            <a:pPr marL="165000" indent="-165000">
              <a:spcBef>
                <a:spcPts val="300"/>
              </a:spcBef>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미국 시장 진입 구체화</a:t>
            </a:r>
          </a:p>
          <a:p>
            <a:pPr marL="165000" indent="-165000">
              <a:spcBef>
                <a:spcPts val="300"/>
              </a:spcBef>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Eylea HD 개발 진행</a:t>
            </a:r>
          </a:p>
          <a:p>
            <a:pPr marL="165000" indent="-165000">
              <a:spcBef>
                <a:spcPts val="300"/>
              </a:spcBef>
              <a:buClr>
                <a:srgbClr val="1D4ED8"/>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Profit Sharing 기반 이익률 검증</a:t>
            </a:r>
          </a:p>
        </p:txBody>
      </p:sp>
      <p:sp>
        <p:nvSpPr>
          <p:cNvPr id="200" name="card">
            <a:extLst>
              <a:ext uri="{C183D7F6-B498-43B3-948B-1728B52AA6E4}">
                <adec:decorative xmlns:adec="http://schemas.microsoft.com/office/drawing/2017/decorative" val="1"/>
              </a:ext>
            </a:extLst>
          </p:cNvPr>
          <p:cNvSpPr/>
          <p:nvPr/>
        </p:nvSpPr>
        <p:spPr>
          <a:xfrm>
            <a:off x="6196000" y="1560000"/>
            <a:ext cx="5337632" cy="266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1" name="hdr">
            <a:extLst>
              <a:ext uri="{C183D7F6-B498-43B3-948B-1728B52AA6E4}">
                <adec:decorative xmlns:adec="http://schemas.microsoft.com/office/drawing/2017/decorative" val="1"/>
              </a:ext>
            </a:extLst>
          </p:cNvPr>
          <p:cNvSpPr/>
          <p:nvPr/>
        </p:nvSpPr>
        <p:spPr>
          <a:xfrm>
            <a:off x="6196000" y="1560000"/>
            <a:ext cx="5337632" cy="470000"/>
          </a:xfrm>
          <a:prstGeom prst="round2SameRect">
            <a:avLst>
              <a:gd name="adj1" fmla="val 4200"/>
              <a:gd name="adj2" fmla="val 0"/>
            </a:avLst>
          </a:prstGeom>
          <a:solidFill>
            <a:srgbClr val="059669"/>
          </a:solidFill>
          <a:ln/>
        </p:spPr>
        <p:txBody>
          <a:bodyPr wrap="square" lIns="170000" tIns="0" rIns="90000" bIns="0" rtlCol="0" anchor="ctr"/>
          <a:lstStyle/>
          <a:p>
            <a:pPr>
              <a:buNone/>
            </a:pPr>
            <a:r>
              <a:rPr lang="ko-KR" altLang="en-US" sz="900" b="1">
                <a:solidFill>
                  <a:srgbClr val="FFFFFF"/>
                </a:solidFill>
                <a:latin typeface="Malgun Gothic" pitchFamily="34" charset="0"/>
                <a:ea typeface="Malgun Gothic" pitchFamily="34" charset="-122"/>
                <a:cs typeface="Malgun Gothic" pitchFamily="34" charset="-120"/>
              </a:rPr>
              <a:t>투자포인트 ②   </a:t>
            </a:r>
            <a:r>
              <a:rPr lang="ko-KR" altLang="en-US" sz="1250" b="1">
                <a:solidFill>
                  <a:srgbClr val="FFFFFF"/>
                </a:solidFill>
                <a:latin typeface="Malgun Gothic" pitchFamily="34" charset="0"/>
                <a:ea typeface="Malgun Gothic" pitchFamily="34" charset="-122"/>
                <a:cs typeface="Malgun Gothic" pitchFamily="34" charset="-120"/>
              </a:rPr>
              <a:t>S-PASS 플랫폼</a:t>
            </a:r>
            <a:r>
              <a:rPr lang="ko-KR" altLang="en-US" sz="830">
                <a:solidFill>
                  <a:srgbClr val="FFFFFF"/>
                </a:solidFill>
                <a:latin typeface="Malgun Gothic" pitchFamily="34" charset="0"/>
                <a:ea typeface="Malgun Gothic" pitchFamily="34" charset="-122"/>
                <a:cs typeface="Malgun Gothic" pitchFamily="34" charset="-120"/>
              </a:rPr>
              <a:t>    Injection → Oral</a:t>
            </a:r>
          </a:p>
        </p:txBody>
      </p:sp>
      <p:sp>
        <p:nvSpPr>
          <p:cNvPr id="202" name="metric"/>
          <p:cNvSpPr/>
          <p:nvPr/>
        </p:nvSpPr>
        <p:spPr>
          <a:xfrm>
            <a:off x="6386000" y="2120000"/>
            <a:ext cx="2403816" cy="560000"/>
          </a:xfrm>
          <a:prstGeom prst="rect">
            <a:avLst/>
          </a:prstGeom>
          <a:solidFill>
            <a:srgbClr val="E6F5F0"/>
          </a:solidFill>
          <a:ln w="9525">
            <a:solidFill>
              <a:srgbClr val="A7E0CE"/>
            </a:solidFill>
          </a:ln>
        </p:spPr>
        <p:txBody>
          <a:bodyPr wrap="square" lIns="0" tIns="0" rIns="0" bIns="0" rtlCol="0" anchor="ctr"/>
          <a:lstStyle/>
          <a:p>
            <a:pPr algn="ctr">
              <a:buNone/>
            </a:pPr>
            <a:r>
              <a:rPr lang="ko-KR" altLang="en-US" sz="780" b="1">
                <a:solidFill>
                  <a:srgbClr val="5A6B7E"/>
                </a:solidFill>
                <a:latin typeface="Malgun Gothic" pitchFamily="34" charset="0"/>
                <a:ea typeface="Malgun Gothic" pitchFamily="34" charset="-122"/>
                <a:cs typeface="Malgun Gothic" pitchFamily="34" charset="-120"/>
              </a:rPr>
              <a:t>잠재 시장</a:t>
            </a:r>
          </a:p>
          <a:p>
            <a:pPr algn="ctr">
              <a:spcBef>
                <a:spcPts val="150"/>
              </a:spcBef>
              <a:buNone/>
            </a:pPr>
            <a:r>
              <a:rPr lang="ko-KR" altLang="en-US" sz="2000" b="1">
                <a:solidFill>
                  <a:srgbClr val="059669"/>
                </a:solidFill>
                <a:latin typeface="Malgun Gothic" pitchFamily="34" charset="0"/>
                <a:ea typeface="Malgun Gothic" pitchFamily="34" charset="-122"/>
                <a:cs typeface="Malgun Gothic" pitchFamily="34" charset="-120"/>
              </a:rPr>
              <a:t>200조원+</a:t>
            </a:r>
          </a:p>
        </p:txBody>
      </p:sp>
      <p:sp>
        <p:nvSpPr>
          <p:cNvPr id="203" name="summary"/>
          <p:cNvSpPr/>
          <p:nvPr/>
        </p:nvSpPr>
        <p:spPr>
          <a:xfrm>
            <a:off x="8939816" y="2120000"/>
            <a:ext cx="2403816" cy="560000"/>
          </a:xfrm>
          <a:prstGeom prst="rect">
            <a:avLst/>
          </a:prstGeom>
          <a:solidFill>
            <a:srgbClr val="059669"/>
          </a:solidFill>
          <a:ln/>
        </p:spPr>
        <p:txBody>
          <a:bodyPr wrap="square" lIns="0" tIns="0" rIns="0" bIns="0" rtlCol="0" anchor="ctr"/>
          <a:lstStyle/>
          <a:p>
            <a:pPr algn="ctr">
              <a:buNone/>
            </a:pPr>
            <a:r>
              <a:rPr lang="ko-KR" altLang="en-US" sz="760" b="1">
                <a:solidFill>
                  <a:srgbClr val="FFFFFF"/>
                </a:solidFill>
                <a:latin typeface="Malgun Gothic" pitchFamily="34" charset="0"/>
                <a:ea typeface="Malgun Gothic" pitchFamily="34" charset="-122"/>
                <a:cs typeface="Malgun Gothic" pitchFamily="34" charset="-120"/>
              </a:rPr>
              <a:t>한 줄 요약</a:t>
            </a:r>
          </a:p>
          <a:p>
            <a:pPr algn="ctr">
              <a:spcBef>
                <a:spcPts val="200"/>
              </a:spcBef>
              <a:buNone/>
            </a:pPr>
            <a:r>
              <a:rPr lang="ko-KR" altLang="en-US" sz="1000" b="1">
                <a:solidFill>
                  <a:srgbClr val="FFFFFF"/>
                </a:solidFill>
                <a:latin typeface="Malgun Gothic" pitchFamily="34" charset="0"/>
                <a:ea typeface="Malgun Gothic" pitchFamily="34" charset="-122"/>
                <a:cs typeface="Malgun Gothic" pitchFamily="34" charset="-120"/>
              </a:rPr>
              <a:t>“기업가치 리레이팅을 시도하는 옵션가치”</a:t>
            </a:r>
          </a:p>
        </p:txBody>
      </p:sp>
      <p:sp>
        <p:nvSpPr>
          <p:cNvPr id="204" name="lbl"/>
          <p:cNvSpPr/>
          <p:nvPr/>
        </p:nvSpPr>
        <p:spPr>
          <a:xfrm>
            <a:off x="6386000" y="2800000"/>
            <a:ext cx="2403816" cy="185000"/>
          </a:xfrm>
          <a:prstGeom prst="rect">
            <a:avLst/>
          </a:prstGeom>
          <a:noFill/>
          <a:ln/>
        </p:spPr>
        <p:txBody>
          <a:bodyPr wrap="square" lIns="0" tIns="0" rIns="0" bIns="0" rtlCol="0" anchor="ctr"/>
          <a:lstStyle/>
          <a:p>
            <a:pPr>
              <a:buNone/>
            </a:pPr>
            <a:r>
              <a:rPr lang="ko-KR" altLang="en-US" sz="830" b="1">
                <a:solidFill>
                  <a:srgbClr val="059669"/>
                </a:solidFill>
                <a:latin typeface="Malgun Gothic" pitchFamily="34" charset="0"/>
                <a:ea typeface="Malgun Gothic" pitchFamily="34" charset="-122"/>
                <a:cs typeface="Malgun Gothic" pitchFamily="34" charset="-120"/>
              </a:rPr>
              <a:t>주요 파이프라인</a:t>
            </a:r>
          </a:p>
        </p:txBody>
      </p:sp>
      <p:sp>
        <p:nvSpPr>
          <p:cNvPr id="205" name="col"/>
          <p:cNvSpPr/>
          <p:nvPr/>
        </p:nvSpPr>
        <p:spPr>
          <a:xfrm>
            <a:off x="6386000" y="3010000"/>
            <a:ext cx="2403816" cy="940000"/>
          </a:xfrm>
          <a:prstGeom prst="rect">
            <a:avLst/>
          </a:prstGeom>
          <a:noFill/>
          <a:ln/>
        </p:spPr>
        <p:txBody>
          <a:bodyPr wrap="square" lIns="0" tIns="0" rIns="0" bIns="0" rtlCol="0" anchor="t"/>
          <a:lstStyle/>
          <a:p>
            <a:pPr marL="165000" indent="-165000">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경구 세마글루타이드</a:t>
            </a:r>
          </a:p>
          <a:p>
            <a:pPr marL="165000" indent="-165000">
              <a:spcBef>
                <a:spcPts val="300"/>
              </a:spcBef>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경구 인슐린</a:t>
            </a:r>
          </a:p>
          <a:p>
            <a:pPr marL="165000" indent="-165000">
              <a:spcBef>
                <a:spcPts val="300"/>
              </a:spcBef>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경구 터제파타이드</a:t>
            </a:r>
          </a:p>
          <a:p>
            <a:pPr marL="165000" indent="-165000">
              <a:spcBef>
                <a:spcPts val="300"/>
              </a:spcBef>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경구 항체의약품</a:t>
            </a:r>
          </a:p>
        </p:txBody>
      </p:sp>
      <p:sp>
        <p:nvSpPr>
          <p:cNvPr id="206" name="lbl">
            <a:extLst>
              <a:ext uri="{C183D7F6-B498-43B3-948B-1728B52AA6E4}">
                <adec:decorative xmlns:adec="http://schemas.microsoft.com/office/drawing/2017/decorative" val="1"/>
              </a:ext>
            </a:extLst>
          </p:cNvPr>
          <p:cNvSpPr/>
          <p:nvPr/>
        </p:nvSpPr>
        <p:spPr>
          <a:xfrm>
            <a:off x="8939816" y="2800000"/>
            <a:ext cx="2403816" cy="185000"/>
          </a:xfrm>
          <a:prstGeom prst="rect">
            <a:avLst/>
          </a:prstGeom>
          <a:noFill/>
          <a:ln/>
        </p:spPr>
        <p:txBody>
          <a:bodyPr wrap="square" lIns="0" tIns="0" rIns="0" bIns="0" rtlCol="0" anchor="ctr"/>
          <a:lstStyle/>
          <a:p>
            <a:pPr>
              <a:buNone/>
            </a:pPr>
            <a:r>
              <a:rPr lang="ko-KR" altLang="en-US" sz="830" b="1">
                <a:solidFill>
                  <a:srgbClr val="059669"/>
                </a:solidFill>
                <a:latin typeface="Malgun Gothic" pitchFamily="34" charset="0"/>
                <a:ea typeface="Malgun Gothic" pitchFamily="34" charset="-122"/>
                <a:cs typeface="Malgun Gothic" pitchFamily="34" charset="-120"/>
              </a:rPr>
              <a:t>핵심 투자포인트</a:t>
            </a:r>
          </a:p>
        </p:txBody>
      </p:sp>
      <p:sp>
        <p:nvSpPr>
          <p:cNvPr id="207" name="col"/>
          <p:cNvSpPr/>
          <p:nvPr/>
        </p:nvSpPr>
        <p:spPr>
          <a:xfrm>
            <a:off x="8939816" y="3010000"/>
            <a:ext cx="2403816" cy="940000"/>
          </a:xfrm>
          <a:prstGeom prst="rect">
            <a:avLst/>
          </a:prstGeom>
          <a:noFill/>
          <a:ln/>
        </p:spPr>
        <p:txBody>
          <a:bodyPr wrap="square" lIns="0" tIns="0" rIns="0" bIns="0" rtlCol="0" anchor="t"/>
          <a:lstStyle/>
          <a:p>
            <a:pPr marL="165000" indent="-165000">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경구 세마글루타이드로 첫 검증</a:t>
            </a:r>
          </a:p>
          <a:p>
            <a:pPr marL="165000" indent="-165000">
              <a:spcBef>
                <a:spcPts val="300"/>
              </a:spcBef>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인슐린·터제파타이드로 적용 범위 확대 시도</a:t>
            </a:r>
          </a:p>
          <a:p>
            <a:pPr marL="165000" indent="-165000">
              <a:spcBef>
                <a:spcPts val="300"/>
              </a:spcBef>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FDA 후속 절차와 추가 BE 요구 여부 확인</a:t>
            </a:r>
          </a:p>
          <a:p>
            <a:pPr marL="165000" indent="-165000">
              <a:spcBef>
                <a:spcPts val="300"/>
              </a:spcBef>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글로벌 계약의 마일스톤·매출 전환 여부</a:t>
            </a:r>
          </a:p>
          <a:p>
            <a:pPr marL="165000" indent="-165000">
              <a:spcBef>
                <a:spcPts val="300"/>
              </a:spcBef>
              <a:buClr>
                <a:srgbClr val="059669"/>
              </a:buClr>
              <a:buFont typeface="Arial"/>
              <a:buChar char="•"/>
            </a:pPr>
            <a:r>
              <a:rPr lang="ko-KR" altLang="en-US" sz="830">
                <a:solidFill>
                  <a:srgbClr val="33465B"/>
                </a:solidFill>
                <a:latin typeface="Malgun Gothic" pitchFamily="34" charset="0"/>
                <a:ea typeface="Malgun Gothic" pitchFamily="34" charset="-122"/>
                <a:cs typeface="Malgun Gothic" pitchFamily="34" charset="-120"/>
              </a:rPr>
              <a:t>데이터와 상업화 성공 시 리레이팅 가능</a:t>
            </a:r>
          </a:p>
        </p:txBody>
      </p:sp>
      <p:sp>
        <p:nvSpPr>
          <p:cNvPr id="300" name="opt box">
            <a:extLst>
              <a:ext uri="{C183D7F6-B498-43B3-948B-1728B52AA6E4}">
                <adec:decorative xmlns:adec="http://schemas.microsoft.com/office/drawing/2017/decorative" val="1"/>
              </a:ext>
            </a:extLst>
          </p:cNvPr>
          <p:cNvSpPr/>
          <p:nvPr/>
        </p:nvSpPr>
        <p:spPr>
          <a:xfrm>
            <a:off x="658368" y="4310000"/>
            <a:ext cx="10875264" cy="720000"/>
          </a:xfrm>
          <a:prstGeom prst="rect">
            <a:avLst/>
          </a:prstGeom>
          <a:solidFill>
            <a:srgbClr val="FBEDE2"/>
          </a:solidFill>
          <a:ln w="9525">
            <a:solidFill>
              <a:srgbClr val="F6C9A6"/>
            </a:solidFill>
          </a:ln>
        </p:spPr>
        <p:txBody>
          <a:bodyPr/>
          <a:lstStyle/>
          <a:p>
            <a:endParaRPr lang="ko-KR" altLang="en-US"/>
          </a:p>
        </p:txBody>
      </p:sp>
      <p:sp>
        <p:nvSpPr>
          <p:cNvPr id="301" name="opt accent">
            <a:extLst>
              <a:ext uri="{C183D7F6-B498-43B3-948B-1728B52AA6E4}">
                <adec:decorative xmlns:adec="http://schemas.microsoft.com/office/drawing/2017/decorative" val="1"/>
              </a:ext>
            </a:extLst>
          </p:cNvPr>
          <p:cNvSpPr/>
          <p:nvPr/>
        </p:nvSpPr>
        <p:spPr>
          <a:xfrm>
            <a:off x="658368" y="4310000"/>
            <a:ext cx="120000" cy="720000"/>
          </a:xfrm>
          <a:prstGeom prst="rect">
            <a:avLst/>
          </a:prstGeom>
          <a:solidFill>
            <a:srgbClr val="E8590C"/>
          </a:solidFill>
          <a:ln/>
        </p:spPr>
        <p:txBody>
          <a:bodyPr/>
          <a:lstStyle/>
          <a:p>
            <a:endParaRPr lang="ko-KR" altLang="en-US"/>
          </a:p>
        </p:txBody>
      </p:sp>
      <p:sp>
        <p:nvSpPr>
          <p:cNvPr id="302" name="opt text"/>
          <p:cNvSpPr/>
          <p:nvPr/>
        </p:nvSpPr>
        <p:spPr>
          <a:xfrm>
            <a:off x="978368" y="4310000"/>
            <a:ext cx="10315264" cy="720000"/>
          </a:xfrm>
          <a:prstGeom prst="rect">
            <a:avLst/>
          </a:prstGeom>
          <a:noFill/>
          <a:ln/>
        </p:spPr>
        <p:txBody>
          <a:bodyPr wrap="square" lIns="0" tIns="0" rIns="0" bIns="0" rtlCol="0" anchor="ctr"/>
          <a:lstStyle/>
          <a:p>
            <a:pPr>
              <a:buNone/>
            </a:pPr>
            <a:r>
              <a:rPr lang="ko-KR" altLang="en-US" sz="950" b="1">
                <a:solidFill>
                  <a:srgbClr val="E8590C"/>
                </a:solidFill>
                <a:latin typeface="Malgun Gothic" pitchFamily="34" charset="0"/>
                <a:ea typeface="Malgun Gothic" pitchFamily="34" charset="-122"/>
                <a:cs typeface="Malgun Gothic" pitchFamily="34" charset="-120"/>
              </a:rPr>
              <a:t>추가 성장 옵션   </a:t>
            </a:r>
            <a:r>
              <a:rPr lang="ko-KR" altLang="en-US" sz="950" b="1">
                <a:solidFill>
                  <a:srgbClr val="33465B"/>
                </a:solidFill>
                <a:latin typeface="Malgun Gothic" pitchFamily="34" charset="0"/>
                <a:ea typeface="Malgun Gothic" pitchFamily="34" charset="-122"/>
                <a:cs typeface="Malgun Gothic" pitchFamily="34" charset="-120"/>
              </a:rPr>
              <a:t>Eylea HD  ·  Vabysmo Biosimilar  ·  Long Acting Injectable  ·  SC Reform</a:t>
            </a:r>
          </a:p>
          <a:p>
            <a:pPr>
              <a:spcBef>
                <a:spcPts val="350"/>
              </a:spcBef>
              <a:buNone/>
            </a:pPr>
            <a:r>
              <a:rPr lang="ko-KR" altLang="en-US" sz="820">
                <a:solidFill>
                  <a:srgbClr val="8A5A3C"/>
                </a:solidFill>
                <a:latin typeface="Malgun Gothic" pitchFamily="34" charset="0"/>
                <a:ea typeface="Malgun Gothic" pitchFamily="34" charset="-122"/>
                <a:cs typeface="Malgun Gothic" pitchFamily="34" charset="-120"/>
              </a:rPr>
              <a:t>※ 현재 밸류에이션 기여도는 낮지만, 향후 기업가치를 확대할 수 있는 성장 옵션</a:t>
            </a:r>
          </a:p>
        </p:txBody>
      </p:sp>
      <p:sp>
        <p:nvSpPr>
          <p:cNvPr id="500" name="concl band">
            <a:extLst>
              <a:ext uri="{C183D7F6-B498-43B3-948B-1728B52AA6E4}">
                <adec:decorative xmlns:adec="http://schemas.microsoft.com/office/drawing/2017/decorative" val="1"/>
              </a:ext>
            </a:extLst>
          </p:cNvPr>
          <p:cNvSpPr/>
          <p:nvPr/>
        </p:nvSpPr>
        <p:spPr>
          <a:xfrm>
            <a:off x="658368" y="5150000"/>
            <a:ext cx="10875264" cy="1330000"/>
          </a:xfrm>
          <a:prstGeom prst="rect">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501" name="concl accent">
            <a:extLst>
              <a:ext uri="{C183D7F6-B498-43B3-948B-1728B52AA6E4}">
                <adec:decorative xmlns:adec="http://schemas.microsoft.com/office/drawing/2017/decorative" val="1"/>
              </a:ext>
            </a:extLst>
          </p:cNvPr>
          <p:cNvSpPr/>
          <p:nvPr/>
        </p:nvSpPr>
        <p:spPr>
          <a:xfrm>
            <a:off x="658368" y="5150000"/>
            <a:ext cx="120000" cy="1330000"/>
          </a:xfrm>
          <a:prstGeom prst="rect">
            <a:avLst/>
          </a:prstGeom>
          <a:solidFill>
            <a:srgbClr val="0D9488"/>
          </a:solidFill>
          <a:ln/>
        </p:spPr>
        <p:txBody>
          <a:bodyPr/>
          <a:lstStyle/>
          <a:p>
            <a:endParaRPr lang="ko-KR" altLang="en-US"/>
          </a:p>
        </p:txBody>
      </p:sp>
      <p:sp>
        <p:nvSpPr>
          <p:cNvPr id="502" name="concl text"/>
          <p:cNvSpPr/>
          <p:nvPr/>
        </p:nvSpPr>
        <p:spPr>
          <a:xfrm>
            <a:off x="1018368" y="5250000"/>
            <a:ext cx="10155264" cy="1130000"/>
          </a:xfrm>
          <a:prstGeom prst="rect">
            <a:avLst/>
          </a:prstGeom>
          <a:noFill/>
          <a:ln/>
        </p:spPr>
        <p:txBody>
          <a:bodyPr wrap="square" lIns="0" tIns="0" rIns="0" bIns="0" rtlCol="0" anchor="ctr"/>
          <a:lstStyle/>
          <a:p>
            <a:pPr algn="ctr">
              <a:buNone/>
            </a:pPr>
            <a:r>
              <a:rPr lang="ko-KR" altLang="en-US" sz="850" b="1" spc="200">
                <a:solidFill>
                  <a:srgbClr val="7FE9DC"/>
                </a:solidFill>
                <a:latin typeface="Malgun Gothic" pitchFamily="34" charset="0"/>
                <a:ea typeface="Malgun Gothic" pitchFamily="34" charset="-122"/>
                <a:cs typeface="Malgun Gothic" pitchFamily="34" charset="-120"/>
              </a:rPr>
              <a:t>최종 결론</a:t>
            </a:r>
          </a:p>
          <a:p>
            <a:pPr algn="ctr">
              <a:spcBef>
                <a:spcPts val="350"/>
              </a:spcBef>
              <a:buNone/>
            </a:pPr>
            <a:r>
              <a:rPr lang="ko-KR" altLang="en-US" sz="1100" b="1">
                <a:solidFill>
                  <a:srgbClr val="FFFFFF"/>
                </a:solidFill>
                <a:latin typeface="Malgun Gothic" pitchFamily="34" charset="0"/>
                <a:ea typeface="Malgun Gothic" pitchFamily="34" charset="-122"/>
                <a:cs typeface="Malgun Gothic" pitchFamily="34" charset="-120"/>
              </a:rPr>
              <a:t>삼천당제약은 </a:t>
            </a:r>
            <a:r>
              <a:rPr lang="ko-KR" altLang="en-US" sz="1100" b="1">
                <a:solidFill>
                  <a:srgbClr val="9FC2FF"/>
                </a:solidFill>
                <a:latin typeface="Malgun Gothic" pitchFamily="34" charset="0"/>
                <a:ea typeface="Malgun Gothic" pitchFamily="34" charset="-122"/>
                <a:cs typeface="Malgun Gothic" pitchFamily="34" charset="-120"/>
              </a:rPr>
              <a:t>SCD411</a:t>
            </a:r>
            <a:r>
              <a:rPr lang="ko-KR" altLang="en-US" sz="1100" b="1">
                <a:solidFill>
                  <a:srgbClr val="FFFFFF"/>
                </a:solidFill>
                <a:latin typeface="Malgun Gothic" pitchFamily="34" charset="0"/>
                <a:ea typeface="Malgun Gothic" pitchFamily="34" charset="-122"/>
                <a:cs typeface="Malgun Gothic" pitchFamily="34" charset="-120"/>
              </a:rPr>
              <a:t>로 실적화를 검증하고, </a:t>
            </a:r>
            <a:r>
              <a:rPr lang="ko-KR" altLang="en-US" sz="1100" b="1">
                <a:solidFill>
                  <a:srgbClr val="7FE9DC"/>
                </a:solidFill>
                <a:latin typeface="Malgun Gothic" pitchFamily="34" charset="0"/>
                <a:ea typeface="Malgun Gothic" pitchFamily="34" charset="-122"/>
                <a:cs typeface="Malgun Gothic" pitchFamily="34" charset="-120"/>
              </a:rPr>
              <a:t>S-PASS</a:t>
            </a:r>
            <a:r>
              <a:rPr lang="ko-KR" altLang="en-US" sz="1100" b="1">
                <a:solidFill>
                  <a:srgbClr val="FFFFFF"/>
                </a:solidFill>
                <a:latin typeface="Malgun Gothic" pitchFamily="34" charset="0"/>
                <a:ea typeface="Malgun Gothic" pitchFamily="34" charset="-122"/>
                <a:cs typeface="Malgun Gothic" pitchFamily="34" charset="-120"/>
              </a:rPr>
              <a:t>로 장기 옵션가치 확장을 시도하는 기업이다.</a:t>
            </a:r>
          </a:p>
          <a:p>
            <a:pPr algn="ctr">
              <a:spcBef>
                <a:spcPts val="350"/>
              </a:spcBef>
              <a:buNone/>
            </a:pPr>
            <a:r>
              <a:rPr lang="ko-KR" altLang="en-US" sz="950">
                <a:solidFill>
                  <a:srgbClr val="C7D2E0"/>
                </a:solidFill>
                <a:latin typeface="Malgun Gothic" pitchFamily="34" charset="0"/>
                <a:ea typeface="Malgun Gothic" pitchFamily="34" charset="-122"/>
                <a:cs typeface="Malgun Gothic" pitchFamily="34" charset="-120"/>
              </a:rPr>
              <a:t>차세대 플랫폼과 후속 파이프라인은 아직 </a:t>
            </a:r>
            <a:r>
              <a:rPr lang="ko-KR" altLang="en-US" sz="950" b="1">
                <a:solidFill>
                  <a:srgbClr val="FDBA74"/>
                </a:solidFill>
                <a:latin typeface="Malgun Gothic" pitchFamily="34" charset="0"/>
                <a:ea typeface="Malgun Gothic" pitchFamily="34" charset="-122"/>
                <a:cs typeface="Malgun Gothic" pitchFamily="34" charset="-120"/>
              </a:rPr>
              <a:t>장기 성장 옵션</a:t>
            </a:r>
            <a:r>
              <a:rPr lang="ko-KR" altLang="en-US" sz="950">
                <a:solidFill>
                  <a:srgbClr val="C7D2E0"/>
                </a:solidFill>
                <a:latin typeface="Malgun Gothic" pitchFamily="34" charset="0"/>
                <a:ea typeface="Malgun Gothic" pitchFamily="34" charset="-122"/>
                <a:cs typeface="Malgun Gothic" pitchFamily="34" charset="-120"/>
              </a:rPr>
              <a:t>으로 평가한다.</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ko-KR" alt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10</a:t>
            </a:r>
            <a:endParaRPr lang="en-US" sz="8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A">
    <p:spTree>
      <p:nvGrpSpPr>
        <p:cNvPr id="1" name=""/>
        <p:cNvGrpSpPr/>
        <p:nvPr/>
      </p:nvGrpSpPr>
      <p:grpSpPr>
        <a:xfrm>
          <a:off x="0" y="0"/>
          <a:ext cx="0" cy="0"/>
          <a:chOff x="0" y="0"/>
          <a:chExt cx="0" cy="0"/>
        </a:xfrm>
      </p:grpSpPr>
      <p:sp>
        <p:nvSpPr>
          <p:cNvPr id="2" name="bg">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080B12"/>
          </a:solidFill>
          <a:ln/>
        </p:spPr>
        <p:txBody>
          <a:bodyPr/>
          <a:lstStyle/>
          <a:p>
            <a:endParaRPr lang="ko-KR" altLang="en-US"/>
          </a:p>
        </p:txBody>
      </p:sp>
      <p:sp>
        <p:nvSpPr>
          <p:cNvPr id="3" name="top rule">
            <a:extLst>
              <a:ext uri="{C183D7F6-B498-43B3-948B-1728B52AA6E4}">
                <adec:decorative xmlns:adec="http://schemas.microsoft.com/office/drawing/2017/decorative" val="1"/>
              </a:ext>
            </a:extLst>
          </p:cNvPr>
          <p:cNvSpPr/>
          <p:nvPr/>
        </p:nvSpPr>
        <p:spPr>
          <a:xfrm>
            <a:off x="0" y="0"/>
            <a:ext cx="12191695" cy="109728"/>
          </a:xfrm>
          <a:prstGeom prst="rect">
            <a:avLst/>
          </a:prstGeom>
          <a:solidFill>
            <a:srgbClr val="1D4ED8"/>
          </a:solidFill>
          <a:ln/>
        </p:spPr>
        <p:txBody>
          <a:bodyPr/>
          <a:lstStyle/>
          <a:p>
            <a:endParaRPr lang="ko-KR" altLang="en-US"/>
          </a:p>
        </p:txBody>
      </p:sp>
      <p:sp>
        <p:nvSpPr>
          <p:cNvPr id="4" name="bottom rule">
            <a:extLst>
              <a:ext uri="{C183D7F6-B498-43B3-948B-1728B52AA6E4}">
                <adec:decorative xmlns:adec="http://schemas.microsoft.com/office/drawing/2017/decorative" val="1"/>
              </a:ext>
            </a:extLst>
          </p:cNvPr>
          <p:cNvSpPr/>
          <p:nvPr/>
        </p:nvSpPr>
        <p:spPr>
          <a:xfrm>
            <a:off x="0" y="6784848"/>
            <a:ext cx="12191695" cy="73152"/>
          </a:xfrm>
          <a:prstGeom prst="rect">
            <a:avLst/>
          </a:prstGeom>
          <a:solidFill>
            <a:srgbClr val="1E3A8A"/>
          </a:solidFill>
          <a:ln/>
        </p:spPr>
        <p:txBody>
          <a:bodyPr/>
          <a:lstStyle/>
          <a:p>
            <a:endParaRPr lang="ko-KR" altLang="en-US"/>
          </a:p>
        </p:txBody>
      </p:sp>
      <p:sp>
        <p:nvSpPr>
          <p:cNvPr id="5" name="kicker"/>
          <p:cNvSpPr/>
          <p:nvPr/>
        </p:nvSpPr>
        <p:spPr>
          <a:xfrm>
            <a:off x="841248" y="713232"/>
            <a:ext cx="5486400" cy="365760"/>
          </a:xfrm>
          <a:prstGeom prst="rect">
            <a:avLst/>
          </a:prstGeom>
          <a:noFill/>
          <a:ln/>
        </p:spPr>
        <p:txBody>
          <a:bodyPr wrap="square" lIns="0" tIns="0" rIns="0" bIns="0" rtlCol="0" anchor="ctr"/>
          <a:lstStyle/>
          <a:p>
            <a:pPr marL="0" indent="0">
              <a:buNone/>
            </a:pPr>
            <a:r>
              <a:rPr lang="ko-KR" altLang="en-US" sz="1400" b="1" kern="0" spc="600">
                <a:solidFill>
                  <a:srgbClr val="60A5FA"/>
                </a:solidFill>
                <a:latin typeface="Malgun Gothic" pitchFamily="34" charset="0"/>
                <a:ea typeface="Malgun Gothic" pitchFamily="34" charset="-122"/>
                <a:cs typeface="Malgun Gothic" pitchFamily="34" charset="-120"/>
              </a:rPr>
              <a:t>투자아이디어 1</a:t>
            </a:r>
            <a:endParaRPr lang="en-US" sz="1400"/>
          </a:p>
        </p:txBody>
      </p:sp>
      <p:sp>
        <p:nvSpPr>
          <p:cNvPr id="6" name="big number">
            <a:extLst>
              <a:ext uri="{C183D7F6-B498-43B3-948B-1728B52AA6E4}">
                <adec:decorative xmlns:adec="http://schemas.microsoft.com/office/drawing/2017/decorative" val="1"/>
              </a:ext>
            </a:extLst>
          </p:cNvPr>
          <p:cNvSpPr/>
          <p:nvPr/>
        </p:nvSpPr>
        <p:spPr>
          <a:xfrm>
            <a:off x="566928" y="2651760"/>
            <a:ext cx="5852160" cy="3840480"/>
          </a:xfrm>
          <a:prstGeom prst="rect">
            <a:avLst/>
          </a:prstGeom>
          <a:noFill/>
          <a:ln/>
        </p:spPr>
        <p:txBody>
          <a:bodyPr wrap="square" lIns="0" tIns="0" rIns="0" bIns="0" rtlCol="0" anchor="b"/>
          <a:lstStyle/>
          <a:p>
            <a:pPr marL="0" indent="0" algn="l">
              <a:buNone/>
            </a:pPr>
            <a:r>
              <a:rPr lang="en-US" sz="25000" b="1">
                <a:solidFill>
                  <a:srgbClr val="1E3A8A"/>
                </a:solidFill>
                <a:latin typeface="Malgun Gothic" pitchFamily="34" charset="0"/>
                <a:ea typeface="Malgun Gothic" pitchFamily="34" charset="-122"/>
                <a:cs typeface="Malgun Gothic" pitchFamily="34" charset="-120"/>
              </a:rPr>
              <a:t>01</a:t>
            </a:r>
            <a:endParaRPr lang="en-US" sz="25000"/>
          </a:p>
        </p:txBody>
      </p:sp>
      <p:sp>
        <p:nvSpPr>
          <p:cNvPr id="7" name="sep">
            <a:extLst>
              <a:ext uri="{C183D7F6-B498-43B3-948B-1728B52AA6E4}">
                <adec:decorative xmlns:adec="http://schemas.microsoft.com/office/drawing/2017/decorative" val="1"/>
              </a:ext>
            </a:extLst>
          </p:cNvPr>
          <p:cNvSpPr/>
          <p:nvPr/>
        </p:nvSpPr>
        <p:spPr>
          <a:xfrm>
            <a:off x="6720840" y="2148840"/>
            <a:ext cx="25603" cy="2560320"/>
          </a:xfrm>
          <a:prstGeom prst="rect">
            <a:avLst/>
          </a:prstGeom>
          <a:solidFill>
            <a:srgbClr val="24344F"/>
          </a:solidFill>
          <a:ln/>
        </p:spPr>
        <p:txBody>
          <a:bodyPr/>
          <a:lstStyle/>
          <a:p>
            <a:endParaRPr lang="ko-KR" altLang="en-US"/>
          </a:p>
        </p:txBody>
      </p:sp>
      <p:sp>
        <p:nvSpPr>
          <p:cNvPr id="8" name="accent">
            <a:extLst>
              <a:ext uri="{C183D7F6-B498-43B3-948B-1728B52AA6E4}">
                <adec:decorative xmlns:adec="http://schemas.microsoft.com/office/drawing/2017/decorative" val="1"/>
              </a:ext>
            </a:extLst>
          </p:cNvPr>
          <p:cNvSpPr/>
          <p:nvPr/>
        </p:nvSpPr>
        <p:spPr>
          <a:xfrm>
            <a:off x="7178040" y="2724912"/>
            <a:ext cx="731520" cy="73152"/>
          </a:xfrm>
          <a:prstGeom prst="rect">
            <a:avLst/>
          </a:prstGeom>
          <a:solidFill>
            <a:srgbClr val="1D4ED8"/>
          </a:solidFill>
          <a:ln/>
        </p:spPr>
        <p:txBody>
          <a:bodyPr/>
          <a:lstStyle/>
          <a:p>
            <a:endParaRPr lang="ko-KR" altLang="en-US"/>
          </a:p>
        </p:txBody>
      </p:sp>
      <p:sp>
        <p:nvSpPr>
          <p:cNvPr id="9" name="title">
            <a:extLst>
              <a:ext uri="{C183D7F6-B498-43B3-948B-1728B52AA6E4}">
                <adec:decorative xmlns:adec="http://schemas.microsoft.com/office/drawing/2017/decorative" val="1"/>
              </a:ext>
            </a:extLst>
          </p:cNvPr>
          <p:cNvSpPr/>
          <p:nvPr/>
        </p:nvSpPr>
        <p:spPr>
          <a:xfrm>
            <a:off x="7132320" y="2944368"/>
            <a:ext cx="4663440" cy="1188720"/>
          </a:xfrm>
          <a:prstGeom prst="rect">
            <a:avLst/>
          </a:prstGeom>
          <a:noFill/>
          <a:ln/>
        </p:spPr>
        <p:txBody>
          <a:bodyPr wrap="square" lIns="0" tIns="0" rIns="0" bIns="0" rtlCol="0" anchor="t"/>
          <a:lstStyle/>
          <a:p>
            <a:pPr marL="0" indent="0" algn="l">
              <a:lnSpc>
                <a:spcPct val="105000"/>
              </a:lnSpc>
              <a:buNone/>
            </a:pPr>
            <a:r>
              <a:rPr lang="en-US" sz="3300" b="1">
                <a:solidFill>
                  <a:srgbClr val="FFFFFF"/>
                </a:solidFill>
                <a:latin typeface="Malgun Gothic" pitchFamily="34" charset="0"/>
                <a:ea typeface="Malgun Gothic" pitchFamily="34" charset="-122"/>
                <a:cs typeface="Malgun Gothic" pitchFamily="34" charset="-120"/>
              </a:rPr>
              <a:t>SCD411 실적화</a:t>
            </a:r>
          </a:p>
        </p:txBody>
      </p:sp>
      <p:sp>
        <p:nvSpPr>
          <p:cNvPr id="10" name="subline">
            <a:extLst>
              <a:ext uri="{C183D7F6-B498-43B3-948B-1728B52AA6E4}">
                <adec:decorative xmlns:adec="http://schemas.microsoft.com/office/drawing/2017/decorative" val="1"/>
              </a:ext>
            </a:extLst>
          </p:cNvPr>
          <p:cNvSpPr/>
          <p:nvPr/>
        </p:nvSpPr>
        <p:spPr>
          <a:xfrm>
            <a:off x="7178040" y="4160520"/>
            <a:ext cx="4663440" cy="457200"/>
          </a:xfrm>
          <a:prstGeom prst="rect">
            <a:avLst/>
          </a:prstGeom>
          <a:noFill/>
          <a:ln/>
        </p:spPr>
        <p:txBody>
          <a:bodyPr wrap="square" lIns="0" tIns="0" rIns="0" bIns="0" rtlCol="0" anchor="ctr"/>
          <a:lstStyle/>
          <a:p>
            <a:pPr marL="0" indent="0" algn="l">
              <a:buNone/>
            </a:pPr>
            <a:r>
              <a:rPr lang="ko-KR" altLang="en-US" sz="1500" kern="0" spc="300">
                <a:solidFill>
                  <a:srgbClr val="BFDBFE"/>
                </a:solidFill>
                <a:latin typeface="Malgun Gothic" pitchFamily="34" charset="0"/>
                <a:ea typeface="Malgun Gothic" pitchFamily="34" charset="-122"/>
                <a:cs typeface="Malgun Gothic" pitchFamily="34" charset="-120"/>
              </a:rPr>
              <a:t>14조 시장이 실적으로 연결되는 구간</a:t>
            </a:r>
          </a:p>
        </p:txBody>
      </p:sp>
      <p:sp>
        <p:nvSpPr>
          <p:cNvPr id="20" name="msg accent">
            <a:extLst>
              <a:ext uri="{C183D7F6-B498-43B3-948B-1728B52AA6E4}">
                <adec:decorative xmlns:adec="http://schemas.microsoft.com/office/drawing/2017/decorative" val="1"/>
              </a:ext>
            </a:extLst>
          </p:cNvPr>
          <p:cNvSpPr/>
          <p:nvPr/>
        </p:nvSpPr>
        <p:spPr>
          <a:xfrm>
            <a:off x="7178040" y="4730000"/>
            <a:ext cx="46000" cy="460000"/>
          </a:xfrm>
          <a:prstGeom prst="rect">
            <a:avLst/>
          </a:prstGeom>
          <a:solidFill>
            <a:srgbClr val="60A5FA"/>
          </a:solidFill>
          <a:ln/>
        </p:spPr>
        <p:txBody>
          <a:bodyPr/>
          <a:lstStyle/>
          <a:p>
            <a:endParaRPr lang="ko-KR" altLang="en-US"/>
          </a:p>
        </p:txBody>
      </p:sp>
      <p:sp>
        <p:nvSpPr>
          <p:cNvPr id="21" name="msg txt"/>
          <p:cNvSpPr/>
          <p:nvPr/>
        </p:nvSpPr>
        <p:spPr>
          <a:xfrm>
            <a:off x="7308040" y="4700000"/>
            <a:ext cx="4533440" cy="540000"/>
          </a:xfrm>
          <a:prstGeom prst="rect">
            <a:avLst/>
          </a:prstGeom>
          <a:noFill/>
          <a:ln/>
        </p:spPr>
        <p:txBody>
          <a:bodyPr wrap="square" lIns="0" tIns="0" rIns="0" bIns="0" rtlCol="0" anchor="t"/>
          <a:lstStyle/>
          <a:p>
            <a:pPr>
              <a:buNone/>
            </a:pPr>
            <a:r>
              <a:rPr lang="ko-KR" altLang="en-US" sz="800" b="1" spc="100">
                <a:solidFill>
                  <a:srgbClr val="7FE9DC"/>
                </a:solidFill>
                <a:latin typeface="Malgun Gothic" pitchFamily="34" charset="0"/>
                <a:ea typeface="Malgun Gothic" pitchFamily="34" charset="-122"/>
                <a:cs typeface="Malgun Gothic" pitchFamily="34" charset="-120"/>
              </a:rPr>
              <a:t>핵심 메시지</a:t>
            </a:r>
          </a:p>
          <a:p>
            <a:pPr>
              <a:spcBef>
                <a:spcPts val="120"/>
              </a:spcBef>
              <a:buNone/>
            </a:pPr>
            <a:r>
              <a:rPr lang="ko-KR" altLang="en-US" sz="900">
                <a:solidFill>
                  <a:srgbClr val="CBD5E1"/>
                </a:solidFill>
                <a:latin typeface="Malgun Gothic" pitchFamily="34" charset="0"/>
                <a:ea typeface="Malgun Gothic" pitchFamily="34" charset="-122"/>
                <a:cs typeface="Malgun Gothic" pitchFamily="34" charset="-120"/>
              </a:rPr>
              <a:t>첫 번째 투자포인트는 SCD411의 성공 여부가 아니라, </a:t>
            </a:r>
            <a:r>
              <a:rPr lang="ko-KR" altLang="en-US" sz="900" b="1">
                <a:solidFill>
                  <a:srgbClr val="93C5FD"/>
                </a:solidFill>
                <a:latin typeface="Malgun Gothic" pitchFamily="34" charset="0"/>
                <a:ea typeface="Malgun Gothic" pitchFamily="34" charset="-122"/>
                <a:cs typeface="Malgun Gothic" pitchFamily="34" charset="-120"/>
              </a:rPr>
              <a:t>실제 매출과 이익으로 연결되는지</a:t>
            </a:r>
            <a:r>
              <a:rPr lang="ko-KR" altLang="en-US" sz="900">
                <a:solidFill>
                  <a:srgbClr val="CBD5E1"/>
                </a:solidFill>
                <a:latin typeface="Malgun Gothic" pitchFamily="34" charset="0"/>
                <a:ea typeface="Malgun Gothic" pitchFamily="34" charset="-122"/>
                <a:cs typeface="Malgun Gothic" pitchFamily="34" charset="-120"/>
              </a:rPr>
              <a:t>에 있다.</a:t>
            </a:r>
          </a:p>
        </p:txBody>
      </p:sp>
      <p:sp>
        <p:nvSpPr>
          <p:cNvPr id="30" name="agenda hdr"/>
          <p:cNvSpPr/>
          <p:nvPr/>
        </p:nvSpPr>
        <p:spPr>
          <a:xfrm>
            <a:off x="7178040" y="5290000"/>
            <a:ext cx="4663440" cy="210000"/>
          </a:xfrm>
          <a:prstGeom prst="rect">
            <a:avLst/>
          </a:prstGeom>
          <a:noFill/>
          <a:ln/>
        </p:spPr>
        <p:txBody>
          <a:bodyPr wrap="square" lIns="0" tIns="0" rIns="0" bIns="0" rtlCol="0" anchor="t"/>
          <a:lstStyle/>
          <a:p>
            <a:pPr>
              <a:buNone/>
            </a:pPr>
            <a:r>
              <a:rPr lang="ko-KR" altLang="en-US" sz="830" b="1">
                <a:solidFill>
                  <a:srgbClr val="60A5FA"/>
                </a:solidFill>
                <a:latin typeface="Malgun Gothic" pitchFamily="34" charset="0"/>
                <a:ea typeface="Malgun Gothic" pitchFamily="34" charset="-122"/>
                <a:cs typeface="Malgun Gothic" pitchFamily="34" charset="-120"/>
              </a:rPr>
              <a:t>본 챕터에서 다룰 내용</a:t>
            </a:r>
          </a:p>
        </p:txBody>
      </p:sp>
      <p:sp>
        <p:nvSpPr>
          <p:cNvPr id="31" name="ag"/>
          <p:cNvSpPr/>
          <p:nvPr/>
        </p:nvSpPr>
        <p:spPr>
          <a:xfrm>
            <a:off x="7178040" y="5530000"/>
            <a:ext cx="4663440" cy="190000"/>
          </a:xfrm>
          <a:prstGeom prst="rect">
            <a:avLst/>
          </a:prstGeom>
          <a:noFill/>
          <a:ln/>
        </p:spPr>
        <p:txBody>
          <a:bodyPr wrap="square" lIns="0" tIns="0" rIns="0" bIns="0" rtlCol="0" anchor="ctr"/>
          <a:lstStyle/>
          <a:p>
            <a:pPr>
              <a:buNone/>
            </a:pPr>
            <a:r>
              <a:rPr lang="ko-KR" altLang="en-US" sz="880" b="1">
                <a:solidFill>
                  <a:srgbClr val="60A5FA"/>
                </a:solidFill>
                <a:latin typeface="Malgun Gothic" pitchFamily="34" charset="0"/>
                <a:ea typeface="Malgun Gothic" pitchFamily="34" charset="-122"/>
                <a:cs typeface="Malgun Gothic" pitchFamily="34" charset="-120"/>
              </a:rPr>
              <a:t>①  </a:t>
            </a:r>
            <a:r>
              <a:rPr lang="ko-KR" altLang="en-US" sz="880">
                <a:solidFill>
                  <a:srgbClr val="E2E8F0"/>
                </a:solidFill>
                <a:latin typeface="Malgun Gothic" pitchFamily="34" charset="0"/>
                <a:ea typeface="Malgun Gothic" pitchFamily="34" charset="-122"/>
                <a:cs typeface="Malgun Gothic" pitchFamily="34" charset="-120"/>
              </a:rPr>
              <a:t>SCD411은 무엇인가</a:t>
            </a:r>
          </a:p>
        </p:txBody>
      </p:sp>
      <p:sp>
        <p:nvSpPr>
          <p:cNvPr id="32" name="ag"/>
          <p:cNvSpPr/>
          <p:nvPr/>
        </p:nvSpPr>
        <p:spPr>
          <a:xfrm>
            <a:off x="7178040" y="5728000"/>
            <a:ext cx="4663440" cy="190000"/>
          </a:xfrm>
          <a:prstGeom prst="rect">
            <a:avLst/>
          </a:prstGeom>
          <a:noFill/>
          <a:ln/>
        </p:spPr>
        <p:txBody>
          <a:bodyPr wrap="square" lIns="0" tIns="0" rIns="0" bIns="0" rtlCol="0" anchor="ctr"/>
          <a:lstStyle/>
          <a:p>
            <a:pPr>
              <a:buNone/>
            </a:pPr>
            <a:r>
              <a:rPr lang="ko-KR" altLang="en-US" sz="880" b="1">
                <a:solidFill>
                  <a:srgbClr val="60A5FA"/>
                </a:solidFill>
                <a:latin typeface="Malgun Gothic" pitchFamily="34" charset="0"/>
                <a:ea typeface="Malgun Gothic" pitchFamily="34" charset="-122"/>
                <a:cs typeface="Malgun Gothic" pitchFamily="34" charset="-120"/>
              </a:rPr>
              <a:t>②  </a:t>
            </a:r>
            <a:r>
              <a:rPr lang="ko-KR" altLang="en-US" sz="880">
                <a:solidFill>
                  <a:srgbClr val="E2E8F0"/>
                </a:solidFill>
                <a:latin typeface="Malgun Gothic" pitchFamily="34" charset="0"/>
                <a:ea typeface="Malgun Gothic" pitchFamily="34" charset="-122"/>
                <a:cs typeface="Malgun Gothic" pitchFamily="34" charset="-120"/>
              </a:rPr>
              <a:t>왜 큰 시장인가</a:t>
            </a:r>
          </a:p>
        </p:txBody>
      </p:sp>
      <p:sp>
        <p:nvSpPr>
          <p:cNvPr id="33" name="ag"/>
          <p:cNvSpPr/>
          <p:nvPr/>
        </p:nvSpPr>
        <p:spPr>
          <a:xfrm>
            <a:off x="7178040" y="5926000"/>
            <a:ext cx="4663440" cy="190000"/>
          </a:xfrm>
          <a:prstGeom prst="rect">
            <a:avLst/>
          </a:prstGeom>
          <a:noFill/>
          <a:ln/>
        </p:spPr>
        <p:txBody>
          <a:bodyPr wrap="square" lIns="0" tIns="0" rIns="0" bIns="0" rtlCol="0" anchor="ctr"/>
          <a:lstStyle/>
          <a:p>
            <a:pPr>
              <a:buNone/>
            </a:pPr>
            <a:r>
              <a:rPr lang="ko-KR" altLang="en-US" sz="880" b="1">
                <a:solidFill>
                  <a:srgbClr val="60A5FA"/>
                </a:solidFill>
                <a:latin typeface="Malgun Gothic" pitchFamily="34" charset="0"/>
                <a:ea typeface="Malgun Gothic" pitchFamily="34" charset="-122"/>
                <a:cs typeface="Malgun Gothic" pitchFamily="34" charset="-120"/>
              </a:rPr>
              <a:t>③  </a:t>
            </a:r>
            <a:r>
              <a:rPr lang="ko-KR" altLang="en-US" sz="880">
                <a:solidFill>
                  <a:srgbClr val="E2E8F0"/>
                </a:solidFill>
                <a:latin typeface="Malgun Gothic" pitchFamily="34" charset="0"/>
                <a:ea typeface="Malgun Gothic" pitchFamily="34" charset="-122"/>
                <a:cs typeface="Malgun Gothic" pitchFamily="34" charset="-120"/>
              </a:rPr>
              <a:t>왜 삼천당이 경쟁할 수 있는가</a:t>
            </a:r>
          </a:p>
        </p:txBody>
      </p:sp>
      <p:sp>
        <p:nvSpPr>
          <p:cNvPr id="34" name="ag"/>
          <p:cNvSpPr/>
          <p:nvPr/>
        </p:nvSpPr>
        <p:spPr>
          <a:xfrm>
            <a:off x="7178040" y="6124000"/>
            <a:ext cx="4663440" cy="190000"/>
          </a:xfrm>
          <a:prstGeom prst="rect">
            <a:avLst/>
          </a:prstGeom>
          <a:noFill/>
          <a:ln/>
        </p:spPr>
        <p:txBody>
          <a:bodyPr wrap="square" lIns="0" tIns="0" rIns="0" bIns="0" rtlCol="0" anchor="ctr"/>
          <a:lstStyle/>
          <a:p>
            <a:pPr>
              <a:buNone/>
            </a:pPr>
            <a:r>
              <a:rPr lang="ko-KR" altLang="en-US" sz="880" b="1">
                <a:solidFill>
                  <a:srgbClr val="60A5FA"/>
                </a:solidFill>
                <a:latin typeface="Malgun Gothic" pitchFamily="34" charset="0"/>
                <a:ea typeface="Malgun Gothic" pitchFamily="34" charset="-122"/>
                <a:cs typeface="Malgun Gothic" pitchFamily="34" charset="-120"/>
              </a:rPr>
              <a:t>④  </a:t>
            </a:r>
            <a:r>
              <a:rPr lang="ko-KR" altLang="en-US" sz="880">
                <a:solidFill>
                  <a:srgbClr val="E2E8F0"/>
                </a:solidFill>
                <a:latin typeface="Malgun Gothic" pitchFamily="34" charset="0"/>
                <a:ea typeface="Malgun Gothic" pitchFamily="34" charset="-122"/>
                <a:cs typeface="Malgun Gothic" pitchFamily="34" charset="-120"/>
              </a:rPr>
              <a:t>현재 어디까지 진행되었는가</a:t>
            </a:r>
          </a:p>
        </p:txBody>
      </p:sp>
      <p:sp>
        <p:nvSpPr>
          <p:cNvPr id="35" name="ag"/>
          <p:cNvSpPr/>
          <p:nvPr/>
        </p:nvSpPr>
        <p:spPr>
          <a:xfrm>
            <a:off x="7178040" y="6322000"/>
            <a:ext cx="4663440" cy="190000"/>
          </a:xfrm>
          <a:prstGeom prst="rect">
            <a:avLst/>
          </a:prstGeom>
          <a:noFill/>
          <a:ln/>
        </p:spPr>
        <p:txBody>
          <a:bodyPr wrap="square" lIns="0" tIns="0" rIns="0" bIns="0" rtlCol="0" anchor="ctr"/>
          <a:lstStyle/>
          <a:p>
            <a:pPr>
              <a:buNone/>
            </a:pPr>
            <a:r>
              <a:rPr lang="ko-KR" altLang="en-US" sz="880" b="1">
                <a:solidFill>
                  <a:srgbClr val="60A5FA"/>
                </a:solidFill>
                <a:latin typeface="Malgun Gothic" pitchFamily="34" charset="0"/>
                <a:ea typeface="Malgun Gothic" pitchFamily="34" charset="-122"/>
                <a:cs typeface="Malgun Gothic" pitchFamily="34" charset="-120"/>
              </a:rPr>
              <a:t>⑤  </a:t>
            </a:r>
            <a:r>
              <a:rPr lang="ko-KR" altLang="en-US" sz="880">
                <a:solidFill>
                  <a:srgbClr val="E2E8F0"/>
                </a:solidFill>
                <a:latin typeface="Malgun Gothic" pitchFamily="34" charset="0"/>
                <a:ea typeface="Malgun Gothic" pitchFamily="34" charset="-122"/>
                <a:cs typeface="Malgun Gothic" pitchFamily="34" charset="-120"/>
              </a:rPr>
              <a:t>현재 주가는 얼마나 반영하고 있는가</a:t>
            </a:r>
          </a:p>
        </p:txBody>
      </p:sp>
      <p:sp>
        <p:nvSpPr>
          <p:cNvPr id="11" name="page num"/>
          <p:cNvSpPr/>
          <p:nvPr/>
        </p:nvSpPr>
        <p:spPr>
          <a:xfrm>
            <a:off x="11064240" y="6410208"/>
            <a:ext cx="457200" cy="283464"/>
          </a:xfrm>
          <a:prstGeom prst="rect">
            <a:avLst/>
          </a:prstGeom>
          <a:noFill/>
          <a:ln/>
        </p:spPr>
        <p:txBody>
          <a:bodyPr wrap="square" lIns="0" tIns="0" rIns="0" bIns="0" rtlCol="0" anchor="ctr"/>
          <a:lstStyle/>
          <a:p>
            <a:pPr marL="0" indent="0" algn="r">
              <a:buNone/>
            </a:pPr>
            <a:r>
              <a:rPr lang="en-US" sz="850">
                <a:solidFill>
                  <a:srgbClr val="8595A8"/>
                </a:solidFill>
                <a:latin typeface="Malgun Gothic" pitchFamily="34" charset="0"/>
                <a:ea typeface="Malgun Gothic" pitchFamily="34" charset="-122"/>
                <a:cs typeface="Malgun Gothic" pitchFamily="34" charset="-120"/>
              </a:rPr>
              <a:t>11</a:t>
            </a:r>
            <a:endParaRPr lang="en-US" sz="8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CD411 product">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ko-KR" altLang="en-US" sz="1100" b="1" kern="0" spc="200">
                <a:solidFill>
                  <a:srgbClr val="1D4ED8"/>
                </a:solidFill>
                <a:latin typeface="Malgun Gothic" pitchFamily="34" charset="0"/>
                <a:ea typeface="Malgun Gothic" pitchFamily="34" charset="-122"/>
                <a:cs typeface="Malgun Gothic" pitchFamily="34" charset="-120"/>
              </a:rPr>
              <a:t>02 · 시장 · 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ko-KR" altLang="en-US" sz="2500" b="1">
                <a:solidFill>
                  <a:srgbClr val="0E2036"/>
                </a:solidFill>
                <a:latin typeface="Malgun Gothic" pitchFamily="34" charset="0"/>
                <a:ea typeface="Malgun Gothic" pitchFamily="34" charset="-122"/>
                <a:cs typeface="Malgun Gothic" pitchFamily="34" charset="-120"/>
              </a:rPr>
              <a:t>SCD411은 무엇인가?</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58368" y="1330000"/>
            <a:ext cx="10875264" cy="300000"/>
          </a:xfrm>
          <a:prstGeom prst="rect">
            <a:avLst/>
          </a:prstGeom>
          <a:noFill/>
          <a:ln/>
        </p:spPr>
        <p:txBody>
          <a:bodyPr wrap="square" lIns="0" tIns="0" rIns="0" bIns="0" rtlCol="0" anchor="ctr"/>
          <a:lstStyle/>
          <a:p>
            <a:pPr marL="0" indent="0">
              <a:buNone/>
            </a:pPr>
            <a:r>
              <a:rPr lang="ko-KR" altLang="en-US" sz="1250">
                <a:solidFill>
                  <a:srgbClr val="33465B"/>
                </a:solidFill>
                <a:latin typeface="Malgun Gothic" pitchFamily="34" charset="0"/>
                <a:ea typeface="Malgun Gothic" pitchFamily="34" charset="-122"/>
                <a:cs typeface="Malgun Gothic" pitchFamily="34" charset="-120"/>
              </a:rPr>
              <a:t>삼천당제약의 첫 글로벌 상업화 파이프라인</a:t>
            </a:r>
          </a:p>
        </p:txBody>
      </p:sp>
      <p:sp>
        <p:nvSpPr>
          <p:cNvPr id="10" name="eq band">
            <a:extLst>
              <a:ext uri="{C183D7F6-B498-43B3-948B-1728B52AA6E4}">
                <adec:decorative xmlns:adec="http://schemas.microsoft.com/office/drawing/2017/decorative" val="1"/>
              </a:ext>
            </a:extLst>
          </p:cNvPr>
          <p:cNvSpPr/>
          <p:nvPr/>
        </p:nvSpPr>
        <p:spPr>
          <a:xfrm>
            <a:off x="658368" y="1820000"/>
            <a:ext cx="10881360" cy="620000"/>
          </a:xfrm>
          <a:prstGeom prst="rect">
            <a:avLst/>
          </a:prstGeom>
          <a:solidFill>
            <a:srgbClr val="EAF0FA"/>
          </a:solidFill>
          <a:ln w="9525">
            <a:solidFill>
              <a:srgbClr val="BFD4F7"/>
            </a:solidFill>
          </a:ln>
        </p:spPr>
        <p:txBody>
          <a:bodyPr wrap="square" lIns="0" tIns="0" rIns="0" bIns="0" rtlCol="0" anchor="ctr"/>
          <a:lstStyle/>
          <a:p>
            <a:pPr algn="ctr">
              <a:buNone/>
            </a:pPr>
            <a:r>
              <a:rPr lang="ko-KR" altLang="en-US" sz="1500" b="1">
                <a:solidFill>
                  <a:srgbClr val="1D4ED8"/>
                </a:solidFill>
                <a:latin typeface="Malgun Gothic" pitchFamily="34" charset="0"/>
                <a:ea typeface="Malgun Gothic" pitchFamily="34" charset="-122"/>
                <a:cs typeface="Malgun Gothic" pitchFamily="34" charset="-120"/>
              </a:rPr>
              <a:t>SCD411</a:t>
            </a:r>
            <a:r>
              <a:rPr lang="ko-KR" altLang="en-US" sz="1300" b="1">
                <a:solidFill>
                  <a:srgbClr val="0B2038"/>
                </a:solidFill>
                <a:latin typeface="Malgun Gothic" pitchFamily="34" charset="0"/>
                <a:ea typeface="Malgun Gothic" pitchFamily="34" charset="-122"/>
                <a:cs typeface="Malgun Gothic" pitchFamily="34" charset="-120"/>
              </a:rPr>
              <a:t>   =   아일리아(Eylea) 바이오시밀러</a:t>
            </a:r>
          </a:p>
        </p:txBody>
      </p:sp>
      <p:sp>
        <p:nvSpPr>
          <p:cNvPr id="200" name="card">
            <a:extLst>
              <a:ext uri="{C183D7F6-B498-43B3-948B-1728B52AA6E4}">
                <adec:decorative xmlns:adec="http://schemas.microsoft.com/office/drawing/2017/decorative" val="1"/>
              </a:ext>
            </a:extLst>
          </p:cNvPr>
          <p:cNvSpPr/>
          <p:nvPr/>
        </p:nvSpPr>
        <p:spPr>
          <a:xfrm>
            <a:off x="658368" y="2590000"/>
            <a:ext cx="3493786" cy="256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1" name="cardhdr"/>
          <p:cNvSpPr/>
          <p:nvPr/>
        </p:nvSpPr>
        <p:spPr>
          <a:xfrm>
            <a:off x="658368" y="2590000"/>
            <a:ext cx="3493786" cy="36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바이오시밀러란?</a:t>
            </a:r>
          </a:p>
        </p:txBody>
      </p:sp>
      <p:sp>
        <p:nvSpPr>
          <p:cNvPr id="202" name="cardbody"/>
          <p:cNvSpPr/>
          <p:nvPr/>
        </p:nvSpPr>
        <p:spPr>
          <a:xfrm>
            <a:off x="808368" y="3020000"/>
            <a:ext cx="3193786" cy="2060000"/>
          </a:xfrm>
          <a:prstGeom prst="rect">
            <a:avLst/>
          </a:prstGeom>
          <a:noFill/>
          <a:ln/>
        </p:spPr>
        <p:txBody>
          <a:bodyPr wrap="square" lIns="0" tIns="0" rIns="0" bIns="0" rtlCol="0" anchor="t"/>
          <a:lstStyle/>
          <a:p>
            <a:pPr>
              <a:buNone/>
            </a:pPr>
            <a:r>
              <a:rPr lang="ko-KR" altLang="en-US" sz="950">
                <a:solidFill>
                  <a:srgbClr val="33465B"/>
                </a:solidFill>
                <a:latin typeface="Malgun Gothic" pitchFamily="34" charset="0"/>
                <a:ea typeface="Malgun Gothic" pitchFamily="34" charset="-122"/>
                <a:cs typeface="Malgun Gothic" pitchFamily="34" charset="-120"/>
              </a:rPr>
              <a:t>이미 검증된 바이오의약품과</a:t>
            </a:r>
          </a:p>
          <a:p>
            <a:pPr>
              <a:spcBef>
                <a:spcPts val="260"/>
              </a:spcBef>
              <a:buNone/>
            </a:pPr>
            <a:r>
              <a:rPr lang="ko-KR" altLang="en-US" sz="950">
                <a:solidFill>
                  <a:srgbClr val="33465B"/>
                </a:solidFill>
                <a:latin typeface="Malgun Gothic" pitchFamily="34" charset="0"/>
                <a:ea typeface="Malgun Gothic" pitchFamily="34" charset="-122"/>
                <a:cs typeface="Malgun Gothic" pitchFamily="34" charset="-120"/>
              </a:rPr>
              <a:t>동등한 효능·안전성을 갖도록</a:t>
            </a:r>
          </a:p>
          <a:p>
            <a:pPr>
              <a:spcBef>
                <a:spcPts val="260"/>
              </a:spcBef>
              <a:buNone/>
            </a:pPr>
            <a:r>
              <a:rPr lang="ko-KR" altLang="en-US" sz="950">
                <a:solidFill>
                  <a:srgbClr val="33465B"/>
                </a:solidFill>
                <a:latin typeface="Malgun Gothic" pitchFamily="34" charset="0"/>
                <a:ea typeface="Malgun Gothic" pitchFamily="34" charset="-122"/>
                <a:cs typeface="Malgun Gothic" pitchFamily="34" charset="-120"/>
              </a:rPr>
              <a:t>개발한 후속 의약품</a:t>
            </a:r>
          </a:p>
          <a:p>
            <a:pPr>
              <a:spcBef>
                <a:spcPts val="260"/>
              </a:spcBef>
              <a:buNone/>
            </a:pPr>
            <a:endParaRPr lang="ko-KR" altLang="en-US" sz="950">
              <a:solidFill>
                <a:srgbClr val="33465B"/>
              </a:solidFill>
              <a:latin typeface="Malgun Gothic" pitchFamily="34" charset="0"/>
              <a:ea typeface="Malgun Gothic" pitchFamily="34" charset="-122"/>
              <a:cs typeface="Malgun Gothic" pitchFamily="34" charset="-120"/>
            </a:endParaRPr>
          </a:p>
          <a:p>
            <a:pPr>
              <a:spcBef>
                <a:spcPts val="260"/>
              </a:spcBef>
              <a:buNone/>
            </a:pPr>
            <a:r>
              <a:rPr lang="ko-KR" altLang="en-US" sz="950">
                <a:solidFill>
                  <a:srgbClr val="33465B"/>
                </a:solidFill>
                <a:latin typeface="Malgun Gothic" pitchFamily="34" charset="0"/>
                <a:ea typeface="Malgun Gothic" pitchFamily="34" charset="-122"/>
                <a:cs typeface="Malgun Gothic" pitchFamily="34" charset="-120"/>
              </a:rPr>
              <a:t>원 개발사의 특허 만료 후</a:t>
            </a:r>
          </a:p>
          <a:p>
            <a:pPr>
              <a:spcBef>
                <a:spcPts val="260"/>
              </a:spcBef>
              <a:buNone/>
            </a:pPr>
            <a:r>
              <a:rPr lang="ko-KR" altLang="en-US" sz="950">
                <a:solidFill>
                  <a:srgbClr val="33465B"/>
                </a:solidFill>
                <a:latin typeface="Malgun Gothic" pitchFamily="34" charset="0"/>
                <a:ea typeface="Malgun Gothic" pitchFamily="34" charset="-122"/>
                <a:cs typeface="Malgun Gothic" pitchFamily="34" charset="-120"/>
              </a:rPr>
              <a:t>가격 경쟁력을 무기로 진입</a:t>
            </a:r>
          </a:p>
        </p:txBody>
      </p:sp>
      <p:sp>
        <p:nvSpPr>
          <p:cNvPr id="210" name="card">
            <a:extLst>
              <a:ext uri="{C183D7F6-B498-43B3-948B-1728B52AA6E4}">
                <adec:decorative xmlns:adec="http://schemas.microsoft.com/office/drawing/2017/decorative" val="1"/>
              </a:ext>
            </a:extLst>
          </p:cNvPr>
          <p:cNvSpPr/>
          <p:nvPr/>
        </p:nvSpPr>
        <p:spPr>
          <a:xfrm>
            <a:off x="4352154" y="2590000"/>
            <a:ext cx="3493786" cy="256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1" name="cardhdr"/>
          <p:cNvSpPr/>
          <p:nvPr/>
        </p:nvSpPr>
        <p:spPr>
          <a:xfrm>
            <a:off x="4352154" y="2590000"/>
            <a:ext cx="3493786" cy="36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오리지널 제품 : Eylea</a:t>
            </a:r>
          </a:p>
        </p:txBody>
      </p:sp>
      <p:sp>
        <p:nvSpPr>
          <p:cNvPr id="212" name="cardbody"/>
          <p:cNvSpPr/>
          <p:nvPr/>
        </p:nvSpPr>
        <p:spPr>
          <a:xfrm>
            <a:off x="4502154" y="3020000"/>
            <a:ext cx="3193786" cy="2060000"/>
          </a:xfrm>
          <a:prstGeom prst="rect">
            <a:avLst/>
          </a:prstGeom>
          <a:noFill/>
          <a:ln/>
        </p:spPr>
        <p:txBody>
          <a:bodyPr wrap="square" lIns="0" tIns="0" rIns="0" bIns="0" rtlCol="0" anchor="t"/>
          <a:lstStyle/>
          <a:p>
            <a:pPr>
              <a:buNone/>
            </a:pPr>
            <a:r>
              <a:rPr lang="ko-KR" altLang="en-US" sz="1050" b="1" dirty="0" err="1">
                <a:solidFill>
                  <a:srgbClr val="1D4ED8"/>
                </a:solidFill>
                <a:latin typeface="Malgun Gothic" pitchFamily="34" charset="0"/>
                <a:ea typeface="Malgun Gothic" pitchFamily="34" charset="-122"/>
                <a:cs typeface="Malgun Gothic" pitchFamily="34" charset="-120"/>
              </a:rPr>
              <a:t>Aflibercept</a:t>
            </a:r>
            <a:endParaRPr lang="ko-KR" altLang="en-US" sz="1050" b="1" dirty="0">
              <a:solidFill>
                <a:srgbClr val="1D4ED8"/>
              </a:solidFill>
              <a:latin typeface="Malgun Gothic" pitchFamily="34" charset="0"/>
              <a:ea typeface="Malgun Gothic" pitchFamily="34" charset="-122"/>
              <a:cs typeface="Malgun Gothic" pitchFamily="34" charset="-120"/>
            </a:endParaRPr>
          </a:p>
          <a:p>
            <a:pPr>
              <a:spcBef>
                <a:spcPts val="120"/>
              </a:spcBef>
              <a:buNone/>
            </a:pPr>
            <a:r>
              <a:rPr lang="ko-KR" altLang="en-US" sz="850" dirty="0">
                <a:solidFill>
                  <a:srgbClr val="5A6B7E"/>
                </a:solidFill>
                <a:latin typeface="Malgun Gothic" pitchFamily="34" charset="0"/>
                <a:ea typeface="Malgun Gothic" pitchFamily="34" charset="-122"/>
                <a:cs typeface="Malgun Gothic" pitchFamily="34" charset="-120"/>
              </a:rPr>
              <a:t>(</a:t>
            </a:r>
            <a:r>
              <a:rPr lang="ko-KR" altLang="en-US" sz="850" dirty="0" err="1">
                <a:solidFill>
                  <a:srgbClr val="5A6B7E"/>
                </a:solidFill>
                <a:latin typeface="Malgun Gothic" pitchFamily="34" charset="0"/>
                <a:ea typeface="Malgun Gothic" pitchFamily="34" charset="-122"/>
                <a:cs typeface="Malgun Gothic" pitchFamily="34" charset="-120"/>
              </a:rPr>
              <a:t>아일리아</a:t>
            </a:r>
            <a:r>
              <a:rPr lang="ko-KR" altLang="en-US" sz="850" dirty="0">
                <a:solidFill>
                  <a:srgbClr val="5A6B7E"/>
                </a:solidFill>
                <a:latin typeface="Malgun Gothic" pitchFamily="34" charset="0"/>
                <a:ea typeface="Malgun Gothic" pitchFamily="34" charset="-122"/>
                <a:cs typeface="Malgun Gothic" pitchFamily="34" charset="-120"/>
              </a:rPr>
              <a:t> · </a:t>
            </a:r>
            <a:r>
              <a:rPr lang="ko-KR" altLang="en-US" sz="850" dirty="0" err="1">
                <a:solidFill>
                  <a:srgbClr val="5A6B7E"/>
                </a:solidFill>
                <a:latin typeface="Malgun Gothic" pitchFamily="34" charset="0"/>
                <a:ea typeface="Malgun Gothic" pitchFamily="34" charset="-122"/>
                <a:cs typeface="Malgun Gothic" pitchFamily="34" charset="-120"/>
              </a:rPr>
              <a:t>애플리버셉트</a:t>
            </a:r>
            <a:r>
              <a:rPr lang="ko-KR" altLang="en-US" sz="850" dirty="0">
                <a:solidFill>
                  <a:srgbClr val="5A6B7E"/>
                </a:solidFill>
                <a:latin typeface="Malgun Gothic" pitchFamily="34" charset="0"/>
                <a:ea typeface="Malgun Gothic" pitchFamily="34" charset="-122"/>
                <a:cs typeface="Malgun Gothic" pitchFamily="34" charset="-120"/>
              </a:rPr>
              <a:t>)</a:t>
            </a:r>
          </a:p>
          <a:p>
            <a:pPr>
              <a:spcBef>
                <a:spcPts val="320"/>
              </a:spcBef>
              <a:buNone/>
            </a:pPr>
            <a:r>
              <a:rPr lang="ko-KR" altLang="en-US" sz="880" b="1" dirty="0">
                <a:solidFill>
                  <a:srgbClr val="0B2038"/>
                </a:solidFill>
                <a:latin typeface="Malgun Gothic" pitchFamily="34" charset="0"/>
                <a:ea typeface="Malgun Gothic" pitchFamily="34" charset="-122"/>
                <a:cs typeface="Malgun Gothic" pitchFamily="34" charset="-120"/>
              </a:rPr>
              <a:t>주요 적응증</a:t>
            </a:r>
          </a:p>
          <a:p>
            <a:pPr marL="165000" indent="-165000">
              <a:buClr>
                <a:srgbClr val="1D4ED8"/>
              </a:buClr>
              <a:buFont typeface="Arial"/>
              <a:buChar char="•"/>
            </a:pPr>
            <a:r>
              <a:rPr lang="ko-KR" altLang="en-US" sz="880" dirty="0">
                <a:solidFill>
                  <a:srgbClr val="33465B"/>
                </a:solidFill>
                <a:latin typeface="Malgun Gothic" pitchFamily="34" charset="0"/>
                <a:ea typeface="Malgun Gothic" pitchFamily="34" charset="-122"/>
                <a:cs typeface="Malgun Gothic" pitchFamily="34" charset="-120"/>
              </a:rPr>
              <a:t>습성 </a:t>
            </a:r>
            <a:r>
              <a:rPr lang="ko-KR" altLang="en-US" sz="880" dirty="0" err="1">
                <a:solidFill>
                  <a:srgbClr val="33465B"/>
                </a:solidFill>
                <a:latin typeface="Malgun Gothic" pitchFamily="34" charset="0"/>
                <a:ea typeface="Malgun Gothic" pitchFamily="34" charset="-122"/>
                <a:cs typeface="Malgun Gothic" pitchFamily="34" charset="-120"/>
              </a:rPr>
              <a:t>황반변성</a:t>
            </a:r>
            <a:endParaRPr lang="ko-KR" altLang="en-US" sz="880" dirty="0">
              <a:solidFill>
                <a:srgbClr val="33465B"/>
              </a:solidFill>
              <a:latin typeface="Malgun Gothic" pitchFamily="34" charset="0"/>
              <a:ea typeface="Malgun Gothic" pitchFamily="34" charset="-122"/>
              <a:cs typeface="Malgun Gothic" pitchFamily="34" charset="-120"/>
            </a:endParaRPr>
          </a:p>
          <a:p>
            <a:pPr marL="165000" indent="-165000">
              <a:spcBef>
                <a:spcPts val="280"/>
              </a:spcBef>
              <a:buClr>
                <a:srgbClr val="1D4ED8"/>
              </a:buClr>
              <a:buFont typeface="Arial"/>
              <a:buChar char="•"/>
            </a:pPr>
            <a:r>
              <a:rPr lang="ko-KR" altLang="en-US" sz="880" dirty="0">
                <a:solidFill>
                  <a:srgbClr val="33465B"/>
                </a:solidFill>
                <a:latin typeface="Malgun Gothic" pitchFamily="34" charset="0"/>
                <a:ea typeface="Malgun Gothic" pitchFamily="34" charset="-122"/>
                <a:cs typeface="Malgun Gothic" pitchFamily="34" charset="-120"/>
              </a:rPr>
              <a:t>당뇨병성 </a:t>
            </a:r>
            <a:r>
              <a:rPr lang="ko-KR" altLang="en-US" sz="880" dirty="0" err="1">
                <a:solidFill>
                  <a:srgbClr val="33465B"/>
                </a:solidFill>
                <a:latin typeface="Malgun Gothic" pitchFamily="34" charset="0"/>
                <a:ea typeface="Malgun Gothic" pitchFamily="34" charset="-122"/>
                <a:cs typeface="Malgun Gothic" pitchFamily="34" charset="-120"/>
              </a:rPr>
              <a:t>황반부종</a:t>
            </a:r>
            <a:endParaRPr lang="ko-KR" altLang="en-US" sz="880" dirty="0">
              <a:solidFill>
                <a:srgbClr val="33465B"/>
              </a:solidFill>
              <a:latin typeface="Malgun Gothic" pitchFamily="34" charset="0"/>
              <a:ea typeface="Malgun Gothic" pitchFamily="34" charset="-122"/>
              <a:cs typeface="Malgun Gothic" pitchFamily="34" charset="-120"/>
            </a:endParaRPr>
          </a:p>
          <a:p>
            <a:pPr marL="165000" indent="-165000">
              <a:spcBef>
                <a:spcPts val="280"/>
              </a:spcBef>
              <a:buClr>
                <a:srgbClr val="1D4ED8"/>
              </a:buClr>
              <a:buFont typeface="Arial"/>
              <a:buChar char="•"/>
            </a:pPr>
            <a:r>
              <a:rPr lang="ko-KR" altLang="en-US" sz="880" dirty="0" err="1">
                <a:solidFill>
                  <a:srgbClr val="33465B"/>
                </a:solidFill>
                <a:latin typeface="Malgun Gothic" pitchFamily="34" charset="0"/>
                <a:ea typeface="Malgun Gothic" pitchFamily="34" charset="-122"/>
                <a:cs typeface="Malgun Gothic" pitchFamily="34" charset="-120"/>
              </a:rPr>
              <a:t>망막정맥폐쇄</a:t>
            </a:r>
            <a:endParaRPr lang="ko-KR" altLang="en-US" sz="880" dirty="0">
              <a:solidFill>
                <a:srgbClr val="33465B"/>
              </a:solidFill>
              <a:latin typeface="Malgun Gothic" pitchFamily="34" charset="0"/>
              <a:ea typeface="Malgun Gothic" pitchFamily="34" charset="-122"/>
              <a:cs typeface="Malgun Gothic" pitchFamily="34" charset="-120"/>
            </a:endParaRPr>
          </a:p>
          <a:p>
            <a:pPr marL="165000" indent="-165000">
              <a:spcBef>
                <a:spcPts val="280"/>
              </a:spcBef>
              <a:buClr>
                <a:srgbClr val="1D4ED8"/>
              </a:buClr>
              <a:buFont typeface="Arial"/>
              <a:buChar char="•"/>
            </a:pPr>
            <a:r>
              <a:rPr lang="ko-KR" altLang="en-US" sz="880" dirty="0" err="1">
                <a:solidFill>
                  <a:srgbClr val="33465B"/>
                </a:solidFill>
                <a:latin typeface="Malgun Gothic" pitchFamily="34" charset="0"/>
                <a:ea typeface="Malgun Gothic" pitchFamily="34" charset="-122"/>
                <a:cs typeface="Malgun Gothic" pitchFamily="34" charset="-120"/>
              </a:rPr>
              <a:t>당뇨망막병증</a:t>
            </a:r>
            <a:endParaRPr lang="ko-KR" altLang="en-US" sz="880" dirty="0">
              <a:solidFill>
                <a:srgbClr val="33465B"/>
              </a:solidFill>
              <a:latin typeface="Malgun Gothic" pitchFamily="34" charset="0"/>
              <a:ea typeface="Malgun Gothic" pitchFamily="34" charset="-122"/>
              <a:cs typeface="Malgun Gothic" pitchFamily="34" charset="-120"/>
            </a:endParaRPr>
          </a:p>
        </p:txBody>
      </p:sp>
      <p:sp>
        <p:nvSpPr>
          <p:cNvPr id="220" name="card">
            <a:extLst>
              <a:ext uri="{C183D7F6-B498-43B3-948B-1728B52AA6E4}">
                <adec:decorative xmlns:adec="http://schemas.microsoft.com/office/drawing/2017/decorative" val="1"/>
              </a:ext>
            </a:extLst>
          </p:cNvPr>
          <p:cNvSpPr/>
          <p:nvPr/>
        </p:nvSpPr>
        <p:spPr>
          <a:xfrm>
            <a:off x="8045940" y="2590000"/>
            <a:ext cx="3493786" cy="256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21" name="cardhdr"/>
          <p:cNvSpPr/>
          <p:nvPr/>
        </p:nvSpPr>
        <p:spPr>
          <a:xfrm>
            <a:off x="8045940" y="2590000"/>
            <a:ext cx="3493786" cy="36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핵심 경쟁력</a:t>
            </a:r>
          </a:p>
        </p:txBody>
      </p:sp>
      <p:sp>
        <p:nvSpPr>
          <p:cNvPr id="222" name="cardbody"/>
          <p:cNvSpPr/>
          <p:nvPr/>
        </p:nvSpPr>
        <p:spPr>
          <a:xfrm>
            <a:off x="8195940" y="3020000"/>
            <a:ext cx="3193786" cy="2060000"/>
          </a:xfrm>
          <a:prstGeom prst="rect">
            <a:avLst/>
          </a:prstGeom>
          <a:noFill/>
          <a:ln/>
        </p:spPr>
        <p:txBody>
          <a:bodyPr wrap="square" lIns="0" tIns="0" rIns="0" bIns="0" rtlCol="0" anchor="t"/>
          <a:lstStyle/>
          <a:p>
            <a:pPr marL="165000" indent="-165000">
              <a:buClr>
                <a:srgbClr val="1D4ED8"/>
              </a:buClr>
              <a:buFont typeface="Arial"/>
              <a:buChar char="•"/>
            </a:pPr>
            <a:r>
              <a:rPr lang="ko-KR" altLang="en-US" sz="920">
                <a:solidFill>
                  <a:srgbClr val="33465B"/>
                </a:solidFill>
                <a:latin typeface="Malgun Gothic" pitchFamily="34" charset="0"/>
                <a:ea typeface="Malgun Gothic" pitchFamily="34" charset="-122"/>
                <a:cs typeface="Malgun Gothic" pitchFamily="34" charset="-120"/>
              </a:rPr>
              <a:t>검증된 글로벌 블록버스터 의약품</a:t>
            </a:r>
          </a:p>
          <a:p>
            <a:pPr marL="165000" indent="-165000">
              <a:spcBef>
                <a:spcPts val="280"/>
              </a:spcBef>
              <a:buClr>
                <a:srgbClr val="1D4ED8"/>
              </a:buClr>
              <a:buFont typeface="Arial"/>
              <a:buChar char="•"/>
            </a:pPr>
            <a:r>
              <a:rPr lang="ko-KR" altLang="en-US" sz="920">
                <a:solidFill>
                  <a:srgbClr val="33465B"/>
                </a:solidFill>
                <a:latin typeface="Malgun Gothic" pitchFamily="34" charset="0"/>
                <a:ea typeface="Malgun Gothic" pitchFamily="34" charset="-122"/>
                <a:cs typeface="Malgun Gothic" pitchFamily="34" charset="-120"/>
              </a:rPr>
              <a:t>가격 경쟁력 확보 가능</a:t>
            </a:r>
          </a:p>
          <a:p>
            <a:pPr marL="165000" indent="-165000">
              <a:spcBef>
                <a:spcPts val="280"/>
              </a:spcBef>
              <a:buClr>
                <a:srgbClr val="1D4ED8"/>
              </a:buClr>
              <a:buFont typeface="Arial"/>
              <a:buChar char="•"/>
            </a:pPr>
            <a:r>
              <a:rPr lang="ko-KR" altLang="en-US" sz="920">
                <a:solidFill>
                  <a:srgbClr val="33465B"/>
                </a:solidFill>
                <a:latin typeface="Malgun Gothic" pitchFamily="34" charset="0"/>
                <a:ea typeface="Malgun Gothic" pitchFamily="34" charset="-122"/>
                <a:cs typeface="Malgun Gothic" pitchFamily="34" charset="-120"/>
              </a:rPr>
              <a:t>PFS(사전충전주사) 제형 적용</a:t>
            </a:r>
          </a:p>
          <a:p>
            <a:pPr marL="165000" indent="-165000">
              <a:spcBef>
                <a:spcPts val="280"/>
              </a:spcBef>
              <a:buClr>
                <a:srgbClr val="1D4ED8"/>
              </a:buClr>
              <a:buFont typeface="Arial"/>
              <a:buChar char="•"/>
            </a:pPr>
            <a:r>
              <a:rPr lang="ko-KR" altLang="en-US" sz="920">
                <a:solidFill>
                  <a:srgbClr val="33465B"/>
                </a:solidFill>
                <a:latin typeface="Malgun Gothic" pitchFamily="34" charset="0"/>
                <a:ea typeface="Malgun Gothic" pitchFamily="34" charset="-122"/>
                <a:cs typeface="Malgun Gothic" pitchFamily="34" charset="-120"/>
              </a:rPr>
              <a:t>글로벌 판매 계약 체결</a:t>
            </a:r>
          </a:p>
        </p:txBody>
      </p:sp>
      <p:sp>
        <p:nvSpPr>
          <p:cNvPr id="90" name="msg band">
            <a:extLst>
              <a:ext uri="{C183D7F6-B498-43B3-948B-1728B52AA6E4}">
                <adec:decorative xmlns:adec="http://schemas.microsoft.com/office/drawing/2017/decorative" val="1"/>
              </a:ext>
            </a:extLst>
          </p:cNvPr>
          <p:cNvSpPr/>
          <p:nvPr/>
        </p:nvSpPr>
        <p:spPr>
          <a:xfrm>
            <a:off x="658368" y="5413248"/>
            <a:ext cx="10881360" cy="841248"/>
          </a:xfrm>
          <a:prstGeom prst="rect">
            <a:avLst/>
          </a:prstGeom>
          <a:solidFill>
            <a:srgbClr val="E7EFFA"/>
          </a:solidFill>
          <a:ln w="12700">
            <a:solidFill>
              <a:srgbClr val="D5E0F0"/>
            </a:solidFill>
          </a:ln>
          <a:effectLst>
            <a:outerShdw blurRad="88900" dist="25400" dir="5400000" algn="bl" rotWithShape="0">
              <a:srgbClr val="0E2036">
                <a:alpha val="10000"/>
              </a:srgbClr>
            </a:outerShdw>
          </a:effectLst>
        </p:spPr>
        <p:txBody>
          <a:bodyPr/>
          <a:lstStyle/>
          <a:p>
            <a:endParaRPr lang="ko-KR" altLang="en-US"/>
          </a:p>
        </p:txBody>
      </p:sp>
      <p:sp>
        <p:nvSpPr>
          <p:cNvPr id="91" name="msg accent">
            <a:extLst>
              <a:ext uri="{C183D7F6-B498-43B3-948B-1728B52AA6E4}">
                <adec:decorative xmlns:adec="http://schemas.microsoft.com/office/drawing/2017/decorative" val="1"/>
              </a:ext>
            </a:extLst>
          </p:cNvPr>
          <p:cNvSpPr/>
          <p:nvPr/>
        </p:nvSpPr>
        <p:spPr>
          <a:xfrm>
            <a:off x="658368" y="5413248"/>
            <a:ext cx="82296" cy="841248"/>
          </a:xfrm>
          <a:prstGeom prst="rect">
            <a:avLst/>
          </a:prstGeom>
          <a:solidFill>
            <a:srgbClr val="1D4ED8"/>
          </a:solidFill>
          <a:ln/>
        </p:spPr>
        <p:txBody>
          <a:bodyPr/>
          <a:lstStyle/>
          <a:p>
            <a:endParaRPr lang="ko-KR" altLang="en-US"/>
          </a:p>
        </p:txBody>
      </p:sp>
      <p:sp>
        <p:nvSpPr>
          <p:cNvPr id="92" name="msg text"/>
          <p:cNvSpPr/>
          <p:nvPr/>
        </p:nvSpPr>
        <p:spPr>
          <a:xfrm>
            <a:off x="932688" y="5486400"/>
            <a:ext cx="10424160" cy="694944"/>
          </a:xfrm>
          <a:prstGeom prst="rect">
            <a:avLst/>
          </a:prstGeom>
          <a:noFill/>
          <a:ln/>
        </p:spPr>
        <p:txBody>
          <a:bodyPr wrap="square" lIns="0" tIns="0" rIns="0" bIns="0" rtlCol="0" anchor="ctr"/>
          <a:lstStyle/>
          <a:p>
            <a:pPr>
              <a:buNone/>
            </a:pPr>
            <a:r>
              <a:rPr lang="ko-KR" altLang="en-US" sz="1200" b="1">
                <a:solidFill>
                  <a:srgbClr val="1D4ED8"/>
                </a:solidFill>
                <a:latin typeface="Malgun Gothic" pitchFamily="34" charset="0"/>
                <a:ea typeface="Malgun Gothic" pitchFamily="34" charset="-122"/>
                <a:cs typeface="Malgun Gothic" pitchFamily="34" charset="-120"/>
              </a:rPr>
              <a:t>핵심 </a:t>
            </a:r>
            <a:r>
              <a:rPr lang="ko-KR" altLang="en-US" sz="1200">
                <a:solidFill>
                  <a:srgbClr val="33465B"/>
                </a:solidFill>
                <a:latin typeface="Malgun Gothic" pitchFamily="34" charset="0"/>
                <a:ea typeface="Malgun Gothic" pitchFamily="34" charset="-122"/>
                <a:cs typeface="Malgun Gothic" pitchFamily="34" charset="-120"/>
              </a:rPr>
              <a:t>SCD411은 글로벌 블록버스터 안과 치료제 아일리아의 바이오시밀러이며, 삼천당제약의 첫 글로벌 상업화 제품이다.</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ko-KR" alt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12</a:t>
            </a:r>
            <a:endParaRPr lang="en-US" sz="8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C">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ko-KR" altLang="en-US" sz="1100" b="1" kern="0" spc="200">
                <a:solidFill>
                  <a:srgbClr val="1D4ED8"/>
                </a:solidFill>
                <a:latin typeface="Malgun Gothic" pitchFamily="34" charset="0"/>
                <a:ea typeface="Malgun Gothic" pitchFamily="34" charset="-122"/>
                <a:cs typeface="Malgun Gothic" pitchFamily="34" charset="-120"/>
              </a:rPr>
              <a:t>02 · 시장 · 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왜 아일리아가 중요한가?</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58368" y="1330000"/>
            <a:ext cx="10875264" cy="300000"/>
          </a:xfrm>
          <a:prstGeom prst="rect">
            <a:avLst/>
          </a:prstGeom>
          <a:noFill/>
          <a:ln/>
        </p:spPr>
        <p:txBody>
          <a:bodyPr wrap="square" lIns="0" tIns="0" rIns="0" bIns="0" rtlCol="0" anchor="ctr"/>
          <a:lstStyle/>
          <a:p>
            <a:pPr marL="0" indent="0">
              <a:buNone/>
            </a:pPr>
            <a:r>
              <a:rPr lang="ko-KR" altLang="en-US" sz="1250">
                <a:solidFill>
                  <a:srgbClr val="33465B"/>
                </a:solidFill>
                <a:latin typeface="Malgun Gothic" pitchFamily="34" charset="0"/>
                <a:ea typeface="Malgun Gothic" pitchFamily="34" charset="-122"/>
                <a:cs typeface="Malgun Gothic" pitchFamily="34" charset="-120"/>
              </a:rPr>
              <a:t>반복 투여가 필요한 대표 안과 블록버스터</a:t>
            </a:r>
          </a:p>
        </p:txBody>
      </p:sp>
      <p:sp>
        <p:nvSpPr>
          <p:cNvPr id="200" name="card">
            <a:extLst>
              <a:ext uri="{C183D7F6-B498-43B3-948B-1728B52AA6E4}">
                <adec:decorative xmlns:adec="http://schemas.microsoft.com/office/drawing/2017/decorative" val="1"/>
              </a:ext>
            </a:extLst>
          </p:cNvPr>
          <p:cNvSpPr/>
          <p:nvPr/>
        </p:nvSpPr>
        <p:spPr>
          <a:xfrm>
            <a:off x="658368" y="1820000"/>
            <a:ext cx="5340680" cy="21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1" name="cardhdr"/>
          <p:cNvSpPr/>
          <p:nvPr/>
        </p:nvSpPr>
        <p:spPr>
          <a:xfrm>
            <a:off x="658368" y="1820000"/>
            <a:ext cx="5340680" cy="36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황반변성이란?</a:t>
            </a:r>
          </a:p>
        </p:txBody>
      </p:sp>
      <p:sp>
        <p:nvSpPr>
          <p:cNvPr id="202" name="cardbody"/>
          <p:cNvSpPr/>
          <p:nvPr/>
        </p:nvSpPr>
        <p:spPr>
          <a:xfrm>
            <a:off x="808368" y="2250000"/>
            <a:ext cx="5040680" cy="1640000"/>
          </a:xfrm>
          <a:prstGeom prst="rect">
            <a:avLst/>
          </a:prstGeom>
          <a:noFill/>
          <a:ln/>
        </p:spPr>
        <p:txBody>
          <a:bodyPr wrap="square" lIns="0" tIns="0" rIns="0" bIns="0" rtlCol="0" anchor="t"/>
          <a:lstStyle/>
          <a:p>
            <a:pPr>
              <a:buNone/>
            </a:pPr>
            <a:r>
              <a:rPr lang="ko-KR" altLang="en-US" sz="950">
                <a:solidFill>
                  <a:srgbClr val="33465B"/>
                </a:solidFill>
                <a:latin typeface="Malgun Gothic" pitchFamily="34" charset="0"/>
                <a:ea typeface="Malgun Gothic" pitchFamily="34" charset="-122"/>
                <a:cs typeface="Malgun Gothic" pitchFamily="34" charset="-120"/>
              </a:rPr>
              <a:t>눈 안쪽 망막의 중심부(황반)가</a:t>
            </a:r>
          </a:p>
          <a:p>
            <a:pPr>
              <a:spcBef>
                <a:spcPts val="120"/>
              </a:spcBef>
              <a:buNone/>
            </a:pPr>
            <a:r>
              <a:rPr lang="ko-KR" altLang="en-US" sz="950">
                <a:solidFill>
                  <a:srgbClr val="33465B"/>
                </a:solidFill>
                <a:latin typeface="Malgun Gothic" pitchFamily="34" charset="0"/>
                <a:ea typeface="Malgun Gothic" pitchFamily="34" charset="-122"/>
                <a:cs typeface="Malgun Gothic" pitchFamily="34" charset="-120"/>
              </a:rPr>
              <a:t>손상되어 시력이 저하되는 질환</a:t>
            </a:r>
          </a:p>
          <a:p>
            <a:pPr>
              <a:spcBef>
                <a:spcPts val="340"/>
              </a:spcBef>
              <a:buNone/>
            </a:pPr>
            <a:r>
              <a:rPr lang="ko-KR" altLang="en-US" sz="900" b="1">
                <a:solidFill>
                  <a:srgbClr val="0B2038"/>
                </a:solidFill>
                <a:latin typeface="Malgun Gothic" pitchFamily="34" charset="0"/>
                <a:ea typeface="Malgun Gothic" pitchFamily="34" charset="-122"/>
                <a:cs typeface="Malgun Gothic" pitchFamily="34" charset="-120"/>
              </a:rPr>
              <a:t>주요 특징</a:t>
            </a:r>
          </a:p>
          <a:p>
            <a:pPr marL="165000" indent="-165000">
              <a:buClr>
                <a:srgbClr val="1D4ED8"/>
              </a:buClr>
              <a:buFont typeface="Arial"/>
              <a:buChar char="•"/>
            </a:pPr>
            <a:r>
              <a:rPr lang="ko-KR" altLang="en-US" sz="900">
                <a:solidFill>
                  <a:srgbClr val="33465B"/>
                </a:solidFill>
                <a:latin typeface="Malgun Gothic" pitchFamily="34" charset="0"/>
                <a:ea typeface="Malgun Gothic" pitchFamily="34" charset="-122"/>
                <a:cs typeface="Malgun Gothic" pitchFamily="34" charset="-120"/>
              </a:rPr>
              <a:t>고령화에 따라 환자 지속 증가</a:t>
            </a:r>
          </a:p>
          <a:p>
            <a:pPr marL="165000" indent="-165000">
              <a:spcBef>
                <a:spcPts val="280"/>
              </a:spcBef>
              <a:buClr>
                <a:srgbClr val="1D4ED8"/>
              </a:buClr>
              <a:buFont typeface="Arial"/>
              <a:buChar char="•"/>
            </a:pPr>
            <a:r>
              <a:rPr lang="ko-KR" altLang="en-US" sz="900">
                <a:solidFill>
                  <a:srgbClr val="33465B"/>
                </a:solidFill>
                <a:latin typeface="Malgun Gothic" pitchFamily="34" charset="0"/>
                <a:ea typeface="Malgun Gothic" pitchFamily="34" charset="-122"/>
                <a:cs typeface="Malgun Gothic" pitchFamily="34" charset="-120"/>
              </a:rPr>
              <a:t>방치 시 실명 위험 존재</a:t>
            </a:r>
          </a:p>
          <a:p>
            <a:pPr marL="165000" indent="-165000">
              <a:spcBef>
                <a:spcPts val="280"/>
              </a:spcBef>
              <a:buClr>
                <a:srgbClr val="1D4ED8"/>
              </a:buClr>
              <a:buFont typeface="Arial"/>
              <a:buChar char="•"/>
            </a:pPr>
            <a:r>
              <a:rPr lang="ko-KR" altLang="en-US" sz="900">
                <a:solidFill>
                  <a:srgbClr val="33465B"/>
                </a:solidFill>
                <a:latin typeface="Malgun Gothic" pitchFamily="34" charset="0"/>
                <a:ea typeface="Malgun Gothic" pitchFamily="34" charset="-122"/>
                <a:cs typeface="Malgun Gothic" pitchFamily="34" charset="-120"/>
              </a:rPr>
              <a:t>완치가 아닌 장기 치료 필요</a:t>
            </a:r>
          </a:p>
        </p:txBody>
      </p:sp>
      <p:sp>
        <p:nvSpPr>
          <p:cNvPr id="210" name="card">
            <a:extLst>
              <a:ext uri="{C183D7F6-B498-43B3-948B-1728B52AA6E4}">
                <adec:decorative xmlns:adec="http://schemas.microsoft.com/office/drawing/2017/decorative" val="1"/>
              </a:ext>
            </a:extLst>
          </p:cNvPr>
          <p:cNvSpPr/>
          <p:nvPr/>
        </p:nvSpPr>
        <p:spPr>
          <a:xfrm>
            <a:off x="6199048" y="1820000"/>
            <a:ext cx="5340680" cy="21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1" name="cardhdr"/>
          <p:cNvSpPr/>
          <p:nvPr/>
        </p:nvSpPr>
        <p:spPr>
          <a:xfrm>
            <a:off x="6199048" y="1820000"/>
            <a:ext cx="5340680" cy="36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아일리아 (Aflibercept)</a:t>
            </a:r>
          </a:p>
        </p:txBody>
      </p:sp>
      <p:sp>
        <p:nvSpPr>
          <p:cNvPr id="212" name="cardbody"/>
          <p:cNvSpPr/>
          <p:nvPr/>
        </p:nvSpPr>
        <p:spPr>
          <a:xfrm>
            <a:off x="6349048" y="2250000"/>
            <a:ext cx="5040680" cy="1640000"/>
          </a:xfrm>
          <a:prstGeom prst="rect">
            <a:avLst/>
          </a:prstGeom>
          <a:noFill/>
          <a:ln/>
        </p:spPr>
        <p:txBody>
          <a:bodyPr wrap="square" lIns="0" tIns="0" rIns="0" bIns="0" rtlCol="0" anchor="t"/>
          <a:lstStyle/>
          <a:p>
            <a:pPr>
              <a:buNone/>
            </a:pPr>
            <a:r>
              <a:rPr lang="ko-KR" altLang="en-US" sz="1000" b="1" dirty="0" err="1">
                <a:solidFill>
                  <a:srgbClr val="1D4ED8"/>
                </a:solidFill>
                <a:latin typeface="Malgun Gothic" pitchFamily="34" charset="0"/>
                <a:ea typeface="Malgun Gothic" pitchFamily="34" charset="-122"/>
                <a:cs typeface="Malgun Gothic" pitchFamily="34" charset="-120"/>
              </a:rPr>
              <a:t>Anti</a:t>
            </a:r>
            <a:r>
              <a:rPr lang="ko-KR" altLang="en-US" sz="1000" b="1" dirty="0">
                <a:solidFill>
                  <a:srgbClr val="1D4ED8"/>
                </a:solidFill>
                <a:latin typeface="Malgun Gothic" pitchFamily="34" charset="0"/>
                <a:ea typeface="Malgun Gothic" pitchFamily="34" charset="-122"/>
                <a:cs typeface="Malgun Gothic" pitchFamily="34" charset="-120"/>
              </a:rPr>
              <a:t>-VEGF 계열 치료제</a:t>
            </a:r>
          </a:p>
          <a:p>
            <a:pPr>
              <a:spcBef>
                <a:spcPts val="140"/>
              </a:spcBef>
              <a:buNone/>
            </a:pPr>
            <a:r>
              <a:rPr lang="ko-KR" altLang="en-US" sz="950" dirty="0">
                <a:solidFill>
                  <a:srgbClr val="33465B"/>
                </a:solidFill>
                <a:latin typeface="Malgun Gothic" pitchFamily="34" charset="0"/>
                <a:ea typeface="Malgun Gothic" pitchFamily="34" charset="-122"/>
                <a:cs typeface="Malgun Gothic" pitchFamily="34" charset="-120"/>
              </a:rPr>
              <a:t>안구 내 주사(눈 속 주사) 방식으로 투여</a:t>
            </a:r>
          </a:p>
          <a:p>
            <a:pPr>
              <a:spcBef>
                <a:spcPts val="340"/>
              </a:spcBef>
              <a:buNone/>
            </a:pPr>
            <a:r>
              <a:rPr lang="ko-KR" altLang="en-US" sz="900" b="1" dirty="0">
                <a:solidFill>
                  <a:srgbClr val="0B2038"/>
                </a:solidFill>
                <a:latin typeface="Malgun Gothic" pitchFamily="34" charset="0"/>
                <a:ea typeface="Malgun Gothic" pitchFamily="34" charset="-122"/>
                <a:cs typeface="Malgun Gothic" pitchFamily="34" charset="-120"/>
              </a:rPr>
              <a:t>작용 원리</a:t>
            </a:r>
          </a:p>
          <a:p>
            <a:pPr marL="165000" indent="-165000">
              <a:buClr>
                <a:srgbClr val="1D4ED8"/>
              </a:buClr>
              <a:buFont typeface="Arial"/>
              <a:buChar char="•"/>
            </a:pPr>
            <a:r>
              <a:rPr lang="ko-KR" altLang="en-US" sz="900" dirty="0">
                <a:solidFill>
                  <a:srgbClr val="33465B"/>
                </a:solidFill>
                <a:latin typeface="Malgun Gothic" pitchFamily="34" charset="0"/>
                <a:ea typeface="Malgun Gothic" pitchFamily="34" charset="-122"/>
                <a:cs typeface="Malgun Gothic" pitchFamily="34" charset="-120"/>
              </a:rPr>
              <a:t>비정상 혈관 증식을 억제</a:t>
            </a:r>
          </a:p>
          <a:p>
            <a:pPr marL="165000" indent="-165000">
              <a:spcBef>
                <a:spcPts val="280"/>
              </a:spcBef>
              <a:buClr>
                <a:srgbClr val="1D4ED8"/>
              </a:buClr>
              <a:buFont typeface="Arial"/>
              <a:buChar char="•"/>
            </a:pPr>
            <a:r>
              <a:rPr lang="ko-KR" altLang="en-US" sz="900" dirty="0">
                <a:solidFill>
                  <a:srgbClr val="33465B"/>
                </a:solidFill>
                <a:latin typeface="Malgun Gothic" pitchFamily="34" charset="0"/>
                <a:ea typeface="Malgun Gothic" pitchFamily="34" charset="-122"/>
                <a:cs typeface="Malgun Gothic" pitchFamily="34" charset="-120"/>
              </a:rPr>
              <a:t>시력 저하 진행을 늦춤</a:t>
            </a:r>
          </a:p>
          <a:p>
            <a:pPr marL="165000" indent="-165000">
              <a:spcBef>
                <a:spcPts val="280"/>
              </a:spcBef>
              <a:buClr>
                <a:srgbClr val="1D4ED8"/>
              </a:buClr>
              <a:buFont typeface="Arial"/>
              <a:buChar char="•"/>
            </a:pPr>
            <a:r>
              <a:rPr lang="ko-KR" altLang="en-US" sz="900" dirty="0">
                <a:solidFill>
                  <a:srgbClr val="33465B"/>
                </a:solidFill>
                <a:latin typeface="Malgun Gothic" pitchFamily="34" charset="0"/>
                <a:ea typeface="Malgun Gothic" pitchFamily="34" charset="-122"/>
                <a:cs typeface="Malgun Gothic" pitchFamily="34" charset="-120"/>
              </a:rPr>
              <a:t>일정 주기로 반복 투여</a:t>
            </a:r>
          </a:p>
        </p:txBody>
      </p:sp>
      <p:sp>
        <p:nvSpPr>
          <p:cNvPr id="300" name="mkt band">
            <a:extLst>
              <a:ext uri="{C183D7F6-B498-43B3-948B-1728B52AA6E4}">
                <adec:decorative xmlns:adec="http://schemas.microsoft.com/office/drawing/2017/decorative" val="1"/>
              </a:ext>
            </a:extLst>
          </p:cNvPr>
          <p:cNvSpPr/>
          <p:nvPr/>
        </p:nvSpPr>
        <p:spPr>
          <a:xfrm>
            <a:off x="658368" y="4110000"/>
            <a:ext cx="10881360" cy="1000000"/>
          </a:xfrm>
          <a:prstGeom prst="rect">
            <a:avLst/>
          </a:prstGeom>
          <a:solidFill>
            <a:srgbClr val="F4F7FB"/>
          </a:solidFill>
          <a:ln w="9525">
            <a:solidFill>
              <a:srgbClr val="D8E2EF"/>
            </a:solidFill>
          </a:ln>
        </p:spPr>
        <p:txBody>
          <a:bodyPr/>
          <a:lstStyle/>
          <a:p>
            <a:endParaRPr lang="ko-KR" altLang="en-US"/>
          </a:p>
        </p:txBody>
      </p:sp>
      <p:sp>
        <p:nvSpPr>
          <p:cNvPr id="301" name="mkt lbl"/>
          <p:cNvSpPr/>
          <p:nvPr/>
        </p:nvSpPr>
        <p:spPr>
          <a:xfrm>
            <a:off x="918368" y="4230000"/>
            <a:ext cx="10361360" cy="230000"/>
          </a:xfrm>
          <a:prstGeom prst="rect">
            <a:avLst/>
          </a:prstGeom>
          <a:noFill/>
          <a:ln/>
        </p:spPr>
        <p:txBody>
          <a:bodyPr wrap="square" lIns="0" tIns="0" rIns="0" bIns="0" rtlCol="0" anchor="t"/>
          <a:lstStyle/>
          <a:p>
            <a:pPr>
              <a:buNone/>
            </a:pPr>
            <a:r>
              <a:rPr lang="ko-KR" altLang="en-US" sz="900" b="1">
                <a:solidFill>
                  <a:srgbClr val="0B2038"/>
                </a:solidFill>
                <a:latin typeface="Malgun Gothic" pitchFamily="34" charset="0"/>
                <a:ea typeface="Malgun Gothic" pitchFamily="34" charset="-122"/>
                <a:cs typeface="Malgun Gothic" pitchFamily="34" charset="-120"/>
              </a:rPr>
              <a:t>시장 특성</a:t>
            </a:r>
          </a:p>
        </p:txBody>
      </p:sp>
      <p:sp>
        <p:nvSpPr>
          <p:cNvPr id="302" name="tile">
            <a:extLst>
              <a:ext uri="{C183D7F6-B498-43B3-948B-1728B52AA6E4}">
                <adec:decorative xmlns:adec="http://schemas.microsoft.com/office/drawing/2017/decorative" val="1"/>
              </a:ext>
            </a:extLst>
          </p:cNvPr>
          <p:cNvSpPr/>
          <p:nvPr/>
        </p:nvSpPr>
        <p:spPr>
          <a:xfrm>
            <a:off x="918368" y="4530000"/>
            <a:ext cx="3333786" cy="480000"/>
          </a:xfrm>
          <a:prstGeom prst="rect">
            <a:avLst/>
          </a:prstGeom>
          <a:solidFill>
            <a:srgbClr val="FFFFFF"/>
          </a:solidFill>
          <a:ln w="9525">
            <a:solidFill>
              <a:srgbClr val="BFD4F7"/>
            </a:solidFill>
          </a:ln>
        </p:spPr>
        <p:txBody>
          <a:bodyPr wrap="square" lIns="0" tIns="0" rIns="0" bIns="0" rtlCol="0" anchor="ctr"/>
          <a:lstStyle/>
          <a:p>
            <a:pPr algn="ctr">
              <a:buNone/>
            </a:pPr>
            <a:r>
              <a:rPr lang="ko-KR" altLang="en-US" sz="950" b="1">
                <a:solidFill>
                  <a:srgbClr val="1D4ED8"/>
                </a:solidFill>
                <a:latin typeface="Malgun Gothic" pitchFamily="34" charset="0"/>
                <a:ea typeface="Malgun Gothic" pitchFamily="34" charset="-122"/>
                <a:cs typeface="Malgun Gothic" pitchFamily="34" charset="-120"/>
              </a:rPr>
              <a:t>반복 투여 필요</a:t>
            </a:r>
          </a:p>
          <a:p>
            <a:pPr algn="ctr">
              <a:spcBef>
                <a:spcPts val="120"/>
              </a:spcBef>
              <a:buNone/>
            </a:pPr>
            <a:r>
              <a:rPr lang="ko-KR" altLang="en-US" sz="800">
                <a:solidFill>
                  <a:srgbClr val="5A6B7E"/>
                </a:solidFill>
                <a:latin typeface="Malgun Gothic" pitchFamily="34" charset="0"/>
                <a:ea typeface="Malgun Gothic" pitchFamily="34" charset="-122"/>
                <a:cs typeface="Malgun Gothic" pitchFamily="34" charset="-120"/>
              </a:rPr>
              <a:t>정기적으로 재투약</a:t>
            </a:r>
          </a:p>
        </p:txBody>
      </p:sp>
      <p:sp>
        <p:nvSpPr>
          <p:cNvPr id="303" name="tile">
            <a:extLst>
              <a:ext uri="{C183D7F6-B498-43B3-948B-1728B52AA6E4}">
                <adec:decorative xmlns:adec="http://schemas.microsoft.com/office/drawing/2017/decorative" val="1"/>
              </a:ext>
            </a:extLst>
          </p:cNvPr>
          <p:cNvSpPr/>
          <p:nvPr/>
        </p:nvSpPr>
        <p:spPr>
          <a:xfrm>
            <a:off x="4432154" y="4530000"/>
            <a:ext cx="3333786" cy="480000"/>
          </a:xfrm>
          <a:prstGeom prst="rect">
            <a:avLst/>
          </a:prstGeom>
          <a:solidFill>
            <a:srgbClr val="FFFFFF"/>
          </a:solidFill>
          <a:ln w="9525">
            <a:solidFill>
              <a:srgbClr val="BFD4F7"/>
            </a:solidFill>
          </a:ln>
        </p:spPr>
        <p:txBody>
          <a:bodyPr wrap="square" lIns="0" tIns="0" rIns="0" bIns="0" rtlCol="0" anchor="ctr"/>
          <a:lstStyle/>
          <a:p>
            <a:pPr algn="ctr">
              <a:buNone/>
            </a:pPr>
            <a:r>
              <a:rPr lang="ko-KR" altLang="en-US" sz="950" b="1">
                <a:solidFill>
                  <a:srgbClr val="1D4ED8"/>
                </a:solidFill>
                <a:latin typeface="Malgun Gothic" pitchFamily="34" charset="0"/>
                <a:ea typeface="Malgun Gothic" pitchFamily="34" charset="-122"/>
                <a:cs typeface="Malgun Gothic" pitchFamily="34" charset="-120"/>
              </a:rPr>
              <a:t>환자 유지 기간 길다</a:t>
            </a:r>
          </a:p>
          <a:p>
            <a:pPr algn="ctr">
              <a:spcBef>
                <a:spcPts val="120"/>
              </a:spcBef>
              <a:buNone/>
            </a:pPr>
            <a:r>
              <a:rPr lang="ko-KR" altLang="en-US" sz="800">
                <a:solidFill>
                  <a:srgbClr val="5A6B7E"/>
                </a:solidFill>
                <a:latin typeface="Malgun Gothic" pitchFamily="34" charset="0"/>
                <a:ea typeface="Malgun Gothic" pitchFamily="34" charset="-122"/>
                <a:cs typeface="Malgun Gothic" pitchFamily="34" charset="-120"/>
              </a:rPr>
              <a:t>장기 처방 지속</a:t>
            </a:r>
          </a:p>
        </p:txBody>
      </p:sp>
      <p:sp>
        <p:nvSpPr>
          <p:cNvPr id="304" name="tile">
            <a:extLst>
              <a:ext uri="{C183D7F6-B498-43B3-948B-1728B52AA6E4}">
                <adec:decorative xmlns:adec="http://schemas.microsoft.com/office/drawing/2017/decorative" val="1"/>
              </a:ext>
            </a:extLst>
          </p:cNvPr>
          <p:cNvSpPr/>
          <p:nvPr/>
        </p:nvSpPr>
        <p:spPr>
          <a:xfrm>
            <a:off x="7945940" y="4530000"/>
            <a:ext cx="3333786" cy="480000"/>
          </a:xfrm>
          <a:prstGeom prst="rect">
            <a:avLst/>
          </a:prstGeom>
          <a:solidFill>
            <a:srgbClr val="FFFFFF"/>
          </a:solidFill>
          <a:ln w="9525">
            <a:solidFill>
              <a:srgbClr val="BFD4F7"/>
            </a:solidFill>
          </a:ln>
        </p:spPr>
        <p:txBody>
          <a:bodyPr wrap="square" lIns="0" tIns="0" rIns="0" bIns="0" rtlCol="0" anchor="ctr"/>
          <a:lstStyle/>
          <a:p>
            <a:pPr algn="ctr">
              <a:buNone/>
            </a:pPr>
            <a:r>
              <a:rPr lang="ko-KR" altLang="en-US" sz="950" b="1">
                <a:solidFill>
                  <a:srgbClr val="1D4ED8"/>
                </a:solidFill>
                <a:latin typeface="Malgun Gothic" pitchFamily="34" charset="0"/>
                <a:ea typeface="Malgun Gothic" pitchFamily="34" charset="-122"/>
                <a:cs typeface="Malgun Gothic" pitchFamily="34" charset="-120"/>
              </a:rPr>
              <a:t>높은 약가</a:t>
            </a:r>
          </a:p>
          <a:p>
            <a:pPr algn="ctr">
              <a:spcBef>
                <a:spcPts val="120"/>
              </a:spcBef>
              <a:buNone/>
            </a:pPr>
            <a:r>
              <a:rPr lang="ko-KR" altLang="en-US" sz="800">
                <a:solidFill>
                  <a:srgbClr val="5A6B7E"/>
                </a:solidFill>
                <a:latin typeface="Malgun Gothic" pitchFamily="34" charset="0"/>
                <a:ea typeface="Malgun Gothic" pitchFamily="34" charset="-122"/>
                <a:cs typeface="Malgun Gothic" pitchFamily="34" charset="-120"/>
              </a:rPr>
              <a:t>고가 의약품 시장</a:t>
            </a:r>
          </a:p>
        </p:txBody>
      </p:sp>
      <p:sp>
        <p:nvSpPr>
          <p:cNvPr id="90" name="msg band">
            <a:extLst>
              <a:ext uri="{C183D7F6-B498-43B3-948B-1728B52AA6E4}">
                <adec:decorative xmlns:adec="http://schemas.microsoft.com/office/drawing/2017/decorative" val="1"/>
              </a:ext>
            </a:extLst>
          </p:cNvPr>
          <p:cNvSpPr/>
          <p:nvPr/>
        </p:nvSpPr>
        <p:spPr>
          <a:xfrm>
            <a:off x="658368" y="5413248"/>
            <a:ext cx="10881360" cy="841248"/>
          </a:xfrm>
          <a:prstGeom prst="rect">
            <a:avLst/>
          </a:prstGeom>
          <a:solidFill>
            <a:srgbClr val="E7EFFA"/>
          </a:solidFill>
          <a:ln w="12700">
            <a:solidFill>
              <a:srgbClr val="D5E0F0"/>
            </a:solidFill>
          </a:ln>
          <a:effectLst>
            <a:outerShdw blurRad="88900" dist="25400" dir="5400000" algn="bl" rotWithShape="0">
              <a:srgbClr val="0E2036">
                <a:alpha val="10000"/>
              </a:srgbClr>
            </a:outerShdw>
          </a:effectLst>
        </p:spPr>
        <p:txBody>
          <a:bodyPr/>
          <a:lstStyle/>
          <a:p>
            <a:endParaRPr lang="ko-KR" altLang="en-US"/>
          </a:p>
        </p:txBody>
      </p:sp>
      <p:sp>
        <p:nvSpPr>
          <p:cNvPr id="91" name="msg accent">
            <a:extLst>
              <a:ext uri="{C183D7F6-B498-43B3-948B-1728B52AA6E4}">
                <adec:decorative xmlns:adec="http://schemas.microsoft.com/office/drawing/2017/decorative" val="1"/>
              </a:ext>
            </a:extLst>
          </p:cNvPr>
          <p:cNvSpPr/>
          <p:nvPr/>
        </p:nvSpPr>
        <p:spPr>
          <a:xfrm>
            <a:off x="658368" y="5413248"/>
            <a:ext cx="82296" cy="841248"/>
          </a:xfrm>
          <a:prstGeom prst="rect">
            <a:avLst/>
          </a:prstGeom>
          <a:solidFill>
            <a:srgbClr val="1D4ED8"/>
          </a:solidFill>
          <a:ln/>
        </p:spPr>
        <p:txBody>
          <a:bodyPr/>
          <a:lstStyle/>
          <a:p>
            <a:endParaRPr lang="ko-KR" altLang="en-US"/>
          </a:p>
        </p:txBody>
      </p:sp>
      <p:sp>
        <p:nvSpPr>
          <p:cNvPr id="92" name="msg text"/>
          <p:cNvSpPr/>
          <p:nvPr/>
        </p:nvSpPr>
        <p:spPr>
          <a:xfrm>
            <a:off x="932688" y="5486400"/>
            <a:ext cx="10424160" cy="694944"/>
          </a:xfrm>
          <a:prstGeom prst="rect">
            <a:avLst/>
          </a:prstGeom>
          <a:noFill/>
          <a:ln/>
        </p:spPr>
        <p:txBody>
          <a:bodyPr wrap="square" lIns="0" tIns="0" rIns="0" bIns="0" rtlCol="0" anchor="ctr"/>
          <a:lstStyle/>
          <a:p>
            <a:pPr>
              <a:buNone/>
            </a:pPr>
            <a:r>
              <a:rPr lang="ko-KR" altLang="en-US" sz="1200" b="1" dirty="0">
                <a:solidFill>
                  <a:srgbClr val="1D4ED8"/>
                </a:solidFill>
                <a:latin typeface="Malgun Gothic" pitchFamily="34" charset="0"/>
                <a:ea typeface="Malgun Gothic" pitchFamily="34" charset="-122"/>
                <a:cs typeface="Malgun Gothic" pitchFamily="34" charset="-120"/>
              </a:rPr>
              <a:t>핵심 </a:t>
            </a:r>
            <a:r>
              <a:rPr lang="ko-KR" altLang="en-US" sz="1200" dirty="0" err="1">
                <a:solidFill>
                  <a:srgbClr val="33465B"/>
                </a:solidFill>
                <a:latin typeface="Malgun Gothic" pitchFamily="34" charset="0"/>
                <a:ea typeface="Malgun Gothic" pitchFamily="34" charset="-122"/>
                <a:cs typeface="Malgun Gothic" pitchFamily="34" charset="-120"/>
              </a:rPr>
              <a:t>아일리아는</a:t>
            </a:r>
            <a:r>
              <a:rPr lang="ko-KR" altLang="en-US" sz="1200" dirty="0">
                <a:solidFill>
                  <a:srgbClr val="33465B"/>
                </a:solidFill>
                <a:latin typeface="Malgun Gothic" pitchFamily="34" charset="0"/>
                <a:ea typeface="Malgun Gothic" pitchFamily="34" charset="-122"/>
                <a:cs typeface="Malgun Gothic" pitchFamily="34" charset="-120"/>
              </a:rPr>
              <a:t> 반복 투여가 필요한 대표 안과 블록버스터로, 한 번 자리 잡으면 장기간 매출이 이어지는 시장이다.</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ko-KR" alt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13</a:t>
            </a:r>
            <a:endParaRPr lang="en-US" sz="8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a:extLst>
              <a:ext uri="{C183D7F6-B498-43B3-948B-1728B52AA6E4}">
                <adec:decorative xmlns:adec="http://schemas.microsoft.com/office/drawing/2017/decorative" val="1"/>
              </a:ext>
            </a:extLst>
          </p:cNvP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dirty="0">
                <a:solidFill>
                  <a:srgbClr val="1D4ED8"/>
                </a:solidFill>
                <a:latin typeface="Malgun Gothic" pitchFamily="34" charset="0"/>
                <a:ea typeface="Malgun Gothic" pitchFamily="34" charset="-122"/>
                <a:cs typeface="Malgun Gothic" pitchFamily="34" charset="-120"/>
              </a:rPr>
              <a:t>02 · </a:t>
            </a:r>
            <a:r>
              <a:rPr lang="en-US" sz="1100" b="1" kern="0" spc="200">
                <a:solidFill>
                  <a:srgbClr val="1D4ED8"/>
                </a:solidFill>
                <a:latin typeface="Malgun Gothic" pitchFamily="34" charset="0"/>
                <a:ea typeface="Malgun Gothic" pitchFamily="34" charset="-122"/>
                <a:cs typeface="Malgun Gothic" pitchFamily="34" charset="-120"/>
              </a:rPr>
              <a:t>시장 · </a:t>
            </a:r>
            <a:r>
              <a:rPr lang="en-US" sz="1100" b="1" kern="0" spc="200" dirty="0">
                <a:solidFill>
                  <a:srgbClr val="1D4ED8"/>
                </a:solidFill>
                <a:latin typeface="Malgun Gothic" pitchFamily="34" charset="0"/>
                <a:ea typeface="Malgun Gothic" pitchFamily="34" charset="-122"/>
                <a:cs typeface="Malgun Gothic" pitchFamily="34" charset="-120"/>
              </a:rPr>
              <a:t>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dirty="0">
                <a:solidFill>
                  <a:srgbClr val="0E2036"/>
                </a:solidFill>
                <a:latin typeface="Malgun Gothic" pitchFamily="34" charset="0"/>
                <a:ea typeface="Malgun Gothic" pitchFamily="34" charset="-122"/>
                <a:cs typeface="Malgun Gothic" pitchFamily="34" charset="-120"/>
              </a:rPr>
              <a:t>왜 </a:t>
            </a:r>
            <a:r>
              <a:rPr lang="en-US" sz="2500" b="1" dirty="0" err="1">
                <a:solidFill>
                  <a:srgbClr val="0E2036"/>
                </a:solidFill>
                <a:latin typeface="Malgun Gothic" pitchFamily="34" charset="0"/>
                <a:ea typeface="Malgun Gothic" pitchFamily="34" charset="-122"/>
                <a:cs typeface="Malgun Gothic" pitchFamily="34" charset="-120"/>
              </a:rPr>
              <a:t>아일리아</a:t>
            </a:r>
            <a:r>
              <a:rPr lang="en-US" sz="2500" b="1" dirty="0">
                <a:solidFill>
                  <a:srgbClr val="0E2036"/>
                </a:solidFill>
                <a:latin typeface="Malgun Gothic" pitchFamily="34" charset="0"/>
                <a:ea typeface="Malgun Gothic" pitchFamily="34" charset="-122"/>
                <a:cs typeface="Malgun Gothic" pitchFamily="34" charset="-120"/>
              </a:rPr>
              <a:t> </a:t>
            </a:r>
            <a:r>
              <a:rPr lang="en-US" sz="2500" b="1" dirty="0" err="1">
                <a:solidFill>
                  <a:srgbClr val="0E2036"/>
                </a:solidFill>
                <a:latin typeface="Malgun Gothic" pitchFamily="34" charset="0"/>
                <a:ea typeface="Malgun Gothic" pitchFamily="34" charset="-122"/>
                <a:cs typeface="Malgun Gothic" pitchFamily="34" charset="-120"/>
              </a:rPr>
              <a:t>시장이</a:t>
            </a:r>
            <a:r>
              <a:rPr lang="en-US" sz="2500" b="1" dirty="0">
                <a:solidFill>
                  <a:srgbClr val="0E2036"/>
                </a:solidFill>
                <a:latin typeface="Malgun Gothic" pitchFamily="34" charset="0"/>
                <a:ea typeface="Malgun Gothic" pitchFamily="34" charset="-122"/>
                <a:cs typeface="Malgun Gothic" pitchFamily="34" charset="-120"/>
              </a:rPr>
              <a:t> </a:t>
            </a:r>
            <a:r>
              <a:rPr lang="en-US" sz="2500" b="1" dirty="0" err="1">
                <a:solidFill>
                  <a:srgbClr val="0E2036"/>
                </a:solidFill>
                <a:latin typeface="Malgun Gothic" pitchFamily="34" charset="0"/>
                <a:ea typeface="Malgun Gothic" pitchFamily="34" charset="-122"/>
                <a:cs typeface="Malgun Gothic" pitchFamily="34" charset="-120"/>
              </a:rPr>
              <a:t>중요한가</a:t>
            </a:r>
            <a:r>
              <a:rPr lang="en-US" sz="2500" b="1" dirty="0">
                <a:solidFill>
                  <a:srgbClr val="0E2036"/>
                </a:solidFill>
                <a:latin typeface="Malgun Gothic" pitchFamily="34" charset="0"/>
                <a:ea typeface="Malgun Gothic" pitchFamily="34" charset="-122"/>
                <a:cs typeface="Malgun Gothic" pitchFamily="34" charset="-120"/>
              </a:rPr>
              <a:t>?</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58368" y="1330000"/>
            <a:ext cx="10875264" cy="300000"/>
          </a:xfrm>
          <a:prstGeom prst="rect">
            <a:avLst/>
          </a:prstGeom>
          <a:noFill/>
          <a:ln/>
        </p:spPr>
        <p:txBody>
          <a:bodyPr wrap="square" lIns="0" tIns="0" rIns="0" bIns="0" rtlCol="0" anchor="ctr"/>
          <a:lstStyle/>
          <a:p>
            <a:pPr marL="0" indent="0">
              <a:buNone/>
            </a:pPr>
            <a:r>
              <a:rPr lang="en-US" sz="1250" dirty="0" err="1">
                <a:solidFill>
                  <a:srgbClr val="33465B"/>
                </a:solidFill>
                <a:latin typeface="Malgun Gothic" pitchFamily="34" charset="0"/>
                <a:ea typeface="Malgun Gothic" pitchFamily="34" charset="-122"/>
                <a:cs typeface="Malgun Gothic" pitchFamily="34" charset="-120"/>
              </a:rPr>
              <a:t>현재</a:t>
            </a:r>
            <a:r>
              <a:rPr lang="en-US" sz="1250" dirty="0">
                <a:solidFill>
                  <a:srgbClr val="33465B"/>
                </a:solidFill>
                <a:latin typeface="Malgun Gothic" pitchFamily="34" charset="0"/>
                <a:ea typeface="Malgun Gothic" pitchFamily="34" charset="-122"/>
                <a:cs typeface="Malgun Gothic" pitchFamily="34" charset="-120"/>
              </a:rPr>
              <a:t> </a:t>
            </a:r>
            <a:r>
              <a:rPr lang="en-US" sz="1250" dirty="0" err="1">
                <a:solidFill>
                  <a:srgbClr val="33465B"/>
                </a:solidFill>
                <a:latin typeface="Malgun Gothic" pitchFamily="34" charset="0"/>
                <a:ea typeface="Malgun Gothic" pitchFamily="34" charset="-122"/>
                <a:cs typeface="Malgun Gothic" pitchFamily="34" charset="-120"/>
              </a:rPr>
              <a:t>회사</a:t>
            </a:r>
            <a:r>
              <a:rPr lang="en-US" sz="1250" dirty="0">
                <a:solidFill>
                  <a:srgbClr val="33465B"/>
                </a:solidFill>
                <a:latin typeface="Malgun Gothic" pitchFamily="34" charset="0"/>
                <a:ea typeface="Malgun Gothic" pitchFamily="34" charset="-122"/>
                <a:cs typeface="Malgun Gothic" pitchFamily="34" charset="-120"/>
              </a:rPr>
              <a:t> </a:t>
            </a:r>
            <a:r>
              <a:rPr lang="en-US" sz="1250" dirty="0" err="1">
                <a:solidFill>
                  <a:srgbClr val="33465B"/>
                </a:solidFill>
                <a:latin typeface="Malgun Gothic" pitchFamily="34" charset="0"/>
                <a:ea typeface="Malgun Gothic" pitchFamily="34" charset="-122"/>
                <a:cs typeface="Malgun Gothic" pitchFamily="34" charset="-120"/>
              </a:rPr>
              <a:t>규모와</a:t>
            </a:r>
            <a:r>
              <a:rPr lang="en-US" sz="1250" dirty="0">
                <a:solidFill>
                  <a:srgbClr val="33465B"/>
                </a:solidFill>
                <a:latin typeface="Malgun Gothic" pitchFamily="34" charset="0"/>
                <a:ea typeface="Malgun Gothic" pitchFamily="34" charset="-122"/>
                <a:cs typeface="Malgun Gothic" pitchFamily="34" charset="-120"/>
              </a:rPr>
              <a:t> </a:t>
            </a:r>
            <a:r>
              <a:rPr lang="en-US" sz="1250" dirty="0" err="1">
                <a:solidFill>
                  <a:srgbClr val="33465B"/>
                </a:solidFill>
                <a:latin typeface="Malgun Gothic" pitchFamily="34" charset="0"/>
                <a:ea typeface="Malgun Gothic" pitchFamily="34" charset="-122"/>
                <a:cs typeface="Malgun Gothic" pitchFamily="34" charset="-120"/>
              </a:rPr>
              <a:t>비교하면</a:t>
            </a:r>
            <a:r>
              <a:rPr lang="en-US" sz="1250" dirty="0">
                <a:solidFill>
                  <a:srgbClr val="33465B"/>
                </a:solidFill>
                <a:latin typeface="Malgun Gothic" pitchFamily="34" charset="0"/>
                <a:ea typeface="Malgun Gothic" pitchFamily="34" charset="-122"/>
                <a:cs typeface="Malgun Gothic" pitchFamily="34" charset="-120"/>
              </a:rPr>
              <a:t> </a:t>
            </a:r>
            <a:r>
              <a:rPr lang="en-US" sz="1250" dirty="0" err="1">
                <a:solidFill>
                  <a:srgbClr val="33465B"/>
                </a:solidFill>
                <a:latin typeface="Malgun Gothic" pitchFamily="34" charset="0"/>
                <a:ea typeface="Malgun Gothic" pitchFamily="34" charset="-122"/>
                <a:cs typeface="Malgun Gothic" pitchFamily="34" charset="-120"/>
              </a:rPr>
              <a:t>기회가</a:t>
            </a:r>
            <a:r>
              <a:rPr lang="en-US" sz="1250" dirty="0">
                <a:solidFill>
                  <a:srgbClr val="33465B"/>
                </a:solidFill>
                <a:latin typeface="Malgun Gothic" pitchFamily="34" charset="0"/>
                <a:ea typeface="Malgun Gothic" pitchFamily="34" charset="-122"/>
                <a:cs typeface="Malgun Gothic" pitchFamily="34" charset="-120"/>
              </a:rPr>
              <a:t> </a:t>
            </a:r>
            <a:r>
              <a:rPr lang="en-US" sz="1250" dirty="0" err="1">
                <a:solidFill>
                  <a:srgbClr val="33465B"/>
                </a:solidFill>
                <a:latin typeface="Malgun Gothic" pitchFamily="34" charset="0"/>
                <a:ea typeface="Malgun Gothic" pitchFamily="34" charset="-122"/>
                <a:cs typeface="Malgun Gothic" pitchFamily="34" charset="-120"/>
              </a:rPr>
              <a:t>보인다</a:t>
            </a:r>
            <a:endParaRPr lang="en-US" sz="1250" dirty="0">
              <a:solidFill>
                <a:srgbClr val="33465B"/>
              </a:solidFill>
              <a:latin typeface="Malgun Gothic" pitchFamily="34" charset="0"/>
              <a:ea typeface="Malgun Gothic" pitchFamily="34" charset="-122"/>
              <a:cs typeface="Malgun Gothic" pitchFamily="34" charset="-120"/>
            </a:endParaRPr>
          </a:p>
        </p:txBody>
      </p:sp>
      <p:sp>
        <p:nvSpPr>
          <p:cNvPr id="200" name="leftcard">
            <a:extLst>
              <a:ext uri="{C183D7F6-B498-43B3-948B-1728B52AA6E4}">
                <adec:decorative xmlns:adec="http://schemas.microsoft.com/office/drawing/2017/decorative" val="1"/>
              </a:ext>
            </a:extLst>
          </p:cNvPr>
          <p:cNvSpPr/>
          <p:nvPr/>
        </p:nvSpPr>
        <p:spPr>
          <a:xfrm>
            <a:off x="658368" y="1900000"/>
            <a:ext cx="5130680" cy="1680000"/>
          </a:xfrm>
          <a:prstGeom prst="rect">
            <a:avLst/>
          </a:prstGeom>
          <a:solidFill>
            <a:srgbClr val="EEF1F6"/>
          </a:solidFill>
          <a:ln w="9525">
            <a:solidFill>
              <a:srgbClr val="C7D2E0"/>
            </a:solidFill>
          </a:ln>
          <a:effectLst>
            <a:outerShdw blurRad="90000" dist="28000" dir="5400000" algn="bl" rotWithShape="0">
              <a:srgbClr val="0E2036">
                <a:alpha val="11000"/>
              </a:srgbClr>
            </a:outerShdw>
          </a:effectLst>
        </p:spPr>
        <p:txBody>
          <a:bodyPr/>
          <a:lstStyle/>
          <a:p>
            <a:endParaRPr lang="ko-KR" altLang="en-US"/>
          </a:p>
        </p:txBody>
      </p:sp>
      <p:sp>
        <p:nvSpPr>
          <p:cNvPr id="201" name="lefttxt"/>
          <p:cNvSpPr/>
          <p:nvPr/>
        </p:nvSpPr>
        <p:spPr>
          <a:xfrm>
            <a:off x="858368" y="1900000"/>
            <a:ext cx="4730680" cy="1680000"/>
          </a:xfrm>
          <a:prstGeom prst="rect">
            <a:avLst/>
          </a:prstGeom>
          <a:noFill/>
          <a:ln/>
        </p:spPr>
        <p:txBody>
          <a:bodyPr wrap="square" lIns="0" tIns="0" rIns="0" bIns="0" rtlCol="0" anchor="ctr"/>
          <a:lstStyle/>
          <a:p>
            <a:pPr algn="ctr">
              <a:buNone/>
            </a:pPr>
            <a:r>
              <a:rPr lang="ko-KR" altLang="en-US" sz="950" b="1">
                <a:solidFill>
                  <a:srgbClr val="5A6B7E"/>
                </a:solidFill>
                <a:latin typeface="Malgun Gothic" pitchFamily="34" charset="0"/>
                <a:ea typeface="Malgun Gothic" pitchFamily="34" charset="-122"/>
                <a:cs typeface="Malgun Gothic" pitchFamily="34" charset="-120"/>
              </a:rPr>
              <a:t>삼천당제약 2025 매출</a:t>
            </a:r>
          </a:p>
          <a:p>
            <a:pPr algn="ctr">
              <a:spcBef>
                <a:spcPts val="200"/>
              </a:spcBef>
              <a:buNone/>
            </a:pPr>
            <a:r>
              <a:rPr lang="ko-KR" altLang="en-US" sz="3600" b="1">
                <a:solidFill>
                  <a:srgbClr val="44586E"/>
                </a:solidFill>
                <a:latin typeface="Malgun Gothic" pitchFamily="34" charset="0"/>
                <a:ea typeface="Malgun Gothic" pitchFamily="34" charset="-122"/>
                <a:cs typeface="Malgun Gothic" pitchFamily="34" charset="-120"/>
              </a:rPr>
              <a:t>2,318</a:t>
            </a:r>
            <a:r>
              <a:rPr lang="ko-KR" altLang="en-US" sz="1400" b="1">
                <a:solidFill>
                  <a:srgbClr val="44586E"/>
                </a:solidFill>
                <a:latin typeface="Malgun Gothic" pitchFamily="34" charset="0"/>
                <a:ea typeface="Malgun Gothic" pitchFamily="34" charset="-122"/>
                <a:cs typeface="Malgun Gothic" pitchFamily="34" charset="-120"/>
              </a:rPr>
              <a:t> 억원</a:t>
            </a:r>
          </a:p>
          <a:p>
            <a:pPr algn="ctr">
              <a:spcBef>
                <a:spcPts val="200"/>
              </a:spcBef>
              <a:buNone/>
            </a:pPr>
            <a:r>
              <a:rPr lang="ko-KR" altLang="en-US" sz="850">
                <a:solidFill>
                  <a:srgbClr val="5A6B7E"/>
                </a:solidFill>
                <a:latin typeface="Malgun Gothic" pitchFamily="34" charset="0"/>
                <a:ea typeface="Malgun Gothic" pitchFamily="34" charset="-122"/>
                <a:cs typeface="Malgun Gothic" pitchFamily="34" charset="-120"/>
              </a:rPr>
              <a:t>국내 중심 안과용제 사업</a:t>
            </a:r>
          </a:p>
        </p:txBody>
      </p:sp>
      <p:sp>
        <p:nvSpPr>
          <p:cNvPr id="210" name="rightcard">
            <a:extLst>
              <a:ext uri="{C183D7F6-B498-43B3-948B-1728B52AA6E4}">
                <adec:decorative xmlns:adec="http://schemas.microsoft.com/office/drawing/2017/decorative" val="1"/>
              </a:ext>
            </a:extLst>
          </p:cNvPr>
          <p:cNvSpPr/>
          <p:nvPr/>
        </p:nvSpPr>
        <p:spPr>
          <a:xfrm>
            <a:off x="6409048" y="1900000"/>
            <a:ext cx="5130680" cy="1680000"/>
          </a:xfrm>
          <a:prstGeom prst="rect">
            <a:avLst/>
          </a:prstGeom>
          <a:solidFill>
            <a:srgbClr val="EAF0FA"/>
          </a:solidFill>
          <a:ln w="9525">
            <a:solidFill>
              <a:srgbClr val="BFD4F7"/>
            </a:solidFill>
          </a:ln>
          <a:effectLst>
            <a:outerShdw blurRad="90000" dist="28000" dir="5400000" algn="bl" rotWithShape="0">
              <a:srgbClr val="0E2036">
                <a:alpha val="11000"/>
              </a:srgbClr>
            </a:outerShdw>
          </a:effectLst>
        </p:spPr>
        <p:txBody>
          <a:bodyPr/>
          <a:lstStyle/>
          <a:p>
            <a:endParaRPr lang="ko-KR" altLang="en-US"/>
          </a:p>
        </p:txBody>
      </p:sp>
      <p:sp>
        <p:nvSpPr>
          <p:cNvPr id="211" name="righttxt"/>
          <p:cNvSpPr/>
          <p:nvPr/>
        </p:nvSpPr>
        <p:spPr>
          <a:xfrm>
            <a:off x="6609048" y="1900000"/>
            <a:ext cx="4730680" cy="1680000"/>
          </a:xfrm>
          <a:prstGeom prst="rect">
            <a:avLst/>
          </a:prstGeom>
          <a:noFill/>
          <a:ln/>
        </p:spPr>
        <p:txBody>
          <a:bodyPr wrap="square" lIns="0" tIns="0" rIns="0" bIns="0" rtlCol="0" anchor="ctr"/>
          <a:lstStyle/>
          <a:p>
            <a:pPr algn="ctr">
              <a:buNone/>
            </a:pPr>
            <a:r>
              <a:rPr lang="ko-KR" altLang="en-US" sz="950" b="1">
                <a:solidFill>
                  <a:srgbClr val="1D4ED8"/>
                </a:solidFill>
                <a:latin typeface="Malgun Gothic" pitchFamily="34" charset="0"/>
                <a:ea typeface="Malgun Gothic" pitchFamily="34" charset="-122"/>
                <a:cs typeface="Malgun Gothic" pitchFamily="34" charset="-120"/>
              </a:rPr>
              <a:t>글로벌 아일리아 시장</a:t>
            </a:r>
          </a:p>
          <a:p>
            <a:pPr algn="ctr">
              <a:spcBef>
                <a:spcPts val="200"/>
              </a:spcBef>
              <a:buNone/>
            </a:pPr>
            <a:r>
              <a:rPr lang="ko-KR" altLang="en-US" sz="3600" b="1">
                <a:solidFill>
                  <a:srgbClr val="1D4ED8"/>
                </a:solidFill>
                <a:latin typeface="Malgun Gothic" pitchFamily="34" charset="0"/>
                <a:ea typeface="Malgun Gothic" pitchFamily="34" charset="-122"/>
                <a:cs typeface="Malgun Gothic" pitchFamily="34" charset="-120"/>
              </a:rPr>
              <a:t>약 13~14</a:t>
            </a:r>
            <a:r>
              <a:rPr lang="ko-KR" altLang="en-US" sz="1400" b="1">
                <a:solidFill>
                  <a:srgbClr val="1D4ED8"/>
                </a:solidFill>
                <a:latin typeface="Malgun Gothic" pitchFamily="34" charset="0"/>
                <a:ea typeface="Malgun Gothic" pitchFamily="34" charset="-122"/>
                <a:cs typeface="Malgun Gothic" pitchFamily="34" charset="-120"/>
              </a:rPr>
              <a:t> 조원</a:t>
            </a:r>
          </a:p>
          <a:p>
            <a:pPr algn="ctr">
              <a:spcBef>
                <a:spcPts val="200"/>
              </a:spcBef>
              <a:buNone/>
            </a:pPr>
            <a:r>
              <a:rPr lang="ko-KR" altLang="en-US" sz="850">
                <a:solidFill>
                  <a:srgbClr val="5A6B7E"/>
                </a:solidFill>
                <a:latin typeface="Malgun Gothic" pitchFamily="34" charset="0"/>
                <a:ea typeface="Malgun Gothic" pitchFamily="34" charset="-122"/>
                <a:cs typeface="Malgun Gothic" pitchFamily="34" charset="-120"/>
              </a:rPr>
              <a:t>삼천당제약이 진입하는 목표 시장</a:t>
            </a:r>
          </a:p>
        </p:txBody>
      </p:sp>
      <p:sp>
        <p:nvSpPr>
          <p:cNvPr id="220" name="vsbadge">
            <a:extLst>
              <a:ext uri="{C183D7F6-B498-43B3-948B-1728B52AA6E4}">
                <adec:decorative xmlns:adec="http://schemas.microsoft.com/office/drawing/2017/decorative" val="1"/>
              </a:ext>
            </a:extLst>
          </p:cNvPr>
          <p:cNvSpPr/>
          <p:nvPr/>
        </p:nvSpPr>
        <p:spPr>
          <a:xfrm>
            <a:off x="5799048" y="2440000"/>
            <a:ext cx="600000" cy="600000"/>
          </a:xfrm>
          <a:prstGeom prst="ellipse">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221" name="vstxt"/>
          <p:cNvSpPr/>
          <p:nvPr/>
        </p:nvSpPr>
        <p:spPr>
          <a:xfrm>
            <a:off x="5799048" y="2430000"/>
            <a:ext cx="600000" cy="600000"/>
          </a:xfrm>
          <a:prstGeom prst="rect">
            <a:avLst/>
          </a:prstGeom>
          <a:noFill/>
          <a:ln/>
        </p:spPr>
        <p:txBody>
          <a:bodyPr wrap="square" lIns="0" tIns="0" rIns="0" bIns="0" rtlCol="0" anchor="ctr"/>
          <a:lstStyle/>
          <a:p>
            <a:pPr algn="ctr">
              <a:buNone/>
            </a:pPr>
            <a:r>
              <a:rPr lang="ko-KR" altLang="en-US" sz="1600" b="1">
                <a:solidFill>
                  <a:srgbClr val="FFFFFF"/>
                </a:solidFill>
                <a:latin typeface="Malgun Gothic" pitchFamily="34" charset="0"/>
                <a:ea typeface="Malgun Gothic" pitchFamily="34" charset="-122"/>
                <a:cs typeface="Malgun Gothic" pitchFamily="34" charset="-120"/>
              </a:rPr>
              <a:t>VS</a:t>
            </a:r>
          </a:p>
        </p:txBody>
      </p:sp>
      <p:sp>
        <p:nvSpPr>
          <p:cNvPr id="300" name="impl band">
            <a:extLst>
              <a:ext uri="{C183D7F6-B498-43B3-948B-1728B52AA6E4}">
                <adec:decorative xmlns:adec="http://schemas.microsoft.com/office/drawing/2017/decorative" val="1"/>
              </a:ext>
            </a:extLst>
          </p:cNvPr>
          <p:cNvSpPr/>
          <p:nvPr/>
        </p:nvSpPr>
        <p:spPr>
          <a:xfrm>
            <a:off x="658368" y="3720000"/>
            <a:ext cx="10881360" cy="142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301" name="impl hdr"/>
          <p:cNvSpPr/>
          <p:nvPr/>
        </p:nvSpPr>
        <p:spPr>
          <a:xfrm>
            <a:off x="658368" y="3720000"/>
            <a:ext cx="10881360" cy="38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시사점</a:t>
            </a:r>
          </a:p>
        </p:txBody>
      </p:sp>
      <p:sp>
        <p:nvSpPr>
          <p:cNvPr id="302" name="impl">
            <a:extLst>
              <a:ext uri="{C183D7F6-B498-43B3-948B-1728B52AA6E4}">
                <adec:decorative xmlns:adec="http://schemas.microsoft.com/office/drawing/2017/decorative" val="1"/>
              </a:ext>
            </a:extLst>
          </p:cNvPr>
          <p:cNvSpPr/>
          <p:nvPr/>
        </p:nvSpPr>
        <p:spPr>
          <a:xfrm>
            <a:off x="808368" y="4190000"/>
            <a:ext cx="3393786" cy="560000"/>
          </a:xfrm>
          <a:prstGeom prst="rect">
            <a:avLst/>
          </a:prstGeom>
          <a:solidFill>
            <a:srgbClr val="EAF0FA"/>
          </a:solidFill>
          <a:ln w="9525">
            <a:solidFill>
              <a:srgbClr val="BFD4F7"/>
            </a:solidFill>
          </a:ln>
        </p:spPr>
        <p:txBody>
          <a:bodyPr wrap="square" lIns="0" tIns="0" rIns="0" bIns="0" rtlCol="0" anchor="ctr"/>
          <a:lstStyle/>
          <a:p>
            <a:pPr algn="ctr">
              <a:buNone/>
            </a:pPr>
            <a:r>
              <a:rPr lang="ko-KR" altLang="en-US" sz="1000" b="1">
                <a:solidFill>
                  <a:srgbClr val="1D4ED8"/>
                </a:solidFill>
                <a:latin typeface="Malgun Gothic" pitchFamily="34" charset="0"/>
                <a:ea typeface="Malgun Gothic" pitchFamily="34" charset="-122"/>
                <a:cs typeface="Malgun Gothic" pitchFamily="34" charset="-120"/>
              </a:rPr>
              <a:t>01</a:t>
            </a:r>
          </a:p>
          <a:p>
            <a:pPr algn="ctr">
              <a:spcBef>
                <a:spcPts val="120"/>
              </a:spcBef>
              <a:buNone/>
            </a:pPr>
            <a:r>
              <a:rPr lang="ko-KR" altLang="en-US" sz="850" b="1">
                <a:solidFill>
                  <a:srgbClr val="33465B"/>
                </a:solidFill>
                <a:latin typeface="Malgun Gothic" pitchFamily="34" charset="0"/>
                <a:ea typeface="Malgun Gothic" pitchFamily="34" charset="-122"/>
                <a:cs typeface="Malgun Gothic" pitchFamily="34" charset="-120"/>
              </a:rPr>
              <a:t>회사 전체 매출의 수십 배 규모 시장</a:t>
            </a:r>
          </a:p>
        </p:txBody>
      </p:sp>
      <p:sp>
        <p:nvSpPr>
          <p:cNvPr id="303" name="impl">
            <a:extLst>
              <a:ext uri="{C183D7F6-B498-43B3-948B-1728B52AA6E4}">
                <adec:decorative xmlns:adec="http://schemas.microsoft.com/office/drawing/2017/decorative" val="1"/>
              </a:ext>
            </a:extLst>
          </p:cNvPr>
          <p:cNvSpPr/>
          <p:nvPr/>
        </p:nvSpPr>
        <p:spPr>
          <a:xfrm>
            <a:off x="4402154" y="4190000"/>
            <a:ext cx="3393786" cy="560000"/>
          </a:xfrm>
          <a:prstGeom prst="rect">
            <a:avLst/>
          </a:prstGeom>
          <a:solidFill>
            <a:srgbClr val="EAF0FA"/>
          </a:solidFill>
          <a:ln w="9525">
            <a:solidFill>
              <a:srgbClr val="BFD4F7"/>
            </a:solidFill>
          </a:ln>
        </p:spPr>
        <p:txBody>
          <a:bodyPr wrap="square" lIns="0" tIns="0" rIns="0" bIns="0" rtlCol="0" anchor="ctr"/>
          <a:lstStyle/>
          <a:p>
            <a:pPr algn="ctr">
              <a:buNone/>
            </a:pPr>
            <a:r>
              <a:rPr lang="ko-KR" altLang="en-US" sz="1000" b="1">
                <a:solidFill>
                  <a:srgbClr val="1D4ED8"/>
                </a:solidFill>
                <a:latin typeface="Malgun Gothic" pitchFamily="34" charset="0"/>
                <a:ea typeface="Malgun Gothic" pitchFamily="34" charset="-122"/>
                <a:cs typeface="Malgun Gothic" pitchFamily="34" charset="-120"/>
              </a:rPr>
              <a:t>02</a:t>
            </a:r>
          </a:p>
          <a:p>
            <a:pPr algn="ctr">
              <a:spcBef>
                <a:spcPts val="120"/>
              </a:spcBef>
              <a:buNone/>
            </a:pPr>
            <a:r>
              <a:rPr lang="ko-KR" altLang="en-US" sz="850" b="1">
                <a:solidFill>
                  <a:srgbClr val="33465B"/>
                </a:solidFill>
                <a:latin typeface="Malgun Gothic" pitchFamily="34" charset="0"/>
                <a:ea typeface="Malgun Gothic" pitchFamily="34" charset="-122"/>
                <a:cs typeface="Malgun Gothic" pitchFamily="34" charset="-120"/>
              </a:rPr>
              <a:t>시장점유율 몇 %만 확보해도 실적 변화 가능</a:t>
            </a:r>
          </a:p>
        </p:txBody>
      </p:sp>
      <p:sp>
        <p:nvSpPr>
          <p:cNvPr id="304" name="impl">
            <a:extLst>
              <a:ext uri="{C183D7F6-B498-43B3-948B-1728B52AA6E4}">
                <adec:decorative xmlns:adec="http://schemas.microsoft.com/office/drawing/2017/decorative" val="1"/>
              </a:ext>
            </a:extLst>
          </p:cNvPr>
          <p:cNvSpPr/>
          <p:nvPr/>
        </p:nvSpPr>
        <p:spPr>
          <a:xfrm>
            <a:off x="7995940" y="4190000"/>
            <a:ext cx="3393786" cy="560000"/>
          </a:xfrm>
          <a:prstGeom prst="rect">
            <a:avLst/>
          </a:prstGeom>
          <a:solidFill>
            <a:srgbClr val="EAF0FA"/>
          </a:solidFill>
          <a:ln w="9525">
            <a:solidFill>
              <a:srgbClr val="BFD4F7"/>
            </a:solidFill>
          </a:ln>
        </p:spPr>
        <p:txBody>
          <a:bodyPr wrap="square" lIns="0" tIns="0" rIns="0" bIns="0" rtlCol="0" anchor="ctr"/>
          <a:lstStyle/>
          <a:p>
            <a:pPr algn="ctr">
              <a:buNone/>
            </a:pPr>
            <a:r>
              <a:rPr lang="ko-KR" altLang="en-US" sz="1000" b="1">
                <a:solidFill>
                  <a:srgbClr val="1D4ED8"/>
                </a:solidFill>
                <a:latin typeface="Malgun Gothic" pitchFamily="34" charset="0"/>
                <a:ea typeface="Malgun Gothic" pitchFamily="34" charset="-122"/>
                <a:cs typeface="Malgun Gothic" pitchFamily="34" charset="-120"/>
              </a:rPr>
              <a:t>03</a:t>
            </a:r>
          </a:p>
          <a:p>
            <a:pPr algn="ctr">
              <a:spcBef>
                <a:spcPts val="120"/>
              </a:spcBef>
              <a:buNone/>
            </a:pPr>
            <a:r>
              <a:rPr lang="ko-KR" altLang="en-US" sz="850" b="1">
                <a:solidFill>
                  <a:srgbClr val="33465B"/>
                </a:solidFill>
                <a:latin typeface="Malgun Gothic" pitchFamily="34" charset="0"/>
                <a:ea typeface="Malgun Gothic" pitchFamily="34" charset="-122"/>
                <a:cs typeface="Malgun Gothic" pitchFamily="34" charset="-120"/>
              </a:rPr>
              <a:t>국내가 아닌 글로벌 시장을 대상으로 한다</a:t>
            </a:r>
          </a:p>
        </p:txBody>
      </p:sp>
      <p:sp>
        <p:nvSpPr>
          <p:cNvPr id="90" name="msg band">
            <a:extLst>
              <a:ext uri="{C183D7F6-B498-43B3-948B-1728B52AA6E4}">
                <adec:decorative xmlns:adec="http://schemas.microsoft.com/office/drawing/2017/decorative" val="1"/>
              </a:ext>
            </a:extLst>
          </p:cNvPr>
          <p:cNvSpPr/>
          <p:nvPr/>
        </p:nvSpPr>
        <p:spPr>
          <a:xfrm>
            <a:off x="658368" y="5413248"/>
            <a:ext cx="10881360" cy="841248"/>
          </a:xfrm>
          <a:prstGeom prst="rect">
            <a:avLst/>
          </a:prstGeom>
          <a:solidFill>
            <a:srgbClr val="E7EFFA"/>
          </a:solidFill>
          <a:ln w="12700">
            <a:solidFill>
              <a:srgbClr val="D5E0F0"/>
            </a:solidFill>
          </a:ln>
          <a:effectLst>
            <a:outerShdw blurRad="88900" dist="25400" dir="5400000" algn="bl" rotWithShape="0">
              <a:srgbClr val="0E2036">
                <a:alpha val="10000"/>
              </a:srgbClr>
            </a:outerShdw>
          </a:effectLst>
        </p:spPr>
        <p:txBody>
          <a:bodyPr/>
          <a:lstStyle/>
          <a:p>
            <a:endParaRPr lang="ko-KR" altLang="en-US"/>
          </a:p>
        </p:txBody>
      </p:sp>
      <p:sp>
        <p:nvSpPr>
          <p:cNvPr id="91" name="msg accent">
            <a:extLst>
              <a:ext uri="{C183D7F6-B498-43B3-948B-1728B52AA6E4}">
                <adec:decorative xmlns:adec="http://schemas.microsoft.com/office/drawing/2017/decorative" val="1"/>
              </a:ext>
            </a:extLst>
          </p:cNvPr>
          <p:cNvSpPr/>
          <p:nvPr/>
        </p:nvSpPr>
        <p:spPr>
          <a:xfrm>
            <a:off x="658368" y="5413248"/>
            <a:ext cx="82296" cy="841248"/>
          </a:xfrm>
          <a:prstGeom prst="rect">
            <a:avLst/>
          </a:prstGeom>
          <a:solidFill>
            <a:srgbClr val="1D4ED8"/>
          </a:solidFill>
          <a:ln/>
        </p:spPr>
        <p:txBody>
          <a:bodyPr/>
          <a:lstStyle/>
          <a:p>
            <a:endParaRPr lang="ko-KR" altLang="en-US"/>
          </a:p>
        </p:txBody>
      </p:sp>
      <p:sp>
        <p:nvSpPr>
          <p:cNvPr id="92" name="msg text"/>
          <p:cNvSpPr/>
          <p:nvPr/>
        </p:nvSpPr>
        <p:spPr>
          <a:xfrm>
            <a:off x="932688" y="5486400"/>
            <a:ext cx="10424160" cy="694944"/>
          </a:xfrm>
          <a:prstGeom prst="rect">
            <a:avLst/>
          </a:prstGeom>
          <a:noFill/>
          <a:ln/>
        </p:spPr>
        <p:txBody>
          <a:bodyPr wrap="square" lIns="0" tIns="0" rIns="0" bIns="0" rtlCol="0" anchor="ctr"/>
          <a:lstStyle/>
          <a:p>
            <a:pPr>
              <a:buNone/>
            </a:pPr>
            <a:r>
              <a:rPr lang="ko-KR" altLang="en-US" sz="1200" b="1">
                <a:solidFill>
                  <a:srgbClr val="1D4ED8"/>
                </a:solidFill>
                <a:latin typeface="Malgun Gothic" pitchFamily="34" charset="0"/>
                <a:ea typeface="Malgun Gothic" pitchFamily="34" charset="-122"/>
                <a:cs typeface="Malgun Gothic" pitchFamily="34" charset="-120"/>
              </a:rPr>
              <a:t>핵심 </a:t>
            </a:r>
            <a:r>
              <a:rPr lang="ko-KR" altLang="en-US" sz="1200">
                <a:solidFill>
                  <a:srgbClr val="33465B"/>
                </a:solidFill>
                <a:latin typeface="Malgun Gothic" pitchFamily="34" charset="0"/>
                <a:ea typeface="Malgun Gothic" pitchFamily="34" charset="-122"/>
                <a:cs typeface="Malgun Gothic" pitchFamily="34" charset="-120"/>
              </a:rPr>
              <a:t>아일리아 시장은 삼천당제약 전체 매출의 수십 배 규모로, 작은 점유율만 확보해도 실적이 크게 달라질 수 있다.</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14</a:t>
            </a:r>
            <a:endParaRPr lang="en-US" sz="8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dirty="0">
                <a:solidFill>
                  <a:srgbClr val="1D4ED8"/>
                </a:solidFill>
                <a:latin typeface="Malgun Gothic" pitchFamily="34" charset="0"/>
                <a:ea typeface="Malgun Gothic" pitchFamily="34" charset="-122"/>
                <a:cs typeface="Malgun Gothic" pitchFamily="34" charset="-120"/>
              </a:rPr>
              <a:t>02 · </a:t>
            </a:r>
            <a:r>
              <a:rPr lang="en-US" sz="1100" b="1" kern="0" spc="200">
                <a:solidFill>
                  <a:srgbClr val="1D4ED8"/>
                </a:solidFill>
                <a:latin typeface="Malgun Gothic" pitchFamily="34" charset="0"/>
                <a:ea typeface="Malgun Gothic" pitchFamily="34" charset="-122"/>
                <a:cs typeface="Malgun Gothic" pitchFamily="34" charset="-120"/>
              </a:rPr>
              <a:t>시장 · </a:t>
            </a:r>
            <a:r>
              <a:rPr lang="en-US" sz="1100" b="1" kern="0" spc="200" dirty="0">
                <a:solidFill>
                  <a:srgbClr val="1D4ED8"/>
                </a:solidFill>
                <a:latin typeface="Malgun Gothic" pitchFamily="34" charset="0"/>
                <a:ea typeface="Malgun Gothic" pitchFamily="34" charset="-122"/>
                <a:cs typeface="Malgun Gothic" pitchFamily="34" charset="-120"/>
              </a:rPr>
              <a:t>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SCD411은 어떻게 기존 아일리아 점유율을 가져오는가?</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p:cNvSpPr/>
          <p:nvPr/>
        </p:nvSpPr>
        <p:spPr>
          <a:xfrm>
            <a:off x="658368" y="1330000"/>
            <a:ext cx="10875264" cy="300000"/>
          </a:xfrm>
          <a:prstGeom prst="rect">
            <a:avLst/>
          </a:prstGeom>
          <a:noFill/>
          <a:ln/>
        </p:spPr>
        <p:txBody>
          <a:bodyPr wrap="square" lIns="0" tIns="0" rIns="0" bIns="0" rtlCol="0" anchor="ctr"/>
          <a:lstStyle/>
          <a:p>
            <a:pPr marL="0" indent="0">
              <a:buNone/>
            </a:pPr>
            <a:r>
              <a:rPr lang="en-US" sz="1250">
                <a:solidFill>
                  <a:srgbClr val="33465B"/>
                </a:solidFill>
                <a:latin typeface="Malgun Gothic" pitchFamily="34" charset="0"/>
                <a:ea typeface="Malgun Gothic" pitchFamily="34" charset="-122"/>
                <a:cs typeface="Malgun Gothic" pitchFamily="34" charset="-120"/>
              </a:rPr>
              <a:t>점유율 확보의 핵심은 가격 · 편의성 · 판매망 · 후속제품 대응이다</a:t>
            </a:r>
          </a:p>
        </p:txBody>
      </p:sp>
      <p:sp>
        <p:nvSpPr>
          <p:cNvPr id="200" name="card">
            <a:extLst>
              <a:ext uri="{C183D7F6-B498-43B3-948B-1728B52AA6E4}">
                <adec:decorative xmlns:adec="http://schemas.microsoft.com/office/drawing/2017/decorative" val="1"/>
              </a:ext>
            </a:extLst>
          </p:cNvPr>
          <p:cNvSpPr/>
          <p:nvPr/>
        </p:nvSpPr>
        <p:spPr>
          <a:xfrm>
            <a:off x="658368" y="1590000"/>
            <a:ext cx="2607840" cy="317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1" name="cardhdr">
            <a:extLst>
              <a:ext uri="{C183D7F6-B498-43B3-948B-1728B52AA6E4}">
                <adec:decorative xmlns:adec="http://schemas.microsoft.com/office/drawing/2017/decorative" val="1"/>
              </a:ext>
            </a:extLst>
          </p:cNvPr>
          <p:cNvSpPr/>
          <p:nvPr/>
        </p:nvSpPr>
        <p:spPr>
          <a:xfrm>
            <a:off x="658368" y="1590000"/>
            <a:ext cx="2607840" cy="34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① 가격 경쟁력</a:t>
            </a:r>
          </a:p>
        </p:txBody>
      </p:sp>
      <p:sp>
        <p:nvSpPr>
          <p:cNvPr id="202" name="cardbody"/>
          <p:cNvSpPr/>
          <p:nvPr/>
        </p:nvSpPr>
        <p:spPr>
          <a:xfrm>
            <a:off x="808368" y="2000000"/>
            <a:ext cx="2307840" cy="2690000"/>
          </a:xfrm>
          <a:prstGeom prst="rect">
            <a:avLst/>
          </a:prstGeom>
          <a:noFill/>
          <a:ln/>
        </p:spPr>
        <p:txBody>
          <a:bodyPr wrap="square" lIns="0" tIns="0" rIns="0" bIns="0" rtlCol="0" anchor="t"/>
          <a:lstStyle/>
          <a:p>
            <a:pPr algn="ctr">
              <a:buNone/>
            </a:pPr>
            <a:r>
              <a:rPr lang="ko-KR" altLang="en-US" sz="640" b="1" dirty="0">
                <a:solidFill>
                  <a:srgbClr val="0B2038"/>
                </a:solidFill>
                <a:latin typeface="Malgun Gothic" pitchFamily="34" charset="0"/>
                <a:ea typeface="Malgun Gothic" pitchFamily="34" charset="-122"/>
                <a:cs typeface="Malgun Gothic" pitchFamily="34" charset="-120"/>
              </a:rPr>
              <a:t>특허 만료 → </a:t>
            </a:r>
            <a:r>
              <a:rPr lang="ko-KR" altLang="en-US" sz="640" b="1" dirty="0" err="1">
                <a:solidFill>
                  <a:srgbClr val="0B2038"/>
                </a:solidFill>
                <a:latin typeface="Malgun Gothic" pitchFamily="34" charset="0"/>
                <a:ea typeface="Malgun Gothic" pitchFamily="34" charset="-122"/>
                <a:cs typeface="Malgun Gothic" pitchFamily="34" charset="-120"/>
              </a:rPr>
              <a:t>시밀러</a:t>
            </a:r>
            <a:r>
              <a:rPr lang="ko-KR" altLang="en-US" sz="640" b="1" dirty="0">
                <a:solidFill>
                  <a:srgbClr val="0B2038"/>
                </a:solidFill>
                <a:latin typeface="Malgun Gothic" pitchFamily="34" charset="0"/>
                <a:ea typeface="Malgun Gothic" pitchFamily="34" charset="-122"/>
                <a:cs typeface="Malgun Gothic" pitchFamily="34" charset="-120"/>
              </a:rPr>
              <a:t> 진입 → 가격 인하 → 점유율 확보</a:t>
            </a:r>
          </a:p>
          <a:p>
            <a:pPr>
              <a:spcBef>
                <a:spcPts val="120"/>
              </a:spcBef>
              <a:buNone/>
            </a:pPr>
            <a:r>
              <a:rPr lang="ko-KR" altLang="en-US" sz="700" b="1" dirty="0">
                <a:solidFill>
                  <a:srgbClr val="1D4ED8"/>
                </a:solidFill>
                <a:latin typeface="Malgun Gothic" pitchFamily="34" charset="0"/>
                <a:ea typeface="Malgun Gothic" pitchFamily="34" charset="-122"/>
                <a:cs typeface="Malgun Gothic" pitchFamily="34" charset="-120"/>
              </a:rPr>
              <a:t>왜 중요한가?</a:t>
            </a:r>
          </a:p>
          <a:p>
            <a:pPr>
              <a:buNone/>
            </a:pPr>
            <a:r>
              <a:rPr lang="ko-KR" altLang="en-US" sz="660" dirty="0" err="1">
                <a:solidFill>
                  <a:srgbClr val="33465B"/>
                </a:solidFill>
                <a:latin typeface="Malgun Gothic" pitchFamily="34" charset="0"/>
                <a:ea typeface="Malgun Gothic" pitchFamily="34" charset="-122"/>
                <a:cs typeface="Malgun Gothic" pitchFamily="34" charset="-120"/>
              </a:rPr>
              <a:t>아일리아는</a:t>
            </a:r>
            <a:r>
              <a:rPr lang="ko-KR" altLang="en-US" sz="660" dirty="0">
                <a:solidFill>
                  <a:srgbClr val="33465B"/>
                </a:solidFill>
                <a:latin typeface="Malgun Gothic" pitchFamily="34" charset="0"/>
                <a:ea typeface="Malgun Gothic" pitchFamily="34" charset="-122"/>
                <a:cs typeface="Malgun Gothic" pitchFamily="34" charset="-120"/>
              </a:rPr>
              <a:t> </a:t>
            </a:r>
            <a:r>
              <a:rPr lang="ko-KR" altLang="en-US" sz="660" dirty="0" err="1">
                <a:solidFill>
                  <a:srgbClr val="33465B"/>
                </a:solidFill>
                <a:latin typeface="Malgun Gothic" pitchFamily="34" charset="0"/>
                <a:ea typeface="Malgun Gothic" pitchFamily="34" charset="-122"/>
                <a:cs typeface="Malgun Gothic" pitchFamily="34" charset="-120"/>
              </a:rPr>
              <a:t>고가·장기</a:t>
            </a:r>
            <a:r>
              <a:rPr lang="ko-KR" altLang="en-US" sz="660" dirty="0">
                <a:solidFill>
                  <a:srgbClr val="33465B"/>
                </a:solidFill>
                <a:latin typeface="Malgun Gothic" pitchFamily="34" charset="0"/>
                <a:ea typeface="Malgun Gothic" pitchFamily="34" charset="-122"/>
                <a:cs typeface="Malgun Gothic" pitchFamily="34" charset="-120"/>
              </a:rPr>
              <a:t> 반복투여 의약품 →</a:t>
            </a:r>
          </a:p>
          <a:p>
            <a:pPr>
              <a:spcBef>
                <a:spcPts val="22"/>
              </a:spcBef>
              <a:buNone/>
            </a:pPr>
            <a:r>
              <a:rPr lang="ko-KR" altLang="en-US" sz="660" dirty="0" err="1">
                <a:solidFill>
                  <a:srgbClr val="33465B"/>
                </a:solidFill>
                <a:latin typeface="Malgun Gothic" pitchFamily="34" charset="0"/>
                <a:ea typeface="Malgun Gothic" pitchFamily="34" charset="-122"/>
                <a:cs typeface="Malgun Gothic" pitchFamily="34" charset="-120"/>
              </a:rPr>
              <a:t>병원·보험사·국가</a:t>
            </a:r>
            <a:r>
              <a:rPr lang="ko-KR" altLang="en-US" sz="660" dirty="0">
                <a:solidFill>
                  <a:srgbClr val="33465B"/>
                </a:solidFill>
                <a:latin typeface="Malgun Gothic" pitchFamily="34" charset="0"/>
                <a:ea typeface="Malgun Gothic" pitchFamily="34" charset="-122"/>
                <a:cs typeface="Malgun Gothic" pitchFamily="34" charset="-120"/>
              </a:rPr>
              <a:t> 의료재정이 비용절감 유인 보유</a:t>
            </a:r>
          </a:p>
          <a:p>
            <a:pPr>
              <a:spcBef>
                <a:spcPts val="120"/>
              </a:spcBef>
              <a:buNone/>
            </a:pPr>
            <a:r>
              <a:rPr lang="ko-KR" altLang="en-US" sz="700" b="1" dirty="0">
                <a:solidFill>
                  <a:srgbClr val="1D4ED8"/>
                </a:solidFill>
                <a:latin typeface="Malgun Gothic" pitchFamily="34" charset="0"/>
                <a:ea typeface="Malgun Gothic" pitchFamily="34" charset="-122"/>
                <a:cs typeface="Malgun Gothic" pitchFamily="34" charset="-120"/>
              </a:rPr>
              <a:t>확인 가능한 사실</a:t>
            </a:r>
          </a:p>
          <a:p>
            <a:pPr marL="130000" indent="-130000">
              <a:spcBef>
                <a:spcPts val="45"/>
              </a:spcBef>
              <a:buClr>
                <a:srgbClr val="1D4ED8"/>
              </a:buClr>
              <a:buFont typeface="Arial"/>
              <a:buChar char="•"/>
            </a:pPr>
            <a:r>
              <a:rPr lang="ko-KR" altLang="en-US" sz="660" dirty="0">
                <a:solidFill>
                  <a:srgbClr val="33465B"/>
                </a:solidFill>
                <a:latin typeface="Malgun Gothic" pitchFamily="34" charset="0"/>
                <a:ea typeface="Malgun Gothic" pitchFamily="34" charset="-122"/>
                <a:cs typeface="Malgun Gothic" pitchFamily="34" charset="-120"/>
              </a:rPr>
              <a:t>회사는 가격 경쟁력을 핵심 강점으로 설명</a:t>
            </a:r>
          </a:p>
          <a:p>
            <a:pPr marL="130000" indent="-130000">
              <a:spcBef>
                <a:spcPts val="22"/>
              </a:spcBef>
              <a:buClr>
                <a:srgbClr val="1D4ED8"/>
              </a:buClr>
              <a:buFont typeface="Arial"/>
              <a:buChar char="•"/>
            </a:pPr>
            <a:r>
              <a:rPr lang="ko-KR" altLang="en-US" sz="660" dirty="0" err="1">
                <a:solidFill>
                  <a:srgbClr val="33465B"/>
                </a:solidFill>
                <a:latin typeface="Malgun Gothic" pitchFamily="34" charset="0"/>
                <a:ea typeface="Malgun Gothic" pitchFamily="34" charset="-122"/>
                <a:cs typeface="Malgun Gothic" pitchFamily="34" charset="-120"/>
              </a:rPr>
              <a:t>시밀러</a:t>
            </a:r>
            <a:r>
              <a:rPr lang="ko-KR" altLang="en-US" sz="660" dirty="0">
                <a:solidFill>
                  <a:srgbClr val="33465B"/>
                </a:solidFill>
                <a:latin typeface="Malgun Gothic" pitchFamily="34" charset="0"/>
                <a:ea typeface="Malgun Gothic" pitchFamily="34" charset="-122"/>
                <a:cs typeface="Malgun Gothic" pitchFamily="34" charset="-120"/>
              </a:rPr>
              <a:t> 산업은 통상 가격으로 시장 진입</a:t>
            </a:r>
          </a:p>
          <a:p>
            <a:pPr>
              <a:spcBef>
                <a:spcPts val="120"/>
              </a:spcBef>
              <a:buNone/>
            </a:pPr>
            <a:r>
              <a:rPr lang="ko-KR" altLang="en-US" sz="700" b="1" dirty="0">
                <a:solidFill>
                  <a:srgbClr val="1D4ED8"/>
                </a:solidFill>
                <a:latin typeface="Malgun Gothic" pitchFamily="34" charset="0"/>
                <a:ea typeface="Malgun Gothic" pitchFamily="34" charset="-122"/>
                <a:cs typeface="Malgun Gothic" pitchFamily="34" charset="-120"/>
              </a:rPr>
              <a:t>아직 확인되지 않은 부분</a:t>
            </a:r>
          </a:p>
          <a:p>
            <a:pPr marL="130000" indent="-130000">
              <a:spcBef>
                <a:spcPts val="45"/>
              </a:spcBef>
              <a:buClr>
                <a:srgbClr val="1D4ED8"/>
              </a:buClr>
              <a:buFont typeface="Arial"/>
              <a:buChar char="•"/>
            </a:pPr>
            <a:r>
              <a:rPr lang="ko-KR" altLang="en-US" sz="660" dirty="0">
                <a:solidFill>
                  <a:srgbClr val="33465B"/>
                </a:solidFill>
                <a:latin typeface="Malgun Gothic" pitchFamily="34" charset="0"/>
                <a:ea typeface="Malgun Gothic" pitchFamily="34" charset="-122"/>
                <a:cs typeface="Malgun Gothic" pitchFamily="34" charset="-120"/>
              </a:rPr>
              <a:t>실제 판매가격</a:t>
            </a:r>
          </a:p>
          <a:p>
            <a:pPr marL="130000" indent="-130000">
              <a:spcBef>
                <a:spcPts val="22"/>
              </a:spcBef>
              <a:buClr>
                <a:srgbClr val="1D4ED8"/>
              </a:buClr>
              <a:buFont typeface="Arial"/>
              <a:buChar char="•"/>
            </a:pPr>
            <a:r>
              <a:rPr lang="ko-KR" altLang="en-US" sz="660" dirty="0">
                <a:solidFill>
                  <a:srgbClr val="33465B"/>
                </a:solidFill>
                <a:latin typeface="Malgun Gothic" pitchFamily="34" charset="0"/>
                <a:ea typeface="Malgun Gothic" pitchFamily="34" charset="-122"/>
                <a:cs typeface="Malgun Gothic" pitchFamily="34" charset="-120"/>
              </a:rPr>
              <a:t>국가별 할인율</a:t>
            </a:r>
          </a:p>
          <a:p>
            <a:pPr marL="130000" indent="-130000">
              <a:spcBef>
                <a:spcPts val="22"/>
              </a:spcBef>
              <a:buClr>
                <a:srgbClr val="1D4ED8"/>
              </a:buClr>
              <a:buFont typeface="Arial"/>
              <a:buChar char="•"/>
            </a:pPr>
            <a:r>
              <a:rPr lang="ko-KR" altLang="en-US" sz="660" dirty="0">
                <a:solidFill>
                  <a:srgbClr val="33465B"/>
                </a:solidFill>
                <a:latin typeface="Malgun Gothic" pitchFamily="34" charset="0"/>
                <a:ea typeface="Malgun Gothic" pitchFamily="34" charset="-122"/>
                <a:cs typeface="Malgun Gothic" pitchFamily="34" charset="-120"/>
              </a:rPr>
              <a:t>오리지널 대비 가격 차이</a:t>
            </a:r>
          </a:p>
          <a:p>
            <a:pPr>
              <a:spcBef>
                <a:spcPts val="120"/>
              </a:spcBef>
              <a:buNone/>
            </a:pPr>
            <a:r>
              <a:rPr lang="ko-KR" altLang="en-US" sz="700" b="1" dirty="0">
                <a:solidFill>
                  <a:srgbClr val="1D4ED8"/>
                </a:solidFill>
                <a:latin typeface="Malgun Gothic" pitchFamily="34" charset="0"/>
                <a:ea typeface="Malgun Gothic" pitchFamily="34" charset="-122"/>
                <a:cs typeface="Malgun Gothic" pitchFamily="34" charset="-120"/>
              </a:rPr>
              <a:t>판단</a:t>
            </a:r>
          </a:p>
          <a:p>
            <a:pPr>
              <a:spcBef>
                <a:spcPts val="30"/>
              </a:spcBef>
              <a:buNone/>
            </a:pPr>
            <a:r>
              <a:rPr lang="ko-KR" altLang="en-US" sz="690" dirty="0">
                <a:solidFill>
                  <a:srgbClr val="33465B"/>
                </a:solidFill>
                <a:latin typeface="Malgun Gothic" pitchFamily="34" charset="0"/>
                <a:ea typeface="Malgun Gothic" pitchFamily="34" charset="-122"/>
                <a:cs typeface="Malgun Gothic" pitchFamily="34" charset="-120"/>
              </a:rPr>
              <a:t>중요한 투자 가설이지만 공개자료만으로는 정량 검증이 어렵다.</a:t>
            </a:r>
          </a:p>
        </p:txBody>
      </p:sp>
      <p:sp>
        <p:nvSpPr>
          <p:cNvPr id="203" name="card">
            <a:extLst>
              <a:ext uri="{C183D7F6-B498-43B3-948B-1728B52AA6E4}">
                <adec:decorative xmlns:adec="http://schemas.microsoft.com/office/drawing/2017/decorative" val="1"/>
              </a:ext>
            </a:extLst>
          </p:cNvPr>
          <p:cNvSpPr/>
          <p:nvPr/>
        </p:nvSpPr>
        <p:spPr>
          <a:xfrm>
            <a:off x="3416208" y="1590000"/>
            <a:ext cx="2607840" cy="317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4" name="cardhdr"/>
          <p:cNvSpPr/>
          <p:nvPr/>
        </p:nvSpPr>
        <p:spPr>
          <a:xfrm>
            <a:off x="3416208" y="1590000"/>
            <a:ext cx="2607840" cy="340000"/>
          </a:xfrm>
          <a:prstGeom prst="round2SameRect">
            <a:avLst>
              <a:gd name="adj1" fmla="val 4200"/>
              <a:gd name="adj2" fmla="val 0"/>
            </a:avLst>
          </a:prstGeom>
          <a:solidFill>
            <a:srgbClr val="0D948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② PFS (사전충전주사)</a:t>
            </a:r>
          </a:p>
        </p:txBody>
      </p:sp>
      <p:sp>
        <p:nvSpPr>
          <p:cNvPr id="205" name="cardbody">
            <a:extLst>
              <a:ext uri="{C183D7F6-B498-43B3-948B-1728B52AA6E4}">
                <adec:decorative xmlns:adec="http://schemas.microsoft.com/office/drawing/2017/decorative" val="1"/>
              </a:ext>
            </a:extLst>
          </p:cNvPr>
          <p:cNvSpPr/>
          <p:nvPr/>
        </p:nvSpPr>
        <p:spPr>
          <a:xfrm>
            <a:off x="3566208" y="2000000"/>
            <a:ext cx="2307840" cy="2690000"/>
          </a:xfrm>
          <a:prstGeom prst="rect">
            <a:avLst/>
          </a:prstGeom>
          <a:noFill/>
          <a:ln/>
        </p:spPr>
        <p:txBody>
          <a:bodyPr wrap="square" lIns="0" tIns="0" rIns="0" bIns="0" rtlCol="0" anchor="t"/>
          <a:lstStyle/>
          <a:p>
            <a:pPr algn="ctr">
              <a:buNone/>
            </a:pPr>
            <a:r>
              <a:rPr lang="ko-KR" altLang="en-US" sz="640" b="1">
                <a:solidFill>
                  <a:srgbClr val="0B2038"/>
                </a:solidFill>
                <a:latin typeface="Malgun Gothic" pitchFamily="34" charset="0"/>
                <a:ea typeface="Malgun Gothic" pitchFamily="34" charset="-122"/>
                <a:cs typeface="Malgun Gothic" pitchFamily="34" charset="-120"/>
              </a:rPr>
              <a:t>바이알 → 주사기 준비 → 약물 흡입 → 기포 제거 → 용량 조절 → 투여</a:t>
            </a:r>
          </a:p>
          <a:p>
            <a:pPr>
              <a:spcBef>
                <a:spcPts val="120"/>
              </a:spcBef>
              <a:buNone/>
            </a:pPr>
            <a:r>
              <a:rPr lang="ko-KR" altLang="en-US" sz="700" b="1">
                <a:solidFill>
                  <a:srgbClr val="0D9488"/>
                </a:solidFill>
                <a:latin typeface="Malgun Gothic" pitchFamily="34" charset="0"/>
                <a:ea typeface="Malgun Gothic" pitchFamily="34" charset="-122"/>
                <a:cs typeface="Malgun Gothic" pitchFamily="34" charset="-120"/>
              </a:rPr>
              <a:t>기존 방식의 문제점</a:t>
            </a:r>
          </a:p>
          <a:p>
            <a:pPr marL="130000" indent="-130000">
              <a:spcBef>
                <a:spcPts val="45"/>
              </a:spcBef>
              <a:buClr>
                <a:srgbClr val="0D9488"/>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준비 과정이 길다</a:t>
            </a:r>
          </a:p>
          <a:p>
            <a:pPr marL="130000" indent="-130000">
              <a:spcBef>
                <a:spcPts val="22"/>
              </a:spcBef>
              <a:buClr>
                <a:srgbClr val="0D9488"/>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의료진 숙련도 필요</a:t>
            </a:r>
          </a:p>
          <a:p>
            <a:pPr marL="130000" indent="-130000">
              <a:spcBef>
                <a:spcPts val="22"/>
              </a:spcBef>
              <a:buClr>
                <a:srgbClr val="0D9488"/>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용량 오차 가능성</a:t>
            </a:r>
          </a:p>
          <a:p>
            <a:pPr marL="130000" indent="-130000">
              <a:spcBef>
                <a:spcPts val="22"/>
              </a:spcBef>
              <a:buClr>
                <a:srgbClr val="0D9488"/>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오염·감염 위험 존재</a:t>
            </a:r>
          </a:p>
          <a:p>
            <a:pPr>
              <a:spcBef>
                <a:spcPts val="120"/>
              </a:spcBef>
              <a:buNone/>
            </a:pPr>
            <a:r>
              <a:rPr lang="ko-KR" altLang="en-US" sz="700" b="1">
                <a:solidFill>
                  <a:srgbClr val="0D9488"/>
                </a:solidFill>
                <a:latin typeface="Malgun Gothic" pitchFamily="34" charset="0"/>
                <a:ea typeface="Malgun Gothic" pitchFamily="34" charset="-122"/>
                <a:cs typeface="Malgun Gothic" pitchFamily="34" charset="-120"/>
              </a:rPr>
              <a:t>SCD411 방식 : PFS</a:t>
            </a:r>
          </a:p>
          <a:p>
            <a:pPr>
              <a:buNone/>
            </a:pPr>
            <a:r>
              <a:rPr lang="ko-KR" altLang="en-US" sz="660">
                <a:solidFill>
                  <a:srgbClr val="33465B"/>
                </a:solidFill>
                <a:latin typeface="Malgun Gothic" pitchFamily="34" charset="0"/>
                <a:ea typeface="Malgun Gothic" pitchFamily="34" charset="-122"/>
                <a:cs typeface="Malgun Gothic" pitchFamily="34" charset="-120"/>
              </a:rPr>
              <a:t>출하 시 정량 충전 → 개봉 후 즉시 사용</a:t>
            </a:r>
          </a:p>
          <a:p>
            <a:pPr>
              <a:spcBef>
                <a:spcPts val="120"/>
              </a:spcBef>
              <a:buNone/>
            </a:pPr>
            <a:r>
              <a:rPr lang="ko-KR" altLang="en-US" sz="700" b="1">
                <a:solidFill>
                  <a:srgbClr val="0D9488"/>
                </a:solidFill>
                <a:latin typeface="Malgun Gothic" pitchFamily="34" charset="0"/>
                <a:ea typeface="Malgun Gothic" pitchFamily="34" charset="-122"/>
                <a:cs typeface="Malgun Gothic" pitchFamily="34" charset="-120"/>
              </a:rPr>
              <a:t>기대 효과</a:t>
            </a:r>
          </a:p>
          <a:p>
            <a:pPr marL="130000" indent="-130000">
              <a:spcBef>
                <a:spcPts val="45"/>
              </a:spcBef>
              <a:buClr>
                <a:srgbClr val="0D9488"/>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사용 편의성 향상</a:t>
            </a:r>
          </a:p>
          <a:p>
            <a:pPr marL="130000" indent="-130000">
              <a:spcBef>
                <a:spcPts val="22"/>
              </a:spcBef>
              <a:buClr>
                <a:srgbClr val="0D9488"/>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준비 시간 단축</a:t>
            </a:r>
          </a:p>
          <a:p>
            <a:pPr marL="130000" indent="-130000">
              <a:spcBef>
                <a:spcPts val="22"/>
              </a:spcBef>
              <a:buClr>
                <a:srgbClr val="0D9488"/>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오염 위험 감소</a:t>
            </a:r>
          </a:p>
          <a:p>
            <a:pPr marL="130000" indent="-130000">
              <a:spcBef>
                <a:spcPts val="22"/>
              </a:spcBef>
              <a:buClr>
                <a:srgbClr val="0D9488"/>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투약 과정 단순화·오류 감소</a:t>
            </a:r>
          </a:p>
          <a:p>
            <a:pPr>
              <a:spcBef>
                <a:spcPts val="120"/>
              </a:spcBef>
              <a:buNone/>
            </a:pPr>
            <a:r>
              <a:rPr lang="ko-KR" altLang="en-US" sz="700" b="1">
                <a:solidFill>
                  <a:srgbClr val="0D9488"/>
                </a:solidFill>
                <a:latin typeface="Malgun Gothic" pitchFamily="34" charset="0"/>
                <a:ea typeface="Malgun Gothic" pitchFamily="34" charset="-122"/>
                <a:cs typeface="Malgun Gothic" pitchFamily="34" charset="-120"/>
              </a:rPr>
              <a:t>왜 경쟁력이 되는가?</a:t>
            </a:r>
          </a:p>
          <a:p>
            <a:pPr>
              <a:buNone/>
            </a:pPr>
            <a:r>
              <a:rPr lang="ko-KR" altLang="en-US" sz="660">
                <a:solidFill>
                  <a:srgbClr val="33465B"/>
                </a:solidFill>
                <a:latin typeface="Malgun Gothic" pitchFamily="34" charset="0"/>
                <a:ea typeface="Malgun Gothic" pitchFamily="34" charset="-122"/>
                <a:cs typeface="Malgun Gothic" pitchFamily="34" charset="-120"/>
              </a:rPr>
              <a:t>황반변성은 반복 안구내 주사가 필요 → 유사 효능이면 더 편리한 제품 선호</a:t>
            </a:r>
          </a:p>
          <a:p>
            <a:pPr>
              <a:spcBef>
                <a:spcPts val="120"/>
              </a:spcBef>
              <a:buNone/>
            </a:pPr>
            <a:r>
              <a:rPr lang="ko-KR" altLang="en-US" sz="700" b="1">
                <a:solidFill>
                  <a:srgbClr val="0D9488"/>
                </a:solidFill>
                <a:latin typeface="Malgun Gothic" pitchFamily="34" charset="0"/>
                <a:ea typeface="Malgun Gothic" pitchFamily="34" charset="-122"/>
                <a:cs typeface="Malgun Gothic" pitchFamily="34" charset="-120"/>
              </a:rPr>
              <a:t>판단</a:t>
            </a:r>
          </a:p>
          <a:p>
            <a:pPr>
              <a:spcBef>
                <a:spcPts val="30"/>
              </a:spcBef>
              <a:buNone/>
            </a:pPr>
            <a:r>
              <a:rPr lang="ko-KR" altLang="en-US" sz="690">
                <a:solidFill>
                  <a:srgbClr val="33465B"/>
                </a:solidFill>
                <a:latin typeface="Malgun Gothic" pitchFamily="34" charset="0"/>
                <a:ea typeface="Malgun Gothic" pitchFamily="34" charset="-122"/>
                <a:cs typeface="Malgun Gothic" pitchFamily="34" charset="-120"/>
              </a:rPr>
              <a:t>가격이 아닌 '사용 편의성' 측면의 경쟁력이다.</a:t>
            </a:r>
          </a:p>
        </p:txBody>
      </p:sp>
      <p:sp>
        <p:nvSpPr>
          <p:cNvPr id="206" name="card">
            <a:extLst>
              <a:ext uri="{C183D7F6-B498-43B3-948B-1728B52AA6E4}">
                <adec:decorative xmlns:adec="http://schemas.microsoft.com/office/drawing/2017/decorative" val="1"/>
              </a:ext>
            </a:extLst>
          </p:cNvPr>
          <p:cNvSpPr/>
          <p:nvPr/>
        </p:nvSpPr>
        <p:spPr>
          <a:xfrm>
            <a:off x="6174048" y="1590000"/>
            <a:ext cx="2607840" cy="317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7" name="cardhdr">
            <a:extLst>
              <a:ext uri="{C183D7F6-B498-43B3-948B-1728B52AA6E4}">
                <adec:decorative xmlns:adec="http://schemas.microsoft.com/office/drawing/2017/decorative" val="1"/>
              </a:ext>
            </a:extLst>
          </p:cNvPr>
          <p:cNvSpPr/>
          <p:nvPr/>
        </p:nvSpPr>
        <p:spPr>
          <a:xfrm>
            <a:off x="6174048" y="1590000"/>
            <a:ext cx="2607840" cy="340000"/>
          </a:xfrm>
          <a:prstGeom prst="round2SameRect">
            <a:avLst>
              <a:gd name="adj1" fmla="val 4200"/>
              <a:gd name="adj2" fmla="val 0"/>
            </a:avLst>
          </a:prstGeom>
          <a:solidFill>
            <a:srgbClr val="E8590C"/>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③ Local Champion</a:t>
            </a:r>
          </a:p>
        </p:txBody>
      </p:sp>
      <p:sp>
        <p:nvSpPr>
          <p:cNvPr id="208" name="cardbody"/>
          <p:cNvSpPr/>
          <p:nvPr/>
        </p:nvSpPr>
        <p:spPr>
          <a:xfrm>
            <a:off x="6324048" y="2000000"/>
            <a:ext cx="2307840" cy="2690000"/>
          </a:xfrm>
          <a:prstGeom prst="rect">
            <a:avLst/>
          </a:prstGeom>
          <a:noFill/>
          <a:ln/>
        </p:spPr>
        <p:txBody>
          <a:bodyPr wrap="square" lIns="0" tIns="0" rIns="0" bIns="0" rtlCol="0" anchor="t"/>
          <a:lstStyle/>
          <a:p>
            <a:pPr algn="ctr">
              <a:buNone/>
            </a:pPr>
            <a:r>
              <a:rPr lang="ko-KR" altLang="en-US" sz="640" b="1">
                <a:solidFill>
                  <a:srgbClr val="0B2038"/>
                </a:solidFill>
                <a:latin typeface="Malgun Gothic" pitchFamily="34" charset="0"/>
                <a:ea typeface="Malgun Gothic" pitchFamily="34" charset="-122"/>
                <a:cs typeface="Malgun Gothic" pitchFamily="34" charset="-120"/>
              </a:rPr>
              <a:t>삼천당 → 선도 파트너 → 현지 영업망 → 의사 네트워크 → 시장 침투</a:t>
            </a:r>
          </a:p>
          <a:p>
            <a:pPr>
              <a:spcBef>
                <a:spcPts val="120"/>
              </a:spcBef>
              <a:buNone/>
            </a:pPr>
            <a:r>
              <a:rPr lang="ko-KR" altLang="en-US" sz="700" b="1">
                <a:solidFill>
                  <a:srgbClr val="E8590C"/>
                </a:solidFill>
                <a:latin typeface="Malgun Gothic" pitchFamily="34" charset="0"/>
                <a:ea typeface="Malgun Gothic" pitchFamily="34" charset="-122"/>
                <a:cs typeface="Malgun Gothic" pitchFamily="34" charset="-120"/>
              </a:rPr>
              <a:t>주요 판매 구조</a:t>
            </a:r>
          </a:p>
          <a:p>
            <a:pPr>
              <a:buNone/>
            </a:pPr>
            <a:r>
              <a:rPr lang="ko-KR" altLang="en-US" sz="660">
                <a:solidFill>
                  <a:srgbClr val="33465B"/>
                </a:solidFill>
                <a:latin typeface="Malgun Gothic" pitchFamily="34" charset="0"/>
                <a:ea typeface="Malgun Gothic" pitchFamily="34" charset="-122"/>
                <a:cs typeface="Malgun Gothic" pitchFamily="34" charset="-120"/>
              </a:rPr>
              <a:t>캐나다 → Apotex     한국 → 직접 판매</a:t>
            </a:r>
          </a:p>
          <a:p>
            <a:pPr>
              <a:spcBef>
                <a:spcPts val="22"/>
              </a:spcBef>
              <a:buNone/>
            </a:pPr>
            <a:r>
              <a:rPr lang="ko-KR" altLang="en-US" sz="660">
                <a:solidFill>
                  <a:srgbClr val="33465B"/>
                </a:solidFill>
                <a:latin typeface="Malgun Gothic" pitchFamily="34" charset="0"/>
                <a:ea typeface="Malgun Gothic" pitchFamily="34" charset="-122"/>
                <a:cs typeface="Malgun Gothic" pitchFamily="34" charset="-120"/>
              </a:rPr>
              <a:t>유럽 → 지역 파트너    미국 → 확대 추진</a:t>
            </a:r>
          </a:p>
          <a:p>
            <a:pPr>
              <a:spcBef>
                <a:spcPts val="120"/>
              </a:spcBef>
              <a:buNone/>
            </a:pPr>
            <a:r>
              <a:rPr lang="ko-KR" altLang="en-US" sz="700" b="1">
                <a:solidFill>
                  <a:srgbClr val="E8590C"/>
                </a:solidFill>
                <a:latin typeface="Malgun Gothic" pitchFamily="34" charset="0"/>
                <a:ea typeface="Malgun Gothic" pitchFamily="34" charset="-122"/>
                <a:cs typeface="Malgun Gothic" pitchFamily="34" charset="-120"/>
              </a:rPr>
              <a:t>왜 중요한가?</a:t>
            </a:r>
          </a:p>
          <a:p>
            <a:pPr>
              <a:buNone/>
            </a:pPr>
            <a:r>
              <a:rPr lang="ko-KR" altLang="en-US" sz="660">
                <a:solidFill>
                  <a:srgbClr val="33465B"/>
                </a:solidFill>
                <a:latin typeface="Malgun Gothic" pitchFamily="34" charset="0"/>
                <a:ea typeface="Malgun Gothic" pitchFamily="34" charset="-122"/>
                <a:cs typeface="Malgun Gothic" pitchFamily="34" charset="-120"/>
              </a:rPr>
              <a:t>시밀러는 허가만으로 팔리지 않는다.</a:t>
            </a:r>
          </a:p>
          <a:p>
            <a:pPr>
              <a:spcBef>
                <a:spcPts val="22"/>
              </a:spcBef>
              <a:buNone/>
            </a:pPr>
            <a:r>
              <a:rPr lang="ko-KR" altLang="en-US" sz="660">
                <a:solidFill>
                  <a:srgbClr val="33465B"/>
                </a:solidFill>
                <a:latin typeface="Malgun Gothic" pitchFamily="34" charset="0"/>
                <a:ea typeface="Malgun Gothic" pitchFamily="34" charset="-122"/>
                <a:cs typeface="Malgun Gothic" pitchFamily="34" charset="-120"/>
              </a:rPr>
              <a:t>처방 확보 → 병원 진입 → 보험 등재 → 판매</a:t>
            </a:r>
          </a:p>
          <a:p>
            <a:pPr>
              <a:spcBef>
                <a:spcPts val="120"/>
              </a:spcBef>
              <a:buNone/>
            </a:pPr>
            <a:r>
              <a:rPr lang="ko-KR" altLang="en-US" sz="700" b="1">
                <a:solidFill>
                  <a:srgbClr val="E8590C"/>
                </a:solidFill>
                <a:latin typeface="Malgun Gothic" pitchFamily="34" charset="0"/>
                <a:ea typeface="Malgun Gothic" pitchFamily="34" charset="-122"/>
                <a:cs typeface="Malgun Gothic" pitchFamily="34" charset="-120"/>
              </a:rPr>
              <a:t>장점</a:t>
            </a:r>
          </a:p>
          <a:p>
            <a:pPr marL="130000" indent="-130000">
              <a:spcBef>
                <a:spcPts val="45"/>
              </a:spcBef>
              <a:buClr>
                <a:srgbClr val="E8590C"/>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기존 영업조직 활용</a:t>
            </a:r>
          </a:p>
          <a:p>
            <a:pPr marL="130000" indent="-130000">
              <a:spcBef>
                <a:spcPts val="22"/>
              </a:spcBef>
              <a:buClr>
                <a:srgbClr val="E8590C"/>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빠른 초기 시장 진입</a:t>
            </a:r>
          </a:p>
          <a:p>
            <a:pPr marL="130000" indent="-130000">
              <a:spcBef>
                <a:spcPts val="22"/>
              </a:spcBef>
              <a:buClr>
                <a:srgbClr val="E8590C"/>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국가별 유통망 확보</a:t>
            </a:r>
          </a:p>
          <a:p>
            <a:pPr marL="130000" indent="-130000">
              <a:spcBef>
                <a:spcPts val="22"/>
              </a:spcBef>
              <a:buClr>
                <a:srgbClr val="E8590C"/>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인프라 구축비 절감</a:t>
            </a:r>
          </a:p>
          <a:p>
            <a:pPr>
              <a:spcBef>
                <a:spcPts val="120"/>
              </a:spcBef>
              <a:buNone/>
            </a:pPr>
            <a:r>
              <a:rPr lang="ko-KR" altLang="en-US" sz="700" b="1">
                <a:solidFill>
                  <a:srgbClr val="E8590C"/>
                </a:solidFill>
                <a:latin typeface="Malgun Gothic" pitchFamily="34" charset="0"/>
                <a:ea typeface="Malgun Gothic" pitchFamily="34" charset="-122"/>
                <a:cs typeface="Malgun Gothic" pitchFamily="34" charset="-120"/>
              </a:rPr>
              <a:t>단점</a:t>
            </a:r>
          </a:p>
          <a:p>
            <a:pPr marL="130000" indent="-130000">
              <a:spcBef>
                <a:spcPts val="45"/>
              </a:spcBef>
              <a:buClr>
                <a:srgbClr val="E8590C"/>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파트너 성과 의존</a:t>
            </a:r>
          </a:p>
          <a:p>
            <a:pPr marL="130000" indent="-130000">
              <a:spcBef>
                <a:spcPts val="22"/>
              </a:spcBef>
              <a:buClr>
                <a:srgbClr val="E8590C"/>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수익 공유 필요</a:t>
            </a:r>
          </a:p>
          <a:p>
            <a:pPr marL="130000" indent="-130000">
              <a:spcBef>
                <a:spcPts val="22"/>
              </a:spcBef>
              <a:buClr>
                <a:srgbClr val="E8590C"/>
              </a:buClr>
              <a:buFont typeface="Arial"/>
              <a:buChar char="•"/>
            </a:pPr>
            <a:r>
              <a:rPr lang="ko-KR" altLang="en-US" sz="660">
                <a:solidFill>
                  <a:srgbClr val="33465B"/>
                </a:solidFill>
                <a:latin typeface="Malgun Gothic" pitchFamily="34" charset="0"/>
                <a:ea typeface="Malgun Gothic" pitchFamily="34" charset="-122"/>
                <a:cs typeface="Malgun Gothic" pitchFamily="34" charset="-120"/>
              </a:rPr>
              <a:t>판매 통제력 제한</a:t>
            </a:r>
          </a:p>
          <a:p>
            <a:pPr>
              <a:spcBef>
                <a:spcPts val="120"/>
              </a:spcBef>
              <a:buNone/>
            </a:pPr>
            <a:r>
              <a:rPr lang="ko-KR" altLang="en-US" sz="700" b="1">
                <a:solidFill>
                  <a:srgbClr val="E8590C"/>
                </a:solidFill>
                <a:latin typeface="Malgun Gothic" pitchFamily="34" charset="0"/>
                <a:ea typeface="Malgun Gothic" pitchFamily="34" charset="-122"/>
                <a:cs typeface="Malgun Gothic" pitchFamily="34" charset="-120"/>
              </a:rPr>
              <a:t>판단</a:t>
            </a:r>
          </a:p>
          <a:p>
            <a:pPr>
              <a:spcBef>
                <a:spcPts val="30"/>
              </a:spcBef>
              <a:buNone/>
            </a:pPr>
            <a:r>
              <a:rPr lang="ko-KR" altLang="en-US" sz="690">
                <a:solidFill>
                  <a:srgbClr val="33465B"/>
                </a:solidFill>
                <a:latin typeface="Malgun Gothic" pitchFamily="34" charset="0"/>
                <a:ea typeface="Malgun Gothic" pitchFamily="34" charset="-122"/>
                <a:cs typeface="Malgun Gothic" pitchFamily="34" charset="-120"/>
              </a:rPr>
              <a:t>직판 대신 현지 판매망으로 허가 이후 실제 처방까지 연결하는 전략.</a:t>
            </a:r>
          </a:p>
        </p:txBody>
      </p:sp>
      <p:sp>
        <p:nvSpPr>
          <p:cNvPr id="209" name="card">
            <a:extLst>
              <a:ext uri="{C183D7F6-B498-43B3-948B-1728B52AA6E4}">
                <adec:decorative xmlns:adec="http://schemas.microsoft.com/office/drawing/2017/decorative" val="1"/>
              </a:ext>
            </a:extLst>
          </p:cNvPr>
          <p:cNvSpPr/>
          <p:nvPr/>
        </p:nvSpPr>
        <p:spPr>
          <a:xfrm>
            <a:off x="8931888" y="1590000"/>
            <a:ext cx="2607840" cy="317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0" name="cardhdr">
            <a:extLst>
              <a:ext uri="{C183D7F6-B498-43B3-948B-1728B52AA6E4}">
                <adec:decorative xmlns:adec="http://schemas.microsoft.com/office/drawing/2017/decorative" val="1"/>
              </a:ext>
            </a:extLst>
          </p:cNvPr>
          <p:cNvSpPr/>
          <p:nvPr/>
        </p:nvSpPr>
        <p:spPr>
          <a:xfrm>
            <a:off x="8931888" y="1590000"/>
            <a:ext cx="2607840" cy="340000"/>
          </a:xfrm>
          <a:prstGeom prst="round2SameRect">
            <a:avLst>
              <a:gd name="adj1" fmla="val 4200"/>
              <a:gd name="adj2" fmla="val 0"/>
            </a:avLst>
          </a:prstGeom>
          <a:solidFill>
            <a:srgbClr val="059669"/>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④ Eylea HD 대응</a:t>
            </a:r>
          </a:p>
        </p:txBody>
      </p:sp>
      <p:sp>
        <p:nvSpPr>
          <p:cNvPr id="211" name="cardbody"/>
          <p:cNvSpPr/>
          <p:nvPr/>
        </p:nvSpPr>
        <p:spPr>
          <a:xfrm>
            <a:off x="9081888" y="2000000"/>
            <a:ext cx="2307840" cy="2690000"/>
          </a:xfrm>
          <a:prstGeom prst="rect">
            <a:avLst/>
          </a:prstGeom>
          <a:noFill/>
          <a:ln/>
        </p:spPr>
        <p:txBody>
          <a:bodyPr wrap="square" lIns="0" tIns="0" rIns="0" bIns="0" rtlCol="0" anchor="t"/>
          <a:lstStyle/>
          <a:p>
            <a:pPr algn="ctr">
              <a:buNone/>
            </a:pPr>
            <a:r>
              <a:rPr lang="ko-KR" altLang="en-US" sz="640" b="1">
                <a:solidFill>
                  <a:srgbClr val="0B2038"/>
                </a:solidFill>
                <a:latin typeface="Malgun Gothic" pitchFamily="34" charset="0"/>
                <a:ea typeface="Malgun Gothic" pitchFamily="34" charset="-122"/>
                <a:cs typeface="Malgun Gothic" pitchFamily="34" charset="-120"/>
              </a:rPr>
              <a:t>아일리아 2mg → HD 8mg → 투여간격 확대 → 방문 감소 → 편의성 증가</a:t>
            </a:r>
          </a:p>
          <a:p>
            <a:pPr>
              <a:spcBef>
                <a:spcPts val="120"/>
              </a:spcBef>
              <a:buNone/>
            </a:pPr>
            <a:r>
              <a:rPr lang="ko-KR" altLang="en-US" sz="700" b="1">
                <a:solidFill>
                  <a:srgbClr val="059669"/>
                </a:solidFill>
                <a:latin typeface="Malgun Gothic" pitchFamily="34" charset="0"/>
                <a:ea typeface="Malgun Gothic" pitchFamily="34" charset="-122"/>
                <a:cs typeface="Malgun Gothic" pitchFamily="34" charset="-120"/>
              </a:rPr>
              <a:t>왜 HD가 등장했는가?</a:t>
            </a:r>
          </a:p>
          <a:p>
            <a:pPr>
              <a:buNone/>
            </a:pPr>
            <a:r>
              <a:rPr lang="ko-KR" altLang="en-US" sz="660">
                <a:solidFill>
                  <a:srgbClr val="33465B"/>
                </a:solidFill>
                <a:latin typeface="Malgun Gothic" pitchFamily="34" charset="0"/>
                <a:ea typeface="Malgun Gothic" pitchFamily="34" charset="-122"/>
                <a:cs typeface="Malgun Gothic" pitchFamily="34" charset="-120"/>
              </a:rPr>
              <a:t>더 많은 약물을 투여해 주사 횟수를 줄이기 위한 전략</a:t>
            </a:r>
          </a:p>
          <a:p>
            <a:pPr>
              <a:spcBef>
                <a:spcPts val="120"/>
              </a:spcBef>
              <a:buNone/>
            </a:pPr>
            <a:r>
              <a:rPr lang="ko-KR" altLang="en-US" sz="700" b="1">
                <a:solidFill>
                  <a:srgbClr val="059669"/>
                </a:solidFill>
                <a:latin typeface="Malgun Gothic" pitchFamily="34" charset="0"/>
                <a:ea typeface="Malgun Gothic" pitchFamily="34" charset="-122"/>
                <a:cs typeface="Malgun Gothic" pitchFamily="34" charset="-120"/>
              </a:rPr>
              <a:t>위험</a:t>
            </a:r>
          </a:p>
          <a:p>
            <a:pPr>
              <a:buNone/>
            </a:pPr>
            <a:r>
              <a:rPr lang="ko-KR" altLang="en-US" sz="660">
                <a:solidFill>
                  <a:srgbClr val="33465B"/>
                </a:solidFill>
                <a:latin typeface="Malgun Gothic" pitchFamily="34" charset="0"/>
                <a:ea typeface="Malgun Gothic" pitchFamily="34" charset="-122"/>
                <a:cs typeface="Malgun Gothic" pitchFamily="34" charset="-120"/>
              </a:rPr>
              <a:t>저용량 시밀러만 보유 → 시장이 HD 중심으로</a:t>
            </a:r>
          </a:p>
          <a:p>
            <a:pPr>
              <a:spcBef>
                <a:spcPts val="22"/>
              </a:spcBef>
              <a:buNone/>
            </a:pPr>
            <a:r>
              <a:rPr lang="ko-KR" altLang="en-US" sz="660">
                <a:solidFill>
                  <a:srgbClr val="33465B"/>
                </a:solidFill>
                <a:latin typeface="Malgun Gothic" pitchFamily="34" charset="0"/>
                <a:ea typeface="Malgun Gothic" pitchFamily="34" charset="-122"/>
                <a:cs typeface="Malgun Gothic" pitchFamily="34" charset="-120"/>
              </a:rPr>
              <a:t>이동 시 점유율 상실 가능</a:t>
            </a:r>
          </a:p>
          <a:p>
            <a:pPr>
              <a:spcBef>
                <a:spcPts val="120"/>
              </a:spcBef>
              <a:buNone/>
            </a:pPr>
            <a:r>
              <a:rPr lang="ko-KR" altLang="en-US" sz="700" b="1">
                <a:solidFill>
                  <a:srgbClr val="059669"/>
                </a:solidFill>
                <a:latin typeface="Malgun Gothic" pitchFamily="34" charset="0"/>
                <a:ea typeface="Malgun Gothic" pitchFamily="34" charset="-122"/>
                <a:cs typeface="Malgun Gothic" pitchFamily="34" charset="-120"/>
              </a:rPr>
              <a:t>SCD 전략</a:t>
            </a:r>
          </a:p>
          <a:p>
            <a:pPr>
              <a:buNone/>
            </a:pPr>
            <a:r>
              <a:rPr lang="ko-KR" altLang="en-US" sz="660">
                <a:solidFill>
                  <a:srgbClr val="33465B"/>
                </a:solidFill>
                <a:latin typeface="Malgun Gothic" pitchFamily="34" charset="0"/>
                <a:ea typeface="Malgun Gothic" pitchFamily="34" charset="-122"/>
                <a:cs typeface="Malgun Gothic" pitchFamily="34" charset="-120"/>
              </a:rPr>
              <a:t>SCD411 + SCD411 HD 개발 →</a:t>
            </a:r>
          </a:p>
          <a:p>
            <a:pPr>
              <a:spcBef>
                <a:spcPts val="22"/>
              </a:spcBef>
              <a:buNone/>
            </a:pPr>
            <a:r>
              <a:rPr lang="ko-KR" altLang="en-US" sz="660">
                <a:solidFill>
                  <a:srgbClr val="33465B"/>
                </a:solidFill>
                <a:latin typeface="Malgun Gothic" pitchFamily="34" charset="0"/>
                <a:ea typeface="Malgun Gothic" pitchFamily="34" charset="-122"/>
                <a:cs typeface="Malgun Gothic" pitchFamily="34" charset="-120"/>
              </a:rPr>
              <a:t>고용량 시장 대응 → 장기 점유율 유지</a:t>
            </a:r>
          </a:p>
          <a:p>
            <a:pPr>
              <a:spcBef>
                <a:spcPts val="120"/>
              </a:spcBef>
              <a:buNone/>
            </a:pPr>
            <a:r>
              <a:rPr lang="ko-KR" altLang="en-US" sz="700" b="1">
                <a:solidFill>
                  <a:srgbClr val="059669"/>
                </a:solidFill>
                <a:latin typeface="Malgun Gothic" pitchFamily="34" charset="0"/>
                <a:ea typeface="Malgun Gothic" pitchFamily="34" charset="-122"/>
                <a:cs typeface="Malgun Gothic" pitchFamily="34" charset="-120"/>
              </a:rPr>
              <a:t>판단</a:t>
            </a:r>
          </a:p>
          <a:p>
            <a:pPr>
              <a:spcBef>
                <a:spcPts val="30"/>
              </a:spcBef>
              <a:buNone/>
            </a:pPr>
            <a:r>
              <a:rPr lang="ko-KR" altLang="en-US" sz="690">
                <a:solidFill>
                  <a:srgbClr val="33465B"/>
                </a:solidFill>
                <a:latin typeface="Malgun Gothic" pitchFamily="34" charset="0"/>
                <a:ea typeface="Malgun Gothic" pitchFamily="34" charset="-122"/>
                <a:cs typeface="Malgun Gothic" pitchFamily="34" charset="-120"/>
              </a:rPr>
              <a:t>기존 시장뿐 아니라 HD 중심 시장 이동에도 대응한다.</a:t>
            </a:r>
          </a:p>
        </p:txBody>
      </p:sp>
      <p:sp>
        <p:nvSpPr>
          <p:cNvPr id="400" name="concl">
            <a:extLst>
              <a:ext uri="{C183D7F6-B498-43B3-948B-1728B52AA6E4}">
                <adec:decorative xmlns:adec="http://schemas.microsoft.com/office/drawing/2017/decorative" val="1"/>
              </a:ext>
            </a:extLst>
          </p:cNvPr>
          <p:cNvSpPr/>
          <p:nvPr/>
        </p:nvSpPr>
        <p:spPr>
          <a:xfrm>
            <a:off x="658368" y="4830000"/>
            <a:ext cx="10881360" cy="1440000"/>
          </a:xfrm>
          <a:prstGeom prst="rect">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401" name="concl accent">
            <a:extLst>
              <a:ext uri="{C183D7F6-B498-43B3-948B-1728B52AA6E4}">
                <adec:decorative xmlns:adec="http://schemas.microsoft.com/office/drawing/2017/decorative" val="1"/>
              </a:ext>
            </a:extLst>
          </p:cNvPr>
          <p:cNvSpPr/>
          <p:nvPr/>
        </p:nvSpPr>
        <p:spPr>
          <a:xfrm>
            <a:off x="658368" y="4830000"/>
            <a:ext cx="120000" cy="1440000"/>
          </a:xfrm>
          <a:prstGeom prst="rect">
            <a:avLst/>
          </a:prstGeom>
          <a:solidFill>
            <a:srgbClr val="0D9488"/>
          </a:solidFill>
          <a:ln/>
        </p:spPr>
        <p:txBody>
          <a:bodyPr/>
          <a:lstStyle/>
          <a:p>
            <a:endParaRPr lang="ko-KR" altLang="en-US"/>
          </a:p>
        </p:txBody>
      </p:sp>
      <p:sp>
        <p:nvSpPr>
          <p:cNvPr id="402" name="concl txt"/>
          <p:cNvSpPr/>
          <p:nvPr/>
        </p:nvSpPr>
        <p:spPr>
          <a:xfrm>
            <a:off x="1038368" y="4940000"/>
            <a:ext cx="10121360" cy="1220000"/>
          </a:xfrm>
          <a:prstGeom prst="rect">
            <a:avLst/>
          </a:prstGeom>
          <a:noFill/>
          <a:ln/>
        </p:spPr>
        <p:txBody>
          <a:bodyPr wrap="square" lIns="0" tIns="0" rIns="0" bIns="0" rtlCol="0" anchor="ctr"/>
          <a:lstStyle/>
          <a:p>
            <a:pPr algn="ctr">
              <a:buNone/>
            </a:pPr>
            <a:r>
              <a:rPr lang="ko-KR" altLang="en-US" sz="820" b="1" spc="200">
                <a:solidFill>
                  <a:srgbClr val="7FE9DC"/>
                </a:solidFill>
                <a:latin typeface="Malgun Gothic" pitchFamily="34" charset="0"/>
                <a:ea typeface="Malgun Gothic" pitchFamily="34" charset="-122"/>
                <a:cs typeface="Malgun Gothic" pitchFamily="34" charset="-120"/>
              </a:rPr>
              <a:t>최종 결론</a:t>
            </a:r>
          </a:p>
          <a:p>
            <a:pPr algn="ctr">
              <a:spcBef>
                <a:spcPts val="260"/>
              </a:spcBef>
              <a:buNone/>
            </a:pPr>
            <a:r>
              <a:rPr lang="ko-KR" altLang="en-US" sz="1000" b="1">
                <a:solidFill>
                  <a:srgbClr val="FFFFFF"/>
                </a:solidFill>
                <a:latin typeface="Malgun Gothic" pitchFamily="34" charset="0"/>
                <a:ea typeface="Malgun Gothic" pitchFamily="34" charset="-122"/>
                <a:cs typeface="Malgun Gothic" pitchFamily="34" charset="-120"/>
              </a:rPr>
              <a:t>SCD411 점유율 확보 전략  </a:t>
            </a:r>
            <a:r>
              <a:rPr lang="ko-KR" altLang="en-US" sz="1000" b="1">
                <a:solidFill>
                  <a:srgbClr val="7FE9DC"/>
                </a:solidFill>
                <a:latin typeface="Malgun Gothic" pitchFamily="34" charset="0"/>
                <a:ea typeface="Malgun Gothic" pitchFamily="34" charset="-122"/>
                <a:cs typeface="Malgun Gothic" pitchFamily="34" charset="-120"/>
              </a:rPr>
              <a:t>=</a:t>
            </a:r>
            <a:r>
              <a:rPr lang="ko-KR" altLang="en-US" sz="1000" b="1">
                <a:solidFill>
                  <a:srgbClr val="9FC2FF"/>
                </a:solidFill>
                <a:latin typeface="Malgun Gothic" pitchFamily="34" charset="0"/>
                <a:ea typeface="Malgun Gothic" pitchFamily="34" charset="-122"/>
                <a:cs typeface="Malgun Gothic" pitchFamily="34" charset="-120"/>
              </a:rPr>
              <a:t>  가격 경쟁력  </a:t>
            </a:r>
            <a:r>
              <a:rPr lang="ko-KR" altLang="en-US" sz="1000" b="1">
                <a:solidFill>
                  <a:srgbClr val="7FE9DC"/>
                </a:solidFill>
                <a:latin typeface="Malgun Gothic" pitchFamily="34" charset="0"/>
                <a:ea typeface="Malgun Gothic" pitchFamily="34" charset="-122"/>
                <a:cs typeface="Malgun Gothic" pitchFamily="34" charset="-120"/>
              </a:rPr>
              <a:t>+</a:t>
            </a:r>
            <a:r>
              <a:rPr lang="ko-KR" altLang="en-US" sz="1000" b="1">
                <a:solidFill>
                  <a:srgbClr val="9FC2FF"/>
                </a:solidFill>
                <a:latin typeface="Malgun Gothic" pitchFamily="34" charset="0"/>
                <a:ea typeface="Malgun Gothic" pitchFamily="34" charset="-122"/>
                <a:cs typeface="Malgun Gothic" pitchFamily="34" charset="-120"/>
              </a:rPr>
              <a:t>  PFS 편의성  </a:t>
            </a:r>
            <a:r>
              <a:rPr lang="ko-KR" altLang="en-US" sz="1000" b="1">
                <a:solidFill>
                  <a:srgbClr val="7FE9DC"/>
                </a:solidFill>
                <a:latin typeface="Malgun Gothic" pitchFamily="34" charset="0"/>
                <a:ea typeface="Malgun Gothic" pitchFamily="34" charset="-122"/>
                <a:cs typeface="Malgun Gothic" pitchFamily="34" charset="-120"/>
              </a:rPr>
              <a:t>+</a:t>
            </a:r>
            <a:r>
              <a:rPr lang="ko-KR" altLang="en-US" sz="1000" b="1">
                <a:solidFill>
                  <a:srgbClr val="9FC2FF"/>
                </a:solidFill>
                <a:latin typeface="Malgun Gothic" pitchFamily="34" charset="0"/>
                <a:ea typeface="Malgun Gothic" pitchFamily="34" charset="-122"/>
                <a:cs typeface="Malgun Gothic" pitchFamily="34" charset="-120"/>
              </a:rPr>
              <a:t>  Local Champion  </a:t>
            </a:r>
            <a:r>
              <a:rPr lang="ko-KR" altLang="en-US" sz="1000" b="1">
                <a:solidFill>
                  <a:srgbClr val="7FE9DC"/>
                </a:solidFill>
                <a:latin typeface="Malgun Gothic" pitchFamily="34" charset="0"/>
                <a:ea typeface="Malgun Gothic" pitchFamily="34" charset="-122"/>
                <a:cs typeface="Malgun Gothic" pitchFamily="34" charset="-120"/>
              </a:rPr>
              <a:t>+</a:t>
            </a:r>
            <a:r>
              <a:rPr lang="ko-KR" altLang="en-US" sz="1000" b="1">
                <a:solidFill>
                  <a:srgbClr val="9FC2FF"/>
                </a:solidFill>
                <a:latin typeface="Malgun Gothic" pitchFamily="34" charset="0"/>
                <a:ea typeface="Malgun Gothic" pitchFamily="34" charset="-122"/>
                <a:cs typeface="Malgun Gothic" pitchFamily="34" charset="-120"/>
              </a:rPr>
              <a:t>  Eylea HD 대응</a:t>
            </a:r>
          </a:p>
          <a:p>
            <a:pPr algn="ctr">
              <a:spcBef>
                <a:spcPts val="280"/>
              </a:spcBef>
              <a:buNone/>
            </a:pPr>
            <a:r>
              <a:rPr lang="ko-KR" altLang="en-US" sz="900">
                <a:solidFill>
                  <a:srgbClr val="E2E8F0"/>
                </a:solidFill>
                <a:latin typeface="Malgun Gothic" pitchFamily="34" charset="0"/>
                <a:ea typeface="Malgun Gothic" pitchFamily="34" charset="-122"/>
                <a:cs typeface="Malgun Gothic" pitchFamily="34" charset="-120"/>
              </a:rPr>
              <a:t>SCD411은 단순 저가 복제품이 아니다. </a:t>
            </a:r>
            <a:r>
              <a:rPr lang="ko-KR" altLang="en-US" sz="900" b="1">
                <a:solidFill>
                  <a:srgbClr val="FFFFFF"/>
                </a:solidFill>
                <a:latin typeface="Malgun Gothic" pitchFamily="34" charset="0"/>
                <a:ea typeface="Malgun Gothic" pitchFamily="34" charset="-122"/>
                <a:cs typeface="Malgun Gothic" pitchFamily="34" charset="-120"/>
              </a:rPr>
              <a:t>가격·편의성·판매망·후속제품</a:t>
            </a:r>
            <a:r>
              <a:rPr lang="ko-KR" altLang="en-US" sz="900">
                <a:solidFill>
                  <a:srgbClr val="E2E8F0"/>
                </a:solidFill>
                <a:latin typeface="Malgun Gothic" pitchFamily="34" charset="0"/>
                <a:ea typeface="Malgun Gothic" pitchFamily="34" charset="-122"/>
                <a:cs typeface="Malgun Gothic" pitchFamily="34" charset="-120"/>
              </a:rPr>
              <a:t> 4가지 전략으로 기존 아일리아 시장 진입을 시도하고 있다.</a:t>
            </a:r>
          </a:p>
          <a:p>
            <a:pPr algn="ctr">
              <a:spcBef>
                <a:spcPts val="120"/>
              </a:spcBef>
              <a:buNone/>
            </a:pPr>
            <a:r>
              <a:rPr lang="ko-KR" altLang="en-US" sz="900">
                <a:solidFill>
                  <a:srgbClr val="C7D2E0"/>
                </a:solidFill>
                <a:latin typeface="Malgun Gothic" pitchFamily="34" charset="0"/>
                <a:ea typeface="Malgun Gothic" pitchFamily="34" charset="-122"/>
                <a:cs typeface="Malgun Gothic" pitchFamily="34" charset="-120"/>
              </a:rPr>
              <a:t>다만 실제 점유율 확대 여부는 </a:t>
            </a:r>
            <a:r>
              <a:rPr lang="ko-KR" altLang="en-US" sz="900" b="1">
                <a:solidFill>
                  <a:srgbClr val="FDBA74"/>
                </a:solidFill>
                <a:latin typeface="Malgun Gothic" pitchFamily="34" charset="0"/>
                <a:ea typeface="Malgun Gothic" pitchFamily="34" charset="-122"/>
                <a:cs typeface="Malgun Gothic" pitchFamily="34" charset="-120"/>
              </a:rPr>
              <a:t>향후 출하량·매출·시장점유율</a:t>
            </a:r>
            <a:r>
              <a:rPr lang="ko-KR" altLang="en-US" sz="900">
                <a:solidFill>
                  <a:srgbClr val="C7D2E0"/>
                </a:solidFill>
                <a:latin typeface="Malgun Gothic" pitchFamily="34" charset="0"/>
                <a:ea typeface="Malgun Gothic" pitchFamily="34" charset="-122"/>
                <a:cs typeface="Malgun Gothic" pitchFamily="34" charset="-120"/>
              </a:rPr>
              <a:t>로 검증이 필요하다.</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15</a:t>
            </a:r>
            <a:endParaRPr lang="en-US" sz="8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dirty="0">
                <a:solidFill>
                  <a:srgbClr val="1D4ED8"/>
                </a:solidFill>
                <a:latin typeface="Malgun Gothic" pitchFamily="34" charset="0"/>
                <a:ea typeface="Malgun Gothic" pitchFamily="34" charset="-122"/>
                <a:cs typeface="Malgun Gothic" pitchFamily="34" charset="-120"/>
              </a:rPr>
              <a:t>02 · </a:t>
            </a:r>
            <a:r>
              <a:rPr lang="en-US" sz="1100" b="1" kern="0" spc="200">
                <a:solidFill>
                  <a:srgbClr val="1D4ED8"/>
                </a:solidFill>
                <a:latin typeface="Malgun Gothic" pitchFamily="34" charset="0"/>
                <a:ea typeface="Malgun Gothic" pitchFamily="34" charset="-122"/>
                <a:cs typeface="Malgun Gothic" pitchFamily="34" charset="-120"/>
              </a:rPr>
              <a:t>시장 · </a:t>
            </a:r>
            <a:r>
              <a:rPr lang="en-US" sz="1100" b="1" kern="0" spc="200" dirty="0">
                <a:solidFill>
                  <a:srgbClr val="1D4ED8"/>
                </a:solidFill>
                <a:latin typeface="Malgun Gothic" pitchFamily="34" charset="0"/>
                <a:ea typeface="Malgun Gothic" pitchFamily="34" charset="-122"/>
                <a:cs typeface="Malgun Gothic" pitchFamily="34" charset="-120"/>
              </a:rPr>
              <a:t>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SCD411은 현재 어디까지 왔는가?</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1D4ED8"/>
          </a:solidFill>
          <a:ln/>
        </p:spPr>
        <p:txBody>
          <a:bodyPr/>
          <a:lstStyle/>
          <a:p>
            <a:endParaRPr lang="ko-KR" altLang="en-US"/>
          </a:p>
        </p:txBody>
      </p:sp>
      <p:sp>
        <p:nvSpPr>
          <p:cNvPr id="5" name="subtitle"/>
          <p:cNvSpPr/>
          <p:nvPr/>
        </p:nvSpPr>
        <p:spPr>
          <a:xfrm>
            <a:off x="658368" y="1330000"/>
            <a:ext cx="10875264" cy="300000"/>
          </a:xfrm>
          <a:prstGeom prst="rect">
            <a:avLst/>
          </a:prstGeom>
          <a:noFill/>
          <a:ln/>
        </p:spPr>
        <p:txBody>
          <a:bodyPr wrap="square" lIns="0" tIns="0" rIns="0" bIns="0" rtlCol="0" anchor="ctr"/>
          <a:lstStyle/>
          <a:p>
            <a:pPr marL="0" indent="0">
              <a:buNone/>
            </a:pPr>
            <a:r>
              <a:rPr lang="en-US" sz="1250">
                <a:solidFill>
                  <a:srgbClr val="33465B"/>
                </a:solidFill>
                <a:latin typeface="Malgun Gothic" pitchFamily="34" charset="0"/>
                <a:ea typeface="Malgun Gothic" pitchFamily="34" charset="-122"/>
                <a:cs typeface="Malgun Gothic" pitchFamily="34" charset="-120"/>
              </a:rPr>
              <a:t>개발 단계가 아닌 실적 검증 단계</a:t>
            </a:r>
          </a:p>
        </p:txBody>
      </p:sp>
      <p:sp>
        <p:nvSpPr>
          <p:cNvPr id="200" name="step">
            <a:extLst>
              <a:ext uri="{C183D7F6-B498-43B3-948B-1728B52AA6E4}">
                <adec:decorative xmlns:adec="http://schemas.microsoft.com/office/drawing/2017/decorative" val="1"/>
              </a:ext>
            </a:extLst>
          </p:cNvPr>
          <p:cNvSpPr/>
          <p:nvPr/>
        </p:nvSpPr>
        <p:spPr>
          <a:xfrm>
            <a:off x="658368" y="1900000"/>
            <a:ext cx="2056272" cy="800000"/>
          </a:xfrm>
          <a:prstGeom prst="rect">
            <a:avLst/>
          </a:prstGeom>
          <a:solidFill>
            <a:srgbClr val="E6F5F0"/>
          </a:solidFill>
          <a:ln w="9525">
            <a:solidFill>
              <a:srgbClr val="A7E0CE"/>
            </a:solidFill>
          </a:ln>
        </p:spPr>
        <p:txBody>
          <a:bodyPr/>
          <a:lstStyle/>
          <a:p>
            <a:endParaRPr lang="ko-KR" altLang="en-US"/>
          </a:p>
        </p:txBody>
      </p:sp>
      <p:sp>
        <p:nvSpPr>
          <p:cNvPr id="201" name="steptxt"/>
          <p:cNvSpPr/>
          <p:nvPr/>
        </p:nvSpPr>
        <p:spPr>
          <a:xfrm>
            <a:off x="658368" y="1900000"/>
            <a:ext cx="2056272" cy="800000"/>
          </a:xfrm>
          <a:prstGeom prst="rect">
            <a:avLst/>
          </a:prstGeom>
          <a:noFill/>
          <a:ln/>
        </p:spPr>
        <p:txBody>
          <a:bodyPr wrap="square" lIns="0" tIns="0" rIns="0" bIns="0" rtlCol="0" anchor="ctr"/>
          <a:lstStyle/>
          <a:p>
            <a:pPr algn="ctr">
              <a:buNone/>
            </a:pPr>
            <a:r>
              <a:rPr lang="ko-KR" altLang="en-US" sz="1300" b="1">
                <a:solidFill>
                  <a:srgbClr val="059669"/>
                </a:solidFill>
                <a:latin typeface="Malgun Gothic" pitchFamily="34" charset="0"/>
                <a:ea typeface="Malgun Gothic" pitchFamily="34" charset="-122"/>
                <a:cs typeface="Malgun Gothic" pitchFamily="34" charset="-120"/>
              </a:rPr>
              <a:t>✓</a:t>
            </a:r>
          </a:p>
          <a:p>
            <a:pPr algn="ctr">
              <a:spcBef>
                <a:spcPts val="120"/>
              </a:spcBef>
              <a:buNone/>
            </a:pPr>
            <a:r>
              <a:rPr lang="ko-KR" altLang="en-US" sz="950" b="1">
                <a:solidFill>
                  <a:srgbClr val="0B2038"/>
                </a:solidFill>
                <a:latin typeface="Malgun Gothic" pitchFamily="34" charset="0"/>
                <a:ea typeface="Malgun Gothic" pitchFamily="34" charset="-122"/>
                <a:cs typeface="Malgun Gothic" pitchFamily="34" charset="-120"/>
              </a:rPr>
              <a:t>개발</a:t>
            </a:r>
          </a:p>
        </p:txBody>
      </p:sp>
      <p:sp>
        <p:nvSpPr>
          <p:cNvPr id="202" name="step">
            <a:extLst>
              <a:ext uri="{C183D7F6-B498-43B3-948B-1728B52AA6E4}">
                <adec:decorative xmlns:adec="http://schemas.microsoft.com/office/drawing/2017/decorative" val="1"/>
              </a:ext>
            </a:extLst>
          </p:cNvPr>
          <p:cNvSpPr/>
          <p:nvPr/>
        </p:nvSpPr>
        <p:spPr>
          <a:xfrm>
            <a:off x="2864640" y="1900000"/>
            <a:ext cx="2056272" cy="800000"/>
          </a:xfrm>
          <a:prstGeom prst="rect">
            <a:avLst/>
          </a:prstGeom>
          <a:solidFill>
            <a:srgbClr val="E6F5F0"/>
          </a:solidFill>
          <a:ln w="9525">
            <a:solidFill>
              <a:srgbClr val="A7E0CE"/>
            </a:solidFill>
          </a:ln>
        </p:spPr>
        <p:txBody>
          <a:bodyPr/>
          <a:lstStyle/>
          <a:p>
            <a:endParaRPr lang="ko-KR" altLang="en-US"/>
          </a:p>
        </p:txBody>
      </p:sp>
      <p:sp>
        <p:nvSpPr>
          <p:cNvPr id="203" name="steptxt"/>
          <p:cNvSpPr/>
          <p:nvPr/>
        </p:nvSpPr>
        <p:spPr>
          <a:xfrm>
            <a:off x="2864640" y="1900000"/>
            <a:ext cx="2056272" cy="800000"/>
          </a:xfrm>
          <a:prstGeom prst="rect">
            <a:avLst/>
          </a:prstGeom>
          <a:noFill/>
          <a:ln/>
        </p:spPr>
        <p:txBody>
          <a:bodyPr wrap="square" lIns="0" tIns="0" rIns="0" bIns="0" rtlCol="0" anchor="ctr"/>
          <a:lstStyle/>
          <a:p>
            <a:pPr algn="ctr">
              <a:buNone/>
            </a:pPr>
            <a:r>
              <a:rPr lang="ko-KR" altLang="en-US" sz="1300" b="1">
                <a:solidFill>
                  <a:srgbClr val="059669"/>
                </a:solidFill>
                <a:latin typeface="Malgun Gothic" pitchFamily="34" charset="0"/>
                <a:ea typeface="Malgun Gothic" pitchFamily="34" charset="-122"/>
                <a:cs typeface="Malgun Gothic" pitchFamily="34" charset="-120"/>
              </a:rPr>
              <a:t>✓</a:t>
            </a:r>
          </a:p>
          <a:p>
            <a:pPr algn="ctr">
              <a:spcBef>
                <a:spcPts val="120"/>
              </a:spcBef>
              <a:buNone/>
            </a:pPr>
            <a:r>
              <a:rPr lang="ko-KR" altLang="en-US" sz="950" b="1">
                <a:solidFill>
                  <a:srgbClr val="0B2038"/>
                </a:solidFill>
                <a:latin typeface="Malgun Gothic" pitchFamily="34" charset="0"/>
                <a:ea typeface="Malgun Gothic" pitchFamily="34" charset="-122"/>
                <a:cs typeface="Malgun Gothic" pitchFamily="34" charset="-120"/>
              </a:rPr>
              <a:t>임상</a:t>
            </a:r>
          </a:p>
        </p:txBody>
      </p:sp>
      <p:sp>
        <p:nvSpPr>
          <p:cNvPr id="204" name="step">
            <a:extLst>
              <a:ext uri="{C183D7F6-B498-43B3-948B-1728B52AA6E4}">
                <adec:decorative xmlns:adec="http://schemas.microsoft.com/office/drawing/2017/decorative" val="1"/>
              </a:ext>
            </a:extLst>
          </p:cNvPr>
          <p:cNvSpPr/>
          <p:nvPr/>
        </p:nvSpPr>
        <p:spPr>
          <a:xfrm>
            <a:off x="5070912" y="1900000"/>
            <a:ext cx="2056272" cy="800000"/>
          </a:xfrm>
          <a:prstGeom prst="rect">
            <a:avLst/>
          </a:prstGeom>
          <a:solidFill>
            <a:srgbClr val="E6F5F0"/>
          </a:solidFill>
          <a:ln w="9525">
            <a:solidFill>
              <a:srgbClr val="A7E0CE"/>
            </a:solidFill>
          </a:ln>
        </p:spPr>
        <p:txBody>
          <a:bodyPr/>
          <a:lstStyle/>
          <a:p>
            <a:endParaRPr lang="ko-KR" altLang="en-US"/>
          </a:p>
        </p:txBody>
      </p:sp>
      <p:sp>
        <p:nvSpPr>
          <p:cNvPr id="205" name="steptxt"/>
          <p:cNvSpPr/>
          <p:nvPr/>
        </p:nvSpPr>
        <p:spPr>
          <a:xfrm>
            <a:off x="5070912" y="1900000"/>
            <a:ext cx="2056272" cy="800000"/>
          </a:xfrm>
          <a:prstGeom prst="rect">
            <a:avLst/>
          </a:prstGeom>
          <a:noFill/>
          <a:ln/>
        </p:spPr>
        <p:txBody>
          <a:bodyPr wrap="square" lIns="0" tIns="0" rIns="0" bIns="0" rtlCol="0" anchor="ctr"/>
          <a:lstStyle/>
          <a:p>
            <a:pPr algn="ctr">
              <a:buNone/>
            </a:pPr>
            <a:r>
              <a:rPr lang="ko-KR" altLang="en-US" sz="1300" b="1">
                <a:solidFill>
                  <a:srgbClr val="059669"/>
                </a:solidFill>
                <a:latin typeface="Malgun Gothic" pitchFamily="34" charset="0"/>
                <a:ea typeface="Malgun Gothic" pitchFamily="34" charset="-122"/>
                <a:cs typeface="Malgun Gothic" pitchFamily="34" charset="-120"/>
              </a:rPr>
              <a:t>✓</a:t>
            </a:r>
          </a:p>
          <a:p>
            <a:pPr algn="ctr">
              <a:spcBef>
                <a:spcPts val="120"/>
              </a:spcBef>
              <a:buNone/>
            </a:pPr>
            <a:r>
              <a:rPr lang="ko-KR" altLang="en-US" sz="950" b="1">
                <a:solidFill>
                  <a:srgbClr val="0B2038"/>
                </a:solidFill>
                <a:latin typeface="Malgun Gothic" pitchFamily="34" charset="0"/>
                <a:ea typeface="Malgun Gothic" pitchFamily="34" charset="-122"/>
                <a:cs typeface="Malgun Gothic" pitchFamily="34" charset="-120"/>
              </a:rPr>
              <a:t>허가</a:t>
            </a:r>
          </a:p>
        </p:txBody>
      </p:sp>
      <p:sp>
        <p:nvSpPr>
          <p:cNvPr id="206" name="step">
            <a:extLst>
              <a:ext uri="{C183D7F6-B498-43B3-948B-1728B52AA6E4}">
                <adec:decorative xmlns:adec="http://schemas.microsoft.com/office/drawing/2017/decorative" val="1"/>
              </a:ext>
            </a:extLst>
          </p:cNvPr>
          <p:cNvSpPr/>
          <p:nvPr/>
        </p:nvSpPr>
        <p:spPr>
          <a:xfrm>
            <a:off x="7277184" y="1900000"/>
            <a:ext cx="2056272" cy="800000"/>
          </a:xfrm>
          <a:prstGeom prst="rect">
            <a:avLst/>
          </a:prstGeom>
          <a:solidFill>
            <a:srgbClr val="E6F5F0"/>
          </a:solidFill>
          <a:ln w="9525">
            <a:solidFill>
              <a:srgbClr val="A7E0CE"/>
            </a:solidFill>
          </a:ln>
        </p:spPr>
        <p:txBody>
          <a:bodyPr/>
          <a:lstStyle/>
          <a:p>
            <a:endParaRPr lang="ko-KR" altLang="en-US"/>
          </a:p>
        </p:txBody>
      </p:sp>
      <p:sp>
        <p:nvSpPr>
          <p:cNvPr id="207" name="steptxt"/>
          <p:cNvSpPr/>
          <p:nvPr/>
        </p:nvSpPr>
        <p:spPr>
          <a:xfrm>
            <a:off x="7277184" y="1900000"/>
            <a:ext cx="2056272" cy="800000"/>
          </a:xfrm>
          <a:prstGeom prst="rect">
            <a:avLst/>
          </a:prstGeom>
          <a:noFill/>
          <a:ln/>
        </p:spPr>
        <p:txBody>
          <a:bodyPr wrap="square" lIns="0" tIns="0" rIns="0" bIns="0" rtlCol="0" anchor="ctr"/>
          <a:lstStyle/>
          <a:p>
            <a:pPr algn="ctr">
              <a:buNone/>
            </a:pPr>
            <a:r>
              <a:rPr lang="ko-KR" altLang="en-US" sz="1300" b="1">
                <a:solidFill>
                  <a:srgbClr val="059669"/>
                </a:solidFill>
                <a:latin typeface="Malgun Gothic" pitchFamily="34" charset="0"/>
                <a:ea typeface="Malgun Gothic" pitchFamily="34" charset="-122"/>
                <a:cs typeface="Malgun Gothic" pitchFamily="34" charset="-120"/>
              </a:rPr>
              <a:t>✓</a:t>
            </a:r>
          </a:p>
          <a:p>
            <a:pPr algn="ctr">
              <a:spcBef>
                <a:spcPts val="120"/>
              </a:spcBef>
              <a:buNone/>
            </a:pPr>
            <a:r>
              <a:rPr lang="ko-KR" altLang="en-US" sz="950" b="1">
                <a:solidFill>
                  <a:srgbClr val="0B2038"/>
                </a:solidFill>
                <a:latin typeface="Malgun Gothic" pitchFamily="34" charset="0"/>
                <a:ea typeface="Malgun Gothic" pitchFamily="34" charset="-122"/>
                <a:cs typeface="Malgun Gothic" pitchFamily="34" charset="-120"/>
              </a:rPr>
              <a:t>판매 계약</a:t>
            </a:r>
          </a:p>
        </p:txBody>
      </p:sp>
      <p:sp>
        <p:nvSpPr>
          <p:cNvPr id="208" name="step">
            <a:extLst>
              <a:ext uri="{C183D7F6-B498-43B3-948B-1728B52AA6E4}">
                <adec:decorative xmlns:adec="http://schemas.microsoft.com/office/drawing/2017/decorative" val="1"/>
              </a:ext>
            </a:extLst>
          </p:cNvPr>
          <p:cNvSpPr/>
          <p:nvPr/>
        </p:nvSpPr>
        <p:spPr>
          <a:xfrm>
            <a:off x="9483456" y="1900000"/>
            <a:ext cx="2056272" cy="800000"/>
          </a:xfrm>
          <a:prstGeom prst="rect">
            <a:avLst/>
          </a:prstGeom>
          <a:solidFill>
            <a:srgbClr val="EAF0FA"/>
          </a:solidFill>
          <a:ln w="9525">
            <a:solidFill>
              <a:srgbClr val="BFD4F7"/>
            </a:solidFill>
          </a:ln>
        </p:spPr>
        <p:txBody>
          <a:bodyPr/>
          <a:lstStyle/>
          <a:p>
            <a:endParaRPr lang="ko-KR" altLang="en-US"/>
          </a:p>
        </p:txBody>
      </p:sp>
      <p:sp>
        <p:nvSpPr>
          <p:cNvPr id="209" name="steptxt"/>
          <p:cNvSpPr/>
          <p:nvPr/>
        </p:nvSpPr>
        <p:spPr>
          <a:xfrm>
            <a:off x="9483456" y="1900000"/>
            <a:ext cx="2056272" cy="800000"/>
          </a:xfrm>
          <a:prstGeom prst="rect">
            <a:avLst/>
          </a:prstGeom>
          <a:noFill/>
          <a:ln/>
        </p:spPr>
        <p:txBody>
          <a:bodyPr wrap="square" lIns="0" tIns="0" rIns="0" bIns="0" rtlCol="0" anchor="ctr"/>
          <a:lstStyle/>
          <a:p>
            <a:pPr algn="ctr">
              <a:buNone/>
            </a:pPr>
            <a:r>
              <a:rPr lang="ko-KR" altLang="en-US" sz="1300" b="1">
                <a:solidFill>
                  <a:srgbClr val="1D4ED8"/>
                </a:solidFill>
                <a:latin typeface="Malgun Gothic" pitchFamily="34" charset="0"/>
                <a:ea typeface="Malgun Gothic" pitchFamily="34" charset="-122"/>
                <a:cs typeface="Malgun Gothic" pitchFamily="34" charset="-120"/>
              </a:rPr>
              <a:t>✓</a:t>
            </a:r>
          </a:p>
          <a:p>
            <a:pPr algn="ctr">
              <a:spcBef>
                <a:spcPts val="120"/>
              </a:spcBef>
              <a:buNone/>
            </a:pPr>
            <a:r>
              <a:rPr lang="ko-KR" altLang="en-US" sz="950" b="1">
                <a:solidFill>
                  <a:srgbClr val="0B2038"/>
                </a:solidFill>
                <a:latin typeface="Malgun Gothic" pitchFamily="34" charset="0"/>
                <a:ea typeface="Malgun Gothic" pitchFamily="34" charset="-122"/>
                <a:cs typeface="Malgun Gothic" pitchFamily="34" charset="-120"/>
              </a:rPr>
              <a:t>판매 개시</a:t>
            </a:r>
          </a:p>
        </p:txBody>
      </p:sp>
      <p:sp>
        <p:nvSpPr>
          <p:cNvPr id="260" name="pos band">
            <a:extLst>
              <a:ext uri="{C183D7F6-B498-43B3-948B-1728B52AA6E4}">
                <adec:decorative xmlns:adec="http://schemas.microsoft.com/office/drawing/2017/decorative" val="1"/>
              </a:ext>
            </a:extLst>
          </p:cNvPr>
          <p:cNvSpPr/>
          <p:nvPr/>
        </p:nvSpPr>
        <p:spPr>
          <a:xfrm>
            <a:off x="658368" y="2870000"/>
            <a:ext cx="10881360" cy="440000"/>
          </a:xfrm>
          <a:prstGeom prst="rect">
            <a:avLst/>
          </a:prstGeom>
          <a:solidFill>
            <a:srgbClr val="0B2038"/>
          </a:solidFill>
          <a:ln/>
        </p:spPr>
        <p:txBody>
          <a:bodyPr/>
          <a:lstStyle/>
          <a:p>
            <a:endParaRPr lang="ko-KR" altLang="en-US"/>
          </a:p>
        </p:txBody>
      </p:sp>
      <p:sp>
        <p:nvSpPr>
          <p:cNvPr id="261" name="pos txt"/>
          <p:cNvSpPr/>
          <p:nvPr/>
        </p:nvSpPr>
        <p:spPr>
          <a:xfrm>
            <a:off x="658368" y="2870000"/>
            <a:ext cx="10881360" cy="440000"/>
          </a:xfrm>
          <a:prstGeom prst="rect">
            <a:avLst/>
          </a:prstGeom>
          <a:noFill/>
          <a:ln/>
        </p:spPr>
        <p:txBody>
          <a:bodyPr wrap="square" lIns="0" tIns="0" rIns="0" bIns="0" rtlCol="0" anchor="ctr"/>
          <a:lstStyle/>
          <a:p>
            <a:pPr algn="ctr">
              <a:buNone/>
            </a:pPr>
            <a:r>
              <a:rPr lang="ko-KR" altLang="en-US" sz="950" b="1">
                <a:solidFill>
                  <a:srgbClr val="7FE9DC"/>
                </a:solidFill>
                <a:latin typeface="Malgun Gothic" pitchFamily="34" charset="0"/>
                <a:ea typeface="Malgun Gothic" pitchFamily="34" charset="-122"/>
                <a:cs typeface="Malgun Gothic" pitchFamily="34" charset="-120"/>
              </a:rPr>
              <a:t>현재 위치  </a:t>
            </a:r>
            <a:r>
              <a:rPr lang="ko-KR" altLang="en-US" sz="1000">
                <a:solidFill>
                  <a:srgbClr val="FFFFFF"/>
                </a:solidFill>
                <a:latin typeface="Malgun Gothic" pitchFamily="34" charset="0"/>
                <a:ea typeface="Malgun Gothic" pitchFamily="34" charset="-122"/>
                <a:cs typeface="Malgun Gothic" pitchFamily="34" charset="-120"/>
              </a:rPr>
              <a:t>개발·허가는 끝났고, 지금은 </a:t>
            </a:r>
            <a:r>
              <a:rPr lang="ko-KR" altLang="en-US" sz="1000" b="1">
                <a:solidFill>
                  <a:srgbClr val="FFFFFF"/>
                </a:solidFill>
                <a:latin typeface="Malgun Gothic" pitchFamily="34" charset="0"/>
                <a:ea typeface="Malgun Gothic" pitchFamily="34" charset="-122"/>
                <a:cs typeface="Malgun Gothic" pitchFamily="34" charset="-120"/>
              </a:rPr>
              <a:t>실제 판매 규모를 검증하는 단계</a:t>
            </a:r>
          </a:p>
        </p:txBody>
      </p:sp>
      <p:sp>
        <p:nvSpPr>
          <p:cNvPr id="300" name="past">
            <a:extLst>
              <a:ext uri="{C183D7F6-B498-43B3-948B-1728B52AA6E4}">
                <adec:decorative xmlns:adec="http://schemas.microsoft.com/office/drawing/2017/decorative" val="1"/>
              </a:ext>
            </a:extLst>
          </p:cNvPr>
          <p:cNvSpPr/>
          <p:nvPr/>
        </p:nvSpPr>
        <p:spPr>
          <a:xfrm>
            <a:off x="658368" y="3480000"/>
            <a:ext cx="5340680" cy="1480000"/>
          </a:xfrm>
          <a:prstGeom prst="rect">
            <a:avLst/>
          </a:prstGeom>
          <a:solidFill>
            <a:srgbClr val="EEF1F6"/>
          </a:solidFill>
          <a:ln w="9525">
            <a:solidFill>
              <a:srgbClr val="C7D2E0"/>
            </a:solidFill>
          </a:ln>
        </p:spPr>
        <p:txBody>
          <a:bodyPr/>
          <a:lstStyle/>
          <a:p>
            <a:endParaRPr lang="ko-KR" altLang="en-US"/>
          </a:p>
        </p:txBody>
      </p:sp>
      <p:sp>
        <p:nvSpPr>
          <p:cNvPr id="301" name="pasthdr"/>
          <p:cNvSpPr/>
          <p:nvPr/>
        </p:nvSpPr>
        <p:spPr>
          <a:xfrm>
            <a:off x="658368" y="3480000"/>
            <a:ext cx="5340680" cy="380000"/>
          </a:xfrm>
          <a:prstGeom prst="round2SameRect">
            <a:avLst>
              <a:gd name="adj1" fmla="val 4200"/>
              <a:gd name="adj2" fmla="val 0"/>
            </a:avLst>
          </a:prstGeom>
          <a:solidFill>
            <a:srgbClr val="64748B"/>
          </a:solidFill>
          <a:ln/>
        </p:spPr>
        <p:txBody>
          <a:bodyPr wrap="square" lIns="150000" tIns="0" rIns="80000" bIns="0" rtlCol="0" anchor="ctr"/>
          <a:lstStyle/>
          <a:p>
            <a:pPr>
              <a:buNone/>
            </a:pPr>
            <a:r>
              <a:rPr lang="ko-KR" altLang="en-US" sz="900" b="1">
                <a:solidFill>
                  <a:srgbClr val="FFFFFF"/>
                </a:solidFill>
                <a:latin typeface="Malgun Gothic" pitchFamily="34" charset="0"/>
                <a:ea typeface="Malgun Gothic" pitchFamily="34" charset="-122"/>
                <a:cs typeface="Malgun Gothic" pitchFamily="34" charset="-120"/>
              </a:rPr>
              <a:t>과거 투자포인트</a:t>
            </a:r>
          </a:p>
        </p:txBody>
      </p:sp>
      <p:sp>
        <p:nvSpPr>
          <p:cNvPr id="302" name="pasttxt"/>
          <p:cNvSpPr/>
          <p:nvPr/>
        </p:nvSpPr>
        <p:spPr>
          <a:xfrm>
            <a:off x="858368" y="3860000"/>
            <a:ext cx="4940680" cy="1100000"/>
          </a:xfrm>
          <a:prstGeom prst="rect">
            <a:avLst/>
          </a:prstGeom>
          <a:noFill/>
          <a:ln/>
        </p:spPr>
        <p:txBody>
          <a:bodyPr wrap="square" lIns="0" tIns="0" rIns="0" bIns="0" rtlCol="0" anchor="ctr"/>
          <a:lstStyle/>
          <a:p>
            <a:pPr algn="ctr">
              <a:spcBef>
                <a:spcPts val="300"/>
              </a:spcBef>
              <a:buNone/>
            </a:pPr>
            <a:r>
              <a:rPr lang="ko-KR" altLang="en-US" sz="1500" b="1">
                <a:solidFill>
                  <a:srgbClr val="44586E"/>
                </a:solidFill>
                <a:latin typeface="Malgun Gothic" pitchFamily="34" charset="0"/>
                <a:ea typeface="Malgun Gothic" pitchFamily="34" charset="-122"/>
                <a:cs typeface="Malgun Gothic" pitchFamily="34" charset="-120"/>
              </a:rPr>
              <a:t>허가 가능성</a:t>
            </a:r>
          </a:p>
          <a:p>
            <a:pPr algn="ctr">
              <a:spcBef>
                <a:spcPts val="200"/>
              </a:spcBef>
              <a:buNone/>
            </a:pPr>
            <a:r>
              <a:rPr lang="ko-KR" altLang="en-US" sz="900">
                <a:solidFill>
                  <a:srgbClr val="5A6B7E"/>
                </a:solidFill>
                <a:latin typeface="Malgun Gothic" pitchFamily="34" charset="0"/>
                <a:ea typeface="Malgun Gothic" pitchFamily="34" charset="-122"/>
                <a:cs typeface="Malgun Gothic" pitchFamily="34" charset="-120"/>
              </a:rPr>
              <a:t>과연 승인을 받을 수 있는가?</a:t>
            </a:r>
          </a:p>
        </p:txBody>
      </p:sp>
      <p:sp>
        <p:nvSpPr>
          <p:cNvPr id="310" name="now">
            <a:extLst>
              <a:ext uri="{C183D7F6-B498-43B3-948B-1728B52AA6E4}">
                <adec:decorative xmlns:adec="http://schemas.microsoft.com/office/drawing/2017/decorative" val="1"/>
              </a:ext>
            </a:extLst>
          </p:cNvPr>
          <p:cNvSpPr/>
          <p:nvPr/>
        </p:nvSpPr>
        <p:spPr>
          <a:xfrm>
            <a:off x="6199048" y="3480000"/>
            <a:ext cx="5340680" cy="1480000"/>
          </a:xfrm>
          <a:prstGeom prst="rect">
            <a:avLst/>
          </a:prstGeom>
          <a:solidFill>
            <a:srgbClr val="EAF0FA"/>
          </a:solidFill>
          <a:ln w="9525">
            <a:solidFill>
              <a:srgbClr val="BFD4F7"/>
            </a:solidFill>
          </a:ln>
          <a:effectLst>
            <a:outerShdw blurRad="90000" dist="28000" dir="5400000" algn="bl" rotWithShape="0">
              <a:srgbClr val="0E2036">
                <a:alpha val="11000"/>
              </a:srgbClr>
            </a:outerShdw>
          </a:effectLst>
        </p:spPr>
        <p:txBody>
          <a:bodyPr/>
          <a:lstStyle/>
          <a:p>
            <a:endParaRPr lang="ko-KR" altLang="en-US"/>
          </a:p>
        </p:txBody>
      </p:sp>
      <p:sp>
        <p:nvSpPr>
          <p:cNvPr id="311" name="nowhdr"/>
          <p:cNvSpPr/>
          <p:nvPr/>
        </p:nvSpPr>
        <p:spPr>
          <a:xfrm>
            <a:off x="6199048" y="3480000"/>
            <a:ext cx="5340680" cy="38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00" b="1">
                <a:solidFill>
                  <a:srgbClr val="FFFFFF"/>
                </a:solidFill>
                <a:latin typeface="Malgun Gothic" pitchFamily="34" charset="0"/>
                <a:ea typeface="Malgun Gothic" pitchFamily="34" charset="-122"/>
                <a:cs typeface="Malgun Gothic" pitchFamily="34" charset="-120"/>
              </a:rPr>
              <a:t>현재 투자포인트</a:t>
            </a:r>
          </a:p>
        </p:txBody>
      </p:sp>
      <p:sp>
        <p:nvSpPr>
          <p:cNvPr id="312" name="nowtxt"/>
          <p:cNvSpPr/>
          <p:nvPr/>
        </p:nvSpPr>
        <p:spPr>
          <a:xfrm>
            <a:off x="6399048" y="3860000"/>
            <a:ext cx="4940680" cy="1100000"/>
          </a:xfrm>
          <a:prstGeom prst="rect">
            <a:avLst/>
          </a:prstGeom>
          <a:noFill/>
          <a:ln/>
        </p:spPr>
        <p:txBody>
          <a:bodyPr wrap="square" lIns="0" tIns="0" rIns="0" bIns="0" rtlCol="0" anchor="ctr"/>
          <a:lstStyle/>
          <a:p>
            <a:pPr algn="ctr">
              <a:spcBef>
                <a:spcPts val="300"/>
              </a:spcBef>
              <a:buNone/>
            </a:pPr>
            <a:r>
              <a:rPr lang="ko-KR" altLang="en-US" sz="1500" b="1">
                <a:solidFill>
                  <a:srgbClr val="1D4ED8"/>
                </a:solidFill>
                <a:latin typeface="Malgun Gothic" pitchFamily="34" charset="0"/>
                <a:ea typeface="Malgun Gothic" pitchFamily="34" charset="-122"/>
                <a:cs typeface="Malgun Gothic" pitchFamily="34" charset="-120"/>
              </a:rPr>
              <a:t>실제 판매 규모</a:t>
            </a:r>
          </a:p>
          <a:p>
            <a:pPr algn="ctr">
              <a:spcBef>
                <a:spcPts val="200"/>
              </a:spcBef>
              <a:buNone/>
            </a:pPr>
            <a:r>
              <a:rPr lang="ko-KR" altLang="en-US" sz="900">
                <a:solidFill>
                  <a:srgbClr val="5A6B7E"/>
                </a:solidFill>
                <a:latin typeface="Malgun Gothic" pitchFamily="34" charset="0"/>
                <a:ea typeface="Malgun Gothic" pitchFamily="34" charset="-122"/>
                <a:cs typeface="Malgun Gothic" pitchFamily="34" charset="-120"/>
              </a:rPr>
              <a:t>얼마나 팔고, 얼마를 버는가?</a:t>
            </a:r>
          </a:p>
        </p:txBody>
      </p:sp>
      <p:sp>
        <p:nvSpPr>
          <p:cNvPr id="90" name="msg band">
            <a:extLst>
              <a:ext uri="{C183D7F6-B498-43B3-948B-1728B52AA6E4}">
                <adec:decorative xmlns:adec="http://schemas.microsoft.com/office/drawing/2017/decorative" val="1"/>
              </a:ext>
            </a:extLst>
          </p:cNvPr>
          <p:cNvSpPr/>
          <p:nvPr/>
        </p:nvSpPr>
        <p:spPr>
          <a:xfrm>
            <a:off x="658368" y="5413248"/>
            <a:ext cx="10881360" cy="841248"/>
          </a:xfrm>
          <a:prstGeom prst="rect">
            <a:avLst/>
          </a:prstGeom>
          <a:solidFill>
            <a:srgbClr val="E7EFFA"/>
          </a:solidFill>
          <a:ln w="12700">
            <a:solidFill>
              <a:srgbClr val="D5E0F0"/>
            </a:solidFill>
          </a:ln>
          <a:effectLst>
            <a:outerShdw blurRad="88900" dist="25400" dir="5400000" algn="bl" rotWithShape="0">
              <a:srgbClr val="0E2036">
                <a:alpha val="10000"/>
              </a:srgbClr>
            </a:outerShdw>
          </a:effectLst>
        </p:spPr>
        <p:txBody>
          <a:bodyPr/>
          <a:lstStyle/>
          <a:p>
            <a:endParaRPr lang="ko-KR" altLang="en-US"/>
          </a:p>
        </p:txBody>
      </p:sp>
      <p:sp>
        <p:nvSpPr>
          <p:cNvPr id="91" name="msg accent">
            <a:extLst>
              <a:ext uri="{C183D7F6-B498-43B3-948B-1728B52AA6E4}">
                <adec:decorative xmlns:adec="http://schemas.microsoft.com/office/drawing/2017/decorative" val="1"/>
              </a:ext>
            </a:extLst>
          </p:cNvPr>
          <p:cNvSpPr/>
          <p:nvPr/>
        </p:nvSpPr>
        <p:spPr>
          <a:xfrm>
            <a:off x="658368" y="5413248"/>
            <a:ext cx="82296" cy="841248"/>
          </a:xfrm>
          <a:prstGeom prst="rect">
            <a:avLst/>
          </a:prstGeom>
          <a:solidFill>
            <a:srgbClr val="1D4ED8"/>
          </a:solidFill>
          <a:ln/>
        </p:spPr>
        <p:txBody>
          <a:bodyPr/>
          <a:lstStyle/>
          <a:p>
            <a:endParaRPr lang="ko-KR" altLang="en-US"/>
          </a:p>
        </p:txBody>
      </p:sp>
      <p:sp>
        <p:nvSpPr>
          <p:cNvPr id="92" name="msg text"/>
          <p:cNvSpPr/>
          <p:nvPr/>
        </p:nvSpPr>
        <p:spPr>
          <a:xfrm>
            <a:off x="932688" y="5486400"/>
            <a:ext cx="10424160" cy="694944"/>
          </a:xfrm>
          <a:prstGeom prst="rect">
            <a:avLst/>
          </a:prstGeom>
          <a:noFill/>
          <a:ln/>
        </p:spPr>
        <p:txBody>
          <a:bodyPr wrap="square" lIns="0" tIns="0" rIns="0" bIns="0" rtlCol="0" anchor="ctr"/>
          <a:lstStyle/>
          <a:p>
            <a:pPr>
              <a:buNone/>
            </a:pPr>
            <a:r>
              <a:rPr lang="ko-KR" altLang="en-US" sz="1200" b="1">
                <a:solidFill>
                  <a:srgbClr val="1D4ED8"/>
                </a:solidFill>
                <a:latin typeface="Malgun Gothic" pitchFamily="34" charset="0"/>
                <a:ea typeface="Malgun Gothic" pitchFamily="34" charset="-122"/>
                <a:cs typeface="Malgun Gothic" pitchFamily="34" charset="-120"/>
              </a:rPr>
              <a:t>핵심 </a:t>
            </a:r>
            <a:r>
              <a:rPr lang="ko-KR" altLang="en-US" sz="1200">
                <a:solidFill>
                  <a:srgbClr val="33465B"/>
                </a:solidFill>
                <a:latin typeface="Malgun Gothic" pitchFamily="34" charset="0"/>
                <a:ea typeface="Malgun Gothic" pitchFamily="34" charset="-122"/>
                <a:cs typeface="Malgun Gothic" pitchFamily="34" charset="-120"/>
              </a:rPr>
              <a:t>SCD411은 이미 개발·허가·판매 계약을 마친 실적 검증 단계로, 투자 관심은 ‘허가 여부’에서 ‘판매 규모’로 옮겨갔다.</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16</a:t>
            </a:r>
            <a:endParaRPr lang="en-US" sz="8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g">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080B12"/>
          </a:solidFill>
          <a:ln/>
        </p:spPr>
        <p:txBody>
          <a:bodyPr/>
          <a:lstStyle/>
          <a:p>
            <a:endParaRPr lang="ko-KR" altLang="en-US"/>
          </a:p>
        </p:txBody>
      </p:sp>
      <p:sp>
        <p:nvSpPr>
          <p:cNvPr id="3" name="top rule">
            <a:extLst>
              <a:ext uri="{C183D7F6-B498-43B3-948B-1728B52AA6E4}">
                <adec:decorative xmlns:adec="http://schemas.microsoft.com/office/drawing/2017/decorative" val="1"/>
              </a:ext>
            </a:extLst>
          </p:cNvPr>
          <p:cNvSpPr/>
          <p:nvPr/>
        </p:nvSpPr>
        <p:spPr>
          <a:xfrm>
            <a:off x="0" y="0"/>
            <a:ext cx="12191695" cy="109728"/>
          </a:xfrm>
          <a:prstGeom prst="rect">
            <a:avLst/>
          </a:prstGeom>
          <a:solidFill>
            <a:srgbClr val="0D9488"/>
          </a:solidFill>
          <a:ln/>
        </p:spPr>
        <p:txBody>
          <a:bodyPr/>
          <a:lstStyle/>
          <a:p>
            <a:endParaRPr lang="ko-KR" altLang="en-US"/>
          </a:p>
        </p:txBody>
      </p:sp>
      <p:sp>
        <p:nvSpPr>
          <p:cNvPr id="4" name="bottom rule">
            <a:extLst>
              <a:ext uri="{C183D7F6-B498-43B3-948B-1728B52AA6E4}">
                <adec:decorative xmlns:adec="http://schemas.microsoft.com/office/drawing/2017/decorative" val="1"/>
              </a:ext>
            </a:extLst>
          </p:cNvPr>
          <p:cNvSpPr/>
          <p:nvPr/>
        </p:nvSpPr>
        <p:spPr>
          <a:xfrm>
            <a:off x="0" y="6784848"/>
            <a:ext cx="12191695" cy="73152"/>
          </a:xfrm>
          <a:prstGeom prst="rect">
            <a:avLst/>
          </a:prstGeom>
          <a:solidFill>
            <a:srgbClr val="0F766E"/>
          </a:solidFill>
          <a:ln/>
        </p:spPr>
        <p:txBody>
          <a:bodyPr/>
          <a:lstStyle/>
          <a:p>
            <a:endParaRPr lang="ko-KR" altLang="en-US"/>
          </a:p>
        </p:txBody>
      </p:sp>
      <p:sp>
        <p:nvSpPr>
          <p:cNvPr id="5" name="kicker"/>
          <p:cNvSpPr/>
          <p:nvPr/>
        </p:nvSpPr>
        <p:spPr>
          <a:xfrm>
            <a:off x="841248" y="713232"/>
            <a:ext cx="5486400" cy="365760"/>
          </a:xfrm>
          <a:prstGeom prst="rect">
            <a:avLst/>
          </a:prstGeom>
          <a:noFill/>
          <a:ln/>
        </p:spPr>
        <p:txBody>
          <a:bodyPr wrap="square" lIns="0" tIns="0" rIns="0" bIns="0" rtlCol="0" anchor="ctr"/>
          <a:lstStyle/>
          <a:p>
            <a:pPr marL="0" indent="0">
              <a:buNone/>
            </a:pPr>
            <a:r>
              <a:rPr lang="ko-KR" altLang="en-US" sz="1400" b="1" kern="0" spc="600">
                <a:solidFill>
                  <a:srgbClr val="14B8A6"/>
                </a:solidFill>
                <a:latin typeface="Malgun Gothic" pitchFamily="34" charset="0"/>
                <a:ea typeface="Malgun Gothic" pitchFamily="34" charset="-122"/>
                <a:cs typeface="Malgun Gothic" pitchFamily="34" charset="-120"/>
              </a:rPr>
              <a:t>투자아이디어 2</a:t>
            </a:r>
            <a:endParaRPr lang="en-US" sz="1400"/>
          </a:p>
        </p:txBody>
      </p:sp>
      <p:sp>
        <p:nvSpPr>
          <p:cNvPr id="6" name="big number">
            <a:extLst>
              <a:ext uri="{C183D7F6-B498-43B3-948B-1728B52AA6E4}">
                <adec:decorative xmlns:adec="http://schemas.microsoft.com/office/drawing/2017/decorative" val="1"/>
              </a:ext>
            </a:extLst>
          </p:cNvPr>
          <p:cNvSpPr/>
          <p:nvPr/>
        </p:nvSpPr>
        <p:spPr>
          <a:xfrm>
            <a:off x="566928" y="2651760"/>
            <a:ext cx="5852160" cy="3840480"/>
          </a:xfrm>
          <a:prstGeom prst="rect">
            <a:avLst/>
          </a:prstGeom>
          <a:noFill/>
          <a:ln/>
        </p:spPr>
        <p:txBody>
          <a:bodyPr wrap="square" lIns="0" tIns="0" rIns="0" bIns="0" rtlCol="0" anchor="b"/>
          <a:lstStyle/>
          <a:p>
            <a:pPr marL="0" indent="0" algn="l">
              <a:buNone/>
            </a:pPr>
            <a:r>
              <a:rPr lang="en-US" sz="25000" b="1">
                <a:solidFill>
                  <a:srgbClr val="0F766E"/>
                </a:solidFill>
                <a:latin typeface="Malgun Gothic" pitchFamily="34" charset="0"/>
                <a:ea typeface="Malgun Gothic" pitchFamily="34" charset="-122"/>
                <a:cs typeface="Malgun Gothic" pitchFamily="34" charset="-120"/>
              </a:rPr>
              <a:t>02</a:t>
            </a:r>
            <a:endParaRPr lang="en-US" sz="25000"/>
          </a:p>
        </p:txBody>
      </p:sp>
      <p:sp>
        <p:nvSpPr>
          <p:cNvPr id="7" name="sep">
            <a:extLst>
              <a:ext uri="{C183D7F6-B498-43B3-948B-1728B52AA6E4}">
                <adec:decorative xmlns:adec="http://schemas.microsoft.com/office/drawing/2017/decorative" val="1"/>
              </a:ext>
            </a:extLst>
          </p:cNvPr>
          <p:cNvSpPr/>
          <p:nvPr/>
        </p:nvSpPr>
        <p:spPr>
          <a:xfrm>
            <a:off x="6720840" y="2148840"/>
            <a:ext cx="25603" cy="2560320"/>
          </a:xfrm>
          <a:prstGeom prst="rect">
            <a:avLst/>
          </a:prstGeom>
          <a:solidFill>
            <a:srgbClr val="1F3B39"/>
          </a:solidFill>
          <a:ln/>
        </p:spPr>
        <p:txBody>
          <a:bodyPr/>
          <a:lstStyle/>
          <a:p>
            <a:endParaRPr lang="ko-KR" altLang="en-US"/>
          </a:p>
        </p:txBody>
      </p:sp>
      <p:sp>
        <p:nvSpPr>
          <p:cNvPr id="8" name="accent">
            <a:extLst>
              <a:ext uri="{C183D7F6-B498-43B3-948B-1728B52AA6E4}">
                <adec:decorative xmlns:adec="http://schemas.microsoft.com/office/drawing/2017/decorative" val="1"/>
              </a:ext>
            </a:extLst>
          </p:cNvPr>
          <p:cNvSpPr/>
          <p:nvPr/>
        </p:nvSpPr>
        <p:spPr>
          <a:xfrm>
            <a:off x="7178040" y="2724912"/>
            <a:ext cx="731520" cy="73152"/>
          </a:xfrm>
          <a:prstGeom prst="rect">
            <a:avLst/>
          </a:prstGeom>
          <a:solidFill>
            <a:srgbClr val="0D9488"/>
          </a:solidFill>
          <a:ln/>
        </p:spPr>
        <p:txBody>
          <a:bodyPr/>
          <a:lstStyle/>
          <a:p>
            <a:endParaRPr lang="ko-KR" altLang="en-US"/>
          </a:p>
        </p:txBody>
      </p:sp>
      <p:sp>
        <p:nvSpPr>
          <p:cNvPr id="9" name="title"/>
          <p:cNvSpPr/>
          <p:nvPr/>
        </p:nvSpPr>
        <p:spPr>
          <a:xfrm>
            <a:off x="7132320" y="2944368"/>
            <a:ext cx="4663440" cy="1188720"/>
          </a:xfrm>
          <a:prstGeom prst="rect">
            <a:avLst/>
          </a:prstGeom>
          <a:noFill/>
          <a:ln/>
        </p:spPr>
        <p:txBody>
          <a:bodyPr wrap="square" lIns="0" tIns="0" rIns="0" bIns="0" rtlCol="0" anchor="t"/>
          <a:lstStyle/>
          <a:p>
            <a:pPr marL="0" indent="0" algn="l">
              <a:lnSpc>
                <a:spcPct val="105000"/>
              </a:lnSpc>
              <a:buNone/>
            </a:pPr>
            <a:r>
              <a:rPr lang="en-US" sz="3300" b="1">
                <a:solidFill>
                  <a:srgbClr val="FFFFFF"/>
                </a:solidFill>
                <a:latin typeface="Malgun Gothic" pitchFamily="34" charset="0"/>
                <a:ea typeface="Malgun Gothic" pitchFamily="34" charset="-122"/>
                <a:cs typeface="Malgun Gothic" pitchFamily="34" charset="-120"/>
              </a:rPr>
              <a:t>S-PASS 플랫폼 가치</a:t>
            </a:r>
            <a:endParaRPr lang="en-US" sz="3300"/>
          </a:p>
        </p:txBody>
      </p:sp>
      <p:sp>
        <p:nvSpPr>
          <p:cNvPr id="10" name="subline">
            <a:extLst>
              <a:ext uri="{C183D7F6-B498-43B3-948B-1728B52AA6E4}">
                <adec:decorative xmlns:adec="http://schemas.microsoft.com/office/drawing/2017/decorative" val="1"/>
              </a:ext>
            </a:extLst>
          </p:cNvPr>
          <p:cNvSpPr/>
          <p:nvPr/>
        </p:nvSpPr>
        <p:spPr>
          <a:xfrm>
            <a:off x="7178040" y="4160520"/>
            <a:ext cx="4663440" cy="700000"/>
          </a:xfrm>
          <a:prstGeom prst="rect">
            <a:avLst/>
          </a:prstGeom>
          <a:noFill/>
          <a:ln/>
        </p:spPr>
        <p:txBody>
          <a:bodyPr wrap="square" lIns="0" tIns="0" rIns="0" bIns="0" rtlCol="0" anchor="t"/>
          <a:lstStyle/>
          <a:p>
            <a:pPr marL="0" indent="0" algn="l">
              <a:lnSpc>
                <a:spcPct val="120000"/>
              </a:lnSpc>
              <a:buNone/>
            </a:pPr>
            <a:r>
              <a:rPr lang="ko-KR" altLang="en-US" sz="1500" kern="0" spc="200">
                <a:solidFill>
                  <a:srgbClr val="CCFBF1"/>
                </a:solidFill>
                <a:latin typeface="Malgun Gothic" pitchFamily="34" charset="0"/>
                <a:ea typeface="Malgun Gothic" pitchFamily="34" charset="-122"/>
                <a:cs typeface="Malgun Gothic" pitchFamily="34" charset="-120"/>
              </a:rPr>
              <a:t>주사제를 먹는 약으로 바꾸는 플랫폼 기업으로의 확장</a:t>
            </a:r>
            <a:endParaRPr lang="en-US" sz="1500"/>
          </a:p>
        </p:txBody>
      </p:sp>
      <p:sp>
        <p:nvSpPr>
          <p:cNvPr id="11" name="page num">
            <a:extLst>
              <a:ext uri="{C183D7F6-B498-43B3-948B-1728B52AA6E4}">
                <adec:decorative xmlns:adec="http://schemas.microsoft.com/office/drawing/2017/decorative" val="1"/>
              </a:ext>
            </a:extLst>
          </p:cNvPr>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8595A8"/>
                </a:solidFill>
                <a:latin typeface="Malgun Gothic" pitchFamily="34" charset="0"/>
                <a:ea typeface="Malgun Gothic" pitchFamily="34" charset="-122"/>
                <a:cs typeface="Malgun Gothic" pitchFamily="34" charset="-120"/>
              </a:rPr>
              <a:t>17</a:t>
            </a:r>
            <a:endParaRPr lang="en-US" sz="8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0D9488"/>
                </a:solidFill>
                <a:latin typeface="Malgun Gothic" pitchFamily="34" charset="0"/>
                <a:ea typeface="Malgun Gothic" pitchFamily="34" charset="-122"/>
                <a:cs typeface="Malgun Gothic" pitchFamily="34" charset="-120"/>
              </a:rPr>
              <a:t>02 · 시장 · 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ko-KR" altLang="en-US" sz="2500" b="1">
                <a:solidFill>
                  <a:srgbClr val="0E2036"/>
                </a:solidFill>
                <a:latin typeface="Malgun Gothic" pitchFamily="34" charset="0"/>
                <a:ea typeface="Malgun Gothic" pitchFamily="34" charset="-122"/>
                <a:cs typeface="Malgun Gothic" pitchFamily="34" charset="-120"/>
              </a:rPr>
              <a:t>S-PASS는 무엇이며 무엇을 해결하는가?</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p:cNvSpPr/>
          <p:nvPr/>
        </p:nvSpPr>
        <p:spPr>
          <a:xfrm>
            <a:off x="658368" y="1330000"/>
            <a:ext cx="10875264" cy="300000"/>
          </a:xfrm>
          <a:prstGeom prst="rect">
            <a:avLst/>
          </a:prstGeom>
          <a:noFill/>
          <a:ln/>
        </p:spPr>
        <p:txBody>
          <a:bodyPr wrap="square" lIns="0" tIns="0" rIns="0" bIns="0" rtlCol="0" anchor="ctr"/>
          <a:lstStyle/>
          <a:p>
            <a:pPr marL="0" indent="0">
              <a:buNone/>
            </a:pPr>
            <a:r>
              <a:rPr lang="ko-KR" altLang="en-US" sz="1250">
                <a:solidFill>
                  <a:srgbClr val="33465B"/>
                </a:solidFill>
                <a:latin typeface="Malgun Gothic" pitchFamily="34" charset="0"/>
                <a:ea typeface="Malgun Gothic" pitchFamily="34" charset="-122"/>
                <a:cs typeface="Malgun Gothic" pitchFamily="34" charset="-120"/>
              </a:rPr>
              <a:t>주사제를 먹는 약으로 바꾸기 위한 경구 흡수 플랫폼</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ko-KR" alt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200" name="band">
            <a:extLst>
              <a:ext uri="{C183D7F6-B498-43B3-948B-1728B52AA6E4}">
                <adec:decorative xmlns:adec="http://schemas.microsoft.com/office/drawing/2017/decorative" val="1"/>
              </a:ext>
            </a:extLst>
          </p:cNvPr>
          <p:cNvSpPr/>
          <p:nvPr/>
        </p:nvSpPr>
        <p:spPr>
          <a:xfrm>
            <a:off x="658368" y="1590000"/>
            <a:ext cx="10881360" cy="660000"/>
          </a:xfrm>
          <a:prstGeom prst="rect">
            <a:avLst/>
          </a:prstGeom>
          <a:solidFill>
            <a:srgbClr val="E3F4F1"/>
          </a:solidFill>
          <a:ln w="9525">
            <a:solidFill>
              <a:srgbClr val="B7E3DC"/>
            </a:solidFill>
          </a:ln>
        </p:spPr>
        <p:txBody>
          <a:bodyPr/>
          <a:lstStyle/>
          <a:p>
            <a:endParaRPr lang="ko-KR" altLang="en-US"/>
          </a:p>
        </p:txBody>
      </p:sp>
      <p:sp>
        <p:nvSpPr>
          <p:cNvPr id="201" name="bacc">
            <a:extLst>
              <a:ext uri="{C183D7F6-B498-43B3-948B-1728B52AA6E4}">
                <adec:decorative xmlns:adec="http://schemas.microsoft.com/office/drawing/2017/decorative" val="1"/>
              </a:ext>
            </a:extLst>
          </p:cNvPr>
          <p:cNvSpPr/>
          <p:nvPr/>
        </p:nvSpPr>
        <p:spPr>
          <a:xfrm>
            <a:off x="658368" y="1590000"/>
            <a:ext cx="110000" cy="660000"/>
          </a:xfrm>
          <a:prstGeom prst="rect">
            <a:avLst/>
          </a:prstGeom>
          <a:solidFill>
            <a:srgbClr val="0D9488"/>
          </a:solidFill>
          <a:ln/>
        </p:spPr>
        <p:txBody>
          <a:bodyPr/>
          <a:lstStyle/>
          <a:p>
            <a:endParaRPr lang="ko-KR" altLang="en-US"/>
          </a:p>
        </p:txBody>
      </p:sp>
      <p:sp>
        <p:nvSpPr>
          <p:cNvPr id="202" name="btxt"/>
          <p:cNvSpPr/>
          <p:nvPr/>
        </p:nvSpPr>
        <p:spPr>
          <a:xfrm>
            <a:off x="658368" y="1590000"/>
            <a:ext cx="10881360" cy="660000"/>
          </a:xfrm>
          <a:prstGeom prst="rect">
            <a:avLst/>
          </a:prstGeom>
          <a:noFill/>
          <a:ln/>
        </p:spPr>
        <p:txBody>
          <a:bodyPr wrap="square" lIns="300000" tIns="0" rIns="220000" bIns="0" rtlCol="0" anchor="ctr"/>
          <a:lstStyle/>
          <a:p>
            <a:pPr>
              <a:buNone/>
            </a:pPr>
            <a:r>
              <a:rPr lang="ko-KR" altLang="en-US" sz="900" b="1">
                <a:solidFill>
                  <a:srgbClr val="0D9488"/>
                </a:solidFill>
                <a:latin typeface="Malgun Gothic" pitchFamily="34" charset="0"/>
                <a:ea typeface="Malgun Gothic" pitchFamily="34" charset="-122"/>
                <a:cs typeface="Malgun Gothic" pitchFamily="34" charset="-120"/>
              </a:rPr>
              <a:t>S-PASS  =  </a:t>
            </a:r>
            <a:r>
              <a:rPr lang="ko-KR" altLang="en-US" sz="900" b="1">
                <a:solidFill>
                  <a:srgbClr val="33465B"/>
                </a:solidFill>
                <a:latin typeface="Malgun Gothic" pitchFamily="34" charset="0"/>
                <a:ea typeface="Malgun Gothic" pitchFamily="34" charset="-122"/>
                <a:cs typeface="Malgun Gothic" pitchFamily="34" charset="-120"/>
              </a:rPr>
              <a:t>주사제로 쓰이는 단백질·펩타이드 의약품을 '먹는 약'으로 전환하려는 경구 흡수 플랫폼</a:t>
            </a:r>
          </a:p>
          <a:p>
            <a:pPr>
              <a:spcBef>
                <a:spcPts val="150"/>
              </a:spcBef>
              <a:buNone/>
            </a:pPr>
            <a:r>
              <a:rPr lang="ko-KR" altLang="en-US" sz="800" b="1">
                <a:solidFill>
                  <a:srgbClr val="0D9488"/>
                </a:solidFill>
                <a:latin typeface="Malgun Gothic" pitchFamily="34" charset="0"/>
                <a:ea typeface="Malgun Gothic" pitchFamily="34" charset="-122"/>
                <a:cs typeface="Malgun Gothic" pitchFamily="34" charset="-120"/>
              </a:rPr>
              <a:t>적용 대상   </a:t>
            </a:r>
            <a:r>
              <a:rPr lang="ko-KR" altLang="en-US" sz="800">
                <a:solidFill>
                  <a:srgbClr val="33465B"/>
                </a:solidFill>
                <a:latin typeface="Malgun Gothic" pitchFamily="34" charset="0"/>
                <a:ea typeface="Malgun Gothic" pitchFamily="34" charset="-122"/>
                <a:cs typeface="Malgun Gothic" pitchFamily="34" charset="-120"/>
              </a:rPr>
              <a:t>세마글루타이드 · 인슐린 · 터제파타이드 · 항체의약품</a:t>
            </a:r>
          </a:p>
        </p:txBody>
      </p:sp>
      <p:sp>
        <p:nvSpPr>
          <p:cNvPr id="203" name="card">
            <a:extLst>
              <a:ext uri="{C183D7F6-B498-43B3-948B-1728B52AA6E4}">
                <adec:decorative xmlns:adec="http://schemas.microsoft.com/office/drawing/2017/decorative" val="1"/>
              </a:ext>
            </a:extLst>
          </p:cNvPr>
          <p:cNvSpPr/>
          <p:nvPr/>
        </p:nvSpPr>
        <p:spPr>
          <a:xfrm>
            <a:off x="658368" y="2360000"/>
            <a:ext cx="3493786" cy="199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4" name="cardhdr"/>
          <p:cNvSpPr/>
          <p:nvPr/>
        </p:nvSpPr>
        <p:spPr>
          <a:xfrm>
            <a:off x="658368" y="2360000"/>
            <a:ext cx="3493786" cy="340000"/>
          </a:xfrm>
          <a:prstGeom prst="round2SameRect">
            <a:avLst>
              <a:gd name="adj1" fmla="val 4200"/>
              <a:gd name="adj2" fmla="val 0"/>
            </a:avLst>
          </a:prstGeom>
          <a:solidFill>
            <a:srgbClr val="E8590C"/>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왜 어려운가?</a:t>
            </a:r>
          </a:p>
        </p:txBody>
      </p:sp>
      <p:sp>
        <p:nvSpPr>
          <p:cNvPr id="205" name="cardbody"/>
          <p:cNvSpPr/>
          <p:nvPr/>
        </p:nvSpPr>
        <p:spPr>
          <a:xfrm>
            <a:off x="808368" y="2770000"/>
            <a:ext cx="3193786" cy="1510000"/>
          </a:xfrm>
          <a:prstGeom prst="rect">
            <a:avLst/>
          </a:prstGeom>
          <a:noFill/>
          <a:ln/>
        </p:spPr>
        <p:txBody>
          <a:bodyPr wrap="square" lIns="0" tIns="0" rIns="0" bIns="0" rtlCol="0" anchor="t"/>
          <a:lstStyle/>
          <a:p>
            <a:pPr algn="ctr">
              <a:buNone/>
            </a:pPr>
            <a:r>
              <a:rPr lang="ko-KR" altLang="en-US" sz="680" b="1">
                <a:solidFill>
                  <a:srgbClr val="0B2038"/>
                </a:solidFill>
                <a:latin typeface="Malgun Gothic" pitchFamily="34" charset="0"/>
                <a:ea typeface="Malgun Gothic" pitchFamily="34" charset="-122"/>
                <a:cs typeface="Malgun Gothic" pitchFamily="34" charset="-120"/>
              </a:rPr>
              <a:t>주사제</a:t>
            </a:r>
          </a:p>
          <a:p>
            <a:pPr algn="ctr">
              <a:spcBef>
                <a:spcPts val="20"/>
              </a:spcBef>
              <a:buNone/>
            </a:pPr>
            <a:r>
              <a:rPr lang="ko-KR" altLang="en-US" sz="578" b="1">
                <a:solidFill>
                  <a:srgbClr val="E8590C"/>
                </a:solidFill>
                <a:latin typeface="Malgun Gothic" pitchFamily="34" charset="0"/>
                <a:ea typeface="Malgun Gothic" pitchFamily="34" charset="-122"/>
                <a:cs typeface="Malgun Gothic" pitchFamily="34" charset="-120"/>
              </a:rPr>
              <a:t>↓</a:t>
            </a:r>
          </a:p>
          <a:p>
            <a:pPr algn="ctr">
              <a:spcBef>
                <a:spcPts val="20"/>
              </a:spcBef>
              <a:buNone/>
            </a:pPr>
            <a:r>
              <a:rPr lang="ko-KR" altLang="en-US" sz="680" b="1">
                <a:solidFill>
                  <a:srgbClr val="0B2038"/>
                </a:solidFill>
                <a:latin typeface="Malgun Gothic" pitchFamily="34" charset="0"/>
                <a:ea typeface="Malgun Gothic" pitchFamily="34" charset="-122"/>
                <a:cs typeface="Malgun Gothic" pitchFamily="34" charset="-120"/>
              </a:rPr>
              <a:t>위산·소화효소</a:t>
            </a:r>
          </a:p>
          <a:p>
            <a:pPr algn="ctr">
              <a:spcBef>
                <a:spcPts val="20"/>
              </a:spcBef>
              <a:buNone/>
            </a:pPr>
            <a:r>
              <a:rPr lang="ko-KR" altLang="en-US" sz="578" b="1">
                <a:solidFill>
                  <a:srgbClr val="E8590C"/>
                </a:solidFill>
                <a:latin typeface="Malgun Gothic" pitchFamily="34" charset="0"/>
                <a:ea typeface="Malgun Gothic" pitchFamily="34" charset="-122"/>
                <a:cs typeface="Malgun Gothic" pitchFamily="34" charset="-120"/>
              </a:rPr>
              <a:t>↓</a:t>
            </a:r>
          </a:p>
          <a:p>
            <a:pPr algn="ctr">
              <a:spcBef>
                <a:spcPts val="20"/>
              </a:spcBef>
              <a:buNone/>
            </a:pPr>
            <a:r>
              <a:rPr lang="ko-KR" altLang="en-US" sz="680" b="1">
                <a:solidFill>
                  <a:srgbClr val="0B2038"/>
                </a:solidFill>
                <a:latin typeface="Malgun Gothic" pitchFamily="34" charset="0"/>
                <a:ea typeface="Malgun Gothic" pitchFamily="34" charset="-122"/>
                <a:cs typeface="Malgun Gothic" pitchFamily="34" charset="-120"/>
              </a:rPr>
              <a:t>약물 분해</a:t>
            </a:r>
          </a:p>
          <a:p>
            <a:pPr algn="ctr">
              <a:spcBef>
                <a:spcPts val="20"/>
              </a:spcBef>
              <a:buNone/>
            </a:pPr>
            <a:r>
              <a:rPr lang="ko-KR" altLang="en-US" sz="578" b="1">
                <a:solidFill>
                  <a:srgbClr val="E8590C"/>
                </a:solidFill>
                <a:latin typeface="Malgun Gothic" pitchFamily="34" charset="0"/>
                <a:ea typeface="Malgun Gothic" pitchFamily="34" charset="-122"/>
                <a:cs typeface="Malgun Gothic" pitchFamily="34" charset="-120"/>
              </a:rPr>
              <a:t>↓</a:t>
            </a:r>
          </a:p>
          <a:p>
            <a:pPr algn="ctr">
              <a:spcBef>
                <a:spcPts val="20"/>
              </a:spcBef>
              <a:buNone/>
            </a:pPr>
            <a:r>
              <a:rPr lang="ko-KR" altLang="en-US" sz="680" b="1">
                <a:solidFill>
                  <a:srgbClr val="0B2038"/>
                </a:solidFill>
                <a:latin typeface="Malgun Gothic" pitchFamily="34" charset="0"/>
                <a:ea typeface="Malgun Gothic" pitchFamily="34" charset="-122"/>
                <a:cs typeface="Malgun Gothic" pitchFamily="34" charset="-120"/>
              </a:rPr>
              <a:t>장 흡수 실패</a:t>
            </a:r>
          </a:p>
          <a:p>
            <a:pPr algn="ctr">
              <a:spcBef>
                <a:spcPts val="20"/>
              </a:spcBef>
              <a:buNone/>
            </a:pPr>
            <a:r>
              <a:rPr lang="ko-KR" altLang="en-US" sz="578" b="1">
                <a:solidFill>
                  <a:srgbClr val="E8590C"/>
                </a:solidFill>
                <a:latin typeface="Malgun Gothic" pitchFamily="34" charset="0"/>
                <a:ea typeface="Malgun Gothic" pitchFamily="34" charset="-122"/>
                <a:cs typeface="Malgun Gothic" pitchFamily="34" charset="-120"/>
              </a:rPr>
              <a:t>↓</a:t>
            </a:r>
          </a:p>
          <a:p>
            <a:pPr algn="ctr">
              <a:spcBef>
                <a:spcPts val="20"/>
              </a:spcBef>
              <a:buNone/>
            </a:pPr>
            <a:r>
              <a:rPr lang="ko-KR" altLang="en-US" sz="680" b="1">
                <a:solidFill>
                  <a:srgbClr val="0B2038"/>
                </a:solidFill>
                <a:latin typeface="Malgun Gothic" pitchFamily="34" charset="0"/>
                <a:ea typeface="Malgun Gothic" pitchFamily="34" charset="-122"/>
                <a:cs typeface="Malgun Gothic" pitchFamily="34" charset="-120"/>
              </a:rPr>
              <a:t>혈중 농도 부족</a:t>
            </a:r>
          </a:p>
          <a:p>
            <a:pPr>
              <a:spcBef>
                <a:spcPts val="150"/>
              </a:spcBef>
              <a:buNone/>
            </a:pPr>
            <a:r>
              <a:rPr lang="ko-KR" altLang="en-US" sz="720" b="1">
                <a:solidFill>
                  <a:srgbClr val="E8590C"/>
                </a:solidFill>
                <a:latin typeface="Malgun Gothic" pitchFamily="34" charset="0"/>
                <a:ea typeface="Malgun Gothic" pitchFamily="34" charset="-122"/>
                <a:cs typeface="Malgun Gothic" pitchFamily="34" charset="-120"/>
              </a:rPr>
              <a:t>주요 문제</a:t>
            </a:r>
          </a:p>
          <a:p>
            <a:pPr marL="130000" indent="-130000">
              <a:spcBef>
                <a:spcPts val="60"/>
              </a:spcBef>
              <a:buClr>
                <a:srgbClr val="E8590C"/>
              </a:buClr>
              <a:buFont typeface="Arial"/>
              <a:buChar char="•"/>
            </a:pPr>
            <a:r>
              <a:rPr lang="ko-KR" altLang="en-US" sz="680">
                <a:solidFill>
                  <a:srgbClr val="33465B"/>
                </a:solidFill>
                <a:latin typeface="Malgun Gothic" pitchFamily="34" charset="0"/>
                <a:ea typeface="Malgun Gothic" pitchFamily="34" charset="-122"/>
                <a:cs typeface="Malgun Gothic" pitchFamily="34" charset="-120"/>
              </a:rPr>
              <a:t>위산에 의해 분해</a:t>
            </a:r>
          </a:p>
          <a:p>
            <a:pPr marL="130000" indent="-130000">
              <a:spcBef>
                <a:spcPts val="40"/>
              </a:spcBef>
              <a:buClr>
                <a:srgbClr val="E8590C"/>
              </a:buClr>
              <a:buFont typeface="Arial"/>
              <a:buChar char="•"/>
            </a:pPr>
            <a:r>
              <a:rPr lang="ko-KR" altLang="en-US" sz="680">
                <a:solidFill>
                  <a:srgbClr val="33465B"/>
                </a:solidFill>
                <a:latin typeface="Malgun Gothic" pitchFamily="34" charset="0"/>
                <a:ea typeface="Malgun Gothic" pitchFamily="34" charset="-122"/>
                <a:cs typeface="Malgun Gothic" pitchFamily="34" charset="-120"/>
              </a:rPr>
              <a:t>장벽 투과 어려움</a:t>
            </a:r>
          </a:p>
          <a:p>
            <a:pPr marL="130000" indent="-130000">
              <a:spcBef>
                <a:spcPts val="40"/>
              </a:spcBef>
              <a:buClr>
                <a:srgbClr val="E8590C"/>
              </a:buClr>
              <a:buFont typeface="Arial"/>
              <a:buChar char="•"/>
            </a:pPr>
            <a:r>
              <a:rPr lang="ko-KR" altLang="en-US" sz="680">
                <a:solidFill>
                  <a:srgbClr val="33465B"/>
                </a:solidFill>
                <a:latin typeface="Malgun Gothic" pitchFamily="34" charset="0"/>
                <a:ea typeface="Malgun Gothic" pitchFamily="34" charset="-122"/>
                <a:cs typeface="Malgun Gothic" pitchFamily="34" charset="-120"/>
              </a:rPr>
              <a:t>생체이용률 낮음</a:t>
            </a:r>
          </a:p>
          <a:p>
            <a:pPr marL="130000" indent="-130000">
              <a:spcBef>
                <a:spcPts val="40"/>
              </a:spcBef>
              <a:buClr>
                <a:srgbClr val="E8590C"/>
              </a:buClr>
              <a:buFont typeface="Arial"/>
              <a:buChar char="•"/>
            </a:pPr>
            <a:r>
              <a:rPr lang="ko-KR" altLang="en-US" sz="680">
                <a:solidFill>
                  <a:srgbClr val="33465B"/>
                </a:solidFill>
                <a:latin typeface="Malgun Gothic" pitchFamily="34" charset="0"/>
                <a:ea typeface="Malgun Gothic" pitchFamily="34" charset="-122"/>
                <a:cs typeface="Malgun Gothic" pitchFamily="34" charset="-120"/>
              </a:rPr>
              <a:t>일정한 약효 확보 어려움</a:t>
            </a:r>
          </a:p>
        </p:txBody>
      </p:sp>
      <p:sp>
        <p:nvSpPr>
          <p:cNvPr id="206" name="card">
            <a:extLst>
              <a:ext uri="{C183D7F6-B498-43B3-948B-1728B52AA6E4}">
                <adec:decorative xmlns:adec="http://schemas.microsoft.com/office/drawing/2017/decorative" val="1"/>
              </a:ext>
            </a:extLst>
          </p:cNvPr>
          <p:cNvSpPr/>
          <p:nvPr/>
        </p:nvSpPr>
        <p:spPr>
          <a:xfrm>
            <a:off x="4352154" y="2360000"/>
            <a:ext cx="3493786" cy="199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7" name="cardhdr"/>
          <p:cNvSpPr/>
          <p:nvPr/>
        </p:nvSpPr>
        <p:spPr>
          <a:xfrm>
            <a:off x="4352154" y="2360000"/>
            <a:ext cx="3493786" cy="340000"/>
          </a:xfrm>
          <a:prstGeom prst="round2SameRect">
            <a:avLst>
              <a:gd name="adj1" fmla="val 4200"/>
              <a:gd name="adj2" fmla="val 0"/>
            </a:avLst>
          </a:prstGeom>
          <a:solidFill>
            <a:srgbClr val="0D948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S-PASS의 역할</a:t>
            </a:r>
          </a:p>
        </p:txBody>
      </p:sp>
      <p:sp>
        <p:nvSpPr>
          <p:cNvPr id="208" name="cardbody"/>
          <p:cNvSpPr/>
          <p:nvPr/>
        </p:nvSpPr>
        <p:spPr>
          <a:xfrm>
            <a:off x="4502154" y="2770000"/>
            <a:ext cx="3193786" cy="1510000"/>
          </a:xfrm>
          <a:prstGeom prst="rect">
            <a:avLst/>
          </a:prstGeom>
          <a:noFill/>
          <a:ln/>
        </p:spPr>
        <p:txBody>
          <a:bodyPr wrap="square" lIns="0" tIns="0" rIns="0" bIns="0" rtlCol="0" anchor="ctr"/>
          <a:lstStyle/>
          <a:p>
            <a:pPr algn="ctr">
              <a:buNone/>
            </a:pPr>
            <a:r>
              <a:rPr lang="ko-KR" altLang="en-US" sz="720" b="1">
                <a:solidFill>
                  <a:srgbClr val="0B2038"/>
                </a:solidFill>
                <a:latin typeface="Malgun Gothic" pitchFamily="34" charset="0"/>
                <a:ea typeface="Malgun Gothic" pitchFamily="34" charset="-122"/>
                <a:cs typeface="Malgun Gothic" pitchFamily="34" charset="-120"/>
              </a:rPr>
              <a:t>주사제</a:t>
            </a:r>
          </a:p>
          <a:p>
            <a:pPr algn="ctr">
              <a:spcBef>
                <a:spcPts val="20"/>
              </a:spcBef>
              <a:buNone/>
            </a:pPr>
            <a:r>
              <a:rPr lang="ko-KR" altLang="en-US" sz="612" b="1">
                <a:solidFill>
                  <a:srgbClr val="0D9488"/>
                </a:solidFill>
                <a:latin typeface="Malgun Gothic" pitchFamily="34" charset="0"/>
                <a:ea typeface="Malgun Gothic" pitchFamily="34" charset="-122"/>
                <a:cs typeface="Malgun Gothic" pitchFamily="34" charset="-120"/>
              </a:rPr>
              <a:t>↓</a:t>
            </a:r>
          </a:p>
          <a:p>
            <a:pPr algn="ctr">
              <a:spcBef>
                <a:spcPts val="20"/>
              </a:spcBef>
              <a:buNone/>
            </a:pPr>
            <a:r>
              <a:rPr lang="ko-KR" altLang="en-US" sz="720" b="1">
                <a:solidFill>
                  <a:srgbClr val="0B2038"/>
                </a:solidFill>
                <a:latin typeface="Malgun Gothic" pitchFamily="34" charset="0"/>
                <a:ea typeface="Malgun Gothic" pitchFamily="34" charset="-122"/>
                <a:cs typeface="Malgun Gothic" pitchFamily="34" charset="-120"/>
              </a:rPr>
              <a:t>S-PASS 적용</a:t>
            </a:r>
          </a:p>
          <a:p>
            <a:pPr algn="ctr">
              <a:spcBef>
                <a:spcPts val="20"/>
              </a:spcBef>
              <a:buNone/>
            </a:pPr>
            <a:r>
              <a:rPr lang="ko-KR" altLang="en-US" sz="612" b="1">
                <a:solidFill>
                  <a:srgbClr val="0D9488"/>
                </a:solidFill>
                <a:latin typeface="Malgun Gothic" pitchFamily="34" charset="0"/>
                <a:ea typeface="Malgun Gothic" pitchFamily="34" charset="-122"/>
                <a:cs typeface="Malgun Gothic" pitchFamily="34" charset="-120"/>
              </a:rPr>
              <a:t>↓</a:t>
            </a:r>
          </a:p>
          <a:p>
            <a:pPr algn="ctr">
              <a:spcBef>
                <a:spcPts val="20"/>
              </a:spcBef>
              <a:buNone/>
            </a:pPr>
            <a:r>
              <a:rPr lang="ko-KR" altLang="en-US" sz="720" b="1">
                <a:solidFill>
                  <a:srgbClr val="0B2038"/>
                </a:solidFill>
                <a:latin typeface="Malgun Gothic" pitchFamily="34" charset="0"/>
                <a:ea typeface="Malgun Gothic" pitchFamily="34" charset="-122"/>
                <a:cs typeface="Malgun Gothic" pitchFamily="34" charset="-120"/>
              </a:rPr>
              <a:t>약물 보호 + 흡수 촉진</a:t>
            </a:r>
          </a:p>
          <a:p>
            <a:pPr algn="ctr">
              <a:spcBef>
                <a:spcPts val="20"/>
              </a:spcBef>
              <a:buNone/>
            </a:pPr>
            <a:r>
              <a:rPr lang="ko-KR" altLang="en-US" sz="612" b="1">
                <a:solidFill>
                  <a:srgbClr val="0D9488"/>
                </a:solidFill>
                <a:latin typeface="Malgun Gothic" pitchFamily="34" charset="0"/>
                <a:ea typeface="Malgun Gothic" pitchFamily="34" charset="-122"/>
                <a:cs typeface="Malgun Gothic" pitchFamily="34" charset="-120"/>
              </a:rPr>
              <a:t>↓</a:t>
            </a:r>
          </a:p>
          <a:p>
            <a:pPr algn="ctr">
              <a:spcBef>
                <a:spcPts val="20"/>
              </a:spcBef>
              <a:buNone/>
            </a:pPr>
            <a:r>
              <a:rPr lang="ko-KR" altLang="en-US" sz="720" b="1">
                <a:solidFill>
                  <a:srgbClr val="0B2038"/>
                </a:solidFill>
                <a:latin typeface="Malgun Gothic" pitchFamily="34" charset="0"/>
                <a:ea typeface="Malgun Gothic" pitchFamily="34" charset="-122"/>
                <a:cs typeface="Malgun Gothic" pitchFamily="34" charset="-120"/>
              </a:rPr>
              <a:t>경구 투여</a:t>
            </a:r>
          </a:p>
          <a:p>
            <a:pPr algn="ctr">
              <a:spcBef>
                <a:spcPts val="20"/>
              </a:spcBef>
              <a:buNone/>
            </a:pPr>
            <a:r>
              <a:rPr lang="ko-KR" altLang="en-US" sz="612" b="1">
                <a:solidFill>
                  <a:srgbClr val="0D9488"/>
                </a:solidFill>
                <a:latin typeface="Malgun Gothic" pitchFamily="34" charset="0"/>
                <a:ea typeface="Malgun Gothic" pitchFamily="34" charset="-122"/>
                <a:cs typeface="Malgun Gothic" pitchFamily="34" charset="-120"/>
              </a:rPr>
              <a:t>↓</a:t>
            </a:r>
          </a:p>
          <a:p>
            <a:pPr algn="ctr">
              <a:spcBef>
                <a:spcPts val="20"/>
              </a:spcBef>
              <a:buNone/>
            </a:pPr>
            <a:r>
              <a:rPr lang="ko-KR" altLang="en-US" sz="720" b="1">
                <a:solidFill>
                  <a:srgbClr val="0B2038"/>
                </a:solidFill>
                <a:latin typeface="Malgun Gothic" pitchFamily="34" charset="0"/>
                <a:ea typeface="Malgun Gothic" pitchFamily="34" charset="-122"/>
                <a:cs typeface="Malgun Gothic" pitchFamily="34" charset="-120"/>
              </a:rPr>
              <a:t>혈중 전달</a:t>
            </a:r>
          </a:p>
        </p:txBody>
      </p:sp>
      <p:sp>
        <p:nvSpPr>
          <p:cNvPr id="209" name="card">
            <a:extLst>
              <a:ext uri="{C183D7F6-B498-43B3-948B-1728B52AA6E4}">
                <adec:decorative xmlns:adec="http://schemas.microsoft.com/office/drawing/2017/decorative" val="1"/>
              </a:ext>
            </a:extLst>
          </p:cNvPr>
          <p:cNvSpPr/>
          <p:nvPr/>
        </p:nvSpPr>
        <p:spPr>
          <a:xfrm>
            <a:off x="8045940" y="2360000"/>
            <a:ext cx="3493786" cy="199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0" name="cardhdr"/>
          <p:cNvSpPr/>
          <p:nvPr/>
        </p:nvSpPr>
        <p:spPr>
          <a:xfrm>
            <a:off x="8045940" y="2360000"/>
            <a:ext cx="3493786" cy="34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왜 중요한가?</a:t>
            </a:r>
          </a:p>
        </p:txBody>
      </p:sp>
      <p:sp>
        <p:nvSpPr>
          <p:cNvPr id="211" name="cardbody"/>
          <p:cNvSpPr/>
          <p:nvPr/>
        </p:nvSpPr>
        <p:spPr>
          <a:xfrm>
            <a:off x="8195940" y="2770000"/>
            <a:ext cx="3193786" cy="1510000"/>
          </a:xfrm>
          <a:prstGeom prst="rect">
            <a:avLst/>
          </a:prstGeom>
          <a:noFill/>
          <a:ln/>
        </p:spPr>
        <p:txBody>
          <a:bodyPr wrap="square" lIns="0" tIns="0" rIns="0" bIns="0" rtlCol="0" anchor="ctr"/>
          <a:lstStyle/>
          <a:p>
            <a:pPr>
              <a:buNone/>
            </a:pPr>
            <a:r>
              <a:rPr lang="ko-KR" altLang="en-US" sz="740" b="1">
                <a:solidFill>
                  <a:srgbClr val="1D4ED8"/>
                </a:solidFill>
                <a:latin typeface="Malgun Gothic" pitchFamily="34" charset="0"/>
                <a:ea typeface="Malgun Gothic" pitchFamily="34" charset="-122"/>
                <a:cs typeface="Malgun Gothic" pitchFamily="34" charset="-120"/>
              </a:rPr>
              <a:t>환자</a:t>
            </a:r>
          </a:p>
          <a:p>
            <a:pPr marL="130000" indent="-130000">
              <a:spcBef>
                <a:spcPts val="60"/>
              </a:spcBef>
              <a:buClr>
                <a:srgbClr val="1D4ED8"/>
              </a:buClr>
              <a:buFont typeface="Arial"/>
              <a:buChar char="•"/>
            </a:pPr>
            <a:r>
              <a:rPr lang="ko-KR" altLang="en-US" sz="700">
                <a:solidFill>
                  <a:srgbClr val="33465B"/>
                </a:solidFill>
                <a:latin typeface="Malgun Gothic" pitchFamily="34" charset="0"/>
                <a:ea typeface="Malgun Gothic" pitchFamily="34" charset="-122"/>
                <a:cs typeface="Malgun Gothic" pitchFamily="34" charset="-120"/>
              </a:rPr>
              <a:t>주사 부담 감소</a:t>
            </a:r>
          </a:p>
          <a:p>
            <a:pPr marL="130000" indent="-130000">
              <a:spcBef>
                <a:spcPts val="40"/>
              </a:spcBef>
              <a:buClr>
                <a:srgbClr val="1D4ED8"/>
              </a:buClr>
              <a:buFont typeface="Arial"/>
              <a:buChar char="•"/>
            </a:pPr>
            <a:r>
              <a:rPr lang="ko-KR" altLang="en-US" sz="700">
                <a:solidFill>
                  <a:srgbClr val="33465B"/>
                </a:solidFill>
                <a:latin typeface="Malgun Gothic" pitchFamily="34" charset="0"/>
                <a:ea typeface="Malgun Gothic" pitchFamily="34" charset="-122"/>
                <a:cs typeface="Malgun Gothic" pitchFamily="34" charset="-120"/>
              </a:rPr>
              <a:t>복약 편의성 증가</a:t>
            </a:r>
          </a:p>
          <a:p>
            <a:pPr>
              <a:spcBef>
                <a:spcPts val="200"/>
              </a:spcBef>
              <a:buNone/>
            </a:pPr>
            <a:r>
              <a:rPr lang="ko-KR" altLang="en-US" sz="740" b="1">
                <a:solidFill>
                  <a:srgbClr val="1D4ED8"/>
                </a:solidFill>
                <a:latin typeface="Malgun Gothic" pitchFamily="34" charset="0"/>
                <a:ea typeface="Malgun Gothic" pitchFamily="34" charset="-122"/>
                <a:cs typeface="Malgun Gothic" pitchFamily="34" charset="-120"/>
              </a:rPr>
              <a:t>제약사</a:t>
            </a:r>
          </a:p>
          <a:p>
            <a:pPr marL="130000" indent="-130000">
              <a:spcBef>
                <a:spcPts val="60"/>
              </a:spcBef>
              <a:buClr>
                <a:srgbClr val="1D4ED8"/>
              </a:buClr>
              <a:buFont typeface="Arial"/>
              <a:buChar char="•"/>
            </a:pPr>
            <a:r>
              <a:rPr lang="ko-KR" altLang="en-US" sz="700">
                <a:solidFill>
                  <a:srgbClr val="33465B"/>
                </a:solidFill>
                <a:latin typeface="Malgun Gothic" pitchFamily="34" charset="0"/>
                <a:ea typeface="Malgun Gothic" pitchFamily="34" charset="-122"/>
                <a:cs typeface="Malgun Gothic" pitchFamily="34" charset="-120"/>
              </a:rPr>
              <a:t>거대한 주사제 시장 공략 시도 가능</a:t>
            </a:r>
          </a:p>
          <a:p>
            <a:pPr>
              <a:spcBef>
                <a:spcPts val="200"/>
              </a:spcBef>
              <a:buNone/>
            </a:pPr>
            <a:r>
              <a:rPr lang="ko-KR" altLang="en-US" sz="740" b="1">
                <a:solidFill>
                  <a:srgbClr val="1D4ED8"/>
                </a:solidFill>
                <a:latin typeface="Malgun Gothic" pitchFamily="34" charset="0"/>
                <a:ea typeface="Malgun Gothic" pitchFamily="34" charset="-122"/>
                <a:cs typeface="Malgun Gothic" pitchFamily="34" charset="-120"/>
              </a:rPr>
              <a:t>삼천당</a:t>
            </a:r>
          </a:p>
          <a:p>
            <a:pPr marL="130000" indent="-130000">
              <a:spcBef>
                <a:spcPts val="60"/>
              </a:spcBef>
              <a:buClr>
                <a:srgbClr val="1D4ED8"/>
              </a:buClr>
              <a:buFont typeface="Arial"/>
              <a:buChar char="•"/>
            </a:pPr>
            <a:r>
              <a:rPr lang="ko-KR" altLang="en-US" sz="700">
                <a:solidFill>
                  <a:srgbClr val="33465B"/>
                </a:solidFill>
                <a:latin typeface="Malgun Gothic" pitchFamily="34" charset="0"/>
                <a:ea typeface="Malgun Gothic" pitchFamily="34" charset="-122"/>
                <a:cs typeface="Malgun Gothic" pitchFamily="34" charset="-120"/>
              </a:rPr>
              <a:t>여러 약물에 적용 가능한 플랫폼으로 확장 가능성을 검증 중</a:t>
            </a:r>
          </a:p>
        </p:txBody>
      </p:sp>
      <p:sp>
        <p:nvSpPr>
          <p:cNvPr id="400" name="concl">
            <a:extLst>
              <a:ext uri="{C183D7F6-B498-43B3-948B-1728B52AA6E4}">
                <adec:decorative xmlns:adec="http://schemas.microsoft.com/office/drawing/2017/decorative" val="1"/>
              </a:ext>
            </a:extLst>
          </p:cNvPr>
          <p:cNvSpPr/>
          <p:nvPr/>
        </p:nvSpPr>
        <p:spPr>
          <a:xfrm>
            <a:off x="658368" y="4430000"/>
            <a:ext cx="10881360" cy="1540000"/>
          </a:xfrm>
          <a:prstGeom prst="rect">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401" name="cacc">
            <a:extLst>
              <a:ext uri="{C183D7F6-B498-43B3-948B-1728B52AA6E4}">
                <adec:decorative xmlns:adec="http://schemas.microsoft.com/office/drawing/2017/decorative" val="1"/>
              </a:ext>
            </a:extLst>
          </p:cNvPr>
          <p:cNvSpPr/>
          <p:nvPr/>
        </p:nvSpPr>
        <p:spPr>
          <a:xfrm>
            <a:off x="658368" y="4430000"/>
            <a:ext cx="120000" cy="1540000"/>
          </a:xfrm>
          <a:prstGeom prst="rect">
            <a:avLst/>
          </a:prstGeom>
          <a:solidFill>
            <a:srgbClr val="0D9488"/>
          </a:solidFill>
          <a:ln/>
        </p:spPr>
        <p:txBody>
          <a:bodyPr/>
          <a:lstStyle/>
          <a:p>
            <a:endParaRPr lang="ko-KR" altLang="en-US"/>
          </a:p>
        </p:txBody>
      </p:sp>
      <p:sp>
        <p:nvSpPr>
          <p:cNvPr id="402" name="ctxt"/>
          <p:cNvSpPr/>
          <p:nvPr/>
        </p:nvSpPr>
        <p:spPr>
          <a:xfrm>
            <a:off x="1058368" y="4540000"/>
            <a:ext cx="10081360" cy="1320000"/>
          </a:xfrm>
          <a:prstGeom prst="rect">
            <a:avLst/>
          </a:prstGeom>
          <a:noFill/>
          <a:ln/>
        </p:spPr>
        <p:txBody>
          <a:bodyPr wrap="square" lIns="0" tIns="0" rIns="0" bIns="0" rtlCol="0" anchor="ctr"/>
          <a:lstStyle/>
          <a:p>
            <a:pPr algn="ctr">
              <a:buNone/>
            </a:pPr>
            <a:r>
              <a:rPr lang="ko-KR" altLang="en-US" sz="820" b="1" spc="200">
                <a:solidFill>
                  <a:srgbClr val="7FE9DC"/>
                </a:solidFill>
                <a:latin typeface="Malgun Gothic" pitchFamily="34" charset="0"/>
                <a:ea typeface="Malgun Gothic" pitchFamily="34" charset="-122"/>
                <a:cs typeface="Malgun Gothic" pitchFamily="34" charset="-120"/>
              </a:rPr>
              <a:t>최종 결론</a:t>
            </a:r>
          </a:p>
          <a:p>
            <a:pPr algn="ctr">
              <a:spcBef>
                <a:spcPts val="260"/>
              </a:spcBef>
              <a:buNone/>
            </a:pPr>
            <a:r>
              <a:rPr lang="ko-KR" altLang="en-US" sz="1000">
                <a:solidFill>
                  <a:srgbClr val="E2E8F0"/>
                </a:solidFill>
                <a:latin typeface="Malgun Gothic" pitchFamily="34" charset="0"/>
                <a:ea typeface="Malgun Gothic" pitchFamily="34" charset="-122"/>
                <a:cs typeface="Malgun Gothic" pitchFamily="34" charset="-120"/>
              </a:rPr>
              <a:t>S-PASS는 하나의 신약이 아니라 </a:t>
            </a:r>
            <a:r>
              <a:rPr lang="ko-KR" altLang="en-US" sz="1000" b="1">
                <a:solidFill>
                  <a:srgbClr val="FFFFFF"/>
                </a:solidFill>
                <a:latin typeface="Malgun Gothic" pitchFamily="34" charset="0"/>
                <a:ea typeface="Malgun Gothic" pitchFamily="34" charset="-122"/>
                <a:cs typeface="Malgun Gothic" pitchFamily="34" charset="-120"/>
              </a:rPr>
              <a:t>여러 주사제를 경구제로 전환하려는 플랫폼 기술</a:t>
            </a:r>
            <a:r>
              <a:rPr lang="ko-KR" altLang="en-US" sz="1000">
                <a:solidFill>
                  <a:srgbClr val="E2E8F0"/>
                </a:solidFill>
                <a:latin typeface="Malgun Gothic" pitchFamily="34" charset="0"/>
                <a:ea typeface="Malgun Gothic" pitchFamily="34" charset="-122"/>
                <a:cs typeface="Malgun Gothic" pitchFamily="34" charset="-120"/>
              </a:rPr>
              <a:t>이다.</a:t>
            </a:r>
          </a:p>
          <a:p>
            <a:pPr algn="ctr">
              <a:spcBef>
                <a:spcPts val="200"/>
              </a:spcBef>
              <a:buNone/>
            </a:pPr>
            <a:r>
              <a:rPr lang="ko-KR" altLang="en-US" sz="950">
                <a:solidFill>
                  <a:srgbClr val="C7D2E0"/>
                </a:solidFill>
                <a:latin typeface="Malgun Gothic" pitchFamily="34" charset="0"/>
                <a:ea typeface="Malgun Gothic" pitchFamily="34" charset="-122"/>
                <a:cs typeface="Malgun Gothic" pitchFamily="34" charset="-120"/>
              </a:rPr>
              <a:t>경구화가 어렵기 때문에, 데이터와 규제 검증에 성공할 경우 </a:t>
            </a:r>
            <a:r>
              <a:rPr lang="ko-KR" altLang="en-US" sz="950" b="1">
                <a:solidFill>
                  <a:srgbClr val="FDBA74"/>
                </a:solidFill>
                <a:latin typeface="Malgun Gothic" pitchFamily="34" charset="0"/>
                <a:ea typeface="Malgun Gothic" pitchFamily="34" charset="-122"/>
                <a:cs typeface="Malgun Gothic" pitchFamily="34" charset="-120"/>
              </a:rPr>
              <a:t>높은 진입장벽</a:t>
            </a:r>
            <a:r>
              <a:rPr lang="ko-KR" altLang="en-US" sz="950">
                <a:solidFill>
                  <a:srgbClr val="C7D2E0"/>
                </a:solidFill>
                <a:latin typeface="Malgun Gothic" pitchFamily="34" charset="0"/>
                <a:ea typeface="Malgun Gothic" pitchFamily="34" charset="-122"/>
                <a:cs typeface="Malgun Gothic" pitchFamily="34" charset="-120"/>
              </a:rPr>
              <a:t>을 형성할 수 있다.</a:t>
            </a:r>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18</a:t>
            </a:r>
            <a:endParaRPr lang="en-US" sz="8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1D4ED8"/>
                </a:solidFill>
                <a:latin typeface="Malgun Gothic" pitchFamily="34" charset="0"/>
                <a:ea typeface="Malgun Gothic" pitchFamily="34" charset="-122"/>
                <a:cs typeface="Malgun Gothic" pitchFamily="34" charset="-120"/>
              </a:rPr>
              <a:t>02 · 시장 · 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왜 S-PASS 시장이 중요한가?</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58368" y="1330000"/>
            <a:ext cx="10875264" cy="300000"/>
          </a:xfrm>
          <a:prstGeom prst="rect">
            <a:avLst/>
          </a:prstGeom>
          <a:noFill/>
          <a:ln/>
        </p:spPr>
        <p:txBody>
          <a:bodyPr wrap="square" lIns="0" tIns="0" rIns="0" bIns="0" rtlCol="0" anchor="ctr"/>
          <a:lstStyle/>
          <a:p>
            <a:pPr marL="0" indent="0">
              <a:buNone/>
            </a:pPr>
            <a:r>
              <a:rPr lang="en-US" sz="1250">
                <a:solidFill>
                  <a:srgbClr val="33465B"/>
                </a:solidFill>
                <a:latin typeface="Malgun Gothic" pitchFamily="34" charset="0"/>
                <a:ea typeface="Malgun Gothic" pitchFamily="34" charset="-122"/>
                <a:cs typeface="Malgun Gothic" pitchFamily="34" charset="-120"/>
              </a:rPr>
              <a:t>플랫폼의 가치는 시장 규모가 아니라 실제 적용 가능성과 상업화 증거에서 나온다</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200" name="card">
            <a:extLst>
              <a:ext uri="{C183D7F6-B498-43B3-948B-1728B52AA6E4}">
                <adec:decorative xmlns:adec="http://schemas.microsoft.com/office/drawing/2017/decorative" val="1"/>
              </a:ext>
            </a:extLst>
          </p:cNvPr>
          <p:cNvSpPr/>
          <p:nvPr/>
        </p:nvSpPr>
        <p:spPr>
          <a:xfrm>
            <a:off x="658368" y="1560000"/>
            <a:ext cx="3493786" cy="147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1" name="cardhdr"/>
          <p:cNvSpPr/>
          <p:nvPr/>
        </p:nvSpPr>
        <p:spPr>
          <a:xfrm>
            <a:off x="658368" y="1560000"/>
            <a:ext cx="3493786" cy="34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GLP-1 시장</a:t>
            </a:r>
          </a:p>
        </p:txBody>
      </p:sp>
      <p:sp>
        <p:nvSpPr>
          <p:cNvPr id="202" name="cardbody"/>
          <p:cNvSpPr/>
          <p:nvPr/>
        </p:nvSpPr>
        <p:spPr>
          <a:xfrm>
            <a:off x="808368" y="1970000"/>
            <a:ext cx="3193786" cy="990000"/>
          </a:xfrm>
          <a:prstGeom prst="rect">
            <a:avLst/>
          </a:prstGeom>
          <a:noFill/>
          <a:ln/>
        </p:spPr>
        <p:txBody>
          <a:bodyPr wrap="square" lIns="0" tIns="0" rIns="0" bIns="0" rtlCol="0" anchor="ctr"/>
          <a:lstStyle/>
          <a:p>
            <a:pPr algn="ctr">
              <a:buNone/>
            </a:pPr>
            <a:r>
              <a:rPr lang="ko-KR" altLang="en-US" sz="800" b="1">
                <a:solidFill>
                  <a:srgbClr val="0B2038"/>
                </a:solidFill>
                <a:latin typeface="Malgun Gothic" pitchFamily="34" charset="0"/>
                <a:ea typeface="Malgun Gothic" pitchFamily="34" charset="-122"/>
                <a:cs typeface="Malgun Gothic" pitchFamily="34" charset="-120"/>
              </a:rPr>
              <a:t>세마글루타이드 · 터제파타이드</a:t>
            </a:r>
          </a:p>
          <a:p>
            <a:pPr algn="ctr">
              <a:spcBef>
                <a:spcPts val="150"/>
              </a:spcBef>
              <a:buNone/>
            </a:pPr>
            <a:r>
              <a:rPr lang="ko-KR" altLang="en-US" sz="1040" b="1">
                <a:solidFill>
                  <a:srgbClr val="1D4ED8"/>
                </a:solidFill>
                <a:latin typeface="Malgun Gothic" pitchFamily="34" charset="0"/>
                <a:ea typeface="Malgun Gothic" pitchFamily="34" charset="-122"/>
                <a:cs typeface="Malgun Gothic" pitchFamily="34" charset="-120"/>
              </a:rPr>
              <a:t>약 50~300조원</a:t>
            </a:r>
          </a:p>
          <a:p>
            <a:pPr algn="ctr">
              <a:spcBef>
                <a:spcPts val="95"/>
              </a:spcBef>
              <a:buNone/>
            </a:pPr>
            <a:r>
              <a:rPr lang="ko-KR" altLang="en-US" sz="780">
                <a:solidFill>
                  <a:srgbClr val="33465B"/>
                </a:solidFill>
                <a:latin typeface="Malgun Gothic" pitchFamily="34" charset="0"/>
                <a:ea typeface="Malgun Gothic" pitchFamily="34" charset="-122"/>
                <a:cs typeface="Malgun Gothic" pitchFamily="34" charset="-120"/>
              </a:rPr>
              <a:t>비만·당뇨 시장</a:t>
            </a:r>
          </a:p>
        </p:txBody>
      </p:sp>
      <p:sp>
        <p:nvSpPr>
          <p:cNvPr id="203" name="card">
            <a:extLst>
              <a:ext uri="{C183D7F6-B498-43B3-948B-1728B52AA6E4}">
                <adec:decorative xmlns:adec="http://schemas.microsoft.com/office/drawing/2017/decorative" val="1"/>
              </a:ext>
            </a:extLst>
          </p:cNvPr>
          <p:cNvSpPr/>
          <p:nvPr/>
        </p:nvSpPr>
        <p:spPr>
          <a:xfrm>
            <a:off x="4352154" y="1560000"/>
            <a:ext cx="3493786" cy="147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4" name="cardhdr"/>
          <p:cNvSpPr/>
          <p:nvPr/>
        </p:nvSpPr>
        <p:spPr>
          <a:xfrm>
            <a:off x="4352154" y="1560000"/>
            <a:ext cx="3493786" cy="340000"/>
          </a:xfrm>
          <a:prstGeom prst="round2SameRect">
            <a:avLst>
              <a:gd name="adj1" fmla="val 4200"/>
              <a:gd name="adj2" fmla="val 0"/>
            </a:avLst>
          </a:prstGeom>
          <a:solidFill>
            <a:srgbClr val="0D948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인슐린 시장</a:t>
            </a:r>
          </a:p>
        </p:txBody>
      </p:sp>
      <p:sp>
        <p:nvSpPr>
          <p:cNvPr id="205" name="cardbody"/>
          <p:cNvSpPr/>
          <p:nvPr/>
        </p:nvSpPr>
        <p:spPr>
          <a:xfrm>
            <a:off x="4502154" y="1970000"/>
            <a:ext cx="3193786" cy="990000"/>
          </a:xfrm>
          <a:prstGeom prst="rect">
            <a:avLst/>
          </a:prstGeom>
          <a:noFill/>
          <a:ln/>
        </p:spPr>
        <p:txBody>
          <a:bodyPr wrap="square" lIns="0" tIns="0" rIns="0" bIns="0" rtlCol="0" anchor="ctr"/>
          <a:lstStyle/>
          <a:p>
            <a:pPr algn="ctr">
              <a:buNone/>
            </a:pPr>
            <a:r>
              <a:rPr lang="ko-KR" altLang="en-US" sz="800" b="1">
                <a:solidFill>
                  <a:srgbClr val="0B2038"/>
                </a:solidFill>
                <a:latin typeface="Malgun Gothic" pitchFamily="34" charset="0"/>
                <a:ea typeface="Malgun Gothic" pitchFamily="34" charset="-122"/>
                <a:cs typeface="Malgun Gothic" pitchFamily="34" charset="-120"/>
              </a:rPr>
              <a:t>전 세계 당뇨 환자 대상</a:t>
            </a:r>
          </a:p>
          <a:p>
            <a:pPr algn="ctr">
              <a:spcBef>
                <a:spcPts val="150"/>
              </a:spcBef>
              <a:buNone/>
            </a:pPr>
            <a:r>
              <a:rPr lang="ko-KR" altLang="en-US" sz="1040" b="1">
                <a:solidFill>
                  <a:srgbClr val="0D9488"/>
                </a:solidFill>
                <a:latin typeface="Malgun Gothic" pitchFamily="34" charset="0"/>
                <a:ea typeface="Malgun Gothic" pitchFamily="34" charset="-122"/>
                <a:cs typeface="Malgun Gothic" pitchFamily="34" charset="-120"/>
              </a:rPr>
              <a:t>약 20~30조원</a:t>
            </a:r>
          </a:p>
          <a:p>
            <a:pPr algn="ctr">
              <a:spcBef>
                <a:spcPts val="95"/>
              </a:spcBef>
              <a:buNone/>
            </a:pPr>
            <a:r>
              <a:rPr lang="ko-KR" altLang="en-US" sz="780">
                <a:solidFill>
                  <a:srgbClr val="33465B"/>
                </a:solidFill>
                <a:latin typeface="Malgun Gothic" pitchFamily="34" charset="0"/>
                <a:ea typeface="Malgun Gothic" pitchFamily="34" charset="-122"/>
                <a:cs typeface="Malgun Gothic" pitchFamily="34" charset="-120"/>
              </a:rPr>
              <a:t>장기 치료 시장</a:t>
            </a:r>
          </a:p>
        </p:txBody>
      </p:sp>
      <p:sp>
        <p:nvSpPr>
          <p:cNvPr id="206" name="card">
            <a:extLst>
              <a:ext uri="{C183D7F6-B498-43B3-948B-1728B52AA6E4}">
                <adec:decorative xmlns:adec="http://schemas.microsoft.com/office/drawing/2017/decorative" val="1"/>
              </a:ext>
            </a:extLst>
          </p:cNvPr>
          <p:cNvSpPr/>
          <p:nvPr/>
        </p:nvSpPr>
        <p:spPr>
          <a:xfrm>
            <a:off x="8045940" y="1560000"/>
            <a:ext cx="3493786" cy="147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7" name="cardhdr"/>
          <p:cNvSpPr/>
          <p:nvPr/>
        </p:nvSpPr>
        <p:spPr>
          <a:xfrm>
            <a:off x="8045940" y="1560000"/>
            <a:ext cx="3493786" cy="340000"/>
          </a:xfrm>
          <a:prstGeom prst="round2SameRect">
            <a:avLst>
              <a:gd name="adj1" fmla="val 4200"/>
              <a:gd name="adj2" fmla="val 0"/>
            </a:avLst>
          </a:prstGeom>
          <a:solidFill>
            <a:srgbClr val="E8590C"/>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항체의약품 시장</a:t>
            </a:r>
          </a:p>
        </p:txBody>
      </p:sp>
      <p:sp>
        <p:nvSpPr>
          <p:cNvPr id="208" name="cardbody"/>
          <p:cNvSpPr/>
          <p:nvPr/>
        </p:nvSpPr>
        <p:spPr>
          <a:xfrm>
            <a:off x="8195940" y="1970000"/>
            <a:ext cx="3193786" cy="990000"/>
          </a:xfrm>
          <a:prstGeom prst="rect">
            <a:avLst/>
          </a:prstGeom>
          <a:noFill/>
          <a:ln/>
        </p:spPr>
        <p:txBody>
          <a:bodyPr wrap="square" lIns="0" tIns="0" rIns="0" bIns="0" rtlCol="0" anchor="ctr"/>
          <a:lstStyle/>
          <a:p>
            <a:pPr algn="ctr">
              <a:buNone/>
            </a:pPr>
            <a:r>
              <a:rPr lang="ko-KR" altLang="en-US" sz="800" b="1">
                <a:solidFill>
                  <a:srgbClr val="0B2038"/>
                </a:solidFill>
                <a:latin typeface="Malgun Gothic" pitchFamily="34" charset="0"/>
                <a:ea typeface="Malgun Gothic" pitchFamily="34" charset="-122"/>
                <a:cs typeface="Malgun Gothic" pitchFamily="34" charset="-120"/>
              </a:rPr>
              <a:t>Keytruda · Opdivo</a:t>
            </a:r>
          </a:p>
          <a:p>
            <a:pPr algn="ctr">
              <a:spcBef>
                <a:spcPts val="150"/>
              </a:spcBef>
              <a:buNone/>
            </a:pPr>
            <a:r>
              <a:rPr lang="ko-KR" altLang="en-US" sz="900" b="1">
                <a:solidFill>
                  <a:srgbClr val="E8590C"/>
                </a:solidFill>
                <a:latin typeface="Malgun Gothic" pitchFamily="34" charset="0"/>
                <a:ea typeface="Malgun Gothic" pitchFamily="34" charset="-122"/>
                <a:cs typeface="Malgun Gothic" pitchFamily="34" charset="-120"/>
              </a:rPr>
              <a:t>Keytruda 단일제품 약 30조원+</a:t>
            </a:r>
          </a:p>
          <a:p>
            <a:pPr algn="ctr">
              <a:spcBef>
                <a:spcPts val="95"/>
              </a:spcBef>
              <a:buNone/>
            </a:pPr>
            <a:r>
              <a:rPr lang="ko-KR" altLang="en-US" sz="780">
                <a:solidFill>
                  <a:srgbClr val="33465B"/>
                </a:solidFill>
                <a:latin typeface="Malgun Gothic" pitchFamily="34" charset="0"/>
                <a:ea typeface="Malgun Gothic" pitchFamily="34" charset="-122"/>
                <a:cs typeface="Malgun Gothic" pitchFamily="34" charset="-120"/>
              </a:rPr>
              <a:t>대형 항암제 시장</a:t>
            </a:r>
          </a:p>
        </p:txBody>
      </p:sp>
      <p:sp>
        <p:nvSpPr>
          <p:cNvPr id="209" name="band">
            <a:extLst>
              <a:ext uri="{C183D7F6-B498-43B3-948B-1728B52AA6E4}">
                <adec:decorative xmlns:adec="http://schemas.microsoft.com/office/drawing/2017/decorative" val="1"/>
              </a:ext>
            </a:extLst>
          </p:cNvPr>
          <p:cNvSpPr/>
          <p:nvPr/>
        </p:nvSpPr>
        <p:spPr>
          <a:xfrm>
            <a:off x="658368" y="3090000"/>
            <a:ext cx="10881360" cy="470000"/>
          </a:xfrm>
          <a:prstGeom prst="rect">
            <a:avLst/>
          </a:prstGeom>
          <a:solidFill>
            <a:srgbClr val="EEF1F6"/>
          </a:solidFill>
          <a:ln w="9525">
            <a:solidFill>
              <a:srgbClr val="C7D2E0"/>
            </a:solidFill>
          </a:ln>
        </p:spPr>
        <p:txBody>
          <a:bodyPr/>
          <a:lstStyle/>
          <a:p>
            <a:endParaRPr lang="ko-KR" altLang="en-US"/>
          </a:p>
        </p:txBody>
      </p:sp>
      <p:sp>
        <p:nvSpPr>
          <p:cNvPr id="211" name="btxt"/>
          <p:cNvSpPr/>
          <p:nvPr/>
        </p:nvSpPr>
        <p:spPr>
          <a:xfrm>
            <a:off x="658368" y="3090000"/>
            <a:ext cx="10881360" cy="470000"/>
          </a:xfrm>
          <a:prstGeom prst="rect">
            <a:avLst/>
          </a:prstGeom>
          <a:noFill/>
          <a:ln/>
        </p:spPr>
        <p:txBody>
          <a:bodyPr wrap="square" lIns="300000" tIns="0" rIns="220000" bIns="0" rtlCol="0" anchor="ctr"/>
          <a:lstStyle/>
          <a:p>
            <a:pPr algn="ctr">
              <a:buNone/>
            </a:pPr>
            <a:r>
              <a:rPr lang="ko-KR" altLang="en-US" sz="850" b="1">
                <a:solidFill>
                  <a:srgbClr val="1D4ED8"/>
                </a:solidFill>
                <a:latin typeface="Malgun Gothic" pitchFamily="34" charset="0"/>
                <a:ea typeface="Malgun Gothic" pitchFamily="34" charset="-122"/>
                <a:cs typeface="Malgun Gothic" pitchFamily="34" charset="-120"/>
              </a:rPr>
              <a:t>GLP-1 50~300조+</a:t>
            </a:r>
            <a:r>
              <a:rPr lang="ko-KR" altLang="en-US" sz="850" b="1">
                <a:solidFill>
                  <a:srgbClr val="5A6B7E"/>
                </a:solidFill>
                <a:latin typeface="Malgun Gothic" pitchFamily="34" charset="0"/>
                <a:ea typeface="Malgun Gothic" pitchFamily="34" charset="-122"/>
                <a:cs typeface="Malgun Gothic" pitchFamily="34" charset="-120"/>
              </a:rPr>
              <a:t>   +   </a:t>
            </a:r>
            <a:r>
              <a:rPr lang="ko-KR" altLang="en-US" sz="850" b="1">
                <a:solidFill>
                  <a:srgbClr val="0D9488"/>
                </a:solidFill>
                <a:latin typeface="Malgun Gothic" pitchFamily="34" charset="0"/>
                <a:ea typeface="Malgun Gothic" pitchFamily="34" charset="-122"/>
                <a:cs typeface="Malgun Gothic" pitchFamily="34" charset="-120"/>
              </a:rPr>
              <a:t>인슐린 20~30조+</a:t>
            </a:r>
            <a:r>
              <a:rPr lang="ko-KR" altLang="en-US" sz="850" b="1">
                <a:solidFill>
                  <a:srgbClr val="5A6B7E"/>
                </a:solidFill>
                <a:latin typeface="Malgun Gothic" pitchFamily="34" charset="0"/>
                <a:ea typeface="Malgun Gothic" pitchFamily="34" charset="-122"/>
                <a:cs typeface="Malgun Gothic" pitchFamily="34" charset="-120"/>
              </a:rPr>
              <a:t>   +   </a:t>
            </a:r>
            <a:r>
              <a:rPr lang="ko-KR" altLang="en-US" sz="850" b="1">
                <a:solidFill>
                  <a:srgbClr val="E8590C"/>
                </a:solidFill>
                <a:latin typeface="Malgun Gothic" pitchFamily="34" charset="0"/>
                <a:ea typeface="Malgun Gothic" pitchFamily="34" charset="-122"/>
                <a:cs typeface="Malgun Gothic" pitchFamily="34" charset="-120"/>
              </a:rPr>
              <a:t>항체의약품 30조+</a:t>
            </a:r>
            <a:r>
              <a:rPr lang="ko-KR" altLang="en-US" sz="900" b="1">
                <a:solidFill>
                  <a:srgbClr val="64748B"/>
                </a:solidFill>
                <a:latin typeface="Malgun Gothic" pitchFamily="34" charset="0"/>
                <a:ea typeface="Malgun Gothic" pitchFamily="34" charset="-122"/>
                <a:cs typeface="Malgun Gothic" pitchFamily="34" charset="-120"/>
              </a:rPr>
              <a:t>      →      </a:t>
            </a:r>
            <a:r>
              <a:rPr lang="ko-KR" altLang="en-US" sz="950" b="1">
                <a:solidFill>
                  <a:srgbClr val="0B2038"/>
                </a:solidFill>
                <a:latin typeface="Malgun Gothic" pitchFamily="34" charset="0"/>
                <a:ea typeface="Malgun Gothic" pitchFamily="34" charset="-122"/>
                <a:cs typeface="Malgun Gothic" pitchFamily="34" charset="-120"/>
              </a:rPr>
              <a:t>잠재 시장 100~300조원+</a:t>
            </a:r>
          </a:p>
        </p:txBody>
      </p:sp>
      <p:sp>
        <p:nvSpPr>
          <p:cNvPr id="212" name="card">
            <a:extLst>
              <a:ext uri="{C183D7F6-B498-43B3-948B-1728B52AA6E4}">
                <adec:decorative xmlns:adec="http://schemas.microsoft.com/office/drawing/2017/decorative" val="1"/>
              </a:ext>
            </a:extLst>
          </p:cNvPr>
          <p:cNvSpPr/>
          <p:nvPr/>
        </p:nvSpPr>
        <p:spPr>
          <a:xfrm>
            <a:off x="658368" y="3640000"/>
            <a:ext cx="3493786" cy="11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3" name="cardhdr"/>
          <p:cNvSpPr/>
          <p:nvPr/>
        </p:nvSpPr>
        <p:spPr>
          <a:xfrm>
            <a:off x="658368" y="3640000"/>
            <a:ext cx="3493786" cy="32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SCD411 방식</a:t>
            </a:r>
          </a:p>
        </p:txBody>
      </p:sp>
      <p:sp>
        <p:nvSpPr>
          <p:cNvPr id="214" name="cardbody"/>
          <p:cNvSpPr/>
          <p:nvPr/>
        </p:nvSpPr>
        <p:spPr>
          <a:xfrm>
            <a:off x="808368" y="4030000"/>
            <a:ext cx="3193786" cy="680000"/>
          </a:xfrm>
          <a:prstGeom prst="rect">
            <a:avLst/>
          </a:prstGeom>
          <a:noFill/>
          <a:ln/>
        </p:spPr>
        <p:txBody>
          <a:bodyPr wrap="square" lIns="0" tIns="0" rIns="0" bIns="0" rtlCol="0" anchor="ctr"/>
          <a:lstStyle/>
          <a:p>
            <a:pPr algn="ctr">
              <a:buNone/>
            </a:pPr>
            <a:r>
              <a:rPr lang="ko-KR" altLang="en-US" sz="780" b="1">
                <a:solidFill>
                  <a:srgbClr val="0B2038"/>
                </a:solidFill>
                <a:latin typeface="Malgun Gothic" pitchFamily="34" charset="0"/>
                <a:ea typeface="Malgun Gothic" pitchFamily="34" charset="-122"/>
                <a:cs typeface="Malgun Gothic" pitchFamily="34" charset="-120"/>
              </a:rPr>
              <a:t>기존 시장 진입</a:t>
            </a:r>
          </a:p>
          <a:p>
            <a:pPr algn="ctr">
              <a:spcBef>
                <a:spcPts val="20"/>
              </a:spcBef>
              <a:buNone/>
            </a:pPr>
            <a:r>
              <a:rPr lang="ko-KR" altLang="en-US" sz="663" b="1">
                <a:solidFill>
                  <a:srgbClr val="1D4ED8"/>
                </a:solidFill>
                <a:latin typeface="Malgun Gothic" pitchFamily="34" charset="0"/>
                <a:ea typeface="Malgun Gothic" pitchFamily="34" charset="-122"/>
                <a:cs typeface="Malgun Gothic" pitchFamily="34" charset="-120"/>
              </a:rPr>
              <a:t>↓</a:t>
            </a:r>
          </a:p>
          <a:p>
            <a:pPr algn="ctr">
              <a:spcBef>
                <a:spcPts val="20"/>
              </a:spcBef>
              <a:buNone/>
            </a:pPr>
            <a:r>
              <a:rPr lang="ko-KR" altLang="en-US" sz="780" b="1">
                <a:solidFill>
                  <a:srgbClr val="0B2038"/>
                </a:solidFill>
                <a:latin typeface="Malgun Gothic" pitchFamily="34" charset="0"/>
                <a:ea typeface="Malgun Gothic" pitchFamily="34" charset="-122"/>
                <a:cs typeface="Malgun Gothic" pitchFamily="34" charset="-120"/>
              </a:rPr>
              <a:t>시장점유율 확보</a:t>
            </a:r>
          </a:p>
          <a:p>
            <a:pPr algn="ctr">
              <a:spcBef>
                <a:spcPts val="20"/>
              </a:spcBef>
              <a:buNone/>
            </a:pPr>
            <a:r>
              <a:rPr lang="ko-KR" altLang="en-US" sz="663" b="1">
                <a:solidFill>
                  <a:srgbClr val="1D4ED8"/>
                </a:solidFill>
                <a:latin typeface="Malgun Gothic" pitchFamily="34" charset="0"/>
                <a:ea typeface="Malgun Gothic" pitchFamily="34" charset="-122"/>
                <a:cs typeface="Malgun Gothic" pitchFamily="34" charset="-120"/>
              </a:rPr>
              <a:t>↓</a:t>
            </a:r>
          </a:p>
          <a:p>
            <a:pPr algn="ctr">
              <a:spcBef>
                <a:spcPts val="20"/>
              </a:spcBef>
              <a:buNone/>
            </a:pPr>
            <a:r>
              <a:rPr lang="ko-KR" altLang="en-US" sz="780" b="1">
                <a:solidFill>
                  <a:srgbClr val="0B2038"/>
                </a:solidFill>
                <a:latin typeface="Malgun Gothic" pitchFamily="34" charset="0"/>
                <a:ea typeface="Malgun Gothic" pitchFamily="34" charset="-122"/>
                <a:cs typeface="Malgun Gothic" pitchFamily="34" charset="-120"/>
              </a:rPr>
              <a:t>기존 매출 확대</a:t>
            </a:r>
          </a:p>
        </p:txBody>
      </p:sp>
      <p:sp>
        <p:nvSpPr>
          <p:cNvPr id="215" name="card">
            <a:extLst>
              <a:ext uri="{C183D7F6-B498-43B3-948B-1728B52AA6E4}">
                <adec:decorative xmlns:adec="http://schemas.microsoft.com/office/drawing/2017/decorative" val="1"/>
              </a:ext>
            </a:extLst>
          </p:cNvPr>
          <p:cNvSpPr/>
          <p:nvPr/>
        </p:nvSpPr>
        <p:spPr>
          <a:xfrm>
            <a:off x="4352154" y="3640000"/>
            <a:ext cx="3493786" cy="11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6" name="cardhdr"/>
          <p:cNvSpPr/>
          <p:nvPr/>
        </p:nvSpPr>
        <p:spPr>
          <a:xfrm>
            <a:off x="4352154" y="3640000"/>
            <a:ext cx="3493786" cy="320000"/>
          </a:xfrm>
          <a:prstGeom prst="round2SameRect">
            <a:avLst>
              <a:gd name="adj1" fmla="val 4200"/>
              <a:gd name="adj2" fmla="val 0"/>
            </a:avLst>
          </a:prstGeom>
          <a:solidFill>
            <a:srgbClr val="0D948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S-PASS 방식</a:t>
            </a:r>
          </a:p>
        </p:txBody>
      </p:sp>
      <p:sp>
        <p:nvSpPr>
          <p:cNvPr id="217" name="cardbody"/>
          <p:cNvSpPr/>
          <p:nvPr/>
        </p:nvSpPr>
        <p:spPr>
          <a:xfrm>
            <a:off x="4502154" y="4030000"/>
            <a:ext cx="3193786" cy="680000"/>
          </a:xfrm>
          <a:prstGeom prst="rect">
            <a:avLst/>
          </a:prstGeom>
          <a:noFill/>
          <a:ln/>
        </p:spPr>
        <p:txBody>
          <a:bodyPr wrap="square" lIns="0" tIns="0" rIns="0" bIns="0" rtlCol="0" anchor="ctr"/>
          <a:lstStyle/>
          <a:p>
            <a:pPr algn="ctr">
              <a:buNone/>
            </a:pPr>
            <a:r>
              <a:rPr lang="ko-KR" altLang="en-US" sz="780" b="1">
                <a:solidFill>
                  <a:srgbClr val="0B2038"/>
                </a:solidFill>
                <a:latin typeface="Malgun Gothic" pitchFamily="34" charset="0"/>
                <a:ea typeface="Malgun Gothic" pitchFamily="34" charset="-122"/>
                <a:cs typeface="Malgun Gothic" pitchFamily="34" charset="-120"/>
              </a:rPr>
              <a:t>주사제 → 경구제 전환 시도</a:t>
            </a:r>
          </a:p>
          <a:p>
            <a:pPr algn="ctr">
              <a:spcBef>
                <a:spcPts val="20"/>
              </a:spcBef>
              <a:buNone/>
            </a:pPr>
            <a:r>
              <a:rPr lang="ko-KR" altLang="en-US" sz="663" b="1">
                <a:solidFill>
                  <a:srgbClr val="0D9488"/>
                </a:solidFill>
                <a:latin typeface="Malgun Gothic" pitchFamily="34" charset="0"/>
                <a:ea typeface="Malgun Gothic" pitchFamily="34" charset="-122"/>
                <a:cs typeface="Malgun Gothic" pitchFamily="34" charset="-120"/>
              </a:rPr>
              <a:t>↓</a:t>
            </a:r>
          </a:p>
          <a:p>
            <a:pPr algn="ctr">
              <a:spcBef>
                <a:spcPts val="20"/>
              </a:spcBef>
              <a:buNone/>
            </a:pPr>
            <a:r>
              <a:rPr lang="ko-KR" altLang="en-US" sz="780" b="1">
                <a:solidFill>
                  <a:srgbClr val="0B2038"/>
                </a:solidFill>
                <a:latin typeface="Malgun Gothic" pitchFamily="34" charset="0"/>
                <a:ea typeface="Malgun Gothic" pitchFamily="34" charset="-122"/>
                <a:cs typeface="Malgun Gothic" pitchFamily="34" charset="-120"/>
              </a:rPr>
              <a:t>기존 주사제 시장의 편의성 개선 가능성</a:t>
            </a:r>
          </a:p>
          <a:p>
            <a:pPr algn="ctr">
              <a:spcBef>
                <a:spcPts val="20"/>
              </a:spcBef>
              <a:buNone/>
            </a:pPr>
            <a:r>
              <a:rPr lang="ko-KR" altLang="en-US" sz="663" b="1">
                <a:solidFill>
                  <a:srgbClr val="0D9488"/>
                </a:solidFill>
                <a:latin typeface="Malgun Gothic" pitchFamily="34" charset="0"/>
                <a:ea typeface="Malgun Gothic" pitchFamily="34" charset="-122"/>
                <a:cs typeface="Malgun Gothic" pitchFamily="34" charset="-120"/>
              </a:rPr>
              <a:t>↓</a:t>
            </a:r>
          </a:p>
          <a:p>
            <a:pPr algn="ctr">
              <a:spcBef>
                <a:spcPts val="20"/>
              </a:spcBef>
              <a:buNone/>
            </a:pPr>
            <a:r>
              <a:rPr lang="ko-KR" altLang="en-US" sz="780" b="1">
                <a:solidFill>
                  <a:srgbClr val="0B2038"/>
                </a:solidFill>
                <a:latin typeface="Malgun Gothic" pitchFamily="34" charset="0"/>
                <a:ea typeface="Malgun Gothic" pitchFamily="34" charset="-122"/>
                <a:cs typeface="Malgun Gothic" pitchFamily="34" charset="-120"/>
              </a:rPr>
              <a:t>상업화 성공 시 새로운 매출원 가능</a:t>
            </a:r>
          </a:p>
        </p:txBody>
      </p:sp>
      <p:sp>
        <p:nvSpPr>
          <p:cNvPr id="218" name="card">
            <a:extLst>
              <a:ext uri="{C183D7F6-B498-43B3-948B-1728B52AA6E4}">
                <adec:decorative xmlns:adec="http://schemas.microsoft.com/office/drawing/2017/decorative" val="1"/>
              </a:ext>
            </a:extLst>
          </p:cNvPr>
          <p:cNvSpPr/>
          <p:nvPr/>
        </p:nvSpPr>
        <p:spPr>
          <a:xfrm>
            <a:off x="8045940" y="3640000"/>
            <a:ext cx="3493786" cy="11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9" name="cardhdr"/>
          <p:cNvSpPr/>
          <p:nvPr/>
        </p:nvSpPr>
        <p:spPr>
          <a:xfrm>
            <a:off x="8045940" y="3640000"/>
            <a:ext cx="3493786" cy="320000"/>
          </a:xfrm>
          <a:prstGeom prst="round2SameRect">
            <a:avLst>
              <a:gd name="adj1" fmla="val 4200"/>
              <a:gd name="adj2" fmla="val 0"/>
            </a:avLst>
          </a:prstGeom>
          <a:solidFill>
            <a:srgbClr val="E8590C"/>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예상 수익 구조</a:t>
            </a:r>
          </a:p>
        </p:txBody>
      </p:sp>
      <p:sp>
        <p:nvSpPr>
          <p:cNvPr id="220" name="cardbody"/>
          <p:cNvSpPr/>
          <p:nvPr/>
        </p:nvSpPr>
        <p:spPr>
          <a:xfrm>
            <a:off x="8195940" y="4030000"/>
            <a:ext cx="3193786" cy="680000"/>
          </a:xfrm>
          <a:prstGeom prst="rect">
            <a:avLst/>
          </a:prstGeom>
          <a:noFill/>
          <a:ln/>
        </p:spPr>
        <p:txBody>
          <a:bodyPr wrap="square" lIns="0" tIns="0" rIns="0" bIns="0" rtlCol="0" anchor="ctr"/>
          <a:lstStyle/>
          <a:p>
            <a:pPr algn="ctr">
              <a:buNone/>
            </a:pPr>
            <a:r>
              <a:rPr lang="ko-KR" altLang="en-US" sz="800" b="1" dirty="0">
                <a:solidFill>
                  <a:srgbClr val="E8590C"/>
                </a:solidFill>
                <a:latin typeface="Malgun Gothic" pitchFamily="34" charset="0"/>
                <a:ea typeface="Malgun Gothic" pitchFamily="34" charset="-122"/>
                <a:cs typeface="Malgun Gothic" pitchFamily="34" charset="-120"/>
              </a:rPr>
              <a:t>계약금 + 마일스톤</a:t>
            </a:r>
          </a:p>
          <a:p>
            <a:pPr algn="ctr">
              <a:spcBef>
                <a:spcPts val="55"/>
              </a:spcBef>
              <a:buNone/>
            </a:pPr>
            <a:r>
              <a:rPr lang="ko-KR" altLang="en-US" sz="800" b="1" dirty="0">
                <a:solidFill>
                  <a:srgbClr val="E8590C"/>
                </a:solidFill>
                <a:latin typeface="Malgun Gothic" pitchFamily="34" charset="0"/>
                <a:ea typeface="Malgun Gothic" pitchFamily="34" charset="-122"/>
                <a:cs typeface="Malgun Gothic" pitchFamily="34" charset="-120"/>
              </a:rPr>
              <a:t>+ 제품 공급 매출 + 판매수익 배분</a:t>
            </a:r>
          </a:p>
          <a:p>
            <a:pPr algn="ctr">
              <a:spcBef>
                <a:spcPts val="150"/>
              </a:spcBef>
              <a:buNone/>
            </a:pPr>
            <a:r>
              <a:rPr lang="ko-KR" altLang="en-US" sz="720" dirty="0">
                <a:solidFill>
                  <a:srgbClr val="33465B"/>
                </a:solidFill>
                <a:latin typeface="Malgun Gothic" pitchFamily="34" charset="0"/>
                <a:ea typeface="Malgun Gothic" pitchFamily="34" charset="-122"/>
                <a:cs typeface="Malgun Gothic" pitchFamily="34" charset="-120"/>
              </a:rPr>
              <a:t>경구 </a:t>
            </a:r>
            <a:r>
              <a:rPr lang="ko-KR" altLang="en-US" sz="720" dirty="0" err="1">
                <a:solidFill>
                  <a:srgbClr val="33465B"/>
                </a:solidFill>
                <a:latin typeface="Malgun Gothic" pitchFamily="34" charset="0"/>
                <a:ea typeface="Malgun Gothic" pitchFamily="34" charset="-122"/>
                <a:cs typeface="Malgun Gothic" pitchFamily="34" charset="-120"/>
              </a:rPr>
              <a:t>세마글루타이드는</a:t>
            </a:r>
            <a:r>
              <a:rPr lang="ko-KR" altLang="en-US" sz="720" dirty="0">
                <a:solidFill>
                  <a:srgbClr val="33465B"/>
                </a:solidFill>
                <a:latin typeface="Malgun Gothic" pitchFamily="34" charset="0"/>
                <a:ea typeface="Malgun Gothic" pitchFamily="34" charset="-122"/>
                <a:cs typeface="Malgun Gothic" pitchFamily="34" charset="-120"/>
              </a:rPr>
              <a:t> </a:t>
            </a:r>
            <a:r>
              <a:rPr lang="ko-KR" altLang="en-US" sz="720" dirty="0" err="1">
                <a:solidFill>
                  <a:srgbClr val="33465B"/>
                </a:solidFill>
                <a:latin typeface="Malgun Gothic" pitchFamily="34" charset="0"/>
                <a:ea typeface="Malgun Gothic" pitchFamily="34" charset="-122"/>
                <a:cs typeface="Malgun Gothic" pitchFamily="34" charset="-120"/>
              </a:rPr>
              <a:t>미국·유럽</a:t>
            </a:r>
            <a:endParaRPr lang="ko-KR" altLang="en-US" sz="720" dirty="0">
              <a:solidFill>
                <a:srgbClr val="33465B"/>
              </a:solidFill>
              <a:latin typeface="Malgun Gothic" pitchFamily="34" charset="0"/>
              <a:ea typeface="Malgun Gothic" pitchFamily="34" charset="-122"/>
              <a:cs typeface="Malgun Gothic" pitchFamily="34" charset="-120"/>
            </a:endParaRPr>
          </a:p>
          <a:p>
            <a:pPr algn="ctr">
              <a:spcBef>
                <a:spcPts val="40"/>
              </a:spcBef>
              <a:buNone/>
            </a:pPr>
            <a:r>
              <a:rPr lang="ko-KR" altLang="en-US" sz="720" dirty="0">
                <a:solidFill>
                  <a:srgbClr val="33465B"/>
                </a:solidFill>
                <a:latin typeface="Malgun Gothic" pitchFamily="34" charset="0"/>
                <a:ea typeface="Malgun Gothic" pitchFamily="34" charset="-122"/>
                <a:cs typeface="Malgun Gothic" pitchFamily="34" charset="-120"/>
              </a:rPr>
              <a:t>파트너와 상업화 계약 추진 중</a:t>
            </a:r>
          </a:p>
        </p:txBody>
      </p:sp>
      <p:sp>
        <p:nvSpPr>
          <p:cNvPr id="400" name="concl">
            <a:extLst>
              <a:ext uri="{C183D7F6-B498-43B3-948B-1728B52AA6E4}">
                <adec:decorative xmlns:adec="http://schemas.microsoft.com/office/drawing/2017/decorative" val="1"/>
              </a:ext>
            </a:extLst>
          </p:cNvPr>
          <p:cNvSpPr/>
          <p:nvPr/>
        </p:nvSpPr>
        <p:spPr>
          <a:xfrm>
            <a:off x="658368" y="4850000"/>
            <a:ext cx="10881360" cy="1420000"/>
          </a:xfrm>
          <a:prstGeom prst="rect">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401" name="cacc">
            <a:extLst>
              <a:ext uri="{C183D7F6-B498-43B3-948B-1728B52AA6E4}">
                <adec:decorative xmlns:adec="http://schemas.microsoft.com/office/drawing/2017/decorative" val="1"/>
              </a:ext>
            </a:extLst>
          </p:cNvPr>
          <p:cNvSpPr/>
          <p:nvPr/>
        </p:nvSpPr>
        <p:spPr>
          <a:xfrm>
            <a:off x="658368" y="4850000"/>
            <a:ext cx="120000" cy="1420000"/>
          </a:xfrm>
          <a:prstGeom prst="rect">
            <a:avLst/>
          </a:prstGeom>
          <a:solidFill>
            <a:srgbClr val="0D9488"/>
          </a:solidFill>
          <a:ln/>
        </p:spPr>
        <p:txBody>
          <a:bodyPr/>
          <a:lstStyle/>
          <a:p>
            <a:endParaRPr lang="ko-KR" altLang="en-US"/>
          </a:p>
        </p:txBody>
      </p:sp>
      <p:sp>
        <p:nvSpPr>
          <p:cNvPr id="402" name="ctxt"/>
          <p:cNvSpPr/>
          <p:nvPr/>
        </p:nvSpPr>
        <p:spPr>
          <a:xfrm>
            <a:off x="1058368" y="4960000"/>
            <a:ext cx="10081360" cy="1200000"/>
          </a:xfrm>
          <a:prstGeom prst="rect">
            <a:avLst/>
          </a:prstGeom>
          <a:noFill/>
          <a:ln/>
        </p:spPr>
        <p:txBody>
          <a:bodyPr wrap="square" lIns="0" tIns="0" rIns="0" bIns="0" rtlCol="0" anchor="ctr"/>
          <a:lstStyle/>
          <a:p>
            <a:pPr algn="ctr">
              <a:buNone/>
            </a:pPr>
            <a:r>
              <a:rPr lang="ko-KR" altLang="en-US" sz="820" b="1" spc="200" dirty="0">
                <a:solidFill>
                  <a:srgbClr val="7FE9DC"/>
                </a:solidFill>
                <a:latin typeface="Malgun Gothic" pitchFamily="34" charset="0"/>
                <a:ea typeface="Malgun Gothic" pitchFamily="34" charset="-122"/>
                <a:cs typeface="Malgun Gothic" pitchFamily="34" charset="-120"/>
              </a:rPr>
              <a:t>최종 결론</a:t>
            </a:r>
          </a:p>
          <a:p>
            <a:pPr algn="ctr">
              <a:spcBef>
                <a:spcPts val="260"/>
              </a:spcBef>
              <a:buNone/>
            </a:pPr>
            <a:r>
              <a:rPr lang="ko-KR" altLang="en-US" sz="1000" dirty="0" err="1">
                <a:solidFill>
                  <a:srgbClr val="E2E8F0"/>
                </a:solidFill>
                <a:latin typeface="Malgun Gothic" pitchFamily="34" charset="0"/>
                <a:ea typeface="Malgun Gothic" pitchFamily="34" charset="-122"/>
                <a:cs typeface="Malgun Gothic" pitchFamily="34" charset="-120"/>
              </a:rPr>
              <a:t>S-PASS는</a:t>
            </a:r>
            <a:r>
              <a:rPr lang="ko-KR" altLang="en-US" sz="1000" dirty="0">
                <a:solidFill>
                  <a:srgbClr val="E2E8F0"/>
                </a:solidFill>
                <a:latin typeface="Malgun Gothic" pitchFamily="34" charset="0"/>
                <a:ea typeface="Malgun Gothic" pitchFamily="34" charset="-122"/>
                <a:cs typeface="Malgun Gothic" pitchFamily="34" charset="-120"/>
              </a:rPr>
              <a:t> 기존 매출을 </a:t>
            </a:r>
            <a:r>
              <a:rPr lang="ko-KR" altLang="en-US" sz="1000">
                <a:solidFill>
                  <a:srgbClr val="E2E8F0"/>
                </a:solidFill>
                <a:latin typeface="Malgun Gothic" pitchFamily="34" charset="0"/>
                <a:ea typeface="Malgun Gothic" pitchFamily="34" charset="-122"/>
                <a:cs typeface="Malgun Gothic" pitchFamily="34" charset="-120"/>
              </a:rPr>
              <a:t>단순히 </a:t>
            </a:r>
            <a:r>
              <a:rPr lang="ko-KR" altLang="en-US" sz="1000" dirty="0">
                <a:solidFill>
                  <a:srgbClr val="E2E8F0"/>
                </a:solidFill>
                <a:latin typeface="Malgun Gothic" pitchFamily="34" charset="0"/>
                <a:ea typeface="Malgun Gothic" pitchFamily="34" charset="-122"/>
                <a:cs typeface="Malgun Gothic" pitchFamily="34" charset="-120"/>
              </a:rPr>
              <a:t>늘리는 사업이 아니라</a:t>
            </a:r>
            <a:r>
              <a:rPr lang="ko-KR" altLang="en-US" sz="1000">
                <a:solidFill>
                  <a:srgbClr val="E2E8F0"/>
                </a:solidFill>
                <a:latin typeface="Malgun Gothic" pitchFamily="34" charset="0"/>
                <a:ea typeface="Malgun Gothic" pitchFamily="34" charset="-122"/>
                <a:cs typeface="Malgun Gothic" pitchFamily="34" charset="-120"/>
              </a:rPr>
              <a:t>, 성공 시</a:t>
            </a:r>
            <a:r>
              <a:rPr lang="ko-KR" altLang="en-US" sz="1000" dirty="0">
                <a:solidFill>
                  <a:srgbClr val="E2E8F0"/>
                </a:solidFill>
                <a:latin typeface="Malgun Gothic" pitchFamily="34" charset="0"/>
                <a:ea typeface="Malgun Gothic" pitchFamily="34" charset="-122"/>
                <a:cs typeface="Malgun Gothic" pitchFamily="34" charset="-120"/>
              </a:rPr>
              <a:t> </a:t>
            </a:r>
            <a:r>
              <a:rPr lang="ko-KR" altLang="en-US" sz="1000" b="1" dirty="0">
                <a:solidFill>
                  <a:srgbClr val="FFFFFF"/>
                </a:solidFill>
                <a:latin typeface="Malgun Gothic" pitchFamily="34" charset="0"/>
                <a:ea typeface="Malgun Gothic" pitchFamily="34" charset="-122"/>
                <a:cs typeface="Malgun Gothic" pitchFamily="34" charset="-120"/>
              </a:rPr>
              <a:t>새로운 </a:t>
            </a:r>
            <a:r>
              <a:rPr lang="ko-KR" altLang="en-US" sz="1000" b="1">
                <a:solidFill>
                  <a:srgbClr val="FFFFFF"/>
                </a:solidFill>
                <a:latin typeface="Malgun Gothic" pitchFamily="34" charset="0"/>
                <a:ea typeface="Malgun Gothic" pitchFamily="34" charset="-122"/>
                <a:cs typeface="Malgun Gothic" pitchFamily="34" charset="-120"/>
              </a:rPr>
              <a:t>매출원이 될 수 있는 옵션 </a:t>
            </a:r>
            <a:r>
              <a:rPr lang="ko-KR" altLang="en-US" sz="1000" b="1" dirty="0">
                <a:solidFill>
                  <a:srgbClr val="FFFFFF"/>
                </a:solidFill>
                <a:latin typeface="Malgun Gothic" pitchFamily="34" charset="0"/>
                <a:ea typeface="Malgun Gothic" pitchFamily="34" charset="-122"/>
                <a:cs typeface="Malgun Gothic" pitchFamily="34" charset="-120"/>
              </a:rPr>
              <a:t>사업</a:t>
            </a:r>
            <a:r>
              <a:rPr lang="ko-KR" altLang="en-US" sz="1000" dirty="0">
                <a:solidFill>
                  <a:srgbClr val="E2E8F0"/>
                </a:solidFill>
                <a:latin typeface="Malgun Gothic" pitchFamily="34" charset="0"/>
                <a:ea typeface="Malgun Gothic" pitchFamily="34" charset="-122"/>
                <a:cs typeface="Malgun Gothic" pitchFamily="34" charset="-120"/>
              </a:rPr>
              <a:t>이다.</a:t>
            </a:r>
          </a:p>
          <a:p>
            <a:pPr algn="ctr">
              <a:spcBef>
                <a:spcPts val="200"/>
              </a:spcBef>
              <a:buNone/>
            </a:pPr>
            <a:r>
              <a:rPr lang="ko-KR" altLang="en-US" sz="950" dirty="0">
                <a:solidFill>
                  <a:srgbClr val="C7D2E0"/>
                </a:solidFill>
                <a:latin typeface="Malgun Gothic" pitchFamily="34" charset="0"/>
                <a:ea typeface="Malgun Gothic" pitchFamily="34" charset="-122"/>
                <a:cs typeface="Malgun Gothic" pitchFamily="34" charset="-120"/>
              </a:rPr>
              <a:t>가치의 핵심은 </a:t>
            </a:r>
            <a:r>
              <a:rPr lang="ko-KR" altLang="en-US" sz="950">
                <a:solidFill>
                  <a:srgbClr val="C7D2E0"/>
                </a:solidFill>
                <a:latin typeface="Malgun Gothic" pitchFamily="34" charset="0"/>
                <a:ea typeface="Malgun Gothic" pitchFamily="34" charset="-122"/>
                <a:cs typeface="Malgun Gothic" pitchFamily="34" charset="-120"/>
              </a:rPr>
              <a:t>단순한 시장 규모가 </a:t>
            </a:r>
            <a:r>
              <a:rPr lang="ko-KR" altLang="en-US" sz="950" dirty="0">
                <a:solidFill>
                  <a:srgbClr val="C7D2E0"/>
                </a:solidFill>
                <a:latin typeface="Malgun Gothic" pitchFamily="34" charset="0"/>
                <a:ea typeface="Malgun Gothic" pitchFamily="34" charset="-122"/>
                <a:cs typeface="Malgun Gothic" pitchFamily="34" charset="-120"/>
              </a:rPr>
              <a:t>아니라</a:t>
            </a:r>
            <a:r>
              <a:rPr lang="ko-KR" altLang="en-US" sz="950">
                <a:solidFill>
                  <a:srgbClr val="C7D2E0"/>
                </a:solidFill>
                <a:latin typeface="Malgun Gothic" pitchFamily="34" charset="0"/>
                <a:ea typeface="Malgun Gothic" pitchFamily="34" charset="-122"/>
                <a:cs typeface="Malgun Gothic" pitchFamily="34" charset="-120"/>
              </a:rPr>
              <a:t>, </a:t>
            </a:r>
            <a:r>
              <a:rPr lang="ko-KR" altLang="en-US" sz="950" b="1">
                <a:solidFill>
                  <a:srgbClr val="FDBA74"/>
                </a:solidFill>
                <a:latin typeface="Malgun Gothic" pitchFamily="34" charset="0"/>
                <a:ea typeface="Malgun Gothic" pitchFamily="34" charset="-122"/>
                <a:cs typeface="Malgun Gothic" pitchFamily="34" charset="-120"/>
              </a:rPr>
              <a:t>경구 세마글루타이드에서 확인된 데이터가 </a:t>
            </a:r>
            <a:r>
              <a:rPr lang="ko-KR" altLang="en-US" sz="950" b="1" err="1">
                <a:solidFill>
                  <a:srgbClr val="FDBA74"/>
                </a:solidFill>
                <a:latin typeface="Malgun Gothic" pitchFamily="34" charset="0"/>
                <a:ea typeface="Malgun Gothic" pitchFamily="34" charset="-122"/>
                <a:cs typeface="Malgun Gothic" pitchFamily="34" charset="-120"/>
              </a:rPr>
              <a:t>인슐린·터제파타이드 등 다른 약물로 </a:t>
            </a:r>
            <a:r>
              <a:rPr lang="ko-KR" altLang="en-US" sz="950" b="1">
                <a:solidFill>
                  <a:srgbClr val="FDBA74"/>
                </a:solidFill>
                <a:latin typeface="Malgun Gothic" pitchFamily="34" charset="0"/>
                <a:ea typeface="Malgun Gothic" pitchFamily="34" charset="-122"/>
                <a:cs typeface="Malgun Gothic" pitchFamily="34" charset="-120"/>
              </a:rPr>
              <a:t>확장될</a:t>
            </a:r>
            <a:r>
              <a:rPr lang="ko-KR" altLang="en-US" sz="950" b="1" dirty="0">
                <a:solidFill>
                  <a:srgbClr val="FDBA74"/>
                </a:solidFill>
                <a:latin typeface="Malgun Gothic" pitchFamily="34" charset="0"/>
                <a:ea typeface="Malgun Gothic" pitchFamily="34" charset="-122"/>
                <a:cs typeface="Malgun Gothic" pitchFamily="34" charset="-120"/>
              </a:rPr>
              <a:t> 수 </a:t>
            </a:r>
            <a:r>
              <a:rPr lang="ko-KR" altLang="en-US" sz="950" b="1">
                <a:solidFill>
                  <a:srgbClr val="FDBA74"/>
                </a:solidFill>
                <a:latin typeface="Malgun Gothic" pitchFamily="34" charset="0"/>
                <a:ea typeface="Malgun Gothic" pitchFamily="34" charset="-122"/>
                <a:cs typeface="Malgun Gothic" pitchFamily="34" charset="-120"/>
              </a:rPr>
              <a:t>있는지</a:t>
            </a:r>
            <a:r>
              <a:rPr lang="ko-KR" altLang="en-US" sz="950">
                <a:solidFill>
                  <a:srgbClr val="C7D2E0"/>
                </a:solidFill>
                <a:latin typeface="Malgun Gothic" pitchFamily="34" charset="0"/>
                <a:ea typeface="Malgun Gothic" pitchFamily="34" charset="-122"/>
                <a:cs typeface="Malgun Gothic" pitchFamily="34" charset="-120"/>
              </a:rPr>
              <a:t>에</a:t>
            </a:r>
            <a:r>
              <a:rPr lang="ko-KR" altLang="en-US" sz="950" dirty="0">
                <a:solidFill>
                  <a:srgbClr val="C7D2E0"/>
                </a:solidFill>
                <a:latin typeface="Malgun Gothic" pitchFamily="34" charset="0"/>
                <a:ea typeface="Malgun Gothic" pitchFamily="34" charset="-122"/>
                <a:cs typeface="Malgun Gothic" pitchFamily="34" charset="-120"/>
              </a:rPr>
              <a:t> 있다.</a:t>
            </a:r>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19</a:t>
            </a:r>
            <a:endParaRPr lang="en-US" sz="8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0D9488"/>
                </a:solidFill>
                <a:latin typeface="Malgun Gothic" pitchFamily="34" charset="0"/>
                <a:ea typeface="Malgun Gothic" pitchFamily="34" charset="-122"/>
                <a:cs typeface="Malgun Gothic" pitchFamily="34" charset="-120"/>
              </a:rPr>
              <a:t>02 · 시장 · 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ko-KR" altLang="en-US" sz="2500" b="1">
                <a:solidFill>
                  <a:srgbClr val="0E2036"/>
                </a:solidFill>
                <a:latin typeface="Malgun Gothic" pitchFamily="34" charset="0"/>
                <a:ea typeface="Malgun Gothic" pitchFamily="34" charset="-122"/>
                <a:cs typeface="Malgun Gothic" pitchFamily="34" charset="-120"/>
              </a:rPr>
              <a:t>S-PASS는 어떤 제품으로 시장을 공략하는가?</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58368" y="1330000"/>
            <a:ext cx="10875264" cy="300000"/>
          </a:xfrm>
          <a:prstGeom prst="rect">
            <a:avLst/>
          </a:prstGeom>
          <a:noFill/>
          <a:ln/>
        </p:spPr>
        <p:txBody>
          <a:bodyPr wrap="square" lIns="0" tIns="0" rIns="0" bIns="0" rtlCol="0" anchor="ctr"/>
          <a:lstStyle/>
          <a:p>
            <a:pPr marL="0" indent="0">
              <a:buNone/>
            </a:pPr>
            <a:r>
              <a:rPr lang="en-US" sz="1250">
                <a:solidFill>
                  <a:srgbClr val="33465B"/>
                </a:solidFill>
                <a:latin typeface="Malgun Gothic" pitchFamily="34" charset="0"/>
                <a:ea typeface="Malgun Gothic" pitchFamily="34" charset="-122"/>
                <a:cs typeface="Malgun Gothic" pitchFamily="34" charset="-120"/>
              </a:rPr>
              <a:t>경구 세마글루타이드를 시작으로 단계별 플랫폼 검증을 시도하는 전략</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ko-KR" alt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200" name="card">
            <a:extLst>
              <a:ext uri="{C183D7F6-B498-43B3-948B-1728B52AA6E4}">
                <adec:decorative xmlns:adec="http://schemas.microsoft.com/office/drawing/2017/decorative" val="1"/>
              </a:ext>
            </a:extLst>
          </p:cNvPr>
          <p:cNvSpPr/>
          <p:nvPr/>
        </p:nvSpPr>
        <p:spPr>
          <a:xfrm>
            <a:off x="658368" y="1560000"/>
            <a:ext cx="2607840" cy="29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1" name="cardhdr">
            <a:extLst>
              <a:ext uri="{C183D7F6-B498-43B3-948B-1728B52AA6E4}">
                <adec:decorative xmlns:adec="http://schemas.microsoft.com/office/drawing/2017/decorative" val="1"/>
              </a:ext>
            </a:extLst>
          </p:cNvPr>
          <p:cNvSpPr/>
          <p:nvPr/>
        </p:nvSpPr>
        <p:spPr>
          <a:xfrm>
            <a:off x="658368" y="1560000"/>
            <a:ext cx="2607840" cy="33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① 경구 세마글루타이드</a:t>
            </a:r>
          </a:p>
        </p:txBody>
      </p:sp>
      <p:sp>
        <p:nvSpPr>
          <p:cNvPr id="202" name="cardbody"/>
          <p:cNvSpPr/>
          <p:nvPr/>
        </p:nvSpPr>
        <p:spPr>
          <a:xfrm>
            <a:off x="808368" y="1960000"/>
            <a:ext cx="2307840" cy="2470000"/>
          </a:xfrm>
          <a:prstGeom prst="rect">
            <a:avLst/>
          </a:prstGeom>
          <a:noFill/>
          <a:ln/>
        </p:spPr>
        <p:txBody>
          <a:bodyPr wrap="square" lIns="0" tIns="0" rIns="0" bIns="0" rtlCol="0" anchor="t"/>
          <a:lstStyle/>
          <a:p>
            <a:pPr>
              <a:buNone/>
            </a:pPr>
            <a:r>
              <a:rPr lang="ko-KR" altLang="en-US" sz="680" b="1">
                <a:solidFill>
                  <a:srgbClr val="1D4ED8"/>
                </a:solidFill>
                <a:latin typeface="Malgun Gothic" pitchFamily="34" charset="0"/>
                <a:ea typeface="Malgun Gothic" pitchFamily="34" charset="-122"/>
                <a:cs typeface="Malgun Gothic" pitchFamily="34" charset="-120"/>
              </a:rPr>
              <a:t>SCD0509</a:t>
            </a:r>
          </a:p>
          <a:p>
            <a:pPr>
              <a:spcBef>
                <a:spcPts val="200"/>
              </a:spcBef>
              <a:buNone/>
            </a:pPr>
            <a:r>
              <a:rPr lang="ko-KR" altLang="en-US" sz="760" b="1">
                <a:solidFill>
                  <a:srgbClr val="1D4ED8"/>
                </a:solidFill>
                <a:latin typeface="Malgun Gothic" pitchFamily="34" charset="0"/>
                <a:ea typeface="Malgun Gothic" pitchFamily="34" charset="-122"/>
                <a:cs typeface="Malgun Gothic" pitchFamily="34" charset="-120"/>
              </a:rPr>
              <a:t>무엇인가?</a:t>
            </a:r>
          </a:p>
          <a:p>
            <a:pPr>
              <a:buNone/>
            </a:pPr>
            <a:r>
              <a:rPr lang="ko-KR" altLang="en-US" sz="720">
                <a:solidFill>
                  <a:srgbClr val="33465B"/>
                </a:solidFill>
                <a:latin typeface="Malgun Gothic" pitchFamily="34" charset="0"/>
                <a:ea typeface="Malgun Gothic" pitchFamily="34" charset="-122"/>
                <a:cs typeface="Malgun Gothic" pitchFamily="34" charset="-120"/>
              </a:rPr>
              <a:t>오젬픽·위고비·리벨서스의</a:t>
            </a:r>
          </a:p>
          <a:p>
            <a:pPr>
              <a:spcBef>
                <a:spcPts val="35"/>
              </a:spcBef>
              <a:buNone/>
            </a:pPr>
            <a:r>
              <a:rPr lang="ko-KR" altLang="en-US" sz="720">
                <a:solidFill>
                  <a:srgbClr val="33465B"/>
                </a:solidFill>
                <a:latin typeface="Malgun Gothic" pitchFamily="34" charset="0"/>
                <a:ea typeface="Malgun Gothic" pitchFamily="34" charset="-122"/>
                <a:cs typeface="Malgun Gothic" pitchFamily="34" charset="-120"/>
              </a:rPr>
              <a:t>핵심 성분을 먹는 약으로 전환</a:t>
            </a:r>
          </a:p>
          <a:p>
            <a:pPr>
              <a:spcBef>
                <a:spcPts val="200"/>
              </a:spcBef>
              <a:buNone/>
            </a:pPr>
            <a:r>
              <a:rPr lang="ko-KR" altLang="en-US" sz="760" b="1">
                <a:solidFill>
                  <a:srgbClr val="1D4ED8"/>
                </a:solidFill>
                <a:latin typeface="Malgun Gothic" pitchFamily="34" charset="0"/>
                <a:ea typeface="Malgun Gothic" pitchFamily="34" charset="-122"/>
                <a:cs typeface="Malgun Gothic" pitchFamily="34" charset="-120"/>
              </a:rPr>
              <a:t>왜 중요한가?</a:t>
            </a:r>
          </a:p>
          <a:p>
            <a:pPr marL="130000" indent="-130000">
              <a:spcBef>
                <a:spcPts val="60"/>
              </a:spcBef>
              <a:buClr>
                <a:srgbClr val="1D4ED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현재 가장 큰 GLP-1 시장</a:t>
            </a:r>
          </a:p>
          <a:p>
            <a:pPr marL="130000" indent="-130000">
              <a:spcBef>
                <a:spcPts val="40"/>
              </a:spcBef>
              <a:buClr>
                <a:srgbClr val="1D4ED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플랫폼 검증 1호 제품</a:t>
            </a:r>
          </a:p>
          <a:p>
            <a:pPr marL="130000" indent="-130000">
              <a:spcBef>
                <a:spcPts val="40"/>
              </a:spcBef>
              <a:buClr>
                <a:srgbClr val="1D4ED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상업화 가장 근접 단계</a:t>
            </a:r>
          </a:p>
          <a:p>
            <a:pPr>
              <a:spcBef>
                <a:spcPts val="200"/>
              </a:spcBef>
              <a:buNone/>
            </a:pPr>
            <a:r>
              <a:rPr lang="ko-KR" altLang="en-US" sz="760" b="1">
                <a:solidFill>
                  <a:srgbClr val="1D4ED8"/>
                </a:solidFill>
                <a:latin typeface="Malgun Gothic" pitchFamily="34" charset="0"/>
                <a:ea typeface="Malgun Gothic" pitchFamily="34" charset="-122"/>
                <a:cs typeface="Malgun Gothic" pitchFamily="34" charset="-120"/>
              </a:rPr>
              <a:t>현재 현황</a:t>
            </a:r>
          </a:p>
          <a:p>
            <a:pPr marL="130000" indent="-130000">
              <a:spcBef>
                <a:spcPts val="60"/>
              </a:spcBef>
              <a:buClr>
                <a:srgbClr val="1D4ED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14mg BE 완료</a:t>
            </a:r>
          </a:p>
          <a:p>
            <a:pPr marL="130000" indent="-130000">
              <a:spcBef>
                <a:spcPts val="40"/>
              </a:spcBef>
              <a:buClr>
                <a:srgbClr val="1D4ED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FDA Pre-ANDA 진행</a:t>
            </a:r>
          </a:p>
          <a:p>
            <a:pPr marL="130000" indent="-130000">
              <a:spcBef>
                <a:spcPts val="40"/>
              </a:spcBef>
              <a:buClr>
                <a:srgbClr val="1D4ED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미국·유럽 상업화 추진</a:t>
            </a:r>
          </a:p>
          <a:p>
            <a:pPr>
              <a:spcBef>
                <a:spcPts val="200"/>
              </a:spcBef>
              <a:buNone/>
            </a:pPr>
            <a:r>
              <a:rPr lang="ko-KR" altLang="en-US" sz="760" b="1">
                <a:solidFill>
                  <a:srgbClr val="1D4ED8"/>
                </a:solidFill>
                <a:latin typeface="Malgun Gothic" pitchFamily="34" charset="0"/>
                <a:ea typeface="Malgun Gothic" pitchFamily="34" charset="-122"/>
                <a:cs typeface="Malgun Gothic" pitchFamily="34" charset="-120"/>
              </a:rPr>
              <a:t>투자 의미</a:t>
            </a:r>
          </a:p>
          <a:p>
            <a:pPr>
              <a:buNone/>
            </a:pPr>
            <a:r>
              <a:rPr lang="ko-KR" altLang="en-US" sz="720">
                <a:solidFill>
                  <a:srgbClr val="33465B"/>
                </a:solidFill>
                <a:latin typeface="Malgun Gothic" pitchFamily="34" charset="0"/>
                <a:ea typeface="Malgun Gothic" pitchFamily="34" charset="-122"/>
                <a:cs typeface="Malgun Gothic" pitchFamily="34" charset="-120"/>
              </a:rPr>
              <a:t>S-PASS 플랫폼 가치가 처음으로 검증되는</a:t>
            </a:r>
          </a:p>
          <a:p>
            <a:pPr>
              <a:spcBef>
                <a:spcPts val="35"/>
              </a:spcBef>
              <a:buNone/>
            </a:pPr>
            <a:r>
              <a:rPr lang="ko-KR" altLang="en-US" sz="720">
                <a:solidFill>
                  <a:srgbClr val="33465B"/>
                </a:solidFill>
                <a:latin typeface="Malgun Gothic" pitchFamily="34" charset="0"/>
                <a:ea typeface="Malgun Gothic" pitchFamily="34" charset="-122"/>
                <a:cs typeface="Malgun Gothic" pitchFamily="34" charset="-120"/>
              </a:rPr>
              <a:t>핵심 자산</a:t>
            </a:r>
          </a:p>
        </p:txBody>
      </p:sp>
      <p:sp>
        <p:nvSpPr>
          <p:cNvPr id="203" name="card">
            <a:extLst>
              <a:ext uri="{C183D7F6-B498-43B3-948B-1728B52AA6E4}">
                <adec:decorative xmlns:adec="http://schemas.microsoft.com/office/drawing/2017/decorative" val="1"/>
              </a:ext>
            </a:extLst>
          </p:cNvPr>
          <p:cNvSpPr/>
          <p:nvPr/>
        </p:nvSpPr>
        <p:spPr>
          <a:xfrm>
            <a:off x="3416208" y="1560000"/>
            <a:ext cx="2607840" cy="29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4" name="cardhdr">
            <a:extLst>
              <a:ext uri="{C183D7F6-B498-43B3-948B-1728B52AA6E4}">
                <adec:decorative xmlns:adec="http://schemas.microsoft.com/office/drawing/2017/decorative" val="1"/>
              </a:ext>
            </a:extLst>
          </p:cNvPr>
          <p:cNvSpPr/>
          <p:nvPr/>
        </p:nvSpPr>
        <p:spPr>
          <a:xfrm>
            <a:off x="3416208" y="1560000"/>
            <a:ext cx="2607840" cy="330000"/>
          </a:xfrm>
          <a:prstGeom prst="round2SameRect">
            <a:avLst>
              <a:gd name="adj1" fmla="val 4200"/>
              <a:gd name="adj2" fmla="val 0"/>
            </a:avLst>
          </a:prstGeom>
          <a:solidFill>
            <a:srgbClr val="0D948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② 경구 인슐린</a:t>
            </a:r>
          </a:p>
        </p:txBody>
      </p:sp>
      <p:sp>
        <p:nvSpPr>
          <p:cNvPr id="205" name="cardbody"/>
          <p:cNvSpPr/>
          <p:nvPr/>
        </p:nvSpPr>
        <p:spPr>
          <a:xfrm>
            <a:off x="3566208" y="1960000"/>
            <a:ext cx="2307840" cy="2470000"/>
          </a:xfrm>
          <a:prstGeom prst="rect">
            <a:avLst/>
          </a:prstGeom>
          <a:noFill/>
          <a:ln/>
        </p:spPr>
        <p:txBody>
          <a:bodyPr wrap="square" lIns="0" tIns="0" rIns="0" bIns="0" rtlCol="0" anchor="t"/>
          <a:lstStyle/>
          <a:p>
            <a:pPr>
              <a:buNone/>
            </a:pPr>
            <a:r>
              <a:rPr lang="ko-KR" altLang="en-US" sz="680" b="1">
                <a:solidFill>
                  <a:srgbClr val="0D9488"/>
                </a:solidFill>
                <a:latin typeface="Malgun Gothic" pitchFamily="34" charset="0"/>
                <a:ea typeface="Malgun Gothic" pitchFamily="34" charset="-122"/>
                <a:cs typeface="Malgun Gothic" pitchFamily="34" charset="-120"/>
              </a:rPr>
              <a:t>SCD0503</a:t>
            </a:r>
          </a:p>
          <a:p>
            <a:pPr>
              <a:spcBef>
                <a:spcPts val="200"/>
              </a:spcBef>
              <a:buNone/>
            </a:pPr>
            <a:r>
              <a:rPr lang="ko-KR" altLang="en-US" sz="760" b="1">
                <a:solidFill>
                  <a:srgbClr val="0D9488"/>
                </a:solidFill>
                <a:latin typeface="Malgun Gothic" pitchFamily="34" charset="0"/>
                <a:ea typeface="Malgun Gothic" pitchFamily="34" charset="-122"/>
                <a:cs typeface="Malgun Gothic" pitchFamily="34" charset="-120"/>
              </a:rPr>
              <a:t>무엇인가?</a:t>
            </a:r>
          </a:p>
          <a:p>
            <a:pPr>
              <a:buNone/>
            </a:pPr>
            <a:r>
              <a:rPr lang="ko-KR" altLang="en-US" sz="720">
                <a:solidFill>
                  <a:srgbClr val="33465B"/>
                </a:solidFill>
                <a:latin typeface="Malgun Gothic" pitchFamily="34" charset="0"/>
                <a:ea typeface="Malgun Gothic" pitchFamily="34" charset="-122"/>
                <a:cs typeface="Malgun Gothic" pitchFamily="34" charset="-120"/>
              </a:rPr>
              <a:t>당뇨 환자용 인슐린 주사제를</a:t>
            </a:r>
          </a:p>
          <a:p>
            <a:pPr>
              <a:spcBef>
                <a:spcPts val="35"/>
              </a:spcBef>
              <a:buNone/>
            </a:pPr>
            <a:r>
              <a:rPr lang="ko-KR" altLang="en-US" sz="720">
                <a:solidFill>
                  <a:srgbClr val="33465B"/>
                </a:solidFill>
                <a:latin typeface="Malgun Gothic" pitchFamily="34" charset="0"/>
                <a:ea typeface="Malgun Gothic" pitchFamily="34" charset="-122"/>
                <a:cs typeface="Malgun Gothic" pitchFamily="34" charset="-120"/>
              </a:rPr>
              <a:t>먹는 약으로 전환</a:t>
            </a:r>
          </a:p>
          <a:p>
            <a:pPr>
              <a:spcBef>
                <a:spcPts val="200"/>
              </a:spcBef>
              <a:buNone/>
            </a:pPr>
            <a:r>
              <a:rPr lang="ko-KR" altLang="en-US" sz="760" b="1">
                <a:solidFill>
                  <a:srgbClr val="0D9488"/>
                </a:solidFill>
                <a:latin typeface="Malgun Gothic" pitchFamily="34" charset="0"/>
                <a:ea typeface="Malgun Gothic" pitchFamily="34" charset="-122"/>
                <a:cs typeface="Malgun Gothic" pitchFamily="34" charset="-120"/>
              </a:rPr>
              <a:t>왜 중요한가?</a:t>
            </a:r>
          </a:p>
          <a:p>
            <a:pPr marL="130000" indent="-130000">
              <a:spcBef>
                <a:spcPts val="60"/>
              </a:spcBef>
              <a:buClr>
                <a:srgbClr val="0D948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글로벌 인슐린 약 20~30조원</a:t>
            </a:r>
          </a:p>
          <a:p>
            <a:pPr marL="130000" indent="-130000">
              <a:spcBef>
                <a:spcPts val="40"/>
              </a:spcBef>
              <a:buClr>
                <a:srgbClr val="0D948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반복 주사 부담 감소</a:t>
            </a:r>
          </a:p>
          <a:p>
            <a:pPr marL="130000" indent="-130000">
              <a:spcBef>
                <a:spcPts val="40"/>
              </a:spcBef>
              <a:buClr>
                <a:srgbClr val="0D948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환자 편의성 개선 기대</a:t>
            </a:r>
          </a:p>
          <a:p>
            <a:pPr>
              <a:spcBef>
                <a:spcPts val="200"/>
              </a:spcBef>
              <a:buNone/>
            </a:pPr>
            <a:r>
              <a:rPr lang="ko-KR" altLang="en-US" sz="760" b="1">
                <a:solidFill>
                  <a:srgbClr val="0D9488"/>
                </a:solidFill>
                <a:latin typeface="Malgun Gothic" pitchFamily="34" charset="0"/>
                <a:ea typeface="Malgun Gothic" pitchFamily="34" charset="-122"/>
                <a:cs typeface="Malgun Gothic" pitchFamily="34" charset="-120"/>
              </a:rPr>
              <a:t>현재 현황</a:t>
            </a:r>
          </a:p>
          <a:p>
            <a:pPr marL="130000" indent="-130000">
              <a:spcBef>
                <a:spcPts val="60"/>
              </a:spcBef>
              <a:buClr>
                <a:srgbClr val="0D948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임상 1상 진행</a:t>
            </a:r>
          </a:p>
          <a:p>
            <a:pPr marL="130000" indent="-130000">
              <a:spcBef>
                <a:spcPts val="40"/>
              </a:spcBef>
              <a:buClr>
                <a:srgbClr val="0D9488"/>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임상 2상 목표</a:t>
            </a:r>
          </a:p>
          <a:p>
            <a:pPr>
              <a:spcBef>
                <a:spcPts val="200"/>
              </a:spcBef>
              <a:buNone/>
            </a:pPr>
            <a:r>
              <a:rPr lang="ko-KR" altLang="en-US" sz="760" b="1">
                <a:solidFill>
                  <a:srgbClr val="0D9488"/>
                </a:solidFill>
                <a:latin typeface="Malgun Gothic" pitchFamily="34" charset="0"/>
                <a:ea typeface="Malgun Gothic" pitchFamily="34" charset="-122"/>
                <a:cs typeface="Malgun Gothic" pitchFamily="34" charset="-120"/>
              </a:rPr>
              <a:t>투자 의미</a:t>
            </a:r>
          </a:p>
          <a:p>
            <a:pPr>
              <a:buNone/>
            </a:pPr>
            <a:r>
              <a:rPr lang="ko-KR" altLang="en-US" sz="720">
                <a:solidFill>
                  <a:srgbClr val="33465B"/>
                </a:solidFill>
                <a:latin typeface="Malgun Gothic" pitchFamily="34" charset="0"/>
                <a:ea typeface="Malgun Gothic" pitchFamily="34" charset="-122"/>
                <a:cs typeface="Malgun Gothic" pitchFamily="34" charset="-120"/>
              </a:rPr>
              <a:t>세마글루타이드 이후</a:t>
            </a:r>
          </a:p>
          <a:p>
            <a:pPr>
              <a:spcBef>
                <a:spcPts val="35"/>
              </a:spcBef>
              <a:buNone/>
            </a:pPr>
            <a:r>
              <a:rPr lang="ko-KR" altLang="en-US" sz="720">
                <a:solidFill>
                  <a:srgbClr val="33465B"/>
                </a:solidFill>
                <a:latin typeface="Malgun Gothic" pitchFamily="34" charset="0"/>
                <a:ea typeface="Malgun Gothic" pitchFamily="34" charset="-122"/>
                <a:cs typeface="Malgun Gothic" pitchFamily="34" charset="-120"/>
              </a:rPr>
              <a:t>S-PASS 적용 범위가 실제로 확장 가능한지 확인하는 자산</a:t>
            </a:r>
          </a:p>
        </p:txBody>
      </p:sp>
      <p:sp>
        <p:nvSpPr>
          <p:cNvPr id="206" name="card">
            <a:extLst>
              <a:ext uri="{C183D7F6-B498-43B3-948B-1728B52AA6E4}">
                <adec:decorative xmlns:adec="http://schemas.microsoft.com/office/drawing/2017/decorative" val="1"/>
              </a:ext>
            </a:extLst>
          </p:cNvPr>
          <p:cNvSpPr/>
          <p:nvPr/>
        </p:nvSpPr>
        <p:spPr>
          <a:xfrm>
            <a:off x="6174048" y="1560000"/>
            <a:ext cx="2607840" cy="29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7" name="cardhdr">
            <a:extLst>
              <a:ext uri="{C183D7F6-B498-43B3-948B-1728B52AA6E4}">
                <adec:decorative xmlns:adec="http://schemas.microsoft.com/office/drawing/2017/decorative" val="1"/>
              </a:ext>
            </a:extLst>
          </p:cNvPr>
          <p:cNvSpPr/>
          <p:nvPr/>
        </p:nvSpPr>
        <p:spPr>
          <a:xfrm>
            <a:off x="6174048" y="1560000"/>
            <a:ext cx="2607840" cy="330000"/>
          </a:xfrm>
          <a:prstGeom prst="round2SameRect">
            <a:avLst>
              <a:gd name="adj1" fmla="val 4200"/>
              <a:gd name="adj2" fmla="val 0"/>
            </a:avLst>
          </a:prstGeom>
          <a:solidFill>
            <a:srgbClr val="E8590C"/>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③ 경구 터제파타이드</a:t>
            </a:r>
          </a:p>
        </p:txBody>
      </p:sp>
      <p:sp>
        <p:nvSpPr>
          <p:cNvPr id="208" name="cardbody"/>
          <p:cNvSpPr/>
          <p:nvPr/>
        </p:nvSpPr>
        <p:spPr>
          <a:xfrm>
            <a:off x="6324048" y="1960000"/>
            <a:ext cx="2307840" cy="2470000"/>
          </a:xfrm>
          <a:prstGeom prst="rect">
            <a:avLst/>
          </a:prstGeom>
          <a:noFill/>
          <a:ln/>
        </p:spPr>
        <p:txBody>
          <a:bodyPr wrap="square" lIns="0" tIns="0" rIns="0" bIns="0" rtlCol="0" anchor="t"/>
          <a:lstStyle/>
          <a:p>
            <a:pPr>
              <a:buNone/>
            </a:pPr>
            <a:r>
              <a:rPr lang="ko-KR" altLang="en-US" sz="680" b="1">
                <a:solidFill>
                  <a:srgbClr val="E8590C"/>
                </a:solidFill>
                <a:latin typeface="Malgun Gothic" pitchFamily="34" charset="0"/>
                <a:ea typeface="Malgun Gothic" pitchFamily="34" charset="-122"/>
                <a:cs typeface="Malgun Gothic" pitchFamily="34" charset="-120"/>
              </a:rPr>
              <a:t>Tirzepatide</a:t>
            </a:r>
          </a:p>
          <a:p>
            <a:pPr>
              <a:spcBef>
                <a:spcPts val="200"/>
              </a:spcBef>
              <a:buNone/>
            </a:pPr>
            <a:r>
              <a:rPr lang="ko-KR" altLang="en-US" sz="760" b="1">
                <a:solidFill>
                  <a:srgbClr val="E8590C"/>
                </a:solidFill>
                <a:latin typeface="Malgun Gothic" pitchFamily="34" charset="0"/>
                <a:ea typeface="Malgun Gothic" pitchFamily="34" charset="-122"/>
                <a:cs typeface="Malgun Gothic" pitchFamily="34" charset="-120"/>
              </a:rPr>
              <a:t>무엇인가?</a:t>
            </a:r>
          </a:p>
          <a:p>
            <a:pPr>
              <a:buNone/>
            </a:pPr>
            <a:r>
              <a:rPr lang="ko-KR" altLang="en-US" sz="720">
                <a:solidFill>
                  <a:srgbClr val="33465B"/>
                </a:solidFill>
                <a:latin typeface="Malgun Gothic" pitchFamily="34" charset="0"/>
                <a:ea typeface="Malgun Gothic" pitchFamily="34" charset="-122"/>
                <a:cs typeface="Malgun Gothic" pitchFamily="34" charset="-120"/>
              </a:rPr>
              <a:t>젭바운드·마운자로 성분을</a:t>
            </a:r>
          </a:p>
          <a:p>
            <a:pPr>
              <a:spcBef>
                <a:spcPts val="35"/>
              </a:spcBef>
              <a:buNone/>
            </a:pPr>
            <a:r>
              <a:rPr lang="ko-KR" altLang="en-US" sz="720">
                <a:solidFill>
                  <a:srgbClr val="33465B"/>
                </a:solidFill>
                <a:latin typeface="Malgun Gothic" pitchFamily="34" charset="0"/>
                <a:ea typeface="Malgun Gothic" pitchFamily="34" charset="-122"/>
                <a:cs typeface="Malgun Gothic" pitchFamily="34" charset="-120"/>
              </a:rPr>
              <a:t>먹는 약으로 전환</a:t>
            </a:r>
          </a:p>
          <a:p>
            <a:pPr>
              <a:spcBef>
                <a:spcPts val="200"/>
              </a:spcBef>
              <a:buNone/>
            </a:pPr>
            <a:r>
              <a:rPr lang="ko-KR" altLang="en-US" sz="760" b="1">
                <a:solidFill>
                  <a:srgbClr val="E8590C"/>
                </a:solidFill>
                <a:latin typeface="Malgun Gothic" pitchFamily="34" charset="0"/>
                <a:ea typeface="Malgun Gothic" pitchFamily="34" charset="-122"/>
                <a:cs typeface="Malgun Gothic" pitchFamily="34" charset="-120"/>
              </a:rPr>
              <a:t>왜 중요한가?</a:t>
            </a:r>
          </a:p>
          <a:p>
            <a:pPr marL="130000" indent="-130000">
              <a:spcBef>
                <a:spcPts val="60"/>
              </a:spcBef>
              <a:buClr>
                <a:srgbClr val="E8590C"/>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차세대 비만 치료 시장</a:t>
            </a:r>
          </a:p>
          <a:p>
            <a:pPr marL="130000" indent="-130000">
              <a:spcBef>
                <a:spcPts val="40"/>
              </a:spcBef>
              <a:buClr>
                <a:srgbClr val="E8590C"/>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GLP-1 시장 확대 수혜</a:t>
            </a:r>
          </a:p>
          <a:p>
            <a:pPr marL="130000" indent="-130000">
              <a:spcBef>
                <a:spcPts val="40"/>
              </a:spcBef>
              <a:buClr>
                <a:srgbClr val="E8590C"/>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세마 이후 주력 후보</a:t>
            </a:r>
          </a:p>
          <a:p>
            <a:pPr>
              <a:spcBef>
                <a:spcPts val="200"/>
              </a:spcBef>
              <a:buNone/>
            </a:pPr>
            <a:r>
              <a:rPr lang="ko-KR" altLang="en-US" sz="760" b="1">
                <a:solidFill>
                  <a:srgbClr val="E8590C"/>
                </a:solidFill>
                <a:latin typeface="Malgun Gothic" pitchFamily="34" charset="0"/>
                <a:ea typeface="Malgun Gothic" pitchFamily="34" charset="-122"/>
                <a:cs typeface="Malgun Gothic" pitchFamily="34" charset="-120"/>
              </a:rPr>
              <a:t>현재 현황</a:t>
            </a:r>
          </a:p>
          <a:p>
            <a:pPr marL="130000" indent="-130000">
              <a:spcBef>
                <a:spcPts val="60"/>
              </a:spcBef>
              <a:buClr>
                <a:srgbClr val="E8590C"/>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파일럿 진행</a:t>
            </a:r>
          </a:p>
          <a:p>
            <a:pPr marL="130000" indent="-130000">
              <a:spcBef>
                <a:spcPts val="40"/>
              </a:spcBef>
              <a:buClr>
                <a:srgbClr val="E8590C"/>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2027년 IND 목표</a:t>
            </a:r>
          </a:p>
          <a:p>
            <a:pPr>
              <a:spcBef>
                <a:spcPts val="200"/>
              </a:spcBef>
              <a:buNone/>
            </a:pPr>
            <a:r>
              <a:rPr lang="ko-KR" altLang="en-US" sz="760" b="1">
                <a:solidFill>
                  <a:srgbClr val="E8590C"/>
                </a:solidFill>
                <a:latin typeface="Malgun Gothic" pitchFamily="34" charset="0"/>
                <a:ea typeface="Malgun Gothic" pitchFamily="34" charset="-122"/>
                <a:cs typeface="Malgun Gothic" pitchFamily="34" charset="-120"/>
              </a:rPr>
              <a:t>투자 의미</a:t>
            </a:r>
          </a:p>
          <a:p>
            <a:pPr>
              <a:buNone/>
            </a:pPr>
            <a:r>
              <a:rPr lang="ko-KR" altLang="en-US" sz="720">
                <a:solidFill>
                  <a:srgbClr val="33465B"/>
                </a:solidFill>
                <a:latin typeface="Malgun Gothic" pitchFamily="34" charset="0"/>
                <a:ea typeface="Malgun Gothic" pitchFamily="34" charset="-122"/>
                <a:cs typeface="Malgun Gothic" pitchFamily="34" charset="-120"/>
              </a:rPr>
              <a:t>차세대 GLP-1 시장 진입을 시도하는 후속 옵션</a:t>
            </a:r>
          </a:p>
        </p:txBody>
      </p:sp>
      <p:sp>
        <p:nvSpPr>
          <p:cNvPr id="209" name="card">
            <a:extLst>
              <a:ext uri="{C183D7F6-B498-43B3-948B-1728B52AA6E4}">
                <adec:decorative xmlns:adec="http://schemas.microsoft.com/office/drawing/2017/decorative" val="1"/>
              </a:ext>
            </a:extLst>
          </p:cNvPr>
          <p:cNvSpPr/>
          <p:nvPr/>
        </p:nvSpPr>
        <p:spPr>
          <a:xfrm>
            <a:off x="8931888" y="1560000"/>
            <a:ext cx="2607840" cy="294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0" name="cardhdr">
            <a:extLst>
              <a:ext uri="{C183D7F6-B498-43B3-948B-1728B52AA6E4}">
                <adec:decorative xmlns:adec="http://schemas.microsoft.com/office/drawing/2017/decorative" val="1"/>
              </a:ext>
            </a:extLst>
          </p:cNvPr>
          <p:cNvSpPr/>
          <p:nvPr/>
        </p:nvSpPr>
        <p:spPr>
          <a:xfrm>
            <a:off x="8931888" y="1560000"/>
            <a:ext cx="2607840" cy="330000"/>
          </a:xfrm>
          <a:prstGeom prst="round2SameRect">
            <a:avLst>
              <a:gd name="adj1" fmla="val 4200"/>
              <a:gd name="adj2" fmla="val 0"/>
            </a:avLst>
          </a:prstGeom>
          <a:solidFill>
            <a:srgbClr val="059669"/>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④ 경구 항체의약품</a:t>
            </a:r>
          </a:p>
        </p:txBody>
      </p:sp>
      <p:sp>
        <p:nvSpPr>
          <p:cNvPr id="211" name="cardbody"/>
          <p:cNvSpPr/>
          <p:nvPr/>
        </p:nvSpPr>
        <p:spPr>
          <a:xfrm>
            <a:off x="9081888" y="1960000"/>
            <a:ext cx="2307840" cy="2470000"/>
          </a:xfrm>
          <a:prstGeom prst="rect">
            <a:avLst/>
          </a:prstGeom>
          <a:noFill/>
          <a:ln/>
        </p:spPr>
        <p:txBody>
          <a:bodyPr wrap="square" lIns="0" tIns="0" rIns="0" bIns="0" rtlCol="0" anchor="t"/>
          <a:lstStyle/>
          <a:p>
            <a:pPr>
              <a:buNone/>
            </a:pPr>
            <a:r>
              <a:rPr lang="ko-KR" altLang="en-US" sz="680" b="1">
                <a:solidFill>
                  <a:srgbClr val="059669"/>
                </a:solidFill>
                <a:latin typeface="Malgun Gothic" pitchFamily="34" charset="0"/>
                <a:ea typeface="Malgun Gothic" pitchFamily="34" charset="-122"/>
                <a:cs typeface="Malgun Gothic" pitchFamily="34" charset="-120"/>
              </a:rPr>
              <a:t>Antibody</a:t>
            </a:r>
          </a:p>
          <a:p>
            <a:pPr>
              <a:spcBef>
                <a:spcPts val="200"/>
              </a:spcBef>
              <a:buNone/>
            </a:pPr>
            <a:r>
              <a:rPr lang="ko-KR" altLang="en-US" sz="760" b="1">
                <a:solidFill>
                  <a:srgbClr val="059669"/>
                </a:solidFill>
                <a:latin typeface="Malgun Gothic" pitchFamily="34" charset="0"/>
                <a:ea typeface="Malgun Gothic" pitchFamily="34" charset="-122"/>
                <a:cs typeface="Malgun Gothic" pitchFamily="34" charset="-120"/>
              </a:rPr>
              <a:t>무엇인가?</a:t>
            </a:r>
          </a:p>
          <a:p>
            <a:pPr>
              <a:buNone/>
            </a:pPr>
            <a:r>
              <a:rPr lang="ko-KR" altLang="en-US" sz="720">
                <a:solidFill>
                  <a:srgbClr val="33465B"/>
                </a:solidFill>
                <a:latin typeface="Malgun Gothic" pitchFamily="34" charset="0"/>
                <a:ea typeface="Malgun Gothic" pitchFamily="34" charset="-122"/>
                <a:cs typeface="Malgun Gothic" pitchFamily="34" charset="-120"/>
              </a:rPr>
              <a:t>Keytruda·Opdivo 등</a:t>
            </a:r>
          </a:p>
          <a:p>
            <a:pPr>
              <a:spcBef>
                <a:spcPts val="35"/>
              </a:spcBef>
              <a:buNone/>
            </a:pPr>
            <a:r>
              <a:rPr lang="ko-KR" altLang="en-US" sz="720">
                <a:solidFill>
                  <a:srgbClr val="33465B"/>
                </a:solidFill>
                <a:latin typeface="Malgun Gothic" pitchFamily="34" charset="0"/>
                <a:ea typeface="Malgun Gothic" pitchFamily="34" charset="-122"/>
                <a:cs typeface="Malgun Gothic" pitchFamily="34" charset="-120"/>
              </a:rPr>
              <a:t>항체치료제를 먹는 약으로 전환</a:t>
            </a:r>
          </a:p>
          <a:p>
            <a:pPr>
              <a:spcBef>
                <a:spcPts val="200"/>
              </a:spcBef>
              <a:buNone/>
            </a:pPr>
            <a:r>
              <a:rPr lang="ko-KR" altLang="en-US" sz="760" b="1">
                <a:solidFill>
                  <a:srgbClr val="059669"/>
                </a:solidFill>
                <a:latin typeface="Malgun Gothic" pitchFamily="34" charset="0"/>
                <a:ea typeface="Malgun Gothic" pitchFamily="34" charset="-122"/>
                <a:cs typeface="Malgun Gothic" pitchFamily="34" charset="-120"/>
              </a:rPr>
              <a:t>왜 중요한가?</a:t>
            </a:r>
          </a:p>
          <a:p>
            <a:pPr marL="130000" indent="-130000">
              <a:spcBef>
                <a:spcPts val="60"/>
              </a:spcBef>
              <a:buClr>
                <a:srgbClr val="059669"/>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가장 큰 바이오 시장 중 하나</a:t>
            </a:r>
          </a:p>
          <a:p>
            <a:pPr marL="130000" indent="-130000">
              <a:spcBef>
                <a:spcPts val="40"/>
              </a:spcBef>
              <a:buClr>
                <a:srgbClr val="059669"/>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성공 시 기술 파급력이 큰 영역</a:t>
            </a:r>
          </a:p>
          <a:p>
            <a:pPr>
              <a:spcBef>
                <a:spcPts val="200"/>
              </a:spcBef>
              <a:buNone/>
            </a:pPr>
            <a:r>
              <a:rPr lang="ko-KR" altLang="en-US" sz="760" b="1">
                <a:solidFill>
                  <a:srgbClr val="059669"/>
                </a:solidFill>
                <a:latin typeface="Malgun Gothic" pitchFamily="34" charset="0"/>
                <a:ea typeface="Malgun Gothic" pitchFamily="34" charset="-122"/>
                <a:cs typeface="Malgun Gothic" pitchFamily="34" charset="-120"/>
              </a:rPr>
              <a:t>현재 현황</a:t>
            </a:r>
          </a:p>
          <a:p>
            <a:pPr marL="130000" indent="-130000">
              <a:spcBef>
                <a:spcPts val="60"/>
              </a:spcBef>
              <a:buClr>
                <a:srgbClr val="059669"/>
              </a:buClr>
              <a:buFont typeface="Arial"/>
              <a:buChar char="•"/>
            </a:pPr>
            <a:r>
              <a:rPr lang="ko-KR" altLang="en-US" sz="720">
                <a:solidFill>
                  <a:srgbClr val="33465B"/>
                </a:solidFill>
                <a:latin typeface="Malgun Gothic" pitchFamily="34" charset="0"/>
                <a:ea typeface="Malgun Gothic" pitchFamily="34" charset="-122"/>
                <a:cs typeface="Malgun Gothic" pitchFamily="34" charset="-120"/>
              </a:rPr>
              <a:t>초기 연구 단계</a:t>
            </a:r>
          </a:p>
          <a:p>
            <a:pPr>
              <a:spcBef>
                <a:spcPts val="200"/>
              </a:spcBef>
              <a:buNone/>
            </a:pPr>
            <a:r>
              <a:rPr lang="ko-KR" altLang="en-US" sz="760" b="1">
                <a:solidFill>
                  <a:srgbClr val="059669"/>
                </a:solidFill>
                <a:latin typeface="Malgun Gothic" pitchFamily="34" charset="0"/>
                <a:ea typeface="Malgun Gothic" pitchFamily="34" charset="-122"/>
                <a:cs typeface="Malgun Gothic" pitchFamily="34" charset="-120"/>
              </a:rPr>
              <a:t>투자 의미</a:t>
            </a:r>
          </a:p>
          <a:p>
            <a:pPr>
              <a:buNone/>
            </a:pPr>
            <a:r>
              <a:rPr lang="ko-KR" altLang="en-US" sz="720">
                <a:solidFill>
                  <a:srgbClr val="33465B"/>
                </a:solidFill>
                <a:latin typeface="Malgun Gothic" pitchFamily="34" charset="0"/>
                <a:ea typeface="Malgun Gothic" pitchFamily="34" charset="-122"/>
                <a:cs typeface="Malgun Gothic" pitchFamily="34" charset="-120"/>
              </a:rPr>
              <a:t>장기 플랫폼 옵션가치이나, 현재는 초기 연구 단계로 평가</a:t>
            </a:r>
          </a:p>
        </p:txBody>
      </p:sp>
      <p:sp>
        <p:nvSpPr>
          <p:cNvPr id="212" name="band">
            <a:extLst>
              <a:ext uri="{C183D7F6-B498-43B3-948B-1728B52AA6E4}">
                <adec:decorative xmlns:adec="http://schemas.microsoft.com/office/drawing/2017/decorative" val="1"/>
              </a:ext>
            </a:extLst>
          </p:cNvPr>
          <p:cNvSpPr/>
          <p:nvPr/>
        </p:nvSpPr>
        <p:spPr>
          <a:xfrm>
            <a:off x="658368" y="4560000"/>
            <a:ext cx="10881360" cy="430000"/>
          </a:xfrm>
          <a:prstGeom prst="rect">
            <a:avLst/>
          </a:prstGeom>
          <a:solidFill>
            <a:srgbClr val="EEF1F6"/>
          </a:solidFill>
          <a:ln w="9525">
            <a:solidFill>
              <a:srgbClr val="C7D2E0"/>
            </a:solidFill>
          </a:ln>
        </p:spPr>
        <p:txBody>
          <a:bodyPr/>
          <a:lstStyle/>
          <a:p>
            <a:endParaRPr lang="ko-KR" altLang="en-US"/>
          </a:p>
        </p:txBody>
      </p:sp>
      <p:sp>
        <p:nvSpPr>
          <p:cNvPr id="214" name="btxt"/>
          <p:cNvSpPr/>
          <p:nvPr/>
        </p:nvSpPr>
        <p:spPr>
          <a:xfrm>
            <a:off x="658368" y="4560000"/>
            <a:ext cx="10881360" cy="430000"/>
          </a:xfrm>
          <a:prstGeom prst="rect">
            <a:avLst/>
          </a:prstGeom>
          <a:noFill/>
          <a:ln/>
        </p:spPr>
        <p:txBody>
          <a:bodyPr wrap="square" lIns="300000" tIns="0" rIns="220000" bIns="0" rtlCol="0" anchor="ctr"/>
          <a:lstStyle/>
          <a:p>
            <a:pPr algn="ctr">
              <a:buNone/>
            </a:pPr>
            <a:r>
              <a:rPr lang="ko-KR" altLang="en-US" sz="760" b="1">
                <a:solidFill>
                  <a:srgbClr val="1D4ED8"/>
                </a:solidFill>
                <a:latin typeface="Malgun Gothic" pitchFamily="34" charset="0"/>
                <a:ea typeface="Malgun Gothic" pitchFamily="34" charset="-122"/>
                <a:cs typeface="Malgun Gothic" pitchFamily="34" charset="-120"/>
              </a:rPr>
              <a:t>세마글루타이드</a:t>
            </a:r>
            <a:r>
              <a:rPr lang="ko-KR" altLang="en-US" sz="680">
                <a:solidFill>
                  <a:srgbClr val="33465B"/>
                </a:solidFill>
                <a:latin typeface="Malgun Gothic" pitchFamily="34" charset="0"/>
                <a:ea typeface="Malgun Gothic" pitchFamily="34" charset="-122"/>
                <a:cs typeface="Malgun Gothic" pitchFamily="34" charset="-120"/>
              </a:rPr>
              <a:t> (플랫폼 검증)</a:t>
            </a:r>
            <a:r>
              <a:rPr lang="ko-KR" altLang="en-US" sz="760" b="1">
                <a:solidFill>
                  <a:srgbClr val="64748B"/>
                </a:solidFill>
                <a:latin typeface="Malgun Gothic" pitchFamily="34" charset="0"/>
                <a:ea typeface="Malgun Gothic" pitchFamily="34" charset="-122"/>
                <a:cs typeface="Malgun Gothic" pitchFamily="34" charset="-120"/>
              </a:rPr>
              <a:t>   →   </a:t>
            </a:r>
            <a:r>
              <a:rPr lang="ko-KR" altLang="en-US" sz="760" b="1">
                <a:solidFill>
                  <a:srgbClr val="0D9488"/>
                </a:solidFill>
                <a:latin typeface="Malgun Gothic" pitchFamily="34" charset="0"/>
                <a:ea typeface="Malgun Gothic" pitchFamily="34" charset="-122"/>
                <a:cs typeface="Malgun Gothic" pitchFamily="34" charset="-120"/>
              </a:rPr>
              <a:t>인슐린</a:t>
            </a:r>
            <a:r>
              <a:rPr lang="ko-KR" altLang="en-US" sz="680">
                <a:solidFill>
                  <a:srgbClr val="33465B"/>
                </a:solidFill>
                <a:latin typeface="Malgun Gothic" pitchFamily="34" charset="0"/>
                <a:ea typeface="Malgun Gothic" pitchFamily="34" charset="-122"/>
                <a:cs typeface="Malgun Gothic" pitchFamily="34" charset="-120"/>
              </a:rPr>
              <a:t> (적용 범위 확장)</a:t>
            </a:r>
            <a:r>
              <a:rPr lang="ko-KR" altLang="en-US" sz="760" b="1">
                <a:solidFill>
                  <a:srgbClr val="64748B"/>
                </a:solidFill>
                <a:latin typeface="Malgun Gothic" pitchFamily="34" charset="0"/>
                <a:ea typeface="Malgun Gothic" pitchFamily="34" charset="-122"/>
                <a:cs typeface="Malgun Gothic" pitchFamily="34" charset="-120"/>
              </a:rPr>
              <a:t>   →   </a:t>
            </a:r>
            <a:r>
              <a:rPr lang="ko-KR" altLang="en-US" sz="760" b="1">
                <a:solidFill>
                  <a:srgbClr val="E8590C"/>
                </a:solidFill>
                <a:latin typeface="Malgun Gothic" pitchFamily="34" charset="0"/>
                <a:ea typeface="Malgun Gothic" pitchFamily="34" charset="-122"/>
                <a:cs typeface="Malgun Gothic" pitchFamily="34" charset="-120"/>
              </a:rPr>
              <a:t>터제파타이드</a:t>
            </a:r>
            <a:r>
              <a:rPr lang="ko-KR" altLang="en-US" sz="680">
                <a:solidFill>
                  <a:srgbClr val="33465B"/>
                </a:solidFill>
                <a:latin typeface="Malgun Gothic" pitchFamily="34" charset="0"/>
                <a:ea typeface="Malgun Gothic" pitchFamily="34" charset="-122"/>
                <a:cs typeface="Malgun Gothic" pitchFamily="34" charset="-120"/>
              </a:rPr>
              <a:t> (차세대 GLP-1 진입)</a:t>
            </a:r>
            <a:r>
              <a:rPr lang="ko-KR" altLang="en-US" sz="760" b="1">
                <a:solidFill>
                  <a:srgbClr val="64748B"/>
                </a:solidFill>
                <a:latin typeface="Malgun Gothic" pitchFamily="34" charset="0"/>
                <a:ea typeface="Malgun Gothic" pitchFamily="34" charset="-122"/>
                <a:cs typeface="Malgun Gothic" pitchFamily="34" charset="-120"/>
              </a:rPr>
              <a:t>   →   </a:t>
            </a:r>
            <a:r>
              <a:rPr lang="ko-KR" altLang="en-US" sz="760" b="1">
                <a:solidFill>
                  <a:srgbClr val="059669"/>
                </a:solidFill>
                <a:latin typeface="Malgun Gothic" pitchFamily="34" charset="0"/>
                <a:ea typeface="Malgun Gothic" pitchFamily="34" charset="-122"/>
                <a:cs typeface="Malgun Gothic" pitchFamily="34" charset="-120"/>
              </a:rPr>
              <a:t>항체의약품</a:t>
            </a:r>
            <a:r>
              <a:rPr lang="ko-KR" altLang="en-US" sz="680">
                <a:solidFill>
                  <a:srgbClr val="33465B"/>
                </a:solidFill>
                <a:latin typeface="Malgun Gothic" pitchFamily="34" charset="0"/>
                <a:ea typeface="Malgun Gothic" pitchFamily="34" charset="-122"/>
                <a:cs typeface="Malgun Gothic" pitchFamily="34" charset="-120"/>
              </a:rPr>
              <a:t> (장기 플랫폼 확장)</a:t>
            </a:r>
          </a:p>
        </p:txBody>
      </p:sp>
      <p:sp>
        <p:nvSpPr>
          <p:cNvPr id="400" name="concl">
            <a:extLst>
              <a:ext uri="{C183D7F6-B498-43B3-948B-1728B52AA6E4}">
                <adec:decorative xmlns:adec="http://schemas.microsoft.com/office/drawing/2017/decorative" val="1"/>
              </a:ext>
            </a:extLst>
          </p:cNvPr>
          <p:cNvSpPr/>
          <p:nvPr/>
        </p:nvSpPr>
        <p:spPr>
          <a:xfrm>
            <a:off x="658368" y="5050000"/>
            <a:ext cx="10881360" cy="1220000"/>
          </a:xfrm>
          <a:prstGeom prst="rect">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401" name="cacc">
            <a:extLst>
              <a:ext uri="{C183D7F6-B498-43B3-948B-1728B52AA6E4}">
                <adec:decorative xmlns:adec="http://schemas.microsoft.com/office/drawing/2017/decorative" val="1"/>
              </a:ext>
            </a:extLst>
          </p:cNvPr>
          <p:cNvSpPr/>
          <p:nvPr/>
        </p:nvSpPr>
        <p:spPr>
          <a:xfrm>
            <a:off x="658368" y="5050000"/>
            <a:ext cx="120000" cy="1220000"/>
          </a:xfrm>
          <a:prstGeom prst="rect">
            <a:avLst/>
          </a:prstGeom>
          <a:solidFill>
            <a:srgbClr val="0D9488"/>
          </a:solidFill>
          <a:ln/>
        </p:spPr>
        <p:txBody>
          <a:bodyPr/>
          <a:lstStyle/>
          <a:p>
            <a:endParaRPr lang="ko-KR" altLang="en-US"/>
          </a:p>
        </p:txBody>
      </p:sp>
      <p:sp>
        <p:nvSpPr>
          <p:cNvPr id="402" name="ctxt"/>
          <p:cNvSpPr/>
          <p:nvPr/>
        </p:nvSpPr>
        <p:spPr>
          <a:xfrm>
            <a:off x="1058368" y="5160000"/>
            <a:ext cx="10081360" cy="1000000"/>
          </a:xfrm>
          <a:prstGeom prst="rect">
            <a:avLst/>
          </a:prstGeom>
          <a:noFill/>
          <a:ln/>
        </p:spPr>
        <p:txBody>
          <a:bodyPr wrap="square" lIns="0" tIns="0" rIns="0" bIns="0" rtlCol="0" anchor="ctr"/>
          <a:lstStyle/>
          <a:p>
            <a:pPr algn="ctr">
              <a:buNone/>
            </a:pPr>
            <a:r>
              <a:rPr lang="ko-KR" altLang="en-US" sz="820" b="1" spc="200">
                <a:solidFill>
                  <a:srgbClr val="7FE9DC"/>
                </a:solidFill>
                <a:latin typeface="Malgun Gothic" pitchFamily="34" charset="0"/>
                <a:ea typeface="Malgun Gothic" pitchFamily="34" charset="-122"/>
                <a:cs typeface="Malgun Gothic" pitchFamily="34" charset="-120"/>
              </a:rPr>
              <a:t>최종 결론</a:t>
            </a:r>
          </a:p>
          <a:p>
            <a:pPr algn="ctr">
              <a:spcBef>
                <a:spcPts val="260"/>
              </a:spcBef>
              <a:buNone/>
            </a:pPr>
            <a:r>
              <a:rPr lang="ko-KR" altLang="en-US" sz="1000" b="1">
                <a:solidFill>
                  <a:srgbClr val="FFFFFF"/>
                </a:solidFill>
                <a:latin typeface="Malgun Gothic" pitchFamily="34" charset="0"/>
                <a:ea typeface="Malgun Gothic" pitchFamily="34" charset="-122"/>
                <a:cs typeface="Malgun Gothic" pitchFamily="34" charset="-120"/>
              </a:rPr>
              <a:t>S-PASS는 특정 제품 하나에만 의존하지 않으려는 전략이다.</a:t>
            </a:r>
          </a:p>
          <a:p>
            <a:pPr algn="ctr">
              <a:spcBef>
                <a:spcPts val="200"/>
              </a:spcBef>
              <a:buNone/>
            </a:pPr>
            <a:r>
              <a:rPr lang="ko-KR" altLang="en-US" sz="900">
                <a:solidFill>
                  <a:srgbClr val="E2E8F0"/>
                </a:solidFill>
                <a:latin typeface="Malgun Gothic" pitchFamily="34" charset="0"/>
                <a:ea typeface="Malgun Gothic" pitchFamily="34" charset="-122"/>
                <a:cs typeface="Malgun Gothic" pitchFamily="34" charset="-120"/>
              </a:rPr>
              <a:t>다만 현재 투자 판단에서는 경구 세마글루타이드가 첫 번째 검증 자산이며, 인슐린·터제파타이드·항체의약품은 단계적으로 확인해야 할 </a:t>
            </a:r>
            <a:r>
              <a:rPr lang="ko-KR" altLang="en-US" sz="900" b="1">
                <a:solidFill>
                  <a:srgbClr val="FFFFFF"/>
                </a:solidFill>
                <a:latin typeface="Malgun Gothic" pitchFamily="34" charset="0"/>
                <a:ea typeface="Malgun Gothic" pitchFamily="34" charset="-122"/>
                <a:cs typeface="Malgun Gothic" pitchFamily="34" charset="-120"/>
              </a:rPr>
              <a:t>후속 옵션</a:t>
            </a:r>
            <a:r>
              <a:rPr lang="ko-KR" altLang="en-US" sz="900">
                <a:solidFill>
                  <a:srgbClr val="E2E8F0"/>
                </a:solidFill>
                <a:latin typeface="Malgun Gothic" pitchFamily="34" charset="0"/>
                <a:ea typeface="Malgun Gothic" pitchFamily="34" charset="-122"/>
                <a:cs typeface="Malgun Gothic" pitchFamily="34" charset="-120"/>
              </a:rPr>
              <a:t>이다.</a:t>
            </a:r>
          </a:p>
          <a:p>
            <a:pPr algn="ctr">
              <a:spcBef>
                <a:spcPts val="200"/>
              </a:spcBef>
              <a:buNone/>
            </a:pPr>
            <a:r>
              <a:rPr lang="ko-KR" altLang="en-US" sz="880">
                <a:solidFill>
                  <a:srgbClr val="C7D2E0"/>
                </a:solidFill>
                <a:latin typeface="Malgun Gothic" pitchFamily="34" charset="0"/>
                <a:ea typeface="Malgun Gothic" pitchFamily="34" charset="-122"/>
                <a:cs typeface="Malgun Gothic" pitchFamily="34" charset="-120"/>
              </a:rPr>
              <a:t>다만 파이프라인이 뒤로 갈수록 시장 규모는 커지지만 </a:t>
            </a:r>
            <a:r>
              <a:rPr lang="ko-KR" altLang="en-US" sz="880" b="1">
                <a:solidFill>
                  <a:srgbClr val="FDBA74"/>
                </a:solidFill>
                <a:latin typeface="Malgun Gothic" pitchFamily="34" charset="0"/>
                <a:ea typeface="Malgun Gothic" pitchFamily="34" charset="-122"/>
                <a:cs typeface="Malgun Gothic" pitchFamily="34" charset="-120"/>
              </a:rPr>
              <a:t>개발 리스크 역시 증가한다.</a:t>
            </a:r>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20</a:t>
            </a:r>
            <a:endParaRPr lang="en-US" sz="8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lgn="l">
              <a:buNone/>
            </a:pPr>
            <a:r>
              <a:rPr lang="ko-KR" altLang="en-US" sz="1100" b="1" kern="0" spc="200">
                <a:solidFill>
                  <a:srgbClr val="0D9488"/>
                </a:solidFill>
                <a:latin typeface="Malgun Gothic" pitchFamily="34" charset="0"/>
                <a:ea typeface="Malgun Gothic" pitchFamily="34" charset="-122"/>
                <a:cs typeface="Malgun Gothic" pitchFamily="34" charset="-120"/>
              </a:rPr>
              <a:t>02 · S-PASS 투자아이디어</a:t>
            </a:r>
          </a:p>
        </p:txBody>
      </p:sp>
      <p:sp>
        <p:nvSpPr>
          <p:cNvPr id="3" name="title"/>
          <p:cNvSpPr/>
          <p:nvPr/>
        </p:nvSpPr>
        <p:spPr>
          <a:xfrm>
            <a:off x="658368" y="566928"/>
            <a:ext cx="11430000" cy="603504"/>
          </a:xfrm>
          <a:prstGeom prst="rect">
            <a:avLst/>
          </a:prstGeom>
          <a:noFill/>
          <a:ln/>
        </p:spPr>
        <p:txBody>
          <a:bodyPr wrap="square" lIns="0" tIns="0" rIns="0" bIns="0" rtlCol="0" anchor="ctr"/>
          <a:lstStyle/>
          <a:p>
            <a:pPr marL="0" indent="0" algn="l">
              <a:buNone/>
            </a:pPr>
            <a:r>
              <a:rPr lang="ko-KR" altLang="en-US" sz="2150" b="1" kern="0">
                <a:solidFill>
                  <a:srgbClr val="0E2036"/>
                </a:solidFill>
                <a:latin typeface="Malgun Gothic" pitchFamily="34" charset="0"/>
                <a:ea typeface="Malgun Gothic" pitchFamily="34" charset="-122"/>
                <a:cs typeface="Malgun Gothic" pitchFamily="34" charset="-120"/>
              </a:rPr>
              <a:t>S-PASS의 핵심 질문: 왜 삼천당이어야 하는가?</a:t>
            </a:r>
          </a:p>
        </p:txBody>
      </p:sp>
      <p:sp>
        <p:nvSpPr>
          <p:cNvPr id="4" name="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76656" y="1371600"/>
            <a:ext cx="10881360" cy="320000"/>
          </a:xfrm>
          <a:prstGeom prst="rect">
            <a:avLst/>
          </a:prstGeom>
          <a:noFill/>
          <a:ln/>
        </p:spPr>
        <p:txBody>
          <a:bodyPr wrap="square" lIns="0" tIns="0" rIns="0" bIns="0" rtlCol="0" anchor="ctr"/>
          <a:lstStyle/>
          <a:p>
            <a:pPr marL="0" indent="0" algn="l">
              <a:buNone/>
            </a:pPr>
            <a:r>
              <a:rPr lang="ko-KR" altLang="en-US" sz="1150" kern="0">
                <a:solidFill>
                  <a:srgbClr val="33465B"/>
                </a:solidFill>
                <a:latin typeface="Malgun Gothic" pitchFamily="34" charset="0"/>
                <a:ea typeface="Malgun Gothic" pitchFamily="34" charset="-122"/>
                <a:cs typeface="Malgun Gothic" pitchFamily="34" charset="-120"/>
              </a:rPr>
              <a:t>시장 규모보다 중요한 것은 S-PASS가 실제로 차별화된 경구화 기술인지 증명하는 것이다</a:t>
            </a:r>
          </a:p>
        </p:txBody>
      </p:sp>
      <p:sp>
        <p:nvSpPr>
          <p:cNvPr id="6" name="lead">
            <a:extLst>
              <a:ext uri="{C183D7F6-B498-43B3-948B-1728B52AA6E4}">
                <adec:decorative xmlns:adec="http://schemas.microsoft.com/office/drawing/2017/decorative" val="1"/>
              </a:ext>
            </a:extLst>
          </p:cNvPr>
          <p:cNvSpPr/>
          <p:nvPr/>
        </p:nvSpPr>
        <p:spPr>
          <a:xfrm>
            <a:off x="676656" y="1710000"/>
            <a:ext cx="10875264" cy="470000"/>
          </a:xfrm>
          <a:prstGeom prst="rect">
            <a:avLst/>
          </a:prstGeom>
          <a:noFill/>
          <a:ln/>
        </p:spPr>
        <p:txBody>
          <a:bodyPr wrap="square" lIns="0" tIns="0" rIns="0" bIns="0" rtlCol="0" anchor="t"/>
          <a:lstStyle/>
          <a:p>
            <a:pPr marL="0" indent="0" algn="l">
              <a:lnSpc>
                <a:spcPct val="106000"/>
              </a:lnSpc>
              <a:buNone/>
            </a:pPr>
            <a:r>
              <a:rPr lang="ko-KR" altLang="en-US" sz="1000" kern="0">
                <a:solidFill>
                  <a:srgbClr val="33465B"/>
                </a:solidFill>
                <a:latin typeface="Malgun Gothic" pitchFamily="34" charset="0"/>
                <a:ea typeface="Malgun Gothic" pitchFamily="34" charset="-122"/>
                <a:cs typeface="Malgun Gothic" pitchFamily="34" charset="-120"/>
              </a:rPr>
              <a:t>GLP-1 · 인슐린 · 항체의약품 시장은 거대하지만, 시장 규모가 곧 삼천당의 가치가 되는 것은 아니다. 투자자는 </a:t>
            </a:r>
            <a:r>
              <a:rPr lang="ko-KR" altLang="en-US" sz="1000" b="1" kern="0">
                <a:solidFill>
                  <a:srgbClr val="0F766E"/>
                </a:solidFill>
                <a:latin typeface="Malgun Gothic" pitchFamily="34" charset="0"/>
                <a:ea typeface="Malgun Gothic" pitchFamily="34" charset="-122"/>
                <a:cs typeface="Malgun Gothic" pitchFamily="34" charset="-120"/>
              </a:rPr>
              <a:t>S-PASS가 대형 제약사와 경쟁하거나 협력할 수 있을 만큼 차별화된 기술인지</a:t>
            </a:r>
            <a:r>
              <a:rPr lang="ko-KR" altLang="en-US" sz="1000" kern="0">
                <a:solidFill>
                  <a:srgbClr val="33465B"/>
                </a:solidFill>
                <a:latin typeface="Malgun Gothic" pitchFamily="34" charset="0"/>
                <a:ea typeface="Malgun Gothic" pitchFamily="34" charset="-122"/>
                <a:cs typeface="Malgun Gothic" pitchFamily="34" charset="-120"/>
              </a:rPr>
              <a:t> 확인해야 한다.</a:t>
            </a:r>
          </a:p>
        </p:txBody>
      </p:sp>
      <p:sp>
        <p:nvSpPr>
          <p:cNvPr id="7" name="card1">
            <a:extLst>
              <a:ext uri="{C183D7F6-B498-43B3-948B-1728B52AA6E4}">
                <adec:decorative xmlns:adec="http://schemas.microsoft.com/office/drawing/2017/decorative" val="1"/>
              </a:ext>
            </a:extLst>
          </p:cNvPr>
          <p:cNvSpPr/>
          <p:nvPr/>
        </p:nvSpPr>
        <p:spPr>
          <a:xfrm>
            <a:off x="658368" y="2270000"/>
            <a:ext cx="3438421" cy="265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8" name="chd1"/>
          <p:cNvSpPr/>
          <p:nvPr/>
        </p:nvSpPr>
        <p:spPr>
          <a:xfrm>
            <a:off x="658368" y="2270000"/>
            <a:ext cx="3438421" cy="360000"/>
          </a:xfrm>
          <a:prstGeom prst="rect">
            <a:avLst/>
          </a:prstGeom>
          <a:solidFill>
            <a:srgbClr val="1D4ED8"/>
          </a:solidFill>
          <a:ln/>
        </p:spPr>
        <p:txBody>
          <a:bodyPr wrap="square" lIns="0" tIns="0" rIns="0" bIns="0" rtlCol="0" anchor="ctr"/>
          <a:lstStyle/>
          <a:p>
            <a:pPr marL="0" indent="0" algn="ctr">
              <a:buNone/>
            </a:pPr>
            <a:r>
              <a:rPr lang="ko-KR" altLang="en-US" sz="1050" b="1" kern="0">
                <a:solidFill>
                  <a:srgbClr val="FFFFFF"/>
                </a:solidFill>
                <a:latin typeface="Malgun Gothic" pitchFamily="34" charset="0"/>
                <a:ea typeface="Malgun Gothic" pitchFamily="34" charset="-122"/>
                <a:cs typeface="Malgun Gothic" pitchFamily="34" charset="-120"/>
              </a:rPr>
              <a:t>시장은 크다</a:t>
            </a:r>
          </a:p>
        </p:txBody>
      </p:sp>
      <p:sp>
        <p:nvSpPr>
          <p:cNvPr id="9" name="cbody1"/>
          <p:cNvSpPr/>
          <p:nvPr/>
        </p:nvSpPr>
        <p:spPr>
          <a:xfrm>
            <a:off x="838368" y="2760000"/>
            <a:ext cx="3078421" cy="1990000"/>
          </a:xfrm>
          <a:prstGeom prst="rect">
            <a:avLst/>
          </a:prstGeom>
          <a:noFill/>
          <a:ln/>
        </p:spPr>
        <p:txBody>
          <a:bodyPr wrap="square" lIns="0" tIns="0" rIns="0" bIns="0" rtlCol="0" anchor="t"/>
          <a:lstStyle/>
          <a:p>
            <a:pPr marL="0" indent="0" algn="l">
              <a:lnSpc>
                <a:spcPct val="104000"/>
              </a:lnSpc>
              <a:buNone/>
            </a:pPr>
            <a:r>
              <a:rPr lang="ko-KR" altLang="en-US" sz="880" b="1" kern="0">
                <a:solidFill>
                  <a:srgbClr val="1D4ED8"/>
                </a:solidFill>
                <a:latin typeface="Malgun Gothic" pitchFamily="34" charset="0"/>
                <a:ea typeface="Malgun Gothic" pitchFamily="34" charset="-122"/>
                <a:cs typeface="Malgun Gothic" pitchFamily="34" charset="-120"/>
              </a:rPr>
              <a:t>▪ </a:t>
            </a:r>
            <a:r>
              <a:rPr lang="ko-KR" altLang="en-US" sz="880" kern="0">
                <a:solidFill>
                  <a:srgbClr val="33465B"/>
                </a:solidFill>
                <a:latin typeface="Malgun Gothic" pitchFamily="34" charset="0"/>
                <a:ea typeface="Malgun Gothic" pitchFamily="34" charset="-122"/>
                <a:cs typeface="Malgun Gothic" pitchFamily="34" charset="-120"/>
              </a:rPr>
              <a:t>GLP-1 · 인슐린 · 항체의약품 모두 대형 시장</a:t>
            </a:r>
          </a:p>
          <a:p>
            <a:pPr marL="0" indent="0" algn="l">
              <a:lnSpc>
                <a:spcPct val="104000"/>
              </a:lnSpc>
              <a:spcBef>
                <a:spcPts val="380"/>
              </a:spcBef>
              <a:buNone/>
            </a:pPr>
            <a:r>
              <a:rPr lang="ko-KR" altLang="en-US" sz="880" b="1" kern="0">
                <a:solidFill>
                  <a:srgbClr val="1D4ED8"/>
                </a:solidFill>
                <a:latin typeface="Malgun Gothic" pitchFamily="34" charset="0"/>
                <a:ea typeface="Malgun Gothic" pitchFamily="34" charset="-122"/>
                <a:cs typeface="Malgun Gothic" pitchFamily="34" charset="-120"/>
              </a:rPr>
              <a:t>▪ </a:t>
            </a:r>
            <a:r>
              <a:rPr lang="ko-KR" altLang="en-US" sz="880" kern="0">
                <a:solidFill>
                  <a:srgbClr val="33465B"/>
                </a:solidFill>
                <a:latin typeface="Malgun Gothic" pitchFamily="34" charset="0"/>
                <a:ea typeface="Malgun Gothic" pitchFamily="34" charset="-122"/>
                <a:cs typeface="Malgun Gothic" pitchFamily="34" charset="-120"/>
              </a:rPr>
              <a:t>주사제 → 경구제 전환 시 시장성 큼</a:t>
            </a:r>
          </a:p>
          <a:p>
            <a:pPr marL="0" indent="0" algn="l">
              <a:lnSpc>
                <a:spcPct val="104000"/>
              </a:lnSpc>
              <a:spcBef>
                <a:spcPts val="380"/>
              </a:spcBef>
              <a:buNone/>
            </a:pPr>
            <a:r>
              <a:rPr lang="ko-KR" altLang="en-US" sz="880" b="1" kern="0">
                <a:solidFill>
                  <a:srgbClr val="1D4ED8"/>
                </a:solidFill>
                <a:latin typeface="Malgun Gothic" pitchFamily="34" charset="0"/>
                <a:ea typeface="Malgun Gothic" pitchFamily="34" charset="-122"/>
                <a:cs typeface="Malgun Gothic" pitchFamily="34" charset="-120"/>
              </a:rPr>
              <a:t>▪ </a:t>
            </a:r>
            <a:r>
              <a:rPr lang="ko-KR" altLang="en-US" sz="880" kern="0">
                <a:solidFill>
                  <a:srgbClr val="33465B"/>
                </a:solidFill>
                <a:latin typeface="Malgun Gothic" pitchFamily="34" charset="0"/>
                <a:ea typeface="Malgun Gothic" pitchFamily="34" charset="-122"/>
                <a:cs typeface="Malgun Gothic" pitchFamily="34" charset="-120"/>
              </a:rPr>
              <a:t>환자 편의성 개선 수요 존재</a:t>
            </a:r>
          </a:p>
          <a:p>
            <a:pPr marL="0" indent="0" algn="l">
              <a:lnSpc>
                <a:spcPct val="104000"/>
              </a:lnSpc>
              <a:spcBef>
                <a:spcPts val="380"/>
              </a:spcBef>
              <a:buNone/>
            </a:pPr>
            <a:r>
              <a:rPr lang="ko-KR" altLang="en-US" sz="880" b="1" kern="0">
                <a:solidFill>
                  <a:srgbClr val="1D4ED8"/>
                </a:solidFill>
                <a:latin typeface="Malgun Gothic" pitchFamily="34" charset="0"/>
                <a:ea typeface="Malgun Gothic" pitchFamily="34" charset="-122"/>
                <a:cs typeface="Malgun Gothic" pitchFamily="34" charset="-120"/>
              </a:rPr>
              <a:t>▪ </a:t>
            </a:r>
            <a:r>
              <a:rPr lang="ko-KR" altLang="en-US" sz="880" kern="0">
                <a:solidFill>
                  <a:srgbClr val="33465B"/>
                </a:solidFill>
                <a:latin typeface="Malgun Gothic" pitchFamily="34" charset="0"/>
                <a:ea typeface="Malgun Gothic" pitchFamily="34" charset="-122"/>
                <a:cs typeface="Malgun Gothic" pitchFamily="34" charset="-120"/>
              </a:rPr>
              <a:t>대형 제약사도 경구화에 관심</a:t>
            </a:r>
          </a:p>
          <a:p>
            <a:pPr marL="0" indent="0" algn="l">
              <a:lnSpc>
                <a:spcPct val="104000"/>
              </a:lnSpc>
              <a:spcBef>
                <a:spcPts val="560"/>
              </a:spcBef>
              <a:buNone/>
            </a:pPr>
            <a:r>
              <a:rPr lang="ko-KR" altLang="en-US" sz="900" b="1" kern="0">
                <a:solidFill>
                  <a:srgbClr val="1D4ED8"/>
                </a:solidFill>
                <a:latin typeface="Malgun Gothic" pitchFamily="34" charset="0"/>
                <a:ea typeface="Malgun Gothic" pitchFamily="34" charset="-122"/>
                <a:cs typeface="Malgun Gothic" pitchFamily="34" charset="-120"/>
              </a:rPr>
              <a:t>→ 시장 규모는 충분하다</a:t>
            </a:r>
          </a:p>
        </p:txBody>
      </p:sp>
      <p:sp>
        <p:nvSpPr>
          <p:cNvPr id="10" name="card2">
            <a:extLst>
              <a:ext uri="{C183D7F6-B498-43B3-948B-1728B52AA6E4}">
                <adec:decorative xmlns:adec="http://schemas.microsoft.com/office/drawing/2017/decorative" val="1"/>
              </a:ext>
            </a:extLst>
          </p:cNvPr>
          <p:cNvSpPr/>
          <p:nvPr/>
        </p:nvSpPr>
        <p:spPr>
          <a:xfrm>
            <a:off x="4376789" y="2270000"/>
            <a:ext cx="3438421" cy="265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1" name="chd2">
            <a:extLst>
              <a:ext uri="{C183D7F6-B498-43B3-948B-1728B52AA6E4}">
                <adec:decorative xmlns:adec="http://schemas.microsoft.com/office/drawing/2017/decorative" val="1"/>
              </a:ext>
            </a:extLst>
          </p:cNvPr>
          <p:cNvSpPr/>
          <p:nvPr/>
        </p:nvSpPr>
        <p:spPr>
          <a:xfrm>
            <a:off x="4376789" y="2270000"/>
            <a:ext cx="3438421" cy="360000"/>
          </a:xfrm>
          <a:prstGeom prst="rect">
            <a:avLst/>
          </a:prstGeom>
          <a:solidFill>
            <a:srgbClr val="C2410C"/>
          </a:solidFill>
          <a:ln/>
        </p:spPr>
        <p:txBody>
          <a:bodyPr wrap="square" lIns="0" tIns="0" rIns="0" bIns="0" rtlCol="0" anchor="ctr"/>
          <a:lstStyle/>
          <a:p>
            <a:pPr marL="0" indent="0" algn="ctr">
              <a:buNone/>
            </a:pPr>
            <a:r>
              <a:rPr lang="ko-KR" altLang="en-US" sz="1050" b="1" kern="0">
                <a:solidFill>
                  <a:srgbClr val="FFFFFF"/>
                </a:solidFill>
                <a:latin typeface="Malgun Gothic" pitchFamily="34" charset="0"/>
                <a:ea typeface="Malgun Gothic" pitchFamily="34" charset="-122"/>
                <a:cs typeface="Malgun Gothic" pitchFamily="34" charset="-120"/>
              </a:rPr>
              <a:t>그러나 경쟁도 크다</a:t>
            </a:r>
          </a:p>
        </p:txBody>
      </p:sp>
      <p:sp>
        <p:nvSpPr>
          <p:cNvPr id="12" name="cbody2">
            <a:extLst>
              <a:ext uri="{C183D7F6-B498-43B3-948B-1728B52AA6E4}">
                <adec:decorative xmlns:adec="http://schemas.microsoft.com/office/drawing/2017/decorative" val="1"/>
              </a:ext>
            </a:extLst>
          </p:cNvPr>
          <p:cNvSpPr/>
          <p:nvPr/>
        </p:nvSpPr>
        <p:spPr>
          <a:xfrm>
            <a:off x="4556789" y="2760000"/>
            <a:ext cx="3078421" cy="1990000"/>
          </a:xfrm>
          <a:prstGeom prst="rect">
            <a:avLst/>
          </a:prstGeom>
          <a:noFill/>
          <a:ln/>
        </p:spPr>
        <p:txBody>
          <a:bodyPr wrap="square" lIns="0" tIns="0" rIns="0" bIns="0" rtlCol="0" anchor="t"/>
          <a:lstStyle/>
          <a:p>
            <a:pPr marL="0" indent="0" algn="l">
              <a:lnSpc>
                <a:spcPct val="104000"/>
              </a:lnSpc>
              <a:buNone/>
            </a:pPr>
            <a:r>
              <a:rPr lang="ko-KR" altLang="en-US" sz="880" b="1" kern="0">
                <a:solidFill>
                  <a:srgbClr val="C2410C"/>
                </a:solidFill>
                <a:latin typeface="Malgun Gothic" pitchFamily="34" charset="0"/>
                <a:ea typeface="Malgun Gothic" pitchFamily="34" charset="-122"/>
                <a:cs typeface="Malgun Gothic" pitchFamily="34" charset="-120"/>
              </a:rPr>
              <a:t>▪ </a:t>
            </a:r>
            <a:r>
              <a:rPr lang="ko-KR" altLang="en-US" sz="880" kern="0">
                <a:solidFill>
                  <a:srgbClr val="33465B"/>
                </a:solidFill>
                <a:latin typeface="Malgun Gothic" pitchFamily="34" charset="0"/>
                <a:ea typeface="Malgun Gothic" pitchFamily="34" charset="-122"/>
                <a:cs typeface="Malgun Gothic" pitchFamily="34" charset="-120"/>
              </a:rPr>
              <a:t>노보노디스크 · 일라이릴리 등 글로벌 대형사 주도</a:t>
            </a:r>
          </a:p>
          <a:p>
            <a:pPr marL="0" indent="0" algn="l">
              <a:lnSpc>
                <a:spcPct val="104000"/>
              </a:lnSpc>
              <a:spcBef>
                <a:spcPts val="380"/>
              </a:spcBef>
              <a:buNone/>
            </a:pPr>
            <a:r>
              <a:rPr lang="ko-KR" altLang="en-US" sz="880" b="1" kern="0">
                <a:solidFill>
                  <a:srgbClr val="C2410C"/>
                </a:solidFill>
                <a:latin typeface="Malgun Gothic" pitchFamily="34" charset="0"/>
                <a:ea typeface="Malgun Gothic" pitchFamily="34" charset="-122"/>
                <a:cs typeface="Malgun Gothic" pitchFamily="34" charset="-120"/>
              </a:rPr>
              <a:t>▪ </a:t>
            </a:r>
            <a:r>
              <a:rPr lang="ko-KR" altLang="en-US" sz="880" kern="0">
                <a:solidFill>
                  <a:srgbClr val="33465B"/>
                </a:solidFill>
                <a:latin typeface="Malgun Gothic" pitchFamily="34" charset="0"/>
                <a:ea typeface="Malgun Gothic" pitchFamily="34" charset="-122"/>
                <a:cs typeface="Malgun Gothic" pitchFamily="34" charset="-120"/>
              </a:rPr>
              <a:t>경구 GLP-1은 흡수율 · 변동성 · 특허 · 제조 재현성이 핵심</a:t>
            </a:r>
          </a:p>
          <a:p>
            <a:pPr marL="0" indent="0" algn="l">
              <a:lnSpc>
                <a:spcPct val="104000"/>
              </a:lnSpc>
              <a:spcBef>
                <a:spcPts val="380"/>
              </a:spcBef>
              <a:buNone/>
            </a:pPr>
            <a:r>
              <a:rPr lang="ko-KR" altLang="en-US" sz="880" b="1" kern="0">
                <a:solidFill>
                  <a:srgbClr val="C2410C"/>
                </a:solidFill>
                <a:latin typeface="Malgun Gothic" pitchFamily="34" charset="0"/>
                <a:ea typeface="Malgun Gothic" pitchFamily="34" charset="-122"/>
                <a:cs typeface="Malgun Gothic" pitchFamily="34" charset="-120"/>
              </a:rPr>
              <a:t>▪ </a:t>
            </a:r>
            <a:r>
              <a:rPr lang="ko-KR" altLang="en-US" sz="880" kern="0">
                <a:solidFill>
                  <a:srgbClr val="33465B"/>
                </a:solidFill>
                <a:latin typeface="Malgun Gothic" pitchFamily="34" charset="0"/>
                <a:ea typeface="Malgun Gothic" pitchFamily="34" charset="-122"/>
                <a:cs typeface="Malgun Gothic" pitchFamily="34" charset="-120"/>
              </a:rPr>
              <a:t>‘먹는 약’ 주장만으로는 부족</a:t>
            </a:r>
          </a:p>
          <a:p>
            <a:pPr marL="0" indent="0" algn="l">
              <a:lnSpc>
                <a:spcPct val="104000"/>
              </a:lnSpc>
              <a:spcBef>
                <a:spcPts val="380"/>
              </a:spcBef>
              <a:buNone/>
            </a:pPr>
            <a:r>
              <a:rPr lang="ko-KR" altLang="en-US" sz="880" b="1" kern="0">
                <a:solidFill>
                  <a:srgbClr val="C2410C"/>
                </a:solidFill>
                <a:latin typeface="Malgun Gothic" pitchFamily="34" charset="0"/>
                <a:ea typeface="Malgun Gothic" pitchFamily="34" charset="-122"/>
                <a:cs typeface="Malgun Gothic" pitchFamily="34" charset="-120"/>
              </a:rPr>
              <a:t>▪ </a:t>
            </a:r>
            <a:r>
              <a:rPr lang="ko-KR" altLang="en-US" sz="880" kern="0">
                <a:solidFill>
                  <a:srgbClr val="33465B"/>
                </a:solidFill>
                <a:latin typeface="Malgun Gothic" pitchFamily="34" charset="0"/>
                <a:ea typeface="Malgun Gothic" pitchFamily="34" charset="-122"/>
                <a:cs typeface="Malgun Gothic" pitchFamily="34" charset="-120"/>
              </a:rPr>
              <a:t>데이터 · 규제기관 판단이 필요</a:t>
            </a:r>
          </a:p>
          <a:p>
            <a:pPr marL="0" indent="0" algn="l">
              <a:lnSpc>
                <a:spcPct val="104000"/>
              </a:lnSpc>
              <a:spcBef>
                <a:spcPts val="560"/>
              </a:spcBef>
              <a:buNone/>
            </a:pPr>
            <a:r>
              <a:rPr lang="ko-KR" altLang="en-US" sz="900" b="1" kern="0">
                <a:solidFill>
                  <a:srgbClr val="C2410C"/>
                </a:solidFill>
                <a:latin typeface="Malgun Gothic" pitchFamily="34" charset="0"/>
                <a:ea typeface="Malgun Gothic" pitchFamily="34" charset="-122"/>
                <a:cs typeface="Malgun Gothic" pitchFamily="34" charset="-120"/>
              </a:rPr>
              <a:t>→ 큰 시장일수록 검증 기준도 높다</a:t>
            </a:r>
          </a:p>
        </p:txBody>
      </p:sp>
      <p:sp>
        <p:nvSpPr>
          <p:cNvPr id="13" name="card3">
            <a:extLst>
              <a:ext uri="{C183D7F6-B498-43B3-948B-1728B52AA6E4}">
                <adec:decorative xmlns:adec="http://schemas.microsoft.com/office/drawing/2017/decorative" val="1"/>
              </a:ext>
            </a:extLst>
          </p:cNvPr>
          <p:cNvSpPr/>
          <p:nvPr/>
        </p:nvSpPr>
        <p:spPr>
          <a:xfrm>
            <a:off x="8095210" y="2270000"/>
            <a:ext cx="3438421" cy="2650000"/>
          </a:xfrm>
          <a:prstGeom prst="rect">
            <a:avLst/>
          </a:prstGeom>
          <a:solidFill>
            <a:srgbClr val="F2FBF9"/>
          </a:solidFill>
          <a:ln w="15875">
            <a:solidFill>
              <a:srgbClr val="0D9488"/>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4" name="chd3">
            <a:extLst>
              <a:ext uri="{C183D7F6-B498-43B3-948B-1728B52AA6E4}">
                <adec:decorative xmlns:adec="http://schemas.microsoft.com/office/drawing/2017/decorative" val="1"/>
              </a:ext>
            </a:extLst>
          </p:cNvPr>
          <p:cNvSpPr/>
          <p:nvPr/>
        </p:nvSpPr>
        <p:spPr>
          <a:xfrm>
            <a:off x="8095210" y="2270000"/>
            <a:ext cx="3438421" cy="360000"/>
          </a:xfrm>
          <a:prstGeom prst="rect">
            <a:avLst/>
          </a:prstGeom>
          <a:solidFill>
            <a:srgbClr val="0D9488"/>
          </a:solidFill>
          <a:ln/>
        </p:spPr>
        <p:txBody>
          <a:bodyPr wrap="square" lIns="0" tIns="0" rIns="0" bIns="0" rtlCol="0" anchor="ctr"/>
          <a:lstStyle/>
          <a:p>
            <a:pPr marL="0" indent="0" algn="ctr">
              <a:buNone/>
            </a:pPr>
            <a:r>
              <a:rPr lang="ko-KR" altLang="en-US" sz="1050" b="1" kern="0">
                <a:solidFill>
                  <a:srgbClr val="FFFFFF"/>
                </a:solidFill>
                <a:latin typeface="Malgun Gothic" pitchFamily="34" charset="0"/>
                <a:ea typeface="Malgun Gothic" pitchFamily="34" charset="-122"/>
                <a:cs typeface="Malgun Gothic" pitchFamily="34" charset="-120"/>
              </a:rPr>
              <a:t>삼천당이 증명해야 할 것</a:t>
            </a:r>
          </a:p>
        </p:txBody>
      </p:sp>
      <p:sp>
        <p:nvSpPr>
          <p:cNvPr id="15" name="cbody3">
            <a:extLst>
              <a:ext uri="{C183D7F6-B498-43B3-948B-1728B52AA6E4}">
                <adec:decorative xmlns:adec="http://schemas.microsoft.com/office/drawing/2017/decorative" val="1"/>
              </a:ext>
            </a:extLst>
          </p:cNvPr>
          <p:cNvSpPr/>
          <p:nvPr/>
        </p:nvSpPr>
        <p:spPr>
          <a:xfrm>
            <a:off x="8275210" y="2740000"/>
            <a:ext cx="3078421" cy="2010000"/>
          </a:xfrm>
          <a:prstGeom prst="rect">
            <a:avLst/>
          </a:prstGeom>
          <a:noFill/>
          <a:ln/>
        </p:spPr>
        <p:txBody>
          <a:bodyPr wrap="square" lIns="0" tIns="0" rIns="0" bIns="0" rtlCol="0" anchor="t"/>
          <a:lstStyle/>
          <a:p>
            <a:pPr marL="0" indent="0" algn="l">
              <a:lnSpc>
                <a:spcPct val="102000"/>
              </a:lnSpc>
              <a:buNone/>
            </a:pPr>
            <a:r>
              <a:rPr lang="ko-KR" altLang="en-US" sz="840" b="1" kern="0" dirty="0">
                <a:solidFill>
                  <a:srgbClr val="0D9488"/>
                </a:solidFill>
                <a:latin typeface="Malgun Gothic" pitchFamily="34" charset="0"/>
                <a:ea typeface="Malgun Gothic" pitchFamily="34" charset="-122"/>
                <a:cs typeface="Malgun Gothic" pitchFamily="34" charset="-120"/>
              </a:rPr>
              <a:t>▪ </a:t>
            </a:r>
            <a:r>
              <a:rPr lang="ko-KR" altLang="en-US" sz="840" kern="0" dirty="0">
                <a:solidFill>
                  <a:srgbClr val="33465B"/>
                </a:solidFill>
                <a:latin typeface="Malgun Gothic" pitchFamily="34" charset="0"/>
                <a:ea typeface="Malgun Gothic" pitchFamily="34" charset="-122"/>
                <a:cs typeface="Malgun Gothic" pitchFamily="34" charset="-120"/>
              </a:rPr>
              <a:t>SNAC-</a:t>
            </a:r>
            <a:r>
              <a:rPr lang="ko-KR" altLang="en-US" sz="840" kern="0" dirty="0" err="1">
                <a:solidFill>
                  <a:srgbClr val="33465B"/>
                </a:solidFill>
                <a:latin typeface="Malgun Gothic" pitchFamily="34" charset="0"/>
                <a:ea typeface="Malgun Gothic" pitchFamily="34" charset="-122"/>
                <a:cs typeface="Malgun Gothic" pitchFamily="34" charset="-120"/>
              </a:rPr>
              <a:t>Free</a:t>
            </a:r>
            <a:r>
              <a:rPr lang="ko-KR" altLang="en-US" sz="840" kern="0" dirty="0">
                <a:solidFill>
                  <a:srgbClr val="33465B"/>
                </a:solidFill>
                <a:latin typeface="Malgun Gothic" pitchFamily="34" charset="0"/>
                <a:ea typeface="Malgun Gothic" pitchFamily="34" charset="-122"/>
                <a:cs typeface="Malgun Gothic" pitchFamily="34" charset="-120"/>
              </a:rPr>
              <a:t> 제형의 흡수율 · 재현성</a:t>
            </a:r>
          </a:p>
          <a:p>
            <a:pPr marL="137160" indent="0" algn="l">
              <a:lnSpc>
                <a:spcPct val="102000"/>
              </a:lnSpc>
              <a:spcBef>
                <a:spcPts val="100"/>
              </a:spcBef>
              <a:buNone/>
            </a:pPr>
            <a:r>
              <a:rPr lang="ko-KR" altLang="en-US" sz="750" kern="0" dirty="0">
                <a:solidFill>
                  <a:srgbClr val="0F766E"/>
                </a:solidFill>
                <a:latin typeface="Malgun Gothic" pitchFamily="34" charset="0"/>
                <a:ea typeface="Malgun Gothic" pitchFamily="34" charset="-122"/>
                <a:cs typeface="Malgun Gothic" pitchFamily="34" charset="-120"/>
              </a:rPr>
              <a:t>→ 기술이 실제로 작동하는가</a:t>
            </a:r>
          </a:p>
          <a:p>
            <a:pPr marL="0" indent="0" algn="l">
              <a:lnSpc>
                <a:spcPct val="102000"/>
              </a:lnSpc>
              <a:spcBef>
                <a:spcPts val="340"/>
              </a:spcBef>
              <a:buNone/>
            </a:pPr>
            <a:r>
              <a:rPr lang="ko-KR" altLang="en-US" sz="840" b="1" kern="0" dirty="0">
                <a:solidFill>
                  <a:srgbClr val="0D9488"/>
                </a:solidFill>
                <a:latin typeface="Malgun Gothic" pitchFamily="34" charset="0"/>
                <a:ea typeface="Malgun Gothic" pitchFamily="34" charset="-122"/>
                <a:cs typeface="Malgun Gothic" pitchFamily="34" charset="-120"/>
              </a:rPr>
              <a:t>▪ </a:t>
            </a:r>
            <a:r>
              <a:rPr lang="ko-KR" altLang="en-US" sz="840" kern="0" dirty="0">
                <a:solidFill>
                  <a:srgbClr val="33465B"/>
                </a:solidFill>
                <a:latin typeface="Malgun Gothic" pitchFamily="34" charset="0"/>
                <a:ea typeface="Malgun Gothic" pitchFamily="34" charset="-122"/>
                <a:cs typeface="Malgun Gothic" pitchFamily="34" charset="-120"/>
              </a:rPr>
              <a:t>경구 세마 BE 데이터의 질</a:t>
            </a:r>
          </a:p>
          <a:p>
            <a:pPr marL="137160" indent="0" algn="l">
              <a:lnSpc>
                <a:spcPct val="102000"/>
              </a:lnSpc>
              <a:spcBef>
                <a:spcPts val="100"/>
              </a:spcBef>
              <a:buNone/>
            </a:pPr>
            <a:r>
              <a:rPr lang="ko-KR" altLang="en-US" sz="750" kern="0" dirty="0">
                <a:solidFill>
                  <a:srgbClr val="0F766E"/>
                </a:solidFill>
                <a:latin typeface="Malgun Gothic" pitchFamily="34" charset="0"/>
                <a:ea typeface="Malgun Gothic" pitchFamily="34" charset="-122"/>
                <a:cs typeface="Malgun Gothic" pitchFamily="34" charset="-120"/>
              </a:rPr>
              <a:t>→ 규제가 인정하는 데이터인가</a:t>
            </a:r>
          </a:p>
          <a:p>
            <a:pPr marL="0" indent="0" algn="l">
              <a:lnSpc>
                <a:spcPct val="102000"/>
              </a:lnSpc>
              <a:spcBef>
                <a:spcPts val="340"/>
              </a:spcBef>
              <a:buNone/>
            </a:pPr>
            <a:r>
              <a:rPr lang="ko-KR" altLang="en-US" sz="840" b="1" kern="0" dirty="0">
                <a:solidFill>
                  <a:srgbClr val="0D9488"/>
                </a:solidFill>
                <a:latin typeface="Malgun Gothic" pitchFamily="34" charset="0"/>
                <a:ea typeface="Malgun Gothic" pitchFamily="34" charset="-122"/>
                <a:cs typeface="Malgun Gothic" pitchFamily="34" charset="-120"/>
              </a:rPr>
              <a:t>▪ </a:t>
            </a:r>
            <a:r>
              <a:rPr lang="ko-KR" altLang="en-US" sz="840" kern="0" dirty="0">
                <a:solidFill>
                  <a:srgbClr val="33465B"/>
                </a:solidFill>
                <a:latin typeface="Malgun Gothic" pitchFamily="34" charset="0"/>
                <a:ea typeface="Malgun Gothic" pitchFamily="34" charset="-122"/>
                <a:cs typeface="Malgun Gothic" pitchFamily="34" charset="-120"/>
              </a:rPr>
              <a:t>FDA 후속 추가 BE 요구 여부</a:t>
            </a:r>
          </a:p>
          <a:p>
            <a:pPr marL="137160" indent="0" algn="l">
              <a:lnSpc>
                <a:spcPct val="102000"/>
              </a:lnSpc>
              <a:spcBef>
                <a:spcPts val="100"/>
              </a:spcBef>
              <a:buNone/>
            </a:pPr>
            <a:r>
              <a:rPr lang="ko-KR" altLang="en-US" sz="750" kern="0" dirty="0">
                <a:solidFill>
                  <a:srgbClr val="0F766E"/>
                </a:solidFill>
                <a:latin typeface="Malgun Gothic" pitchFamily="34" charset="0"/>
                <a:ea typeface="Malgun Gothic" pitchFamily="34" charset="-122"/>
                <a:cs typeface="Malgun Gothic" pitchFamily="34" charset="-120"/>
              </a:rPr>
              <a:t>→ 허가 경로가 명확한가</a:t>
            </a:r>
          </a:p>
          <a:p>
            <a:pPr marL="0" indent="0" algn="l">
              <a:lnSpc>
                <a:spcPct val="102000"/>
              </a:lnSpc>
              <a:spcBef>
                <a:spcPts val="340"/>
              </a:spcBef>
              <a:buNone/>
            </a:pPr>
            <a:r>
              <a:rPr lang="ko-KR" altLang="en-US" sz="840" b="1" kern="0" dirty="0">
                <a:solidFill>
                  <a:srgbClr val="0D9488"/>
                </a:solidFill>
                <a:latin typeface="Malgun Gothic" pitchFamily="34" charset="0"/>
                <a:ea typeface="Malgun Gothic" pitchFamily="34" charset="-122"/>
                <a:cs typeface="Malgun Gothic" pitchFamily="34" charset="-120"/>
              </a:rPr>
              <a:t>▪ </a:t>
            </a:r>
            <a:r>
              <a:rPr lang="ko-KR" altLang="en-US" sz="840" kern="0" dirty="0">
                <a:solidFill>
                  <a:srgbClr val="33465B"/>
                </a:solidFill>
                <a:latin typeface="Malgun Gothic" pitchFamily="34" charset="0"/>
                <a:ea typeface="Malgun Gothic" pitchFamily="34" charset="-122"/>
                <a:cs typeface="Malgun Gothic" pitchFamily="34" charset="-120"/>
              </a:rPr>
              <a:t>세마 데이터의 인슐린 · </a:t>
            </a:r>
            <a:r>
              <a:rPr lang="ko-KR" altLang="en-US" sz="840" kern="0" dirty="0" err="1">
                <a:solidFill>
                  <a:srgbClr val="33465B"/>
                </a:solidFill>
                <a:latin typeface="Malgun Gothic" pitchFamily="34" charset="0"/>
                <a:ea typeface="Malgun Gothic" pitchFamily="34" charset="-122"/>
                <a:cs typeface="Malgun Gothic" pitchFamily="34" charset="-120"/>
              </a:rPr>
              <a:t>터제</a:t>
            </a:r>
            <a:r>
              <a:rPr lang="ko-KR" altLang="en-US" sz="840" kern="0" dirty="0">
                <a:solidFill>
                  <a:srgbClr val="33465B"/>
                </a:solidFill>
                <a:latin typeface="Malgun Gothic" pitchFamily="34" charset="0"/>
                <a:ea typeface="Malgun Gothic" pitchFamily="34" charset="-122"/>
                <a:cs typeface="Malgun Gothic" pitchFamily="34" charset="-120"/>
              </a:rPr>
              <a:t> 확장성</a:t>
            </a:r>
          </a:p>
          <a:p>
            <a:pPr marL="137160" indent="0" algn="l">
              <a:lnSpc>
                <a:spcPct val="102000"/>
              </a:lnSpc>
              <a:spcBef>
                <a:spcPts val="100"/>
              </a:spcBef>
              <a:buNone/>
            </a:pPr>
            <a:r>
              <a:rPr lang="ko-KR" altLang="en-US" sz="750" kern="0" dirty="0">
                <a:solidFill>
                  <a:srgbClr val="0F766E"/>
                </a:solidFill>
                <a:latin typeface="Malgun Gothic" pitchFamily="34" charset="0"/>
                <a:ea typeface="Malgun Gothic" pitchFamily="34" charset="-122"/>
                <a:cs typeface="Malgun Gothic" pitchFamily="34" charset="-120"/>
              </a:rPr>
              <a:t>→ 플랫폼으로 확장 가능한가</a:t>
            </a:r>
          </a:p>
          <a:p>
            <a:pPr marL="0" indent="0" algn="l">
              <a:lnSpc>
                <a:spcPct val="102000"/>
              </a:lnSpc>
              <a:spcBef>
                <a:spcPts val="340"/>
              </a:spcBef>
              <a:buNone/>
            </a:pPr>
            <a:r>
              <a:rPr lang="ko-KR" altLang="en-US" sz="840" b="1" kern="0" dirty="0">
                <a:solidFill>
                  <a:srgbClr val="0D9488"/>
                </a:solidFill>
                <a:latin typeface="Malgun Gothic" pitchFamily="34" charset="0"/>
                <a:ea typeface="Malgun Gothic" pitchFamily="34" charset="-122"/>
                <a:cs typeface="Malgun Gothic" pitchFamily="34" charset="-120"/>
              </a:rPr>
              <a:t>▪ </a:t>
            </a:r>
            <a:r>
              <a:rPr lang="ko-KR" altLang="en-US" sz="840" kern="0" dirty="0">
                <a:solidFill>
                  <a:srgbClr val="33465B"/>
                </a:solidFill>
                <a:latin typeface="Malgun Gothic" pitchFamily="34" charset="0"/>
                <a:ea typeface="Malgun Gothic" pitchFamily="34" charset="-122"/>
                <a:cs typeface="Malgun Gothic" pitchFamily="34" charset="-120"/>
              </a:rPr>
              <a:t>파트너 계약의 마일스톤 · 매출 연결</a:t>
            </a:r>
          </a:p>
          <a:p>
            <a:pPr marL="137160" indent="0" algn="l">
              <a:lnSpc>
                <a:spcPct val="102000"/>
              </a:lnSpc>
              <a:spcBef>
                <a:spcPts val="100"/>
              </a:spcBef>
              <a:buNone/>
            </a:pPr>
            <a:r>
              <a:rPr lang="ko-KR" altLang="en-US" sz="750" kern="0" dirty="0">
                <a:solidFill>
                  <a:srgbClr val="0F766E"/>
                </a:solidFill>
                <a:latin typeface="Malgun Gothic" pitchFamily="34" charset="0"/>
                <a:ea typeface="Malgun Gothic" pitchFamily="34" charset="-122"/>
                <a:cs typeface="Malgun Gothic" pitchFamily="34" charset="-120"/>
              </a:rPr>
              <a:t>→ 기술이 현금흐름이 되는가</a:t>
            </a:r>
          </a:p>
          <a:p>
            <a:pPr marL="0" indent="0" algn="l">
              <a:lnSpc>
                <a:spcPct val="102000"/>
              </a:lnSpc>
              <a:spcBef>
                <a:spcPts val="440"/>
              </a:spcBef>
              <a:buNone/>
            </a:pPr>
            <a:r>
              <a:rPr lang="ko-KR" altLang="en-US" sz="850" b="1" kern="0" dirty="0">
                <a:solidFill>
                  <a:srgbClr val="0F766E"/>
                </a:solidFill>
                <a:latin typeface="Malgun Gothic" pitchFamily="34" charset="0"/>
                <a:ea typeface="Malgun Gothic" pitchFamily="34" charset="-122"/>
                <a:cs typeface="Malgun Gothic" pitchFamily="34" charset="-120"/>
              </a:rPr>
              <a:t>→ 핵심은 시장 크기가 아니라 기술 검증과 상업화 증거</a:t>
            </a:r>
          </a:p>
        </p:txBody>
      </p:sp>
      <p:sp>
        <p:nvSpPr>
          <p:cNvPr id="19" name="gbox">
            <a:extLst>
              <a:ext uri="{C183D7F6-B498-43B3-948B-1728B52AA6E4}">
                <adec:decorative xmlns:adec="http://schemas.microsoft.com/office/drawing/2017/decorative" val="1"/>
              </a:ext>
            </a:extLst>
          </p:cNvPr>
          <p:cNvSpPr/>
          <p:nvPr/>
        </p:nvSpPr>
        <p:spPr>
          <a:xfrm>
            <a:off x="658368" y="4990000"/>
            <a:ext cx="10875264" cy="740000"/>
          </a:xfrm>
          <a:prstGeom prst="rect">
            <a:avLst/>
          </a:prstGeom>
          <a:solidFill>
            <a:srgbClr val="F2F6FC"/>
          </a:solidFill>
          <a:ln w="12700">
            <a:solidFill>
              <a:srgbClr val="D5E0F0"/>
            </a:solidFill>
            <a:prstDash val="solid"/>
          </a:ln>
        </p:spPr>
        <p:txBody>
          <a:bodyPr/>
          <a:lstStyle/>
          <a:p>
            <a:endParaRPr lang="ko-KR" altLang="en-US"/>
          </a:p>
        </p:txBody>
      </p:sp>
      <p:sp>
        <p:nvSpPr>
          <p:cNvPr id="20" name="gtxt"/>
          <p:cNvSpPr/>
          <p:nvPr/>
        </p:nvSpPr>
        <p:spPr>
          <a:xfrm>
            <a:off x="880000" y="5075000"/>
            <a:ext cx="10400000" cy="580000"/>
          </a:xfrm>
          <a:prstGeom prst="rect">
            <a:avLst/>
          </a:prstGeom>
          <a:noFill/>
          <a:ln/>
        </p:spPr>
        <p:txBody>
          <a:bodyPr wrap="square" lIns="0" tIns="0" rIns="0" bIns="0" rtlCol="0" anchor="t"/>
          <a:lstStyle/>
          <a:p>
            <a:pPr marL="0" indent="0" algn="l">
              <a:lnSpc>
                <a:spcPct val="104000"/>
              </a:lnSpc>
              <a:buNone/>
            </a:pPr>
            <a:r>
              <a:rPr lang="ko-KR" altLang="en-US" sz="880" b="1" kern="0">
                <a:solidFill>
                  <a:srgbClr val="0D9488"/>
                </a:solidFill>
                <a:latin typeface="Malgun Gothic" pitchFamily="34" charset="0"/>
                <a:ea typeface="Malgun Gothic" pitchFamily="34" charset="-122"/>
                <a:cs typeface="Malgun Gothic" pitchFamily="34" charset="-120"/>
              </a:rPr>
              <a:t>용어 설명</a:t>
            </a:r>
          </a:p>
          <a:p>
            <a:pPr marL="0" indent="0" algn="l">
              <a:lnSpc>
                <a:spcPct val="104000"/>
              </a:lnSpc>
              <a:spcBef>
                <a:spcPts val="300"/>
              </a:spcBef>
              <a:buNone/>
            </a:pPr>
            <a:r>
              <a:rPr lang="en-US" altLang="ko-KR" sz="800" b="1" kern="0">
                <a:solidFill>
                  <a:srgbClr val="0E2036"/>
                </a:solidFill>
                <a:latin typeface="Malgun Gothic" pitchFamily="34" charset="0"/>
                <a:ea typeface="Malgun Gothic" pitchFamily="34" charset="-122"/>
                <a:cs typeface="Malgun Gothic" pitchFamily="34" charset="-120"/>
              </a:rPr>
              <a:t>SNAC-Free </a:t>
            </a:r>
            <a:r>
              <a:rPr lang="ko-KR" altLang="en-US" sz="800" kern="0">
                <a:solidFill>
                  <a:srgbClr val="33465B"/>
                </a:solidFill>
                <a:latin typeface="Malgun Gothic" pitchFamily="34" charset="0"/>
                <a:ea typeface="Malgun Gothic" pitchFamily="34" charset="-122"/>
                <a:cs typeface="Malgun Gothic" pitchFamily="34" charset="-120"/>
              </a:rPr>
              <a:t>→ 기존 경구 세마글루타이드 리벨서스는 SNAC이라는 흡수 보조제를 활용한다. 삼천당의 SNAC-Free는 이 보조제 없이 경구 흡수를 구현하려는 제형 전략으로 이해하면 된다.</a:t>
            </a:r>
          </a:p>
          <a:p>
            <a:pPr marL="0" indent="0" algn="l">
              <a:lnSpc>
                <a:spcPct val="104000"/>
              </a:lnSpc>
              <a:spcBef>
                <a:spcPts val="260"/>
              </a:spcBef>
              <a:buNone/>
            </a:pPr>
            <a:r>
              <a:rPr lang="en-US" altLang="ko-KR" sz="800" b="1" kern="0">
                <a:solidFill>
                  <a:srgbClr val="0E2036"/>
                </a:solidFill>
                <a:latin typeface="Malgun Gothic" pitchFamily="34" charset="0"/>
                <a:ea typeface="Malgun Gothic" pitchFamily="34" charset="-122"/>
                <a:cs typeface="Malgun Gothic" pitchFamily="34" charset="-120"/>
              </a:rPr>
              <a:t>BE </a:t>
            </a:r>
            <a:r>
              <a:rPr lang="ko-KR" altLang="en-US" sz="800" kern="0">
                <a:solidFill>
                  <a:srgbClr val="33465B"/>
                </a:solidFill>
                <a:latin typeface="Malgun Gothic" pitchFamily="34" charset="0"/>
                <a:ea typeface="Malgun Gothic" pitchFamily="34" charset="-122"/>
                <a:cs typeface="Malgun Gothic" pitchFamily="34" charset="-120"/>
              </a:rPr>
              <a:t>→ Bioequivalence, 즉 생물학적 동등성 시험. 제네릭이 오리지널과 체내 흡수 속도와 흡수 정도가 유의하게 다르지 않은지를 확인하는 시험이다.</a:t>
            </a:r>
          </a:p>
        </p:txBody>
      </p:sp>
      <p:sp>
        <p:nvSpPr>
          <p:cNvPr id="16" name="jbox">
            <a:extLst>
              <a:ext uri="{C183D7F6-B498-43B3-948B-1728B52AA6E4}">
                <adec:decorative xmlns:adec="http://schemas.microsoft.com/office/drawing/2017/decorative" val="1"/>
              </a:ext>
            </a:extLst>
          </p:cNvPr>
          <p:cNvSpPr/>
          <p:nvPr/>
        </p:nvSpPr>
        <p:spPr>
          <a:xfrm>
            <a:off x="658368" y="5780000"/>
            <a:ext cx="10875264" cy="700000"/>
          </a:xfrm>
          <a:prstGeom prst="rect">
            <a:avLst/>
          </a:prstGeom>
          <a:solidFill>
            <a:srgbClr val="0E2036"/>
          </a:solidFill>
          <a:ln/>
          <a:effectLst>
            <a:outerShdw blurRad="88900" dist="25400" dir="5400000" algn="bl" rotWithShape="0">
              <a:srgbClr val="0E2036">
                <a:alpha val="10000"/>
              </a:srgbClr>
            </a:outerShdw>
          </a:effectLst>
        </p:spPr>
        <p:txBody>
          <a:bodyPr/>
          <a:lstStyle/>
          <a:p>
            <a:endParaRPr lang="ko-KR" altLang="en-US"/>
          </a:p>
        </p:txBody>
      </p:sp>
      <p:sp>
        <p:nvSpPr>
          <p:cNvPr id="17" name="jbar">
            <a:extLst>
              <a:ext uri="{C183D7F6-B498-43B3-948B-1728B52AA6E4}">
                <adec:decorative xmlns:adec="http://schemas.microsoft.com/office/drawing/2017/decorative" val="1"/>
              </a:ext>
            </a:extLst>
          </p:cNvPr>
          <p:cNvSpPr/>
          <p:nvPr/>
        </p:nvSpPr>
        <p:spPr>
          <a:xfrm>
            <a:off x="658368" y="5780000"/>
            <a:ext cx="82296" cy="700000"/>
          </a:xfrm>
          <a:prstGeom prst="rect">
            <a:avLst/>
          </a:prstGeom>
          <a:solidFill>
            <a:srgbClr val="0D9488"/>
          </a:solidFill>
          <a:ln/>
        </p:spPr>
        <p:txBody>
          <a:bodyPr/>
          <a:lstStyle/>
          <a:p>
            <a:endParaRPr lang="ko-KR" altLang="en-US"/>
          </a:p>
        </p:txBody>
      </p:sp>
      <p:sp>
        <p:nvSpPr>
          <p:cNvPr id="18" name="jtxt"/>
          <p:cNvSpPr/>
          <p:nvPr/>
        </p:nvSpPr>
        <p:spPr>
          <a:xfrm>
            <a:off x="950000" y="5815000"/>
            <a:ext cx="10425264" cy="630000"/>
          </a:xfrm>
          <a:prstGeom prst="rect">
            <a:avLst/>
          </a:prstGeom>
          <a:noFill/>
          <a:ln/>
        </p:spPr>
        <p:txBody>
          <a:bodyPr wrap="square" lIns="0" tIns="0" rIns="0" bIns="0" rtlCol="0" anchor="ctr"/>
          <a:lstStyle/>
          <a:p>
            <a:pPr marL="0" indent="0" algn="l">
              <a:lnSpc>
                <a:spcPct val="112000"/>
              </a:lnSpc>
              <a:buNone/>
            </a:pPr>
            <a:r>
              <a:rPr lang="ko-KR" altLang="en-US" sz="1000" b="1" kern="0">
                <a:solidFill>
                  <a:srgbClr val="FFFFFF"/>
                </a:solidFill>
                <a:latin typeface="Malgun Gothic" pitchFamily="34" charset="0"/>
                <a:ea typeface="Malgun Gothic" pitchFamily="34" charset="-122"/>
                <a:cs typeface="Malgun Gothic" pitchFamily="34" charset="-120"/>
              </a:rPr>
              <a:t>S-PASS의 투자포인트는 단순한 시장 규모가 아니다. 핵심은 </a:t>
            </a:r>
            <a:r>
              <a:rPr lang="ko-KR" altLang="en-US" sz="1000" b="1" kern="0">
                <a:solidFill>
                  <a:srgbClr val="7DE3D4"/>
                </a:solidFill>
                <a:latin typeface="Malgun Gothic" pitchFamily="34" charset="0"/>
                <a:ea typeface="Malgun Gothic" pitchFamily="34" charset="-122"/>
                <a:cs typeface="Malgun Gothic" pitchFamily="34" charset="-120"/>
              </a:rPr>
              <a:t>SNAC-Free 제형이 기술적으로 작동하고, BE 데이터가 규제적으로 인정되며, 파트너 계약과 마일스톤을 통해 실제 현금흐름으로 연결되는가</a:t>
            </a:r>
            <a:r>
              <a:rPr lang="ko-KR" altLang="en-US" sz="1000" b="1" kern="0">
                <a:solidFill>
                  <a:srgbClr val="FFFFFF"/>
                </a:solidFill>
                <a:latin typeface="Malgun Gothic" pitchFamily="34" charset="0"/>
                <a:ea typeface="Malgun Gothic" pitchFamily="34" charset="-122"/>
                <a:cs typeface="Malgun Gothic" pitchFamily="34" charset="-120"/>
              </a:rPr>
              <a:t>이다.</a:t>
            </a:r>
          </a:p>
        </p:txBody>
      </p:sp>
      <p:sp>
        <p:nvSpPr>
          <p:cNvPr id="28" name="footerbar"/>
          <p:cNvSpPr/>
          <p:nvPr/>
        </p:nvSpPr>
        <p:spPr>
          <a:xfrm>
            <a:off x="0" y="6583680"/>
            <a:ext cx="12191695" cy="274320"/>
          </a:xfrm>
          <a:prstGeom prst="rect">
            <a:avLst/>
          </a:prstGeom>
          <a:solidFill>
            <a:srgbClr val="F2F6FC"/>
          </a:solidFill>
          <a:ln/>
        </p:spPr>
        <p:txBody>
          <a:bodyPr/>
          <a:lstStyle/>
          <a:p>
            <a:endParaRPr lang="ko-KR" altLang="en-US"/>
          </a:p>
        </p:txBody>
      </p:sp>
      <p:sp>
        <p:nvSpPr>
          <p:cNvPr id="29" name="ftxt"/>
          <p:cNvSpPr/>
          <p:nvPr/>
        </p:nvSpPr>
        <p:spPr>
          <a:xfrm>
            <a:off x="658368" y="6574536"/>
            <a:ext cx="6400800" cy="283464"/>
          </a:xfrm>
          <a:prstGeom prst="rect">
            <a:avLst/>
          </a:prstGeom>
          <a:noFill/>
          <a:ln/>
        </p:spPr>
        <p:txBody>
          <a:bodyPr wrap="square" lIns="0" tIns="0" rIns="0" bIns="0" rtlCol="0" anchor="ctr"/>
          <a:lstStyle/>
          <a:p>
            <a:pPr marL="0" indent="0" algn="l">
              <a:buNone/>
            </a:pPr>
            <a:r>
              <a:rPr lang="ko-KR" altLang="en-US" sz="850" kern="0">
                <a:solidFill>
                  <a:srgbClr val="6B7C90"/>
                </a:solidFill>
                <a:latin typeface="Malgun Gothic" pitchFamily="34" charset="0"/>
                <a:ea typeface="Malgun Gothic" pitchFamily="34" charset="-122"/>
                <a:cs typeface="Malgun Gothic" pitchFamily="34" charset="-120"/>
              </a:rPr>
              <a:t>삼천당제약 (000250) · 투자스터디 발표자료</a:t>
            </a:r>
          </a:p>
        </p:txBody>
      </p:sp>
      <p:sp>
        <p:nvSpPr>
          <p:cNvPr id="30" name="fpg"/>
          <p:cNvSpPr/>
          <p:nvPr/>
        </p:nvSpPr>
        <p:spPr>
          <a:xfrm>
            <a:off x="11064240" y="6574536"/>
            <a:ext cx="457200" cy="283464"/>
          </a:xfrm>
          <a:prstGeom prst="rect">
            <a:avLst/>
          </a:prstGeom>
          <a:noFill/>
          <a:ln/>
        </p:spPr>
        <p:txBody>
          <a:bodyPr wrap="square" lIns="0" tIns="0" rIns="0" bIns="0" rtlCol="0" anchor="ctr"/>
          <a:lstStyle/>
          <a:p>
            <a:pPr marL="0" indent="0" algn="r">
              <a:buNone/>
            </a:pPr>
            <a:r>
              <a:rPr lang="ko-KR" altLang="en-US" sz="850" kern="0">
                <a:solidFill>
                  <a:srgbClr val="6B7C90"/>
                </a:solidFill>
                <a:latin typeface="Malgun Gothic" pitchFamily="34" charset="0"/>
                <a:ea typeface="Malgun Gothic" pitchFamily="34" charset="-122"/>
                <a:cs typeface="Malgun Gothic" pitchFamily="34" charset="-120"/>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a:extLst>
              <a:ext uri="{C183D7F6-B498-43B3-948B-1728B52AA6E4}">
                <adec:decorative xmlns:adec="http://schemas.microsoft.com/office/drawing/2017/decorative" val="1"/>
              </a:ext>
            </a:extLst>
          </p:cNvPr>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a:solidFill>
                  <a:srgbClr val="0D9488"/>
                </a:solidFill>
                <a:latin typeface="Malgun Gothic" pitchFamily="34" charset="0"/>
                <a:ea typeface="Malgun Gothic" pitchFamily="34" charset="-122"/>
                <a:cs typeface="Malgun Gothic" pitchFamily="34" charset="-120"/>
              </a:rPr>
              <a:t>02 · 시장 · 투자아이디어</a:t>
            </a:r>
            <a:endParaRPr lang="en-US" sz="1100" dirty="0"/>
          </a:p>
        </p:txBody>
      </p:sp>
      <p:sp>
        <p:nvSpPr>
          <p:cNvPr id="3" name="title"/>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S-PASS 플랫폼은 현재 어디까지 검증되었는가?</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58368" y="1330000"/>
            <a:ext cx="10875264" cy="300000"/>
          </a:xfrm>
          <a:prstGeom prst="rect">
            <a:avLst/>
          </a:prstGeom>
          <a:noFill/>
          <a:ln/>
        </p:spPr>
        <p:txBody>
          <a:bodyPr wrap="square" lIns="0" tIns="0" rIns="0" bIns="0" rtlCol="0" anchor="ctr"/>
          <a:lstStyle/>
          <a:p>
            <a:pPr marL="0" indent="0">
              <a:buNone/>
            </a:pPr>
            <a:r>
              <a:rPr lang="ko-KR" altLang="en-US" sz="1250">
                <a:solidFill>
                  <a:srgbClr val="33465B"/>
                </a:solidFill>
                <a:latin typeface="Malgun Gothic" pitchFamily="34" charset="0"/>
                <a:ea typeface="Malgun Gothic" pitchFamily="34" charset="-122"/>
                <a:cs typeface="Malgun Gothic" pitchFamily="34" charset="-120"/>
              </a:rPr>
              <a:t>플랫폼 검증은 진행 중이며 파이프라인별 단계는 다르다</a:t>
            </a:r>
          </a:p>
        </p:txBody>
      </p:sp>
      <p:sp>
        <p:nvSpPr>
          <p:cNvPr id="95"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96" name="footer text"/>
          <p:cNvSpPr/>
          <p:nvPr/>
        </p:nvSpPr>
        <p:spPr>
          <a:xfrm>
            <a:off x="658368" y="6574536"/>
            <a:ext cx="6400800" cy="283464"/>
          </a:xfrm>
          <a:prstGeom prst="rect">
            <a:avLst/>
          </a:prstGeom>
          <a:noFill/>
          <a:ln/>
        </p:spPr>
        <p:txBody>
          <a:bodyPr wrap="square" lIns="0" tIns="0" rIns="0" bIns="0" rtlCol="0" anchor="ctr"/>
          <a:lstStyle/>
          <a:p>
            <a:pPr marL="0" indent="0">
              <a:buNone/>
            </a:pPr>
            <a:r>
              <a:rPr lang="ko-KR" altLang="en-US" sz="85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a:p>
        </p:txBody>
      </p:sp>
      <p:sp>
        <p:nvSpPr>
          <p:cNvPr id="200" name="card">
            <a:extLst>
              <a:ext uri="{C183D7F6-B498-43B3-948B-1728B52AA6E4}">
                <adec:decorative xmlns:adec="http://schemas.microsoft.com/office/drawing/2017/decorative" val="1"/>
              </a:ext>
            </a:extLst>
          </p:cNvPr>
          <p:cNvSpPr/>
          <p:nvPr/>
        </p:nvSpPr>
        <p:spPr>
          <a:xfrm>
            <a:off x="658368" y="1560000"/>
            <a:ext cx="2607840" cy="282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1" name="cardhdr"/>
          <p:cNvSpPr/>
          <p:nvPr/>
        </p:nvSpPr>
        <p:spPr>
          <a:xfrm>
            <a:off x="658368" y="1560000"/>
            <a:ext cx="2607840" cy="33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2026</a:t>
            </a:r>
          </a:p>
        </p:txBody>
      </p:sp>
      <p:sp>
        <p:nvSpPr>
          <p:cNvPr id="202" name="cardbody"/>
          <p:cNvSpPr/>
          <p:nvPr/>
        </p:nvSpPr>
        <p:spPr>
          <a:xfrm>
            <a:off x="808368" y="1960000"/>
            <a:ext cx="2307840" cy="2350000"/>
          </a:xfrm>
          <a:prstGeom prst="rect">
            <a:avLst/>
          </a:prstGeom>
          <a:noFill/>
          <a:ln/>
        </p:spPr>
        <p:txBody>
          <a:bodyPr wrap="square" lIns="0" tIns="0" rIns="0" bIns="0" rtlCol="0" anchor="t"/>
          <a:lstStyle/>
          <a:p>
            <a:pPr>
              <a:buNone/>
            </a:pPr>
            <a:r>
              <a:rPr lang="ko-KR" altLang="en-US" sz="740" b="1">
                <a:solidFill>
                  <a:srgbClr val="0B2038"/>
                </a:solidFill>
                <a:latin typeface="Malgun Gothic" pitchFamily="34" charset="0"/>
                <a:ea typeface="Malgun Gothic" pitchFamily="34" charset="-122"/>
                <a:cs typeface="Malgun Gothic" pitchFamily="34" charset="-120"/>
              </a:rPr>
              <a:t>경구 세마글루타이드 (SCD0509)</a:t>
            </a:r>
          </a:p>
          <a:p>
            <a:pPr marL="130000" indent="-130000">
              <a:spcBef>
                <a:spcPts val="75"/>
              </a:spcBef>
              <a:buClr>
                <a:srgbClr val="1D4ED8"/>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14mg BE 완료</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오리지널과 동등성 확인</a:t>
            </a:r>
          </a:p>
          <a:p>
            <a:pPr marL="130000" indent="-130000">
              <a:spcBef>
                <a:spcPts val="75"/>
              </a:spcBef>
              <a:buClr>
                <a:srgbClr val="1D4ED8"/>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FDA Pre-ANDA 진행</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미국 허가 전략 협의 단계</a:t>
            </a:r>
          </a:p>
          <a:p>
            <a:pPr>
              <a:spcBef>
                <a:spcPts val="210"/>
              </a:spcBef>
              <a:buNone/>
            </a:pPr>
            <a:r>
              <a:rPr lang="ko-KR" altLang="en-US" sz="740" b="1">
                <a:solidFill>
                  <a:srgbClr val="0B2038"/>
                </a:solidFill>
                <a:latin typeface="Malgun Gothic" pitchFamily="34" charset="0"/>
                <a:ea typeface="Malgun Gothic" pitchFamily="34" charset="-122"/>
                <a:cs typeface="Malgun Gothic" pitchFamily="34" charset="-120"/>
              </a:rPr>
              <a:t>경구 인슐린 (SCD0503)</a:t>
            </a:r>
          </a:p>
          <a:p>
            <a:pPr marL="130000" indent="-130000">
              <a:spcBef>
                <a:spcPts val="75"/>
              </a:spcBef>
              <a:buClr>
                <a:srgbClr val="1D4ED8"/>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임상 1상 승인</a:t>
            </a:r>
          </a:p>
          <a:p>
            <a:pPr marL="130000" indent="-130000">
              <a:spcBef>
                <a:spcPts val="75"/>
              </a:spcBef>
              <a:buClr>
                <a:srgbClr val="1D4ED8"/>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첫 환자 투약 진행</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사람 대상 안전성 검증 시작</a:t>
            </a:r>
          </a:p>
          <a:p>
            <a:pPr>
              <a:spcBef>
                <a:spcPts val="240"/>
              </a:spcBef>
              <a:buNone/>
            </a:pPr>
            <a:r>
              <a:rPr lang="ko-KR" altLang="en-US" sz="670" b="1">
                <a:solidFill>
                  <a:srgbClr val="1D4ED8"/>
                </a:solidFill>
                <a:latin typeface="Malgun Gothic" pitchFamily="34" charset="0"/>
                <a:ea typeface="Malgun Gothic" pitchFamily="34" charset="-122"/>
                <a:cs typeface="Malgun Gothic" pitchFamily="34" charset="-120"/>
              </a:rPr>
              <a:t>의미</a:t>
            </a:r>
          </a:p>
          <a:p>
            <a:pPr>
              <a:spcBef>
                <a:spcPts val="45"/>
              </a:spcBef>
              <a:buNone/>
            </a:pPr>
            <a:r>
              <a:rPr lang="ko-KR" altLang="en-US" sz="670">
                <a:solidFill>
                  <a:srgbClr val="33465B"/>
                </a:solidFill>
                <a:latin typeface="Malgun Gothic" pitchFamily="34" charset="0"/>
                <a:ea typeface="Malgun Gothic" pitchFamily="34" charset="-122"/>
                <a:cs typeface="Malgun Gothic" pitchFamily="34" charset="-120"/>
              </a:rPr>
              <a:t>개념 검증을 넘어 임상·규제 단계에 진입</a:t>
            </a:r>
          </a:p>
        </p:txBody>
      </p:sp>
      <p:sp>
        <p:nvSpPr>
          <p:cNvPr id="203" name="card">
            <a:extLst>
              <a:ext uri="{C183D7F6-B498-43B3-948B-1728B52AA6E4}">
                <adec:decorative xmlns:adec="http://schemas.microsoft.com/office/drawing/2017/decorative" val="1"/>
              </a:ext>
            </a:extLst>
          </p:cNvPr>
          <p:cNvSpPr/>
          <p:nvPr/>
        </p:nvSpPr>
        <p:spPr>
          <a:xfrm>
            <a:off x="3416208" y="1560000"/>
            <a:ext cx="2607840" cy="282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4" name="cardhdr"/>
          <p:cNvSpPr/>
          <p:nvPr/>
        </p:nvSpPr>
        <p:spPr>
          <a:xfrm>
            <a:off x="3416208" y="1560000"/>
            <a:ext cx="2607840" cy="330000"/>
          </a:xfrm>
          <a:prstGeom prst="round2SameRect">
            <a:avLst>
              <a:gd name="adj1" fmla="val 4200"/>
              <a:gd name="adj2" fmla="val 0"/>
            </a:avLst>
          </a:prstGeom>
          <a:solidFill>
            <a:srgbClr val="0D948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2027</a:t>
            </a:r>
          </a:p>
        </p:txBody>
      </p:sp>
      <p:sp>
        <p:nvSpPr>
          <p:cNvPr id="205" name="cardbody"/>
          <p:cNvSpPr/>
          <p:nvPr/>
        </p:nvSpPr>
        <p:spPr>
          <a:xfrm>
            <a:off x="3566208" y="1960000"/>
            <a:ext cx="2307840" cy="2350000"/>
          </a:xfrm>
          <a:prstGeom prst="rect">
            <a:avLst/>
          </a:prstGeom>
          <a:noFill/>
          <a:ln/>
        </p:spPr>
        <p:txBody>
          <a:bodyPr wrap="square" lIns="0" tIns="0" rIns="0" bIns="0" rtlCol="0" anchor="t"/>
          <a:lstStyle/>
          <a:p>
            <a:pPr>
              <a:buNone/>
            </a:pPr>
            <a:r>
              <a:rPr lang="ko-KR" altLang="en-US" sz="740" b="1">
                <a:solidFill>
                  <a:srgbClr val="0B2038"/>
                </a:solidFill>
                <a:latin typeface="Malgun Gothic" pitchFamily="34" charset="0"/>
                <a:ea typeface="Malgun Gothic" pitchFamily="34" charset="-122"/>
                <a:cs typeface="Malgun Gothic" pitchFamily="34" charset="-120"/>
              </a:rPr>
              <a:t>경구 세마글루타이드</a:t>
            </a:r>
          </a:p>
          <a:p>
            <a:pPr marL="130000" indent="-130000">
              <a:spcBef>
                <a:spcPts val="75"/>
              </a:spcBef>
              <a:buClr>
                <a:srgbClr val="0D9488"/>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캐나다 진출 목표</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첫 상업화 시장 진입 시도</a:t>
            </a:r>
          </a:p>
          <a:p>
            <a:pPr>
              <a:spcBef>
                <a:spcPts val="210"/>
              </a:spcBef>
              <a:buNone/>
            </a:pPr>
            <a:r>
              <a:rPr lang="ko-KR" altLang="en-US" sz="740" b="1">
                <a:solidFill>
                  <a:srgbClr val="0B2038"/>
                </a:solidFill>
                <a:latin typeface="Malgun Gothic" pitchFamily="34" charset="0"/>
                <a:ea typeface="Malgun Gothic" pitchFamily="34" charset="-122"/>
                <a:cs typeface="Malgun Gothic" pitchFamily="34" charset="-120"/>
              </a:rPr>
              <a:t>경구 인슐린</a:t>
            </a:r>
          </a:p>
          <a:p>
            <a:pPr marL="130000" indent="-130000">
              <a:spcBef>
                <a:spcPts val="75"/>
              </a:spcBef>
              <a:buClr>
                <a:srgbClr val="0D9488"/>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임상 2상 목표</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실제 약효 검증 단계</a:t>
            </a:r>
          </a:p>
          <a:p>
            <a:pPr>
              <a:spcBef>
                <a:spcPts val="210"/>
              </a:spcBef>
              <a:buNone/>
            </a:pPr>
            <a:r>
              <a:rPr lang="ko-KR" altLang="en-US" sz="740" b="1">
                <a:solidFill>
                  <a:srgbClr val="0B2038"/>
                </a:solidFill>
                <a:latin typeface="Malgun Gothic" pitchFamily="34" charset="0"/>
                <a:ea typeface="Malgun Gothic" pitchFamily="34" charset="-122"/>
                <a:cs typeface="Malgun Gothic" pitchFamily="34" charset="-120"/>
              </a:rPr>
              <a:t>경구 터제파타이드</a:t>
            </a:r>
          </a:p>
          <a:p>
            <a:pPr marL="130000" indent="-130000">
              <a:spcBef>
                <a:spcPts val="75"/>
              </a:spcBef>
              <a:buClr>
                <a:srgbClr val="0D9488"/>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IND 신청 목표</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사람 대상 임상 시작 준비</a:t>
            </a:r>
          </a:p>
          <a:p>
            <a:pPr>
              <a:spcBef>
                <a:spcPts val="240"/>
              </a:spcBef>
              <a:buNone/>
            </a:pPr>
            <a:r>
              <a:rPr lang="ko-KR" altLang="en-US" sz="670" b="1">
                <a:solidFill>
                  <a:srgbClr val="0D9488"/>
                </a:solidFill>
                <a:latin typeface="Malgun Gothic" pitchFamily="34" charset="0"/>
                <a:ea typeface="Malgun Gothic" pitchFamily="34" charset="-122"/>
                <a:cs typeface="Malgun Gothic" pitchFamily="34" charset="-120"/>
              </a:rPr>
              <a:t>의미</a:t>
            </a:r>
          </a:p>
          <a:p>
            <a:pPr>
              <a:spcBef>
                <a:spcPts val="45"/>
              </a:spcBef>
              <a:buNone/>
            </a:pPr>
            <a:r>
              <a:rPr lang="ko-KR" altLang="en-US" sz="670">
                <a:solidFill>
                  <a:srgbClr val="33465B"/>
                </a:solidFill>
                <a:latin typeface="Malgun Gothic" pitchFamily="34" charset="0"/>
                <a:ea typeface="Malgun Gothic" pitchFamily="34" charset="-122"/>
                <a:cs typeface="Malgun Gothic" pitchFamily="34" charset="-120"/>
              </a:rPr>
              <a:t>세마글루타이드 검증 이후 인슐린·터제파타이드로 확장</a:t>
            </a:r>
          </a:p>
        </p:txBody>
      </p:sp>
      <p:sp>
        <p:nvSpPr>
          <p:cNvPr id="206" name="card">
            <a:extLst>
              <a:ext uri="{C183D7F6-B498-43B3-948B-1728B52AA6E4}">
                <adec:decorative xmlns:adec="http://schemas.microsoft.com/office/drawing/2017/decorative" val="1"/>
              </a:ext>
            </a:extLst>
          </p:cNvPr>
          <p:cNvSpPr/>
          <p:nvPr/>
        </p:nvSpPr>
        <p:spPr>
          <a:xfrm>
            <a:off x="6174048" y="1560000"/>
            <a:ext cx="2607840" cy="282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7" name="cardhdr"/>
          <p:cNvSpPr/>
          <p:nvPr/>
        </p:nvSpPr>
        <p:spPr>
          <a:xfrm>
            <a:off x="6174048" y="1560000"/>
            <a:ext cx="2607840" cy="330000"/>
          </a:xfrm>
          <a:prstGeom prst="round2SameRect">
            <a:avLst>
              <a:gd name="adj1" fmla="val 4200"/>
              <a:gd name="adj2" fmla="val 0"/>
            </a:avLst>
          </a:prstGeom>
          <a:solidFill>
            <a:srgbClr val="E8590C"/>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2029</a:t>
            </a:r>
          </a:p>
        </p:txBody>
      </p:sp>
      <p:sp>
        <p:nvSpPr>
          <p:cNvPr id="208" name="cardbody"/>
          <p:cNvSpPr/>
          <p:nvPr/>
        </p:nvSpPr>
        <p:spPr>
          <a:xfrm>
            <a:off x="6324048" y="1960000"/>
            <a:ext cx="2307840" cy="2350000"/>
          </a:xfrm>
          <a:prstGeom prst="rect">
            <a:avLst/>
          </a:prstGeom>
          <a:noFill/>
          <a:ln/>
        </p:spPr>
        <p:txBody>
          <a:bodyPr wrap="square" lIns="0" tIns="0" rIns="0" bIns="0" rtlCol="0" anchor="t"/>
          <a:lstStyle/>
          <a:p>
            <a:pPr>
              <a:buNone/>
            </a:pPr>
            <a:r>
              <a:rPr lang="ko-KR" altLang="en-US" sz="740" b="1">
                <a:solidFill>
                  <a:srgbClr val="0B2038"/>
                </a:solidFill>
                <a:latin typeface="Malgun Gothic" pitchFamily="34" charset="0"/>
                <a:ea typeface="Malgun Gothic" pitchFamily="34" charset="-122"/>
                <a:cs typeface="Malgun Gothic" pitchFamily="34" charset="-120"/>
              </a:rPr>
              <a:t>경구 세마글루타이드</a:t>
            </a:r>
          </a:p>
          <a:p>
            <a:pPr marL="130000" indent="-130000">
              <a:spcBef>
                <a:spcPts val="75"/>
              </a:spcBef>
              <a:buClr>
                <a:srgbClr val="E8590C"/>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한국 진출 목표</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국내 상업화 추진</a:t>
            </a:r>
          </a:p>
          <a:p>
            <a:pPr>
              <a:spcBef>
                <a:spcPts val="210"/>
              </a:spcBef>
              <a:buNone/>
            </a:pPr>
            <a:r>
              <a:rPr lang="ko-KR" altLang="en-US" sz="740" b="1">
                <a:solidFill>
                  <a:srgbClr val="0B2038"/>
                </a:solidFill>
                <a:latin typeface="Malgun Gothic" pitchFamily="34" charset="0"/>
                <a:ea typeface="Malgun Gothic" pitchFamily="34" charset="-122"/>
                <a:cs typeface="Malgun Gothic" pitchFamily="34" charset="-120"/>
              </a:rPr>
              <a:t>경구 인슐린</a:t>
            </a:r>
          </a:p>
          <a:p>
            <a:pPr marL="130000" indent="-130000">
              <a:spcBef>
                <a:spcPts val="75"/>
              </a:spcBef>
              <a:buClr>
                <a:srgbClr val="E8590C"/>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임상 3상 목표</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허가 직전 대규모 검증 단계</a:t>
            </a:r>
          </a:p>
          <a:p>
            <a:pPr>
              <a:spcBef>
                <a:spcPts val="240"/>
              </a:spcBef>
              <a:buNone/>
            </a:pPr>
            <a:r>
              <a:rPr lang="ko-KR" altLang="en-US" sz="670" b="1">
                <a:solidFill>
                  <a:srgbClr val="E8590C"/>
                </a:solidFill>
                <a:latin typeface="Malgun Gothic" pitchFamily="34" charset="0"/>
                <a:ea typeface="Malgun Gothic" pitchFamily="34" charset="-122"/>
                <a:cs typeface="Malgun Gothic" pitchFamily="34" charset="-120"/>
              </a:rPr>
              <a:t>의미</a:t>
            </a:r>
          </a:p>
          <a:p>
            <a:pPr>
              <a:spcBef>
                <a:spcPts val="45"/>
              </a:spcBef>
              <a:buNone/>
            </a:pPr>
            <a:r>
              <a:rPr lang="ko-KR" altLang="en-US" sz="670">
                <a:solidFill>
                  <a:srgbClr val="33465B"/>
                </a:solidFill>
                <a:latin typeface="Malgun Gothic" pitchFamily="34" charset="0"/>
                <a:ea typeface="Malgun Gothic" pitchFamily="34" charset="-122"/>
                <a:cs typeface="Malgun Gothic" pitchFamily="34" charset="-120"/>
              </a:rPr>
              <a:t>상업화와 후기 임상이 동시에 진행되는 구간</a:t>
            </a:r>
          </a:p>
        </p:txBody>
      </p:sp>
      <p:sp>
        <p:nvSpPr>
          <p:cNvPr id="209" name="card">
            <a:extLst>
              <a:ext uri="{C183D7F6-B498-43B3-948B-1728B52AA6E4}">
                <adec:decorative xmlns:adec="http://schemas.microsoft.com/office/drawing/2017/decorative" val="1"/>
              </a:ext>
            </a:extLst>
          </p:cNvPr>
          <p:cNvSpPr/>
          <p:nvPr/>
        </p:nvSpPr>
        <p:spPr>
          <a:xfrm>
            <a:off x="8931888" y="1560000"/>
            <a:ext cx="2607840" cy="282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0" name="cardhdr"/>
          <p:cNvSpPr/>
          <p:nvPr/>
        </p:nvSpPr>
        <p:spPr>
          <a:xfrm>
            <a:off x="8931888" y="1560000"/>
            <a:ext cx="2607840" cy="330000"/>
          </a:xfrm>
          <a:prstGeom prst="round2SameRect">
            <a:avLst>
              <a:gd name="adj1" fmla="val 4200"/>
              <a:gd name="adj2" fmla="val 0"/>
            </a:avLst>
          </a:prstGeom>
          <a:solidFill>
            <a:srgbClr val="059669"/>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2031 이후</a:t>
            </a:r>
          </a:p>
        </p:txBody>
      </p:sp>
      <p:sp>
        <p:nvSpPr>
          <p:cNvPr id="211" name="cardbody"/>
          <p:cNvSpPr/>
          <p:nvPr/>
        </p:nvSpPr>
        <p:spPr>
          <a:xfrm>
            <a:off x="9081888" y="1960000"/>
            <a:ext cx="2307840" cy="2350000"/>
          </a:xfrm>
          <a:prstGeom prst="rect">
            <a:avLst/>
          </a:prstGeom>
          <a:noFill/>
          <a:ln/>
        </p:spPr>
        <p:txBody>
          <a:bodyPr wrap="square" lIns="0" tIns="0" rIns="0" bIns="0" rtlCol="0" anchor="t"/>
          <a:lstStyle/>
          <a:p>
            <a:pPr>
              <a:buNone/>
            </a:pPr>
            <a:r>
              <a:rPr lang="ko-KR" altLang="en-US" sz="740" b="1">
                <a:solidFill>
                  <a:srgbClr val="0B2038"/>
                </a:solidFill>
                <a:latin typeface="Malgun Gothic" pitchFamily="34" charset="0"/>
                <a:ea typeface="Malgun Gothic" pitchFamily="34" charset="-122"/>
                <a:cs typeface="Malgun Gothic" pitchFamily="34" charset="-120"/>
              </a:rPr>
              <a:t>경구 세마글루타이드</a:t>
            </a:r>
          </a:p>
          <a:p>
            <a:pPr marL="130000" indent="-130000">
              <a:spcBef>
                <a:spcPts val="75"/>
              </a:spcBef>
              <a:buClr>
                <a:srgbClr val="059669"/>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미국·유럽·일본 확대 목표</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글로벌 시장 진입 확대</a:t>
            </a:r>
          </a:p>
          <a:p>
            <a:pPr>
              <a:spcBef>
                <a:spcPts val="210"/>
              </a:spcBef>
              <a:buNone/>
            </a:pPr>
            <a:r>
              <a:rPr lang="ko-KR" altLang="en-US" sz="740" b="1">
                <a:solidFill>
                  <a:srgbClr val="0B2038"/>
                </a:solidFill>
                <a:latin typeface="Malgun Gothic" pitchFamily="34" charset="0"/>
                <a:ea typeface="Malgun Gothic" pitchFamily="34" charset="-122"/>
                <a:cs typeface="Malgun Gothic" pitchFamily="34" charset="-120"/>
              </a:rPr>
              <a:t>경구 인슐린</a:t>
            </a:r>
          </a:p>
          <a:p>
            <a:pPr marL="130000" indent="-130000">
              <a:spcBef>
                <a:spcPts val="75"/>
              </a:spcBef>
              <a:buClr>
                <a:srgbClr val="059669"/>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허가 및 상업화 기대</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실제 매출로 연결되는 단계</a:t>
            </a:r>
          </a:p>
          <a:p>
            <a:pPr>
              <a:spcBef>
                <a:spcPts val="210"/>
              </a:spcBef>
              <a:buNone/>
            </a:pPr>
            <a:r>
              <a:rPr lang="ko-KR" altLang="en-US" sz="740" b="1">
                <a:solidFill>
                  <a:srgbClr val="0B2038"/>
                </a:solidFill>
                <a:latin typeface="Malgun Gothic" pitchFamily="34" charset="0"/>
                <a:ea typeface="Malgun Gothic" pitchFamily="34" charset="-122"/>
                <a:cs typeface="Malgun Gothic" pitchFamily="34" charset="-120"/>
              </a:rPr>
              <a:t>경구 항체의약품</a:t>
            </a:r>
          </a:p>
          <a:p>
            <a:pPr marL="130000" indent="-130000">
              <a:spcBef>
                <a:spcPts val="75"/>
              </a:spcBef>
              <a:buClr>
                <a:srgbClr val="059669"/>
              </a:buClr>
              <a:buFont typeface="Arial"/>
              <a:buChar char="•"/>
            </a:pPr>
            <a:r>
              <a:rPr lang="ko-KR" altLang="en-US" sz="670">
                <a:solidFill>
                  <a:srgbClr val="33465B"/>
                </a:solidFill>
                <a:latin typeface="Malgun Gothic" pitchFamily="34" charset="0"/>
                <a:ea typeface="Malgun Gothic" pitchFamily="34" charset="-122"/>
                <a:cs typeface="Malgun Gothic" pitchFamily="34" charset="-120"/>
              </a:rPr>
              <a:t>초기 연구 단계</a:t>
            </a:r>
          </a:p>
          <a:p>
            <a:pPr marL="220000" indent="0">
              <a:spcBef>
                <a:spcPts val="25"/>
              </a:spcBef>
              <a:buNone/>
            </a:pPr>
            <a:r>
              <a:rPr lang="ko-KR" altLang="en-US" sz="620">
                <a:solidFill>
                  <a:srgbClr val="5A6B7E"/>
                </a:solidFill>
                <a:latin typeface="Malgun Gothic" pitchFamily="34" charset="0"/>
                <a:ea typeface="Malgun Gothic" pitchFamily="34" charset="-122"/>
                <a:cs typeface="Malgun Gothic" pitchFamily="34" charset="-120"/>
              </a:rPr>
              <a:t>→ 장기 플랫폼 확장 옵션</a:t>
            </a:r>
          </a:p>
          <a:p>
            <a:pPr>
              <a:spcBef>
                <a:spcPts val="240"/>
              </a:spcBef>
              <a:buNone/>
            </a:pPr>
            <a:r>
              <a:rPr lang="ko-KR" altLang="en-US" sz="670" b="1">
                <a:solidFill>
                  <a:srgbClr val="059669"/>
                </a:solidFill>
                <a:latin typeface="Malgun Gothic" pitchFamily="34" charset="0"/>
                <a:ea typeface="Malgun Gothic" pitchFamily="34" charset="-122"/>
                <a:cs typeface="Malgun Gothic" pitchFamily="34" charset="-120"/>
              </a:rPr>
              <a:t>의미</a:t>
            </a:r>
          </a:p>
          <a:p>
            <a:pPr>
              <a:spcBef>
                <a:spcPts val="45"/>
              </a:spcBef>
              <a:buNone/>
            </a:pPr>
            <a:r>
              <a:rPr lang="ko-KR" altLang="en-US" sz="670">
                <a:solidFill>
                  <a:srgbClr val="33465B"/>
                </a:solidFill>
                <a:latin typeface="Malgun Gothic" pitchFamily="34" charset="0"/>
                <a:ea typeface="Malgun Gothic" pitchFamily="34" charset="-122"/>
                <a:cs typeface="Malgun Gothic" pitchFamily="34" charset="-120"/>
              </a:rPr>
              <a:t>플랫폼 가치가 실제 매출로 연결되는 구간</a:t>
            </a:r>
          </a:p>
        </p:txBody>
      </p:sp>
      <p:sp>
        <p:nvSpPr>
          <p:cNvPr id="212" name="band">
            <a:extLst>
              <a:ext uri="{C183D7F6-B498-43B3-948B-1728B52AA6E4}">
                <adec:decorative xmlns:adec="http://schemas.microsoft.com/office/drawing/2017/decorative" val="1"/>
              </a:ext>
            </a:extLst>
          </p:cNvPr>
          <p:cNvSpPr/>
          <p:nvPr/>
        </p:nvSpPr>
        <p:spPr>
          <a:xfrm>
            <a:off x="658368" y="4440000"/>
            <a:ext cx="10881360" cy="470000"/>
          </a:xfrm>
          <a:prstGeom prst="rect">
            <a:avLst/>
          </a:prstGeom>
          <a:solidFill>
            <a:srgbClr val="EEF1F6"/>
          </a:solidFill>
          <a:ln w="9525">
            <a:solidFill>
              <a:srgbClr val="C7D2E0"/>
            </a:solidFill>
          </a:ln>
        </p:spPr>
        <p:txBody>
          <a:bodyPr/>
          <a:lstStyle/>
          <a:p>
            <a:endParaRPr lang="ko-KR" altLang="en-US"/>
          </a:p>
        </p:txBody>
      </p:sp>
      <p:sp>
        <p:nvSpPr>
          <p:cNvPr id="214" name="btxt"/>
          <p:cNvSpPr/>
          <p:nvPr/>
        </p:nvSpPr>
        <p:spPr>
          <a:xfrm>
            <a:off x="658368" y="4440000"/>
            <a:ext cx="10881360" cy="470000"/>
          </a:xfrm>
          <a:prstGeom prst="rect">
            <a:avLst/>
          </a:prstGeom>
          <a:noFill/>
          <a:ln/>
        </p:spPr>
        <p:txBody>
          <a:bodyPr wrap="square" lIns="300000" tIns="0" rIns="220000" bIns="0" rtlCol="0" anchor="ctr"/>
          <a:lstStyle/>
          <a:p>
            <a:pPr algn="ctr">
              <a:buNone/>
            </a:pPr>
            <a:r>
              <a:rPr lang="ko-KR" altLang="en-US" sz="700" b="1">
                <a:solidFill>
                  <a:srgbClr val="0B2038"/>
                </a:solidFill>
                <a:latin typeface="Malgun Gothic" pitchFamily="34" charset="0"/>
                <a:ea typeface="Malgun Gothic" pitchFamily="34" charset="-122"/>
                <a:cs typeface="Malgun Gothic" pitchFamily="34" charset="-120"/>
              </a:rPr>
              <a:t>투자자가 확인할 것    </a:t>
            </a:r>
            <a:r>
              <a:rPr lang="ko-KR" altLang="en-US" sz="660">
                <a:solidFill>
                  <a:srgbClr val="33465B"/>
                </a:solidFill>
                <a:latin typeface="Malgun Gothic" pitchFamily="34" charset="0"/>
                <a:ea typeface="Malgun Gothic" pitchFamily="34" charset="-122"/>
                <a:cs typeface="Malgun Gothic" pitchFamily="34" charset="-120"/>
              </a:rPr>
              <a:t>① 규제 이벤트(FDA/EMA)   ② 임상 단계 진입   ③ 파트너 계약 확대   ④ 데이터 공개   ⑤ 실제 판매 개시</a:t>
            </a:r>
          </a:p>
        </p:txBody>
      </p:sp>
      <p:sp>
        <p:nvSpPr>
          <p:cNvPr id="400" name="concl">
            <a:extLst>
              <a:ext uri="{C183D7F6-B498-43B3-948B-1728B52AA6E4}">
                <adec:decorative xmlns:adec="http://schemas.microsoft.com/office/drawing/2017/decorative" val="1"/>
              </a:ext>
            </a:extLst>
          </p:cNvPr>
          <p:cNvSpPr/>
          <p:nvPr/>
        </p:nvSpPr>
        <p:spPr>
          <a:xfrm>
            <a:off x="658368" y="4970000"/>
            <a:ext cx="10881360" cy="1300000"/>
          </a:xfrm>
          <a:prstGeom prst="rect">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401" name="cacc">
            <a:extLst>
              <a:ext uri="{C183D7F6-B498-43B3-948B-1728B52AA6E4}">
                <adec:decorative xmlns:adec="http://schemas.microsoft.com/office/drawing/2017/decorative" val="1"/>
              </a:ext>
            </a:extLst>
          </p:cNvPr>
          <p:cNvSpPr/>
          <p:nvPr/>
        </p:nvSpPr>
        <p:spPr>
          <a:xfrm>
            <a:off x="658368" y="4970000"/>
            <a:ext cx="120000" cy="1300000"/>
          </a:xfrm>
          <a:prstGeom prst="rect">
            <a:avLst/>
          </a:prstGeom>
          <a:solidFill>
            <a:srgbClr val="0D9488"/>
          </a:solidFill>
          <a:ln/>
        </p:spPr>
        <p:txBody>
          <a:bodyPr/>
          <a:lstStyle/>
          <a:p>
            <a:endParaRPr lang="ko-KR" altLang="en-US"/>
          </a:p>
        </p:txBody>
      </p:sp>
      <p:sp>
        <p:nvSpPr>
          <p:cNvPr id="402" name="ctxt"/>
          <p:cNvSpPr/>
          <p:nvPr/>
        </p:nvSpPr>
        <p:spPr>
          <a:xfrm>
            <a:off x="1058368" y="5080000"/>
            <a:ext cx="10081360" cy="1080000"/>
          </a:xfrm>
          <a:prstGeom prst="rect">
            <a:avLst/>
          </a:prstGeom>
          <a:noFill/>
          <a:ln/>
        </p:spPr>
        <p:txBody>
          <a:bodyPr wrap="square" lIns="0" tIns="0" rIns="0" bIns="0" rtlCol="0" anchor="ctr"/>
          <a:lstStyle/>
          <a:p>
            <a:pPr algn="ctr">
              <a:buNone/>
            </a:pPr>
            <a:r>
              <a:rPr lang="ko-KR" altLang="en-US" sz="820" b="1" spc="200">
                <a:solidFill>
                  <a:srgbClr val="7FE9DC"/>
                </a:solidFill>
                <a:latin typeface="Malgun Gothic" pitchFamily="34" charset="0"/>
                <a:ea typeface="Malgun Gothic" pitchFamily="34" charset="-122"/>
                <a:cs typeface="Malgun Gothic" pitchFamily="34" charset="-120"/>
              </a:rPr>
              <a:t>최종 결론</a:t>
            </a:r>
          </a:p>
          <a:p>
            <a:pPr algn="ctr">
              <a:spcBef>
                <a:spcPts val="260"/>
              </a:spcBef>
              <a:buNone/>
            </a:pPr>
            <a:r>
              <a:rPr lang="ko-KR" altLang="en-US" sz="900" b="1">
                <a:solidFill>
                  <a:srgbClr val="FFFFFF"/>
                </a:solidFill>
                <a:latin typeface="Malgun Gothic" pitchFamily="34" charset="0"/>
                <a:ea typeface="Malgun Gothic" pitchFamily="34" charset="-122"/>
                <a:cs typeface="Malgun Gothic" pitchFamily="34" charset="-120"/>
              </a:rPr>
              <a:t>세마글루타이드 </a:t>
            </a:r>
            <a:r>
              <a:rPr lang="ko-KR" altLang="en-US" sz="880">
                <a:solidFill>
                  <a:srgbClr val="E2E8F0"/>
                </a:solidFill>
                <a:latin typeface="Malgun Gothic" pitchFamily="34" charset="0"/>
                <a:ea typeface="Malgun Gothic" pitchFamily="34" charset="-122"/>
                <a:cs typeface="Malgun Gothic" pitchFamily="34" charset="-120"/>
              </a:rPr>
              <a:t>= 상업화 최근접    </a:t>
            </a:r>
            <a:r>
              <a:rPr lang="ko-KR" altLang="en-US" sz="900" b="1">
                <a:solidFill>
                  <a:srgbClr val="FFFFFF"/>
                </a:solidFill>
                <a:latin typeface="Malgun Gothic" pitchFamily="34" charset="0"/>
                <a:ea typeface="Malgun Gothic" pitchFamily="34" charset="-122"/>
                <a:cs typeface="Malgun Gothic" pitchFamily="34" charset="-120"/>
              </a:rPr>
              <a:t>인슐린·터제파타이드 </a:t>
            </a:r>
            <a:r>
              <a:rPr lang="ko-KR" altLang="en-US" sz="880">
                <a:solidFill>
                  <a:srgbClr val="E2E8F0"/>
                </a:solidFill>
                <a:latin typeface="Malgun Gothic" pitchFamily="34" charset="0"/>
                <a:ea typeface="Malgun Gothic" pitchFamily="34" charset="-122"/>
                <a:cs typeface="Malgun Gothic" pitchFamily="34" charset="-120"/>
              </a:rPr>
              <a:t>= 적용 범위 확대    </a:t>
            </a:r>
            <a:r>
              <a:rPr lang="ko-KR" altLang="en-US" sz="900" b="1">
                <a:solidFill>
                  <a:srgbClr val="FFFFFF"/>
                </a:solidFill>
                <a:latin typeface="Malgun Gothic" pitchFamily="34" charset="0"/>
                <a:ea typeface="Malgun Gothic" pitchFamily="34" charset="-122"/>
                <a:cs typeface="Malgun Gothic" pitchFamily="34" charset="-120"/>
              </a:rPr>
              <a:t>항체의약품 </a:t>
            </a:r>
            <a:r>
              <a:rPr lang="ko-KR" altLang="en-US" sz="880">
                <a:solidFill>
                  <a:srgbClr val="E2E8F0"/>
                </a:solidFill>
                <a:latin typeface="Malgun Gothic" pitchFamily="34" charset="0"/>
                <a:ea typeface="Malgun Gothic" pitchFamily="34" charset="-122"/>
                <a:cs typeface="Malgun Gothic" pitchFamily="34" charset="-120"/>
              </a:rPr>
              <a:t>= 장기 옵션 가치</a:t>
            </a:r>
          </a:p>
          <a:p>
            <a:pPr algn="ctr">
              <a:spcBef>
                <a:spcPts val="200"/>
              </a:spcBef>
              <a:buNone/>
            </a:pPr>
            <a:r>
              <a:rPr lang="ko-KR" altLang="en-US" sz="950">
                <a:solidFill>
                  <a:srgbClr val="C7D2E0"/>
                </a:solidFill>
                <a:latin typeface="Malgun Gothic" pitchFamily="34" charset="0"/>
                <a:ea typeface="Malgun Gothic" pitchFamily="34" charset="-122"/>
                <a:cs typeface="Malgun Gothic" pitchFamily="34" charset="-120"/>
              </a:rPr>
              <a:t>즉, S-PASS는 단일 제품 개발이 아니라 </a:t>
            </a:r>
            <a:r>
              <a:rPr lang="ko-KR" altLang="en-US" sz="950" b="1">
                <a:solidFill>
                  <a:srgbClr val="FDBA74"/>
                </a:solidFill>
                <a:latin typeface="Malgun Gothic" pitchFamily="34" charset="0"/>
                <a:ea typeface="Malgun Gothic" pitchFamily="34" charset="-122"/>
                <a:cs typeface="Malgun Gothic" pitchFamily="34" charset="-120"/>
              </a:rPr>
              <a:t>여러 파이프라인이 단계적으로 플랫폼 가치를 검증해 나가는 구조</a:t>
            </a:r>
            <a:r>
              <a:rPr lang="ko-KR" altLang="en-US" sz="950">
                <a:solidFill>
                  <a:srgbClr val="C7D2E0"/>
                </a:solidFill>
                <a:latin typeface="Malgun Gothic" pitchFamily="34" charset="0"/>
                <a:ea typeface="Malgun Gothic" pitchFamily="34" charset="-122"/>
                <a:cs typeface="Malgun Gothic" pitchFamily="34" charset="-120"/>
              </a:rPr>
              <a:t>다.</a:t>
            </a:r>
          </a:p>
        </p:txBody>
      </p:sp>
      <p:sp>
        <p:nvSpPr>
          <p:cNvPr id="93" name="page num"/>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22</a:t>
            </a:r>
            <a:endParaRPr lang="en-US" sz="8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bg">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080B12"/>
          </a:solidFill>
          <a:ln/>
        </p:spPr>
        <p:txBody>
          <a:bodyPr/>
          <a:lstStyle/>
          <a:p>
            <a:endParaRPr lang="ko-KR" altLang="en-US"/>
          </a:p>
        </p:txBody>
      </p:sp>
      <p:sp>
        <p:nvSpPr>
          <p:cNvPr id="3" name="top rule">
            <a:extLst>
              <a:ext uri="{C183D7F6-B498-43B3-948B-1728B52AA6E4}">
                <adec:decorative xmlns:adec="http://schemas.microsoft.com/office/drawing/2017/decorative" val="1"/>
              </a:ext>
            </a:extLst>
          </p:cNvPr>
          <p:cNvSpPr/>
          <p:nvPr/>
        </p:nvSpPr>
        <p:spPr>
          <a:xfrm>
            <a:off x="0" y="0"/>
            <a:ext cx="12191695" cy="109728"/>
          </a:xfrm>
          <a:prstGeom prst="rect">
            <a:avLst/>
          </a:prstGeom>
          <a:solidFill>
            <a:srgbClr val="1D4ED8"/>
          </a:solidFill>
          <a:ln/>
        </p:spPr>
        <p:txBody>
          <a:bodyPr/>
          <a:lstStyle/>
          <a:p>
            <a:endParaRPr lang="ko-KR" altLang="en-US"/>
          </a:p>
        </p:txBody>
      </p:sp>
      <p:sp>
        <p:nvSpPr>
          <p:cNvPr id="4" name="bottom rule">
            <a:extLst>
              <a:ext uri="{C183D7F6-B498-43B3-948B-1728B52AA6E4}">
                <adec:decorative xmlns:adec="http://schemas.microsoft.com/office/drawing/2017/decorative" val="1"/>
              </a:ext>
            </a:extLst>
          </p:cNvPr>
          <p:cNvSpPr/>
          <p:nvPr/>
        </p:nvSpPr>
        <p:spPr>
          <a:xfrm>
            <a:off x="0" y="6784848"/>
            <a:ext cx="12191695" cy="73152"/>
          </a:xfrm>
          <a:prstGeom prst="rect">
            <a:avLst/>
          </a:prstGeom>
          <a:solidFill>
            <a:srgbClr val="1E3A8A"/>
          </a:solidFill>
          <a:ln/>
        </p:spPr>
        <p:txBody>
          <a:bodyPr/>
          <a:lstStyle/>
          <a:p>
            <a:endParaRPr lang="ko-KR" altLang="en-US"/>
          </a:p>
        </p:txBody>
      </p:sp>
      <p:sp>
        <p:nvSpPr>
          <p:cNvPr id="5" name="Text 3"/>
          <p:cNvSpPr/>
          <p:nvPr/>
        </p:nvSpPr>
        <p:spPr>
          <a:xfrm>
            <a:off x="841248" y="713232"/>
            <a:ext cx="5486400" cy="365760"/>
          </a:xfrm>
          <a:prstGeom prst="rect">
            <a:avLst/>
          </a:prstGeom>
          <a:noFill/>
          <a:ln/>
        </p:spPr>
        <p:txBody>
          <a:bodyPr wrap="square" lIns="0" tIns="0" rIns="0" bIns="0" rtlCol="0" anchor="ctr"/>
          <a:lstStyle/>
          <a:p>
            <a:pPr marL="0" indent="0">
              <a:buNone/>
            </a:pPr>
            <a:r>
              <a:rPr lang="en-US" sz="1400" b="1" kern="0" spc="600" dirty="0">
                <a:solidFill>
                  <a:srgbClr val="60A5FA"/>
                </a:solidFill>
                <a:latin typeface="Malgun Gothic" pitchFamily="34" charset="0"/>
                <a:ea typeface="Malgun Gothic" pitchFamily="34" charset="-122"/>
                <a:cs typeface="Malgun Gothic" pitchFamily="34" charset="-120"/>
              </a:rPr>
              <a:t>SECTION</a:t>
            </a:r>
            <a:endParaRPr lang="en-US" sz="1400" dirty="0"/>
          </a:p>
        </p:txBody>
      </p:sp>
      <p:sp>
        <p:nvSpPr>
          <p:cNvPr id="6" name="Text 4">
            <a:extLst>
              <a:ext uri="{C183D7F6-B498-43B3-948B-1728B52AA6E4}">
                <adec:decorative xmlns:adec="http://schemas.microsoft.com/office/drawing/2017/decorative" val="1"/>
              </a:ext>
            </a:extLst>
          </p:cNvPr>
          <p:cNvSpPr/>
          <p:nvPr/>
        </p:nvSpPr>
        <p:spPr>
          <a:xfrm>
            <a:off x="566928" y="2651760"/>
            <a:ext cx="5852160" cy="3840480"/>
          </a:xfrm>
          <a:prstGeom prst="rect">
            <a:avLst/>
          </a:prstGeom>
          <a:noFill/>
          <a:ln/>
        </p:spPr>
        <p:txBody>
          <a:bodyPr wrap="square" lIns="0" tIns="0" rIns="0" bIns="0" rtlCol="0" anchor="b"/>
          <a:lstStyle/>
          <a:p>
            <a:pPr marL="0" indent="0" algn="l">
              <a:buNone/>
            </a:pPr>
            <a:r>
              <a:rPr lang="en-US" sz="25000" b="1" dirty="0">
                <a:solidFill>
                  <a:srgbClr val="3B82F6"/>
                </a:solidFill>
                <a:latin typeface="Malgun Gothic" pitchFamily="34" charset="0"/>
                <a:ea typeface="Malgun Gothic" pitchFamily="34" charset="-122"/>
                <a:cs typeface="Malgun Gothic" pitchFamily="34" charset="-120"/>
              </a:rPr>
              <a:t>03</a:t>
            </a:r>
            <a:endParaRPr lang="en-US" sz="25000" dirty="0"/>
          </a:p>
        </p:txBody>
      </p:sp>
      <p:sp>
        <p:nvSpPr>
          <p:cNvPr id="7" name="sep">
            <a:extLst>
              <a:ext uri="{C183D7F6-B498-43B3-948B-1728B52AA6E4}">
                <adec:decorative xmlns:adec="http://schemas.microsoft.com/office/drawing/2017/decorative" val="1"/>
              </a:ext>
            </a:extLst>
          </p:cNvPr>
          <p:cNvSpPr/>
          <p:nvPr/>
        </p:nvSpPr>
        <p:spPr>
          <a:xfrm>
            <a:off x="6720840" y="2148840"/>
            <a:ext cx="25603" cy="2560320"/>
          </a:xfrm>
          <a:prstGeom prst="rect">
            <a:avLst/>
          </a:prstGeom>
          <a:solidFill>
            <a:srgbClr val="24344F"/>
          </a:solidFill>
          <a:ln/>
        </p:spPr>
        <p:txBody>
          <a:bodyPr/>
          <a:lstStyle/>
          <a:p>
            <a:endParaRPr lang="ko-KR" altLang="en-US"/>
          </a:p>
        </p:txBody>
      </p:sp>
      <p:sp>
        <p:nvSpPr>
          <p:cNvPr id="8" name="accent">
            <a:extLst>
              <a:ext uri="{C183D7F6-B498-43B3-948B-1728B52AA6E4}">
                <adec:decorative xmlns:adec="http://schemas.microsoft.com/office/drawing/2017/decorative" val="1"/>
              </a:ext>
            </a:extLst>
          </p:cNvPr>
          <p:cNvSpPr/>
          <p:nvPr/>
        </p:nvSpPr>
        <p:spPr>
          <a:xfrm>
            <a:off x="7178040" y="2724912"/>
            <a:ext cx="731520" cy="73152"/>
          </a:xfrm>
          <a:prstGeom prst="rect">
            <a:avLst/>
          </a:prstGeom>
          <a:solidFill>
            <a:srgbClr val="1D4ED8"/>
          </a:solidFill>
          <a:ln/>
        </p:spPr>
        <p:txBody>
          <a:bodyPr/>
          <a:lstStyle/>
          <a:p>
            <a:endParaRPr lang="ko-KR" altLang="en-US"/>
          </a:p>
        </p:txBody>
      </p:sp>
      <p:sp>
        <p:nvSpPr>
          <p:cNvPr id="9" name="Text 7"/>
          <p:cNvSpPr/>
          <p:nvPr/>
        </p:nvSpPr>
        <p:spPr>
          <a:xfrm>
            <a:off x="7132320" y="2944368"/>
            <a:ext cx="4663440" cy="1188720"/>
          </a:xfrm>
          <a:prstGeom prst="rect">
            <a:avLst/>
          </a:prstGeom>
          <a:noFill/>
          <a:ln/>
        </p:spPr>
        <p:txBody>
          <a:bodyPr wrap="square" lIns="0" tIns="0" rIns="0" bIns="0" rtlCol="0" anchor="t"/>
          <a:lstStyle/>
          <a:p>
            <a:pPr marL="0" indent="0" algn="l">
              <a:lnSpc>
                <a:spcPct val="105000"/>
              </a:lnSpc>
              <a:buNone/>
            </a:pPr>
            <a:r>
              <a:rPr lang="en-US" sz="3300" b="1" dirty="0">
                <a:solidFill>
                  <a:srgbClr val="FFFFFF"/>
                </a:solidFill>
                <a:latin typeface="Malgun Gothic" pitchFamily="34" charset="0"/>
                <a:ea typeface="Malgun Gothic" pitchFamily="34" charset="-122"/>
                <a:cs typeface="Malgun Gothic" pitchFamily="34" charset="-120"/>
              </a:rPr>
              <a:t>투자리스크</a:t>
            </a:r>
            <a:endParaRPr lang="en-US" sz="3300" dirty="0"/>
          </a:p>
        </p:txBody>
      </p:sp>
      <p:sp>
        <p:nvSpPr>
          <p:cNvPr id="10" name="Text 8">
            <a:extLst>
              <a:ext uri="{C183D7F6-B498-43B3-948B-1728B52AA6E4}">
                <adec:decorative xmlns:adec="http://schemas.microsoft.com/office/drawing/2017/decorative" val="1"/>
              </a:ext>
            </a:extLst>
          </p:cNvPr>
          <p:cNvSpPr/>
          <p:nvPr/>
        </p:nvSpPr>
        <p:spPr>
          <a:xfrm>
            <a:off x="7178040" y="4160520"/>
            <a:ext cx="4663440" cy="457200"/>
          </a:xfrm>
          <a:prstGeom prst="rect">
            <a:avLst/>
          </a:prstGeom>
          <a:noFill/>
          <a:ln/>
        </p:spPr>
        <p:txBody>
          <a:bodyPr wrap="square" lIns="0" tIns="0" rIns="0" bIns="0" rtlCol="0" anchor="ctr"/>
          <a:lstStyle/>
          <a:p>
            <a:pPr marL="0" indent="0" algn="l">
              <a:buNone/>
            </a:pPr>
            <a:r>
              <a:rPr lang="en-US" sz="1500" kern="0" spc="300" dirty="0">
                <a:solidFill>
                  <a:srgbClr val="60A5FA"/>
                </a:solidFill>
                <a:latin typeface="Malgun Gothic" pitchFamily="34" charset="0"/>
                <a:ea typeface="Malgun Gothic" pitchFamily="34" charset="-122"/>
                <a:cs typeface="Malgun Gothic" pitchFamily="34" charset="-120"/>
              </a:rPr>
              <a:t>RISK FACTORS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dirty="0">
                <a:solidFill>
                  <a:srgbClr val="D97706"/>
                </a:solidFill>
                <a:latin typeface="Malgun Gothic" pitchFamily="34" charset="0"/>
                <a:ea typeface="Malgun Gothic" pitchFamily="34" charset="-122"/>
                <a:cs typeface="Malgun Gothic" pitchFamily="34" charset="-120"/>
              </a:rPr>
              <a:t>03 · 투자리스크</a:t>
            </a:r>
            <a:endParaRPr lang="en-US" sz="1100" b="1" kern="0" spc="200">
              <a:solidFill>
                <a:srgbClr val="D97706"/>
              </a:solidFill>
              <a:latin typeface="Malgun Gothic" pitchFamily="34" charset="0"/>
              <a:ea typeface="Malgun Gothic" pitchFamily="34" charset="-122"/>
              <a:cs typeface="Malgun Gothic" pitchFamily="34" charset="-120"/>
            </a:endParaRPr>
          </a:p>
        </p:txBody>
      </p:sp>
      <p:sp>
        <p:nvSpPr>
          <p:cNvPr id="3" name="Text 1"/>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03-1. 사업 리스크</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D97706"/>
          </a:solidFill>
          <a:ln/>
        </p:spPr>
        <p:txBody>
          <a:bodyPr/>
          <a:lstStyle/>
          <a:p>
            <a:endParaRPr lang="ko-KR" altLang="en-US"/>
          </a:p>
        </p:txBody>
      </p:sp>
      <p:sp>
        <p:nvSpPr>
          <p:cNvPr id="212" name="src"/>
          <p:cNvSpPr/>
          <p:nvPr/>
        </p:nvSpPr>
        <p:spPr>
          <a:xfrm>
            <a:off x="658368" y="6215000"/>
            <a:ext cx="10881360" cy="240000"/>
          </a:xfrm>
          <a:prstGeom prst="rect">
            <a:avLst/>
          </a:prstGeom>
          <a:noFill/>
          <a:ln/>
        </p:spPr>
        <p:txBody>
          <a:bodyPr wrap="square" lIns="0" tIns="0" rIns="0" bIns="0" rtlCol="0" anchor="t"/>
          <a:lstStyle/>
          <a:p>
            <a:pPr algn="ctr">
              <a:buNone/>
            </a:pPr>
            <a:r>
              <a:rPr lang="ko-KR" altLang="en-US" sz="560">
                <a:solidFill>
                  <a:srgbClr val="5A6B7E"/>
                </a:solidFill>
                <a:latin typeface="Malgun Gothic" pitchFamily="34" charset="0"/>
                <a:ea typeface="Malgun Gothic" pitchFamily="34" charset="-122"/>
                <a:cs typeface="Malgun Gothic" pitchFamily="34" charset="-120"/>
              </a:rPr>
              <a:t>출처: 한국거래소 KIND · 삼천당제약 보도자료 · 데일리팜 · 주간한국 · PRESS9 · 쿠키뉴스 · 의학신문 · 메디파나뉴스 · 데일리메디</a:t>
            </a:r>
          </a:p>
        </p:txBody>
      </p:sp>
      <p:sp>
        <p:nvSpPr>
          <p:cNvPr id="200" name="subt"/>
          <p:cNvSpPr/>
          <p:nvPr/>
        </p:nvSpPr>
        <p:spPr>
          <a:xfrm>
            <a:off x="658368" y="1300000"/>
            <a:ext cx="10881360" cy="300000"/>
          </a:xfrm>
          <a:prstGeom prst="rect">
            <a:avLst/>
          </a:prstGeom>
          <a:noFill/>
          <a:ln/>
        </p:spPr>
        <p:txBody>
          <a:bodyPr wrap="square" lIns="0" tIns="0" rIns="0" bIns="0" rtlCol="0" anchor="t"/>
          <a:lstStyle/>
          <a:p>
            <a:pPr>
              <a:buNone/>
            </a:pPr>
            <a:r>
              <a:rPr lang="ko-KR" altLang="en-US" sz="1080" b="1">
                <a:solidFill>
                  <a:srgbClr val="1D4ED8"/>
                </a:solidFill>
                <a:latin typeface="Malgun Gothic" pitchFamily="34" charset="0"/>
                <a:ea typeface="Malgun Gothic" pitchFamily="34" charset="-122"/>
                <a:cs typeface="Malgun Gothic" pitchFamily="34" charset="-120"/>
              </a:rPr>
              <a:t>SCD411과 S-PASS는 아직 완전히 검증된 사업이 아니다</a:t>
            </a:r>
          </a:p>
        </p:txBody>
      </p:sp>
      <p:sp>
        <p:nvSpPr>
          <p:cNvPr id="201" name="dband">
            <a:extLst>
              <a:ext uri="{C183D7F6-B498-43B3-948B-1728B52AA6E4}">
                <adec:decorative xmlns:adec="http://schemas.microsoft.com/office/drawing/2017/decorative" val="1"/>
              </a:ext>
            </a:extLst>
          </p:cNvPr>
          <p:cNvSpPr/>
          <p:nvPr/>
        </p:nvSpPr>
        <p:spPr>
          <a:xfrm>
            <a:off x="658368" y="1600000"/>
            <a:ext cx="10881360" cy="660000"/>
          </a:xfrm>
          <a:prstGeom prst="rect">
            <a:avLst/>
          </a:prstGeom>
          <a:solidFill>
            <a:srgbClr val="EEF1F6"/>
          </a:solidFill>
          <a:ln w="9525">
            <a:solidFill>
              <a:srgbClr val="C7D2E0"/>
            </a:solidFill>
          </a:ln>
        </p:spPr>
        <p:txBody>
          <a:bodyPr/>
          <a:lstStyle/>
          <a:p>
            <a:endParaRPr lang="ko-KR" altLang="en-US"/>
          </a:p>
        </p:txBody>
      </p:sp>
      <p:sp>
        <p:nvSpPr>
          <p:cNvPr id="202" name="dtxt"/>
          <p:cNvSpPr/>
          <p:nvPr/>
        </p:nvSpPr>
        <p:spPr>
          <a:xfrm>
            <a:off x="658368" y="1600000"/>
            <a:ext cx="10881360" cy="700000"/>
          </a:xfrm>
          <a:prstGeom prst="rect">
            <a:avLst/>
          </a:prstGeom>
          <a:noFill/>
          <a:ln/>
        </p:spPr>
        <p:txBody>
          <a:bodyPr wrap="square" lIns="300000" tIns="0" rIns="300000" bIns="0" anchor="ctr"/>
          <a:lstStyle/>
          <a:p>
            <a:pPr>
              <a:buNone/>
            </a:pPr>
            <a:r>
              <a:rPr lang="ko-KR" altLang="en-US" sz="780">
                <a:solidFill>
                  <a:srgbClr val="33465B"/>
                </a:solidFill>
                <a:latin typeface="Malgun Gothic" pitchFamily="34" charset="0"/>
                <a:ea typeface="Malgun Gothic" pitchFamily="34" charset="-122"/>
                <a:cs typeface="Malgun Gothic" pitchFamily="34" charset="-120"/>
              </a:rPr>
              <a:t>SCD411과 S-PASS는 삼천당제약의 핵심 투자포인트다. 하지만 허가를 받았거나 기술을 보유했다는 사실만으로 실적과 기업가치가 자동으로 만들어지지는 않는다.</a:t>
            </a:r>
          </a:p>
          <a:p>
            <a:pPr>
              <a:spcBef>
                <a:spcPts val="70"/>
              </a:spcBef>
              <a:buNone/>
            </a:pPr>
            <a:r>
              <a:rPr lang="ko-KR" altLang="en-US" sz="780">
                <a:solidFill>
                  <a:srgbClr val="33465B"/>
                </a:solidFill>
                <a:latin typeface="Malgun Gothic" pitchFamily="34" charset="0"/>
                <a:ea typeface="Malgun Gothic" pitchFamily="34" charset="-122"/>
                <a:cs typeface="Malgun Gothic" pitchFamily="34" charset="-120"/>
              </a:rPr>
              <a:t>투자자는 </a:t>
            </a:r>
            <a:r>
              <a:rPr lang="ko-KR" altLang="en-US" sz="780" b="1">
                <a:solidFill>
                  <a:srgbClr val="1D4ED8"/>
                </a:solidFill>
                <a:latin typeface="Malgun Gothic" pitchFamily="34" charset="0"/>
                <a:ea typeface="Malgun Gothic" pitchFamily="34" charset="-122"/>
                <a:cs typeface="Malgun Gothic" pitchFamily="34" charset="-120"/>
              </a:rPr>
              <a:t>'무엇을 개발했는가'보다 얼마나 판매하고, 얼마나 이익을 내며, 얼마나 데이터를 증명하는지</a:t>
            </a:r>
            <a:r>
              <a:rPr lang="ko-KR" altLang="en-US" sz="780">
                <a:solidFill>
                  <a:srgbClr val="33465B"/>
                </a:solidFill>
                <a:latin typeface="Malgun Gothic" pitchFamily="34" charset="0"/>
                <a:ea typeface="Malgun Gothic" pitchFamily="34" charset="-122"/>
                <a:cs typeface="Malgun Gothic" pitchFamily="34" charset="-120"/>
              </a:rPr>
              <a:t>를 확인해야 한다.</a:t>
            </a:r>
          </a:p>
        </p:txBody>
      </p:sp>
      <p:sp>
        <p:nvSpPr>
          <p:cNvPr id="203" name="card">
            <a:extLst>
              <a:ext uri="{C183D7F6-B498-43B3-948B-1728B52AA6E4}">
                <adec:decorative xmlns:adec="http://schemas.microsoft.com/office/drawing/2017/decorative" val="1"/>
              </a:ext>
            </a:extLst>
          </p:cNvPr>
          <p:cNvSpPr/>
          <p:nvPr/>
        </p:nvSpPr>
        <p:spPr>
          <a:xfrm>
            <a:off x="658368" y="2320000"/>
            <a:ext cx="3493786" cy="293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4" name="cardhdr"/>
          <p:cNvSpPr/>
          <p:nvPr/>
        </p:nvSpPr>
        <p:spPr>
          <a:xfrm>
            <a:off x="658368" y="2320000"/>
            <a:ext cx="3493786" cy="33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① SCD411 판매 확대 실패</a:t>
            </a:r>
          </a:p>
        </p:txBody>
      </p:sp>
      <p:sp>
        <p:nvSpPr>
          <p:cNvPr id="205" name="cardbody"/>
          <p:cNvSpPr/>
          <p:nvPr/>
        </p:nvSpPr>
        <p:spPr>
          <a:xfrm>
            <a:off x="808368" y="2720000"/>
            <a:ext cx="3193786" cy="2460000"/>
          </a:xfrm>
          <a:prstGeom prst="rect">
            <a:avLst/>
          </a:prstGeom>
          <a:noFill/>
          <a:ln/>
        </p:spPr>
        <p:txBody>
          <a:bodyPr wrap="square" lIns="0" tIns="0" rIns="0" bIns="0" rtlCol="0" anchor="t"/>
          <a:lstStyle/>
          <a:p>
            <a:pPr>
              <a:buNone/>
            </a:pPr>
            <a:r>
              <a:rPr lang="ko-KR" altLang="en-US" sz="640" b="1">
                <a:solidFill>
                  <a:srgbClr val="C2410C"/>
                </a:solidFill>
                <a:latin typeface="Malgun Gothic" pitchFamily="34" charset="0"/>
                <a:ea typeface="Malgun Gothic" pitchFamily="34" charset="-122"/>
                <a:cs typeface="Malgun Gothic" pitchFamily="34" charset="-120"/>
              </a:rPr>
              <a:t>리스크 설명</a:t>
            </a:r>
          </a:p>
          <a:p>
            <a:pPr>
              <a:spcBef>
                <a:spcPts val="45"/>
              </a:spcBef>
              <a:buNone/>
            </a:pPr>
            <a:r>
              <a:rPr lang="ko-KR" altLang="en-US" sz="600">
                <a:solidFill>
                  <a:srgbClr val="33465B"/>
                </a:solidFill>
                <a:latin typeface="Malgun Gothic" pitchFamily="34" charset="0"/>
                <a:ea typeface="Malgun Gothic" pitchFamily="34" charset="-122"/>
                <a:cs typeface="Malgun Gothic" pitchFamily="34" charset="-120"/>
              </a:rPr>
              <a:t>바이오시밀러는 허가만으로 점유율이 확보되지 않는다. 처방 확대·등재·출하·가격경쟁력이 동반돼야 실적이 되며, 판매가 느리면 시장 기대치에 못 미칠 수 있다.</a:t>
            </a:r>
          </a:p>
          <a:p>
            <a:pPr>
              <a:spcBef>
                <a:spcPts val="175"/>
              </a:spcBef>
              <a:buNone/>
            </a:pPr>
            <a:r>
              <a:rPr lang="ko-KR" altLang="en-US" sz="640" b="1">
                <a:solidFill>
                  <a:srgbClr val="1D4ED8"/>
                </a:solidFill>
                <a:latin typeface="Malgun Gothic" pitchFamily="34" charset="0"/>
                <a:ea typeface="Malgun Gothic" pitchFamily="34" charset="-122"/>
                <a:cs typeface="Malgun Gothic" pitchFamily="34" charset="-120"/>
              </a:rPr>
              <a:t>확인된 내용</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SCD411 캐나다 실적 자료가 회사 보도자료로 공개된 이력 (회사는 실제 실적 기반이라 설명)</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2026.4.20 한국거래소 불성실공시법인 지정 — 사유 ‘영업실적 전망·예측 공정공시 미이행’, 벌점 5점</a:t>
            </a:r>
          </a:p>
          <a:p>
            <a:pPr>
              <a:spcBef>
                <a:spcPts val="175"/>
              </a:spcBef>
              <a:buNone/>
            </a:pPr>
            <a:r>
              <a:rPr lang="ko-KR" altLang="en-US" sz="640" b="1">
                <a:solidFill>
                  <a:srgbClr val="D97706"/>
                </a:solidFill>
                <a:latin typeface="Malgun Gothic" pitchFamily="34" charset="0"/>
                <a:ea typeface="Malgun Gothic" pitchFamily="34" charset="-122"/>
                <a:cs typeface="Malgun Gothic" pitchFamily="34" charset="-120"/>
              </a:rPr>
              <a:t>아직 미확인</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국가별 반복 출하량 추이</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국가별 시장점유율</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유지 가능한 영업이익률</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미국 판매 개시·매출 인식</a:t>
            </a:r>
          </a:p>
          <a:p>
            <a:pPr>
              <a:spcBef>
                <a:spcPts val="175"/>
              </a:spcBef>
              <a:buNone/>
            </a:pPr>
            <a:r>
              <a:rPr lang="ko-KR" altLang="en-US" sz="640" b="1">
                <a:solidFill>
                  <a:srgbClr val="0E2A47"/>
                </a:solidFill>
                <a:latin typeface="Malgun Gothic" pitchFamily="34" charset="0"/>
                <a:ea typeface="Malgun Gothic" pitchFamily="34" charset="-122"/>
                <a:cs typeface="Malgun Gothic" pitchFamily="34" charset="-120"/>
              </a:rPr>
              <a:t>투자자가 봐야 할 것</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분기별 SCD411 매출</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실제 출하량·판매 확대 속도</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영업이익률</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미국 시장 진입 여부</a:t>
            </a:r>
          </a:p>
        </p:txBody>
      </p:sp>
      <p:sp>
        <p:nvSpPr>
          <p:cNvPr id="206" name="card">
            <a:extLst>
              <a:ext uri="{C183D7F6-B498-43B3-948B-1728B52AA6E4}">
                <adec:decorative xmlns:adec="http://schemas.microsoft.com/office/drawing/2017/decorative" val="1"/>
              </a:ext>
            </a:extLst>
          </p:cNvPr>
          <p:cNvSpPr/>
          <p:nvPr/>
        </p:nvSpPr>
        <p:spPr>
          <a:xfrm>
            <a:off x="4352154" y="2320000"/>
            <a:ext cx="3493786" cy="293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7" name="cardhdr"/>
          <p:cNvSpPr/>
          <p:nvPr/>
        </p:nvSpPr>
        <p:spPr>
          <a:xfrm>
            <a:off x="4352154" y="2320000"/>
            <a:ext cx="3493786" cy="33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② 생산·공급 리스크</a:t>
            </a:r>
          </a:p>
        </p:txBody>
      </p:sp>
      <p:sp>
        <p:nvSpPr>
          <p:cNvPr id="208" name="cardbody"/>
          <p:cNvSpPr/>
          <p:nvPr/>
        </p:nvSpPr>
        <p:spPr>
          <a:xfrm>
            <a:off x="4502154" y="2720000"/>
            <a:ext cx="3193786" cy="2460000"/>
          </a:xfrm>
          <a:prstGeom prst="rect">
            <a:avLst/>
          </a:prstGeom>
          <a:noFill/>
          <a:ln/>
        </p:spPr>
        <p:txBody>
          <a:bodyPr wrap="square" lIns="0" tIns="0" rIns="0" bIns="0" rtlCol="0" anchor="t"/>
          <a:lstStyle/>
          <a:p>
            <a:pPr>
              <a:buNone/>
            </a:pPr>
            <a:r>
              <a:rPr lang="ko-KR" altLang="en-US" sz="640" b="1">
                <a:solidFill>
                  <a:srgbClr val="C2410C"/>
                </a:solidFill>
                <a:latin typeface="Malgun Gothic" pitchFamily="34" charset="0"/>
                <a:ea typeface="Malgun Gothic" pitchFamily="34" charset="-122"/>
                <a:cs typeface="Malgun Gothic" pitchFamily="34" charset="-120"/>
              </a:rPr>
              <a:t>리스크 설명</a:t>
            </a:r>
          </a:p>
          <a:p>
            <a:pPr>
              <a:spcBef>
                <a:spcPts val="45"/>
              </a:spcBef>
              <a:buNone/>
            </a:pPr>
            <a:r>
              <a:rPr lang="ko-KR" altLang="en-US" sz="600">
                <a:solidFill>
                  <a:srgbClr val="33465B"/>
                </a:solidFill>
                <a:latin typeface="Malgun Gothic" pitchFamily="34" charset="0"/>
                <a:ea typeface="Malgun Gothic" pitchFamily="34" charset="-122"/>
                <a:cs typeface="Malgun Gothic" pitchFamily="34" charset="-120"/>
              </a:rPr>
              <a:t>개발·허가 이후에도 생산·공급 과정에서 실적이 크게 달라진다. 생산능력 부족·품질 이슈·출하 지연·국가별 허가 차이가 매출 인식을 늦춘다. 계약이 곧 실적은 아니다.</a:t>
            </a:r>
          </a:p>
          <a:p>
            <a:pPr>
              <a:spcBef>
                <a:spcPts val="175"/>
              </a:spcBef>
              <a:buNone/>
            </a:pPr>
            <a:r>
              <a:rPr lang="ko-KR" altLang="en-US" sz="640" b="1">
                <a:solidFill>
                  <a:srgbClr val="1D4ED8"/>
                </a:solidFill>
                <a:latin typeface="Malgun Gothic" pitchFamily="34" charset="0"/>
                <a:ea typeface="Malgun Gothic" pitchFamily="34" charset="-122"/>
                <a:cs typeface="Malgun Gothic" pitchFamily="34" charset="-120"/>
              </a:rPr>
              <a:t>확인된 내용</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공개 기사·공시상 SCD411 생산 CAPA·국가별 공급물량·장기 출하계획은 구체적으로 확인되지 않음</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생산·공급 리스크는 현재 공개자료만으로 해소됐다고 보기 어려움</a:t>
            </a:r>
          </a:p>
          <a:p>
            <a:pPr>
              <a:spcBef>
                <a:spcPts val="175"/>
              </a:spcBef>
              <a:buNone/>
            </a:pPr>
            <a:r>
              <a:rPr lang="ko-KR" altLang="en-US" sz="640" b="1">
                <a:solidFill>
                  <a:srgbClr val="D97706"/>
                </a:solidFill>
                <a:latin typeface="Malgun Gothic" pitchFamily="34" charset="0"/>
                <a:ea typeface="Malgun Gothic" pitchFamily="34" charset="-122"/>
                <a:cs typeface="Malgun Gothic" pitchFamily="34" charset="-120"/>
              </a:rPr>
              <a:t>아직 미확인</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구체적 생산 CAPA</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국가별 공급 물량</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CMO·위탁생산 안정성</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공급 차질·매출 인식 시점</a:t>
            </a:r>
          </a:p>
          <a:p>
            <a:pPr>
              <a:spcBef>
                <a:spcPts val="175"/>
              </a:spcBef>
              <a:buNone/>
            </a:pPr>
            <a:r>
              <a:rPr lang="ko-KR" altLang="en-US" sz="640" b="1">
                <a:solidFill>
                  <a:srgbClr val="0E2A47"/>
                </a:solidFill>
                <a:latin typeface="Malgun Gothic" pitchFamily="34" charset="0"/>
                <a:ea typeface="Malgun Gothic" pitchFamily="34" charset="-122"/>
                <a:cs typeface="Malgun Gothic" pitchFamily="34" charset="-120"/>
              </a:rPr>
              <a:t>투자자가 봐야 할 것</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공급 차질 여부</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국가별 출하 일정</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분기 매출 인식 속도</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재고·리드타임·현금흐름</a:t>
            </a:r>
          </a:p>
        </p:txBody>
      </p:sp>
      <p:sp>
        <p:nvSpPr>
          <p:cNvPr id="209" name="card">
            <a:extLst>
              <a:ext uri="{C183D7F6-B498-43B3-948B-1728B52AA6E4}">
                <adec:decorative xmlns:adec="http://schemas.microsoft.com/office/drawing/2017/decorative" val="1"/>
              </a:ext>
            </a:extLst>
          </p:cNvPr>
          <p:cNvSpPr/>
          <p:nvPr/>
        </p:nvSpPr>
        <p:spPr>
          <a:xfrm>
            <a:off x="8045940" y="2320000"/>
            <a:ext cx="3493786" cy="293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10" name="cardhdr"/>
          <p:cNvSpPr/>
          <p:nvPr/>
        </p:nvSpPr>
        <p:spPr>
          <a:xfrm>
            <a:off x="8045940" y="2320000"/>
            <a:ext cx="3493786" cy="330000"/>
          </a:xfrm>
          <a:prstGeom prst="round2SameRect">
            <a:avLst>
              <a:gd name="adj1" fmla="val 4200"/>
              <a:gd name="adj2" fmla="val 0"/>
            </a:avLst>
          </a:prstGeom>
          <a:solidFill>
            <a:srgbClr val="1D4ED8"/>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③ S-PASS 플랫폼 검증 실패</a:t>
            </a:r>
          </a:p>
        </p:txBody>
      </p:sp>
      <p:sp>
        <p:nvSpPr>
          <p:cNvPr id="211" name="cardbody"/>
          <p:cNvSpPr/>
          <p:nvPr/>
        </p:nvSpPr>
        <p:spPr>
          <a:xfrm>
            <a:off x="8195940" y="2720000"/>
            <a:ext cx="3193786" cy="2460000"/>
          </a:xfrm>
          <a:prstGeom prst="rect">
            <a:avLst/>
          </a:prstGeom>
          <a:noFill/>
          <a:ln/>
        </p:spPr>
        <p:txBody>
          <a:bodyPr wrap="square" lIns="0" tIns="0" rIns="0" bIns="0" rtlCol="0" anchor="t"/>
          <a:lstStyle/>
          <a:p>
            <a:pPr>
              <a:buNone/>
            </a:pPr>
            <a:r>
              <a:rPr lang="ko-KR" altLang="en-US" sz="640" b="1">
                <a:solidFill>
                  <a:srgbClr val="C2410C"/>
                </a:solidFill>
                <a:latin typeface="Malgun Gothic" pitchFamily="34" charset="0"/>
                <a:ea typeface="Malgun Gothic" pitchFamily="34" charset="-122"/>
                <a:cs typeface="Malgun Gothic" pitchFamily="34" charset="-120"/>
              </a:rPr>
              <a:t>리스크 설명</a:t>
            </a:r>
          </a:p>
          <a:p>
            <a:pPr>
              <a:spcBef>
                <a:spcPts val="45"/>
              </a:spcBef>
              <a:buNone/>
            </a:pPr>
            <a:r>
              <a:rPr lang="ko-KR" altLang="en-US" sz="600">
                <a:solidFill>
                  <a:srgbClr val="33465B"/>
                </a:solidFill>
                <a:latin typeface="Malgun Gothic" pitchFamily="34" charset="0"/>
                <a:ea typeface="Malgun Gothic" pitchFamily="34" charset="-122"/>
                <a:cs typeface="Malgun Gothic" pitchFamily="34" charset="-120"/>
              </a:rPr>
              <a:t>S-PASS는 장기 가치의 핵심이나 지금은 상업화가 아니라 기술·규제 경로를 검증하는 단계다. 가치는 임상 데이터·규제 판단·계약·상업화 결과로 증명돼야 한다.</a:t>
            </a:r>
          </a:p>
          <a:p>
            <a:pPr>
              <a:spcBef>
                <a:spcPts val="175"/>
              </a:spcBef>
              <a:buNone/>
            </a:pPr>
            <a:r>
              <a:rPr lang="ko-KR" altLang="en-US" sz="640" b="1">
                <a:solidFill>
                  <a:srgbClr val="1D4ED8"/>
                </a:solidFill>
                <a:latin typeface="Malgun Gothic" pitchFamily="34" charset="0"/>
                <a:ea typeface="Malgun Gothic" pitchFamily="34" charset="-122"/>
                <a:cs typeface="Malgun Gothic" pitchFamily="34" charset="-120"/>
              </a:rPr>
              <a:t>확인된 내용</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FDA 경구 세마글루타이드 제네릭 Pre-ANDA 공식 답변서 수령 (리벨서스 대조약 명시) — 보도</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IR: BE 시험 완료·Pre-ANDA 미팅 신청 수락, 회신 따라 추가자료·추가 BE 가능성 설명</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경구 인슐린 EMA 1·2상 계획 제출, 5월 1상 승인·6월 첫 환자 투약 — 보도</a:t>
            </a:r>
          </a:p>
          <a:p>
            <a:pPr>
              <a:spcBef>
                <a:spcPts val="175"/>
              </a:spcBef>
              <a:buNone/>
            </a:pPr>
            <a:r>
              <a:rPr lang="ko-KR" altLang="en-US" sz="640" b="1">
                <a:solidFill>
                  <a:srgbClr val="D97706"/>
                </a:solidFill>
                <a:latin typeface="Malgun Gothic" pitchFamily="34" charset="0"/>
                <a:ea typeface="Malgun Gothic" pitchFamily="34" charset="-122"/>
                <a:cs typeface="Malgun Gothic" pitchFamily="34" charset="-120"/>
              </a:rPr>
              <a:t>아직 미확인</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FDA 최종 허가·본 ANDA 승인</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경구 세마 판매 개시·인슐린 2·3상 성공</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터제파타이드 IND·항체 경구화 상업화</a:t>
            </a:r>
          </a:p>
          <a:p>
            <a:pPr>
              <a:spcBef>
                <a:spcPts val="175"/>
              </a:spcBef>
              <a:buNone/>
            </a:pPr>
            <a:r>
              <a:rPr lang="ko-KR" altLang="en-US" sz="640" b="1">
                <a:solidFill>
                  <a:srgbClr val="0E2A47"/>
                </a:solidFill>
                <a:latin typeface="Malgun Gothic" pitchFamily="34" charset="0"/>
                <a:ea typeface="Malgun Gothic" pitchFamily="34" charset="-122"/>
                <a:cs typeface="Malgun Gothic" pitchFamily="34" charset="-120"/>
              </a:rPr>
              <a:t>투자자가 봐야 할 것</a:t>
            </a:r>
          </a:p>
          <a:p>
            <a:pPr marL="120000" indent="-120000">
              <a:spcBef>
                <a:spcPts val="5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FDA 후속 절차·추가 BE 요구</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임상 데이터 공개</a:t>
            </a:r>
          </a:p>
          <a:p>
            <a:pPr marL="120000" indent="-120000">
              <a:spcBef>
                <a:spcPts val="35"/>
              </a:spcBef>
              <a:buClr>
                <a:srgbClr val="1D4ED8"/>
              </a:buClr>
              <a:buFont typeface="Arial"/>
              <a:buChar char="•"/>
            </a:pPr>
            <a:r>
              <a:rPr lang="ko-KR" altLang="en-US" sz="585">
                <a:solidFill>
                  <a:srgbClr val="33465B"/>
                </a:solidFill>
                <a:latin typeface="Malgun Gothic" pitchFamily="34" charset="0"/>
                <a:ea typeface="Malgun Gothic" pitchFamily="34" charset="-122"/>
                <a:cs typeface="Malgun Gothic" pitchFamily="34" charset="-120"/>
              </a:rPr>
              <a:t>파트너 계약 확대·실제 출시 여부</a:t>
            </a:r>
          </a:p>
        </p:txBody>
      </p:sp>
      <p:sp>
        <p:nvSpPr>
          <p:cNvPr id="400" name="concl">
            <a:extLst>
              <a:ext uri="{C183D7F6-B498-43B3-948B-1728B52AA6E4}">
                <adec:decorative xmlns:adec="http://schemas.microsoft.com/office/drawing/2017/decorative" val="1"/>
              </a:ext>
            </a:extLst>
          </p:cNvPr>
          <p:cNvSpPr/>
          <p:nvPr/>
        </p:nvSpPr>
        <p:spPr>
          <a:xfrm>
            <a:off x="658368" y="5300000"/>
            <a:ext cx="10881360" cy="830000"/>
          </a:xfrm>
          <a:prstGeom prst="rect">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401" name="cacc">
            <a:extLst>
              <a:ext uri="{C183D7F6-B498-43B3-948B-1728B52AA6E4}">
                <adec:decorative xmlns:adec="http://schemas.microsoft.com/office/drawing/2017/decorative" val="1"/>
              </a:ext>
            </a:extLst>
          </p:cNvPr>
          <p:cNvSpPr/>
          <p:nvPr/>
        </p:nvSpPr>
        <p:spPr>
          <a:xfrm>
            <a:off x="658368" y="5300000"/>
            <a:ext cx="120000" cy="830000"/>
          </a:xfrm>
          <a:prstGeom prst="rect">
            <a:avLst/>
          </a:prstGeom>
          <a:solidFill>
            <a:srgbClr val="1D4ED8"/>
          </a:solidFill>
          <a:ln/>
        </p:spPr>
        <p:txBody>
          <a:bodyPr/>
          <a:lstStyle/>
          <a:p>
            <a:endParaRPr lang="ko-KR" altLang="en-US"/>
          </a:p>
        </p:txBody>
      </p:sp>
      <p:sp>
        <p:nvSpPr>
          <p:cNvPr id="402" name="ctxt"/>
          <p:cNvSpPr/>
          <p:nvPr/>
        </p:nvSpPr>
        <p:spPr>
          <a:xfrm>
            <a:off x="1058368" y="5410000"/>
            <a:ext cx="10081360" cy="610000"/>
          </a:xfrm>
          <a:prstGeom prst="rect">
            <a:avLst/>
          </a:prstGeom>
          <a:noFill/>
          <a:ln/>
        </p:spPr>
        <p:txBody>
          <a:bodyPr wrap="square" lIns="0" tIns="0" rIns="0" bIns="0" rtlCol="0" anchor="ctr"/>
          <a:lstStyle/>
          <a:p>
            <a:pPr algn="ctr">
              <a:buNone/>
            </a:pPr>
            <a:r>
              <a:rPr lang="ko-KR" altLang="en-US" sz="820" b="1" spc="200">
                <a:solidFill>
                  <a:srgbClr val="7FE9DC"/>
                </a:solidFill>
                <a:latin typeface="Malgun Gothic" pitchFamily="34" charset="0"/>
                <a:ea typeface="Malgun Gothic" pitchFamily="34" charset="-122"/>
                <a:cs typeface="Malgun Gothic" pitchFamily="34" charset="-120"/>
              </a:rPr>
              <a:t>핵심 메시지</a:t>
            </a:r>
          </a:p>
          <a:p>
            <a:pPr algn="ctr">
              <a:spcBef>
                <a:spcPts val="260"/>
              </a:spcBef>
              <a:buNone/>
            </a:pPr>
            <a:r>
              <a:rPr lang="ko-KR" altLang="en-US" sz="1000">
                <a:solidFill>
                  <a:srgbClr val="E2E8F0"/>
                </a:solidFill>
                <a:latin typeface="Malgun Gothic" pitchFamily="34" charset="0"/>
                <a:ea typeface="Malgun Gothic" pitchFamily="34" charset="-122"/>
                <a:cs typeface="Malgun Gothic" pitchFamily="34" charset="-120"/>
              </a:rPr>
              <a:t>사업 리스크의 핵심은 기술 보유가 아니라 </a:t>
            </a:r>
            <a:r>
              <a:rPr lang="ko-KR" altLang="en-US" sz="1000" b="1">
                <a:solidFill>
                  <a:srgbClr val="FFFFFF"/>
                </a:solidFill>
                <a:latin typeface="Malgun Gothic" pitchFamily="34" charset="0"/>
                <a:ea typeface="Malgun Gothic" pitchFamily="34" charset="-122"/>
                <a:cs typeface="Malgun Gothic" pitchFamily="34" charset="-120"/>
              </a:rPr>
              <a:t>상업화 성공 여부</a:t>
            </a:r>
            <a:r>
              <a:rPr lang="ko-KR" altLang="en-US" sz="1000">
                <a:solidFill>
                  <a:srgbClr val="E2E8F0"/>
                </a:solidFill>
                <a:latin typeface="Malgun Gothic" pitchFamily="34" charset="0"/>
                <a:ea typeface="Malgun Gothic" pitchFamily="34" charset="-122"/>
                <a:cs typeface="Malgun Gothic" pitchFamily="34" charset="-120"/>
              </a:rPr>
              <a:t>다.</a:t>
            </a:r>
          </a:p>
          <a:p>
            <a:pPr algn="ctr">
              <a:spcBef>
                <a:spcPts val="200"/>
              </a:spcBef>
              <a:buNone/>
            </a:pPr>
            <a:r>
              <a:rPr lang="ko-KR" altLang="en-US" sz="940">
                <a:solidFill>
                  <a:srgbClr val="C7D2E0"/>
                </a:solidFill>
                <a:latin typeface="Malgun Gothic" pitchFamily="34" charset="0"/>
                <a:ea typeface="Malgun Gothic" pitchFamily="34" charset="-122"/>
                <a:cs typeface="Malgun Gothic" pitchFamily="34" charset="-120"/>
              </a:rPr>
              <a:t>SCD411은 실제 </a:t>
            </a:r>
            <a:r>
              <a:rPr lang="ko-KR" altLang="en-US" sz="940" b="1">
                <a:solidFill>
                  <a:srgbClr val="93C5FD"/>
                </a:solidFill>
                <a:latin typeface="Malgun Gothic" pitchFamily="34" charset="0"/>
                <a:ea typeface="Malgun Gothic" pitchFamily="34" charset="-122"/>
                <a:cs typeface="Malgun Gothic" pitchFamily="34" charset="-120"/>
              </a:rPr>
              <a:t>판매량·이익률</a:t>
            </a:r>
            <a:r>
              <a:rPr lang="ko-KR" altLang="en-US" sz="940">
                <a:solidFill>
                  <a:srgbClr val="C7D2E0"/>
                </a:solidFill>
                <a:latin typeface="Malgun Gothic" pitchFamily="34" charset="0"/>
                <a:ea typeface="Malgun Gothic" pitchFamily="34" charset="-122"/>
                <a:cs typeface="Malgun Gothic" pitchFamily="34" charset="-120"/>
              </a:rPr>
              <a:t>이, S-PASS는 </a:t>
            </a:r>
            <a:r>
              <a:rPr lang="ko-KR" altLang="en-US" sz="940" b="1">
                <a:solidFill>
                  <a:srgbClr val="FDBA74"/>
                </a:solidFill>
                <a:latin typeface="Malgun Gothic" pitchFamily="34" charset="0"/>
                <a:ea typeface="Malgun Gothic" pitchFamily="34" charset="-122"/>
                <a:cs typeface="Malgun Gothic" pitchFamily="34" charset="-120"/>
              </a:rPr>
              <a:t>임상 데이터·규제 결과</a:t>
            </a:r>
            <a:r>
              <a:rPr lang="ko-KR" altLang="en-US" sz="940">
                <a:solidFill>
                  <a:srgbClr val="C7D2E0"/>
                </a:solidFill>
                <a:latin typeface="Malgun Gothic" pitchFamily="34" charset="0"/>
                <a:ea typeface="Malgun Gothic" pitchFamily="34" charset="-122"/>
                <a:cs typeface="Malgun Gothic" pitchFamily="34" charset="-120"/>
              </a:rPr>
              <a:t>가 </a:t>
            </a:r>
            <a:r>
              <a:rPr lang="ko-KR" altLang="en-US" sz="940" b="1">
                <a:solidFill>
                  <a:srgbClr val="FDBA74"/>
                </a:solidFill>
                <a:latin typeface="Malgun Gothic" pitchFamily="34" charset="0"/>
                <a:ea typeface="Malgun Gothic" pitchFamily="34" charset="-122"/>
                <a:cs typeface="Malgun Gothic" pitchFamily="34" charset="-120"/>
              </a:rPr>
              <a:t>투자 아이디어를 검증</a:t>
            </a:r>
            <a:r>
              <a:rPr lang="ko-KR" altLang="en-US" sz="940">
                <a:solidFill>
                  <a:srgbClr val="C7D2E0"/>
                </a:solidFill>
                <a:latin typeface="Malgun Gothic" pitchFamily="34" charset="0"/>
                <a:ea typeface="Malgun Gothic" pitchFamily="34" charset="-122"/>
                <a:cs typeface="Malgun Gothic" pitchFamily="34" charset="-120"/>
              </a:rPr>
              <a:t>한다.</a:t>
            </a:r>
          </a:p>
        </p:txBody>
      </p:sp>
      <p:sp>
        <p:nvSpPr>
          <p:cNvPr id="7" name="src"/>
          <p:cNvSpPr/>
          <p:nvPr/>
        </p:nvSpPr>
        <p:spPr>
          <a:xfrm>
            <a:off x="658368" y="6215000"/>
            <a:ext cx="10881360" cy="240000"/>
          </a:xfrm>
          <a:prstGeom prst="rect">
            <a:avLst/>
          </a:prstGeom>
          <a:noFill/>
          <a:ln/>
        </p:spPr>
        <p:txBody>
          <a:bodyPr wrap="square" lIns="0" tIns="0" rIns="0" bIns="0" rtlCol="0" anchor="t"/>
          <a:lstStyle/>
          <a:p>
            <a:pPr algn="ctr">
              <a:buNone/>
            </a:pPr>
            <a:r>
              <a:rPr lang="ko-KR" altLang="en-US" sz="560">
                <a:solidFill>
                  <a:srgbClr val="5A6B7E"/>
                </a:solidFill>
                <a:latin typeface="Malgun Gothic" pitchFamily="34" charset="0"/>
                <a:ea typeface="Malgun Gothic" pitchFamily="34" charset="-122"/>
                <a:cs typeface="Malgun Gothic" pitchFamily="34" charset="-120"/>
              </a:rPr>
              <a:t>출처: 한국거래소 KIND · 삼천당제약 보도자료 · 데일리팜 · 주간한국 · PRESS9 · 쿠키뉴스 · 의학신문 · 메디파나뉴스 · 데일리메디</a:t>
            </a:r>
          </a:p>
        </p:txBody>
      </p:sp>
      <p:sp>
        <p:nvSpPr>
          <p:cNvPr id="24"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25" name="Text 23">
            <a:extLst>
              <a:ext uri="{C183D7F6-B498-43B3-948B-1728B52AA6E4}">
                <adec:decorative xmlns:adec="http://schemas.microsoft.com/office/drawing/2017/decorative" val="1"/>
              </a:ext>
            </a:extLst>
          </p:cNvPr>
          <p:cNvSpPr/>
          <p:nvPr/>
        </p:nvSpPr>
        <p:spPr>
          <a:xfrm>
            <a:off x="658368" y="6574536"/>
            <a:ext cx="6400800" cy="283464"/>
          </a:xfrm>
          <a:prstGeom prst="rect">
            <a:avLst/>
          </a:prstGeom>
          <a:noFill/>
          <a:ln/>
        </p:spPr>
        <p:txBody>
          <a:bodyPr wrap="square" lIns="0" tIns="0" rIns="0" bIns="0" rtlCol="0" anchor="ctr"/>
          <a:lstStyle/>
          <a:p>
            <a:pPr marL="0" indent="0">
              <a:buNone/>
            </a:pPr>
            <a:r>
              <a:rPr lang="en-US" sz="850" dirty="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dirty="0"/>
          </a:p>
        </p:txBody>
      </p:sp>
      <p:sp>
        <p:nvSpPr>
          <p:cNvPr id="26" name="Text 24">
            <a:extLst>
              <a:ext uri="{C183D7F6-B498-43B3-948B-1728B52AA6E4}">
                <adec:decorative xmlns:adec="http://schemas.microsoft.com/office/drawing/2017/decorative" val="1"/>
              </a:ext>
            </a:extLst>
          </p:cNvPr>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76656" y="274320"/>
            <a:ext cx="10972800" cy="237744"/>
          </a:xfrm>
          <a:prstGeom prst="rect">
            <a:avLst/>
          </a:prstGeom>
          <a:noFill/>
          <a:ln/>
        </p:spPr>
        <p:txBody>
          <a:bodyPr wrap="square" lIns="0" tIns="0" rIns="0" bIns="0" rtlCol="0" anchor="ctr"/>
          <a:lstStyle/>
          <a:p>
            <a:pPr marL="0" indent="0">
              <a:buNone/>
            </a:pPr>
            <a:r>
              <a:rPr lang="en-US" sz="1100" b="1" kern="0" spc="200" dirty="0">
                <a:solidFill>
                  <a:srgbClr val="D97706"/>
                </a:solidFill>
                <a:latin typeface="Malgun Gothic" pitchFamily="34" charset="0"/>
                <a:ea typeface="Malgun Gothic" pitchFamily="34" charset="-122"/>
                <a:cs typeface="Malgun Gothic" pitchFamily="34" charset="-120"/>
              </a:rPr>
              <a:t>03 · 투자리스크</a:t>
            </a:r>
            <a:endParaRPr lang="en-US" sz="1100" b="1" kern="0" spc="200">
              <a:solidFill>
                <a:srgbClr val="D97706"/>
              </a:solidFill>
              <a:latin typeface="Malgun Gothic" pitchFamily="34" charset="0"/>
              <a:ea typeface="Malgun Gothic" pitchFamily="34" charset="-122"/>
              <a:cs typeface="Malgun Gothic" pitchFamily="34" charset="-120"/>
            </a:endParaRPr>
          </a:p>
        </p:txBody>
      </p:sp>
      <p:sp>
        <p:nvSpPr>
          <p:cNvPr id="3" name="Text 1"/>
          <p:cNvSpPr/>
          <p:nvPr/>
        </p:nvSpPr>
        <p:spPr>
          <a:xfrm>
            <a:off x="658368" y="566928"/>
            <a:ext cx="11430000" cy="603504"/>
          </a:xfrm>
          <a:prstGeom prst="rect">
            <a:avLst/>
          </a:prstGeom>
          <a:noFill/>
          <a:ln/>
        </p:spPr>
        <p:txBody>
          <a:bodyPr wrap="none" lIns="0" tIns="0" rIns="0" bIns="0" rtlCol="0" anchor="ctr"/>
          <a:lstStyle/>
          <a:p>
            <a:pPr marL="0" indent="0" algn="l">
              <a:buNone/>
            </a:pPr>
            <a:r>
              <a:rPr lang="en-US" sz="2500" b="1">
                <a:solidFill>
                  <a:srgbClr val="0E2036"/>
                </a:solidFill>
                <a:latin typeface="Malgun Gothic" pitchFamily="34" charset="0"/>
                <a:ea typeface="Malgun Gothic" pitchFamily="34" charset="-122"/>
                <a:cs typeface="Malgun Gothic" pitchFamily="34" charset="-120"/>
              </a:rPr>
              <a:t>03-2. 신뢰 리스크</a:t>
            </a:r>
          </a:p>
        </p:txBody>
      </p:sp>
      <p:sp>
        <p:nvSpPr>
          <p:cNvPr id="4" name="accent 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D97706"/>
          </a:solidFill>
          <a:ln/>
        </p:spPr>
        <p:txBody>
          <a:bodyPr/>
          <a:lstStyle/>
          <a:p>
            <a:endParaRPr lang="ko-KR" altLang="en-US"/>
          </a:p>
        </p:txBody>
      </p:sp>
      <p:sp>
        <p:nvSpPr>
          <p:cNvPr id="205" name="cardbody"/>
          <p:cNvSpPr/>
          <p:nvPr/>
        </p:nvSpPr>
        <p:spPr>
          <a:xfrm>
            <a:off x="658368" y="1500000"/>
            <a:ext cx="10881360" cy="560000"/>
          </a:xfrm>
          <a:prstGeom prst="rect">
            <a:avLst/>
          </a:prstGeom>
          <a:noFill/>
          <a:ln/>
        </p:spPr>
        <p:txBody>
          <a:bodyPr wrap="square" lIns="0" tIns="0" rIns="0" bIns="0" rtlCol="0" anchor="t"/>
          <a:lstStyle/>
          <a:p>
            <a:pPr>
              <a:buNone/>
            </a:pPr>
            <a:r>
              <a:rPr lang="ko-KR" altLang="en-US" sz="820">
                <a:solidFill>
                  <a:srgbClr val="33465B"/>
                </a:solidFill>
                <a:latin typeface="Malgun Gothic" pitchFamily="34" charset="0"/>
                <a:ea typeface="Malgun Gothic" pitchFamily="34" charset="-122"/>
                <a:cs typeface="Malgun Gothic" pitchFamily="34" charset="-120"/>
              </a:rPr>
              <a:t>삼천당제약은 과거 공시 관련 논란으로 시장 신뢰에 일부 부담을 안고 있다.</a:t>
            </a:r>
          </a:p>
          <a:p>
            <a:pPr>
              <a:spcBef>
                <a:spcPts val="150"/>
              </a:spcBef>
              <a:buNone/>
            </a:pPr>
            <a:r>
              <a:rPr lang="ko-KR" altLang="en-US" sz="820">
                <a:solidFill>
                  <a:srgbClr val="33465B"/>
                </a:solidFill>
                <a:latin typeface="Malgun Gothic" pitchFamily="34" charset="0"/>
                <a:ea typeface="Malgun Gothic" pitchFamily="34" charset="-122"/>
                <a:cs typeface="Malgun Gothic" pitchFamily="34" charset="-120"/>
              </a:rPr>
              <a:t>투자자들은 보도자료나 인터뷰보다 공시와 분기 실적을 중심으로 회사를 평가하고 있다.</a:t>
            </a:r>
          </a:p>
          <a:p>
            <a:pPr>
              <a:spcBef>
                <a:spcPts val="150"/>
              </a:spcBef>
              <a:buNone/>
            </a:pPr>
            <a:r>
              <a:rPr lang="ko-KR" altLang="en-US" sz="820">
                <a:solidFill>
                  <a:srgbClr val="33465B"/>
                </a:solidFill>
                <a:latin typeface="Malgun Gothic" pitchFamily="34" charset="0"/>
                <a:ea typeface="Malgun Gothic" pitchFamily="34" charset="-122"/>
                <a:cs typeface="Malgun Gothic" pitchFamily="34" charset="-120"/>
              </a:rPr>
              <a:t>신뢰 회복 여부 역시 공시의 일관성과 실적을 통해 확인될 가능성이 높다.</a:t>
            </a:r>
          </a:p>
        </p:txBody>
      </p:sp>
      <p:sp>
        <p:nvSpPr>
          <p:cNvPr id="203" name="card">
            <a:extLst>
              <a:ext uri="{C183D7F6-B498-43B3-948B-1728B52AA6E4}">
                <adec:decorative xmlns:adec="http://schemas.microsoft.com/office/drawing/2017/decorative" val="1"/>
              </a:ext>
            </a:extLst>
          </p:cNvPr>
          <p:cNvSpPr/>
          <p:nvPr/>
        </p:nvSpPr>
        <p:spPr>
          <a:xfrm>
            <a:off x="658368" y="2130000"/>
            <a:ext cx="5290680" cy="238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4" name="cardhdr"/>
          <p:cNvSpPr/>
          <p:nvPr/>
        </p:nvSpPr>
        <p:spPr>
          <a:xfrm>
            <a:off x="658368" y="2130000"/>
            <a:ext cx="5290680" cy="330000"/>
          </a:xfrm>
          <a:prstGeom prst="round2SameRect">
            <a:avLst>
              <a:gd name="adj1" fmla="val 4200"/>
              <a:gd name="adj2" fmla="val 0"/>
            </a:avLst>
          </a:prstGeom>
          <a:solidFill>
            <a:srgbClr val="E8590C"/>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① 공시 신뢰도 리스크</a:t>
            </a:r>
          </a:p>
        </p:txBody>
      </p:sp>
      <p:sp>
        <p:nvSpPr>
          <p:cNvPr id="9" name="cardbody"/>
          <p:cNvSpPr/>
          <p:nvPr/>
        </p:nvSpPr>
        <p:spPr>
          <a:xfrm>
            <a:off x="808368" y="2500000"/>
            <a:ext cx="4990680" cy="1990000"/>
          </a:xfrm>
          <a:prstGeom prst="rect">
            <a:avLst/>
          </a:prstGeom>
          <a:noFill/>
          <a:ln/>
        </p:spPr>
        <p:txBody>
          <a:bodyPr wrap="square" lIns="0" tIns="0" rIns="0" bIns="0" rtlCol="0" anchor="t"/>
          <a:lstStyle/>
          <a:p>
            <a:pPr>
              <a:buNone/>
            </a:pPr>
            <a:r>
              <a:rPr lang="ko-KR" altLang="en-US" sz="640" b="1">
                <a:solidFill>
                  <a:srgbClr val="E8590C"/>
                </a:solidFill>
                <a:latin typeface="Malgun Gothic" pitchFamily="34" charset="0"/>
                <a:ea typeface="Malgun Gothic" pitchFamily="34" charset="-122"/>
                <a:cs typeface="Malgun Gothic" pitchFamily="34" charset="-120"/>
              </a:rPr>
              <a:t>리스크 설명</a:t>
            </a:r>
          </a:p>
          <a:p>
            <a:pPr>
              <a:spcBef>
                <a:spcPts val="76"/>
              </a:spcBef>
              <a:buNone/>
            </a:pPr>
            <a:r>
              <a:rPr lang="ko-KR" altLang="en-US" sz="590">
                <a:solidFill>
                  <a:srgbClr val="33465B"/>
                </a:solidFill>
                <a:latin typeface="Malgun Gothic" pitchFamily="34" charset="0"/>
                <a:ea typeface="Malgun Gothic" pitchFamily="34" charset="-122"/>
                <a:cs typeface="Malgun Gothic" pitchFamily="34" charset="-120"/>
              </a:rPr>
              <a:t>삼천당제약은 SCD411 캐나다 성과 공개 과정에서 불성실공시법인으로 지정된 이력이 있다. 핵심은 자료의 진위가 아니라 중요한 정보를 어떤 방식으로 공개했는가이며, 회사는 허위가 아닌 공정공시 절차 문제라고 설명했다. 시장은 향후 공시의 정확성·일관성을 계속 확인해야 한다.</a:t>
            </a:r>
          </a:p>
          <a:p>
            <a:pPr>
              <a:spcBef>
                <a:spcPts val="170"/>
              </a:spcBef>
              <a:buNone/>
            </a:pPr>
            <a:r>
              <a:rPr lang="ko-KR" altLang="en-US" sz="640" b="1">
                <a:solidFill>
                  <a:srgbClr val="E8590C"/>
                </a:solidFill>
                <a:latin typeface="Malgun Gothic" pitchFamily="34" charset="0"/>
                <a:ea typeface="Malgun Gothic" pitchFamily="34" charset="-122"/>
                <a:cs typeface="Malgun Gothic" pitchFamily="34" charset="-120"/>
              </a:rPr>
              <a:t>확인된 내용</a:t>
            </a:r>
          </a:p>
          <a:p>
            <a:pPr marL="120000" indent="-120000">
              <a:spcBef>
                <a:spcPts val="93"/>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2026.4.20 ‘영업실적 전망·예측 공정공시 미이행’ 사유로 불성실공시법인 지정, 벌점 5점 — 보도</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문제 사안: SCD411 캐나다 실적 자료를 정식 공시 전 보도자료로 먼저 전달 — 보도</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회사: 허위가 아닌 실제 실적 기반, 정보 공개 절차·순서 문제라 설명하며 내부 절차 보완 중이라 밝힘</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이후 IR·언론 대응 전담팀 신설(전략기획실 직속), 금감원 출신 사외이사 선임 등 공시·내부통제 강화 보도</a:t>
            </a:r>
          </a:p>
          <a:p>
            <a:pPr>
              <a:spcBef>
                <a:spcPts val="170"/>
              </a:spcBef>
              <a:buNone/>
            </a:pPr>
            <a:r>
              <a:rPr lang="ko-KR" altLang="en-US" sz="640" b="1">
                <a:solidFill>
                  <a:srgbClr val="E8590C"/>
                </a:solidFill>
                <a:latin typeface="Malgun Gothic" pitchFamily="34" charset="0"/>
                <a:ea typeface="Malgun Gothic" pitchFamily="34" charset="-122"/>
                <a:cs typeface="Malgun Gothic" pitchFamily="34" charset="-120"/>
              </a:rPr>
              <a:t>아직 미확인</a:t>
            </a:r>
          </a:p>
          <a:p>
            <a:pPr marL="120000" indent="-120000">
              <a:spcBef>
                <a:spcPts val="93"/>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추가 정정공시 발생 여부</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공시·보도자료 표현의 일관성</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공시 체계 보완의 신뢰 회복 효과</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분기 실적과 발표 내용 지속 일치 여부</a:t>
            </a:r>
          </a:p>
          <a:p>
            <a:pPr>
              <a:spcBef>
                <a:spcPts val="170"/>
              </a:spcBef>
              <a:buNone/>
            </a:pPr>
            <a:r>
              <a:rPr lang="ko-KR" altLang="en-US" sz="640" b="1">
                <a:solidFill>
                  <a:srgbClr val="E8590C"/>
                </a:solidFill>
                <a:latin typeface="Malgun Gothic" pitchFamily="34" charset="0"/>
                <a:ea typeface="Malgun Gothic" pitchFamily="34" charset="-122"/>
                <a:cs typeface="Malgun Gothic" pitchFamily="34" charset="-120"/>
              </a:rPr>
              <a:t>투자자가 봐야 할 것</a:t>
            </a:r>
          </a:p>
          <a:p>
            <a:pPr marL="120000" indent="-120000">
              <a:spcBef>
                <a:spcPts val="93"/>
              </a:spcBef>
              <a:buClr>
                <a:srgbClr val="E8590C"/>
              </a:buClr>
              <a:buFont typeface="Arial"/>
              <a:buChar char="•"/>
            </a:pPr>
            <a:r>
              <a:rPr lang="ko-KR" altLang="en-US" sz="590" b="1">
                <a:solidFill>
                  <a:srgbClr val="C2410C"/>
                </a:solidFill>
                <a:latin typeface="Malgun Gothic" pitchFamily="34" charset="0"/>
                <a:ea typeface="Malgun Gothic" pitchFamily="34" charset="-122"/>
                <a:cs typeface="Malgun Gothic" pitchFamily="34" charset="-120"/>
              </a:rPr>
              <a:t>보도자료보다 공시</a:t>
            </a:r>
          </a:p>
          <a:p>
            <a:pPr marL="120000" indent="-120000">
              <a:spcBef>
                <a:spcPts val="59"/>
              </a:spcBef>
              <a:buClr>
                <a:srgbClr val="E8590C"/>
              </a:buClr>
              <a:buFont typeface="Arial"/>
              <a:buChar char="•"/>
            </a:pPr>
            <a:r>
              <a:rPr lang="ko-KR" altLang="en-US" sz="590" b="1">
                <a:solidFill>
                  <a:srgbClr val="C2410C"/>
                </a:solidFill>
                <a:latin typeface="Malgun Gothic" pitchFamily="34" charset="0"/>
                <a:ea typeface="Malgun Gothic" pitchFamily="34" charset="-122"/>
                <a:cs typeface="Malgun Gothic" pitchFamily="34" charset="-120"/>
              </a:rPr>
              <a:t>공시보다 분기 실적</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정정공시 여부</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실제 매출과 현금흐름</a:t>
            </a:r>
          </a:p>
        </p:txBody>
      </p:sp>
      <p:sp>
        <p:nvSpPr>
          <p:cNvPr id="206" name="card">
            <a:extLst>
              <a:ext uri="{C183D7F6-B498-43B3-948B-1728B52AA6E4}">
                <adec:decorative xmlns:adec="http://schemas.microsoft.com/office/drawing/2017/decorative" val="1"/>
              </a:ext>
            </a:extLst>
          </p:cNvPr>
          <p:cNvSpPr/>
          <p:nvPr/>
        </p:nvSpPr>
        <p:spPr>
          <a:xfrm>
            <a:off x="6249048" y="2130000"/>
            <a:ext cx="5290680" cy="2380000"/>
          </a:xfrm>
          <a:prstGeom prst="rect">
            <a:avLst/>
          </a:prstGeom>
          <a:solidFill>
            <a:srgbClr val="FFFFFF"/>
          </a:solidFill>
          <a:ln w="12700">
            <a:solidFill>
              <a:srgbClr val="E2E8F0"/>
            </a:solidFill>
          </a:ln>
          <a:effectLst>
            <a:outerShdw blurRad="90000" dist="28000" dir="5400000" algn="bl" rotWithShape="0">
              <a:srgbClr val="0E2036">
                <a:alpha val="11000"/>
              </a:srgbClr>
            </a:outerShdw>
          </a:effectLst>
        </p:spPr>
        <p:txBody>
          <a:bodyPr/>
          <a:lstStyle/>
          <a:p>
            <a:endParaRPr lang="ko-KR" altLang="en-US"/>
          </a:p>
        </p:txBody>
      </p:sp>
      <p:sp>
        <p:nvSpPr>
          <p:cNvPr id="207" name="cardhdr"/>
          <p:cNvSpPr/>
          <p:nvPr/>
        </p:nvSpPr>
        <p:spPr>
          <a:xfrm>
            <a:off x="6249048" y="2130000"/>
            <a:ext cx="5290680" cy="330000"/>
          </a:xfrm>
          <a:prstGeom prst="round2SameRect">
            <a:avLst>
              <a:gd name="adj1" fmla="val 4200"/>
              <a:gd name="adj2" fmla="val 0"/>
            </a:avLst>
          </a:prstGeom>
          <a:solidFill>
            <a:srgbClr val="E8590C"/>
          </a:solidFill>
          <a:ln/>
        </p:spPr>
        <p:txBody>
          <a:bodyPr wrap="square" lIns="150000" tIns="0" rIns="80000" bIns="0" rtlCol="0" anchor="ctr"/>
          <a:lstStyle/>
          <a:p>
            <a:pPr>
              <a:buNone/>
            </a:pPr>
            <a:r>
              <a:rPr lang="ko-KR" altLang="en-US" sz="950" b="1">
                <a:solidFill>
                  <a:srgbClr val="FFFFFF"/>
                </a:solidFill>
                <a:latin typeface="Malgun Gothic" pitchFamily="34" charset="0"/>
                <a:ea typeface="Malgun Gothic" pitchFamily="34" charset="-122"/>
                <a:cs typeface="Malgun Gothic" pitchFamily="34" charset="-120"/>
              </a:rPr>
              <a:t>② 계약 실체 및 투명성 리스크</a:t>
            </a:r>
          </a:p>
        </p:txBody>
      </p:sp>
      <p:sp>
        <p:nvSpPr>
          <p:cNvPr id="208" name="cardbody"/>
          <p:cNvSpPr/>
          <p:nvPr/>
        </p:nvSpPr>
        <p:spPr>
          <a:xfrm>
            <a:off x="6399048" y="2500000"/>
            <a:ext cx="4990680" cy="1990000"/>
          </a:xfrm>
          <a:prstGeom prst="rect">
            <a:avLst/>
          </a:prstGeom>
          <a:noFill/>
          <a:ln/>
        </p:spPr>
        <p:txBody>
          <a:bodyPr wrap="square" lIns="0" tIns="0" rIns="0" bIns="0" rtlCol="0" anchor="t"/>
          <a:lstStyle/>
          <a:p>
            <a:pPr>
              <a:buNone/>
            </a:pPr>
            <a:r>
              <a:rPr lang="ko-KR" altLang="en-US" sz="640" b="1">
                <a:solidFill>
                  <a:srgbClr val="E8590C"/>
                </a:solidFill>
                <a:latin typeface="Malgun Gothic" pitchFamily="34" charset="0"/>
                <a:ea typeface="Malgun Gothic" pitchFamily="34" charset="-122"/>
                <a:cs typeface="Malgun Gothic" pitchFamily="34" charset="-120"/>
              </a:rPr>
              <a:t>리스크 설명</a:t>
            </a:r>
          </a:p>
          <a:p>
            <a:pPr>
              <a:spcBef>
                <a:spcPts val="76"/>
              </a:spcBef>
              <a:buNone/>
            </a:pPr>
            <a:r>
              <a:rPr lang="ko-KR" altLang="en-US" sz="590">
                <a:solidFill>
                  <a:srgbClr val="33465B"/>
                </a:solidFill>
                <a:latin typeface="Malgun Gothic" pitchFamily="34" charset="0"/>
                <a:ea typeface="Malgun Gothic" pitchFamily="34" charset="-122"/>
                <a:cs typeface="Malgun Gothic" pitchFamily="34" charset="-120"/>
              </a:rPr>
              <a:t>성장 스토리는 SCD411·S-PASS 글로벌 계약을 중심으로 형성돼 있다. 시장은 이제 계약 체결보다 그것이 실제 </a:t>
            </a:r>
            <a:r>
              <a:rPr lang="ko-KR" altLang="en-US" sz="590" err="1">
                <a:solidFill>
                  <a:srgbClr val="33465B"/>
                </a:solidFill>
                <a:latin typeface="Malgun Gothic" pitchFamily="34" charset="0"/>
                <a:ea typeface="Malgun Gothic" pitchFamily="34" charset="-122"/>
                <a:cs typeface="Malgun Gothic" pitchFamily="34" charset="-120"/>
              </a:rPr>
              <a:t>매출·현금흐름으로</a:t>
            </a:r>
            <a:r>
              <a:rPr lang="ko-KR" altLang="en-US" sz="590">
                <a:solidFill>
                  <a:srgbClr val="33465B"/>
                </a:solidFill>
                <a:latin typeface="Malgun Gothic" pitchFamily="34" charset="0"/>
                <a:ea typeface="Malgun Gothic" pitchFamily="34" charset="-122"/>
                <a:cs typeface="Malgun Gothic" pitchFamily="34" charset="-120"/>
              </a:rPr>
              <a:t> 연결되는지를 더 중시한다. 특히 미국 경구 세마 계약은 </a:t>
            </a:r>
            <a:r>
              <a:rPr lang="ko-KR" altLang="en-US" sz="590" err="1">
                <a:solidFill>
                  <a:srgbClr val="33465B"/>
                </a:solidFill>
                <a:latin typeface="Malgun Gothic" pitchFamily="34" charset="0"/>
                <a:ea typeface="Malgun Gothic" pitchFamily="34" charset="-122"/>
                <a:cs typeface="Malgun Gothic" pitchFamily="34" charset="-120"/>
              </a:rPr>
              <a:t>마일스톤·수익배분이</a:t>
            </a:r>
            <a:r>
              <a:rPr lang="ko-KR" altLang="en-US" sz="590">
                <a:solidFill>
                  <a:srgbClr val="33465B"/>
                </a:solidFill>
                <a:latin typeface="Malgun Gothic" pitchFamily="34" charset="0"/>
                <a:ea typeface="Malgun Gothic" pitchFamily="34" charset="-122"/>
                <a:cs typeface="Malgun Gothic" pitchFamily="34" charset="-120"/>
              </a:rPr>
              <a:t> 보도됐으나 상대방 미공개로 검증이 제한적이다.</a:t>
            </a:r>
          </a:p>
          <a:p>
            <a:pPr>
              <a:spcBef>
                <a:spcPts val="170"/>
              </a:spcBef>
              <a:buNone/>
            </a:pPr>
            <a:r>
              <a:rPr lang="ko-KR" altLang="en-US" sz="640" b="1">
                <a:solidFill>
                  <a:srgbClr val="E8590C"/>
                </a:solidFill>
                <a:latin typeface="Malgun Gothic" pitchFamily="34" charset="0"/>
                <a:ea typeface="Malgun Gothic" pitchFamily="34" charset="-122"/>
                <a:cs typeface="Malgun Gothic" pitchFamily="34" charset="-120"/>
              </a:rPr>
              <a:t>확인된 내용</a:t>
            </a:r>
          </a:p>
          <a:p>
            <a:pPr marL="120000" indent="-120000">
              <a:spcBef>
                <a:spcPts val="93"/>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미국 파트너사와 경구 GLP-1(</a:t>
            </a:r>
            <a:r>
              <a:rPr lang="ko-KR" altLang="en-US" sz="590" err="1">
                <a:solidFill>
                  <a:srgbClr val="33465B"/>
                </a:solidFill>
                <a:latin typeface="Malgun Gothic" pitchFamily="34" charset="0"/>
                <a:ea typeface="Malgun Gothic" pitchFamily="34" charset="-122"/>
                <a:cs typeface="Malgun Gothic" pitchFamily="34" charset="-120"/>
              </a:rPr>
              <a:t>세마글루타이드</a:t>
            </a:r>
            <a:r>
              <a:rPr lang="ko-KR" altLang="en-US" sz="590">
                <a:solidFill>
                  <a:srgbClr val="33465B"/>
                </a:solidFill>
                <a:latin typeface="Malgun Gothic" pitchFamily="34" charset="0"/>
                <a:ea typeface="Malgun Gothic" pitchFamily="34" charset="-122"/>
                <a:cs typeface="Malgun Gothic" pitchFamily="34" charset="-120"/>
              </a:rPr>
              <a:t>) </a:t>
            </a:r>
            <a:r>
              <a:rPr lang="ko-KR" altLang="en-US" sz="590" err="1">
                <a:solidFill>
                  <a:srgbClr val="33465B"/>
                </a:solidFill>
                <a:latin typeface="Malgun Gothic" pitchFamily="34" charset="0"/>
                <a:ea typeface="Malgun Gothic" pitchFamily="34" charset="-122"/>
                <a:cs typeface="Malgun Gothic" pitchFamily="34" charset="-120"/>
              </a:rPr>
              <a:t>경구제</a:t>
            </a:r>
            <a:r>
              <a:rPr lang="ko-KR" altLang="en-US" sz="590">
                <a:solidFill>
                  <a:srgbClr val="33465B"/>
                </a:solidFill>
                <a:latin typeface="Malgun Gothic" pitchFamily="34" charset="0"/>
                <a:ea typeface="Malgun Gothic" pitchFamily="34" charset="-122"/>
                <a:cs typeface="Malgun Gothic" pitchFamily="34" charset="-120"/>
              </a:rPr>
              <a:t> 독점 계약 체결 — 보도</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마일스톤 약 1억 달러, 첫 판매일부터 10년간 제품 판매 수익 90%를 삼천당이 수령하는 구조 — 보도</a:t>
            </a:r>
          </a:p>
          <a:p>
            <a:pPr marL="120000" indent="-120000">
              <a:spcBef>
                <a:spcPts val="59"/>
              </a:spcBef>
              <a:buClr>
                <a:srgbClr val="E8590C"/>
              </a:buClr>
              <a:buFont typeface="Arial"/>
              <a:buChar char="•"/>
            </a:pPr>
            <a:r>
              <a:rPr lang="ko-KR" altLang="en-US" sz="590" err="1">
                <a:solidFill>
                  <a:srgbClr val="33465B"/>
                </a:solidFill>
                <a:latin typeface="Malgun Gothic" pitchFamily="34" charset="0"/>
                <a:ea typeface="Malgun Gothic" pitchFamily="34" charset="-122"/>
                <a:cs typeface="Malgun Gothic" pitchFamily="34" charset="-120"/>
              </a:rPr>
              <a:t>메디파나뉴스</a:t>
            </a:r>
            <a:r>
              <a:rPr lang="ko-KR" altLang="en-US" sz="590">
                <a:solidFill>
                  <a:srgbClr val="33465B"/>
                </a:solidFill>
                <a:latin typeface="Malgun Gothic" pitchFamily="34" charset="0"/>
                <a:ea typeface="Malgun Gothic" pitchFamily="34" charset="-122"/>
                <a:cs typeface="Malgun Gothic" pitchFamily="34" charset="-120"/>
              </a:rPr>
              <a:t>: 해당 미국 파트너사가 공개되지 않았다고 명시</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쿠키뉴스: 약 1억 달러 </a:t>
            </a:r>
            <a:r>
              <a:rPr lang="ko-KR" altLang="en-US" sz="590" err="1">
                <a:solidFill>
                  <a:srgbClr val="33465B"/>
                </a:solidFill>
                <a:latin typeface="Malgun Gothic" pitchFamily="34" charset="0"/>
                <a:ea typeface="Malgun Gothic" pitchFamily="34" charset="-122"/>
                <a:cs typeface="Malgun Gothic" pitchFamily="34" charset="-120"/>
              </a:rPr>
              <a:t>마일스톤·수익배분</a:t>
            </a:r>
            <a:r>
              <a:rPr lang="ko-KR" altLang="en-US" sz="590">
                <a:solidFill>
                  <a:srgbClr val="33465B"/>
                </a:solidFill>
                <a:latin typeface="Malgun Gothic" pitchFamily="34" charset="0"/>
                <a:ea typeface="Malgun Gothic" pitchFamily="34" charset="-122"/>
                <a:cs typeface="Malgun Gothic" pitchFamily="34" charset="-120"/>
              </a:rPr>
              <a:t> 독점 공급계약, 유럽 11개국 독점 </a:t>
            </a:r>
            <a:r>
              <a:rPr lang="ko-KR" altLang="en-US" sz="590" err="1">
                <a:solidFill>
                  <a:srgbClr val="33465B"/>
                </a:solidFill>
                <a:latin typeface="Malgun Gothic" pitchFamily="34" charset="0"/>
                <a:ea typeface="Malgun Gothic" pitchFamily="34" charset="-122"/>
                <a:cs typeface="Malgun Gothic" pitchFamily="34" charset="-120"/>
              </a:rPr>
              <a:t>라이선스·상업화</a:t>
            </a:r>
            <a:r>
              <a:rPr lang="ko-KR" altLang="en-US" sz="590">
                <a:solidFill>
                  <a:srgbClr val="33465B"/>
                </a:solidFill>
                <a:latin typeface="Malgun Gothic" pitchFamily="34" charset="0"/>
                <a:ea typeface="Malgun Gothic" pitchFamily="34" charset="-122"/>
                <a:cs typeface="Malgun Gothic" pitchFamily="34" charset="-120"/>
              </a:rPr>
              <a:t> 계약도 보도</a:t>
            </a:r>
          </a:p>
          <a:p>
            <a:pPr>
              <a:spcBef>
                <a:spcPts val="170"/>
              </a:spcBef>
              <a:buNone/>
            </a:pPr>
            <a:r>
              <a:rPr lang="ko-KR" altLang="en-US" sz="640" b="1">
                <a:solidFill>
                  <a:srgbClr val="E8590C"/>
                </a:solidFill>
                <a:latin typeface="Malgun Gothic" pitchFamily="34" charset="0"/>
                <a:ea typeface="Malgun Gothic" pitchFamily="34" charset="-122"/>
                <a:cs typeface="Malgun Gothic" pitchFamily="34" charset="-120"/>
              </a:rPr>
              <a:t>아직 미확인</a:t>
            </a:r>
          </a:p>
          <a:p>
            <a:pPr marL="120000" indent="-120000">
              <a:spcBef>
                <a:spcPts val="93"/>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미국 파트너사의 구체적 정체</a:t>
            </a:r>
          </a:p>
          <a:p>
            <a:pPr marL="120000" indent="-120000">
              <a:spcBef>
                <a:spcPts val="59"/>
              </a:spcBef>
              <a:buClr>
                <a:srgbClr val="E8590C"/>
              </a:buClr>
              <a:buFont typeface="Arial"/>
              <a:buChar char="•"/>
            </a:pPr>
            <a:r>
              <a:rPr lang="ko-KR" altLang="en-US" sz="590" err="1">
                <a:solidFill>
                  <a:srgbClr val="33465B"/>
                </a:solidFill>
                <a:latin typeface="Malgun Gothic" pitchFamily="34" charset="0"/>
                <a:ea typeface="Malgun Gothic" pitchFamily="34" charset="-122"/>
                <a:cs typeface="Malgun Gothic" pitchFamily="34" charset="-120"/>
              </a:rPr>
              <a:t>계약금·마일스톤</a:t>
            </a:r>
            <a:r>
              <a:rPr lang="ko-KR" altLang="en-US" sz="590">
                <a:solidFill>
                  <a:srgbClr val="33465B"/>
                </a:solidFill>
                <a:latin typeface="Malgun Gothic" pitchFamily="34" charset="0"/>
                <a:ea typeface="Malgun Gothic" pitchFamily="34" charset="-122"/>
                <a:cs typeface="Malgun Gothic" pitchFamily="34" charset="-120"/>
              </a:rPr>
              <a:t> 실제 수령 시점</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수익 배분의 현금흐름 연결 시점</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미국 판매 </a:t>
            </a:r>
            <a:r>
              <a:rPr lang="ko-KR" altLang="en-US" sz="590" err="1">
                <a:solidFill>
                  <a:srgbClr val="33465B"/>
                </a:solidFill>
                <a:latin typeface="Malgun Gothic" pitchFamily="34" charset="0"/>
                <a:ea typeface="Malgun Gothic" pitchFamily="34" charset="-122"/>
                <a:cs typeface="Malgun Gothic" pitchFamily="34" charset="-120"/>
              </a:rPr>
              <a:t>개시·경구</a:t>
            </a:r>
            <a:r>
              <a:rPr lang="ko-KR" altLang="en-US" sz="590">
                <a:solidFill>
                  <a:srgbClr val="33465B"/>
                </a:solidFill>
                <a:latin typeface="Malgun Gothic" pitchFamily="34" charset="0"/>
                <a:ea typeface="Malgun Gothic" pitchFamily="34" charset="-122"/>
                <a:cs typeface="Malgun Gothic" pitchFamily="34" charset="-120"/>
              </a:rPr>
              <a:t> 세마 실제 매출 규모</a:t>
            </a:r>
          </a:p>
          <a:p>
            <a:pPr>
              <a:spcBef>
                <a:spcPts val="170"/>
              </a:spcBef>
              <a:buNone/>
            </a:pPr>
            <a:r>
              <a:rPr lang="ko-KR" altLang="en-US" sz="640" b="1">
                <a:solidFill>
                  <a:srgbClr val="E8590C"/>
                </a:solidFill>
                <a:latin typeface="Malgun Gothic" pitchFamily="34" charset="0"/>
                <a:ea typeface="Malgun Gothic" pitchFamily="34" charset="-122"/>
                <a:cs typeface="Malgun Gothic" pitchFamily="34" charset="-120"/>
              </a:rPr>
              <a:t>투자자가 봐야 할 것</a:t>
            </a:r>
          </a:p>
          <a:p>
            <a:pPr marL="120000" indent="-120000">
              <a:spcBef>
                <a:spcPts val="93"/>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계약 상대방 공개 여부</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마일스톤 실제 수령 여부</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제품 공급 매출 발생</a:t>
            </a:r>
          </a:p>
          <a:p>
            <a:pPr marL="120000" indent="-120000">
              <a:spcBef>
                <a:spcPts val="59"/>
              </a:spcBef>
              <a:buClr>
                <a:srgbClr val="E8590C"/>
              </a:buClr>
              <a:buFont typeface="Arial"/>
              <a:buChar char="•"/>
            </a:pPr>
            <a:r>
              <a:rPr lang="ko-KR" altLang="en-US" sz="590">
                <a:solidFill>
                  <a:srgbClr val="33465B"/>
                </a:solidFill>
                <a:latin typeface="Malgun Gothic" pitchFamily="34" charset="0"/>
                <a:ea typeface="Malgun Gothic" pitchFamily="34" charset="-122"/>
                <a:cs typeface="Malgun Gothic" pitchFamily="34" charset="-120"/>
              </a:rPr>
              <a:t>수익 배분 매출 </a:t>
            </a:r>
            <a:r>
              <a:rPr lang="ko-KR" altLang="en-US" sz="590" err="1">
                <a:solidFill>
                  <a:srgbClr val="33465B"/>
                </a:solidFill>
                <a:latin typeface="Malgun Gothic" pitchFamily="34" charset="0"/>
                <a:ea typeface="Malgun Gothic" pitchFamily="34" charset="-122"/>
                <a:cs typeface="Malgun Gothic" pitchFamily="34" charset="-120"/>
              </a:rPr>
              <a:t>인식·실적</a:t>
            </a:r>
            <a:r>
              <a:rPr lang="ko-KR" altLang="en-US" sz="590">
                <a:solidFill>
                  <a:srgbClr val="33465B"/>
                </a:solidFill>
                <a:latin typeface="Malgun Gothic" pitchFamily="34" charset="0"/>
                <a:ea typeface="Malgun Gothic" pitchFamily="34" charset="-122"/>
                <a:cs typeface="Malgun Gothic" pitchFamily="34" charset="-120"/>
              </a:rPr>
              <a:t> 연결</a:t>
            </a:r>
          </a:p>
        </p:txBody>
      </p:sp>
      <p:sp>
        <p:nvSpPr>
          <p:cNvPr id="250" name="irbox">
            <a:extLst>
              <a:ext uri="{C183D7F6-B498-43B3-948B-1728B52AA6E4}">
                <adec:decorative xmlns:adec="http://schemas.microsoft.com/office/drawing/2017/decorative" val="1"/>
              </a:ext>
            </a:extLst>
          </p:cNvPr>
          <p:cNvSpPr/>
          <p:nvPr/>
        </p:nvSpPr>
        <p:spPr>
          <a:xfrm>
            <a:off x="658368" y="4580000"/>
            <a:ext cx="10881360" cy="830000"/>
          </a:xfrm>
          <a:prstGeom prst="rect">
            <a:avLst/>
          </a:prstGeom>
          <a:solidFill>
            <a:srgbClr val="FFF7ED"/>
          </a:solidFill>
          <a:ln w="12700">
            <a:solidFill>
              <a:srgbClr val="F5C99B"/>
            </a:solidFill>
          </a:ln>
        </p:spPr>
        <p:txBody>
          <a:bodyPr/>
          <a:lstStyle/>
          <a:p>
            <a:endParaRPr lang="ko-KR" altLang="en-US"/>
          </a:p>
        </p:txBody>
      </p:sp>
      <p:sp>
        <p:nvSpPr>
          <p:cNvPr id="251" name="irbar">
            <a:extLst>
              <a:ext uri="{C183D7F6-B498-43B3-948B-1728B52AA6E4}">
                <adec:decorative xmlns:adec="http://schemas.microsoft.com/office/drawing/2017/decorative" val="1"/>
              </a:ext>
            </a:extLst>
          </p:cNvPr>
          <p:cNvSpPr/>
          <p:nvPr/>
        </p:nvSpPr>
        <p:spPr>
          <a:xfrm>
            <a:off x="658368" y="4580000"/>
            <a:ext cx="90000" cy="830000"/>
          </a:xfrm>
          <a:prstGeom prst="rect">
            <a:avLst/>
          </a:prstGeom>
          <a:solidFill>
            <a:srgbClr val="E8590C"/>
          </a:solidFill>
          <a:ln/>
        </p:spPr>
        <p:txBody>
          <a:bodyPr/>
          <a:lstStyle/>
          <a:p>
            <a:endParaRPr lang="ko-KR" altLang="en-US"/>
          </a:p>
        </p:txBody>
      </p:sp>
      <p:sp>
        <p:nvSpPr>
          <p:cNvPr id="252" name="irhdr"/>
          <p:cNvSpPr/>
          <p:nvPr/>
        </p:nvSpPr>
        <p:spPr>
          <a:xfrm>
            <a:off x="900000" y="4630000"/>
            <a:ext cx="7000000" cy="220000"/>
          </a:xfrm>
          <a:prstGeom prst="rect">
            <a:avLst/>
          </a:prstGeom>
          <a:noFill/>
          <a:ln/>
        </p:spPr>
        <p:txBody>
          <a:bodyPr wrap="square" lIns="0" tIns="0" rIns="0" bIns="0" rtlCol="0" anchor="ctr"/>
          <a:lstStyle/>
          <a:p>
            <a:pPr marL="0" indent="0" algn="l">
              <a:buNone/>
            </a:pPr>
            <a:r>
              <a:rPr lang="ko-KR" altLang="en-US" sz="880" b="1" kern="0">
                <a:solidFill>
                  <a:srgbClr val="C2410C"/>
                </a:solidFill>
                <a:latin typeface="Malgun Gothic" pitchFamily="34" charset="0"/>
                <a:ea typeface="Malgun Gothic" pitchFamily="34" charset="-122"/>
                <a:cs typeface="Malgun Gothic" pitchFamily="34" charset="-120"/>
              </a:rPr>
              <a:t>최근 확인된 사항 · IR 소통 체계 보완</a:t>
            </a:r>
          </a:p>
        </p:txBody>
      </p:sp>
      <p:sp>
        <p:nvSpPr>
          <p:cNvPr id="253" name="irleft"/>
          <p:cNvSpPr/>
          <p:nvPr/>
        </p:nvSpPr>
        <p:spPr>
          <a:xfrm>
            <a:off x="900000" y="4850000"/>
            <a:ext cx="5150000" cy="340000"/>
          </a:xfrm>
          <a:prstGeom prst="rect">
            <a:avLst/>
          </a:prstGeom>
          <a:noFill/>
          <a:ln/>
        </p:spPr>
        <p:txBody>
          <a:bodyPr wrap="square" lIns="0" tIns="0" rIns="0" bIns="0" rtlCol="0" anchor="t"/>
          <a:lstStyle/>
          <a:p>
            <a:pPr marL="120000" indent="-120000">
              <a:buClr>
                <a:srgbClr val="E8590C"/>
              </a:buClr>
              <a:buFont typeface="Arial"/>
              <a:buChar char="•"/>
            </a:pPr>
            <a:r>
              <a:rPr lang="ko-KR" altLang="en-US" sz="720" kern="0">
                <a:solidFill>
                  <a:srgbClr val="33465B"/>
                </a:solidFill>
                <a:latin typeface="Malgun Gothic" pitchFamily="34" charset="0"/>
                <a:ea typeface="Malgun Gothic" pitchFamily="34" charset="-122"/>
                <a:cs typeface="Malgun Gothic" pitchFamily="34" charset="-120"/>
              </a:rPr>
              <a:t>2026년 6월 공식 IR 텔레그램 채널 개설</a:t>
            </a:r>
          </a:p>
          <a:p>
            <a:pPr marL="120000" indent="-120000">
              <a:spcBef>
                <a:spcPts val="70"/>
              </a:spcBef>
              <a:buClr>
                <a:srgbClr val="E8590C"/>
              </a:buClr>
              <a:buFont typeface="Arial"/>
              <a:buChar char="•"/>
            </a:pPr>
            <a:r>
              <a:rPr lang="ko-KR" altLang="en-US" sz="720" kern="0">
                <a:solidFill>
                  <a:srgbClr val="33465B"/>
                </a:solidFill>
                <a:latin typeface="Malgun Gothic" pitchFamily="34" charset="0"/>
                <a:ea typeface="Malgun Gothic" pitchFamily="34" charset="-122"/>
                <a:cs typeface="Malgun Gothic" pitchFamily="34" charset="-120"/>
              </a:rPr>
              <a:t>공시·보도자료 기반 정보 제공 원칙 발표</a:t>
            </a:r>
          </a:p>
        </p:txBody>
      </p:sp>
      <p:sp>
        <p:nvSpPr>
          <p:cNvPr id="254" name="irright"/>
          <p:cNvSpPr/>
          <p:nvPr/>
        </p:nvSpPr>
        <p:spPr>
          <a:xfrm>
            <a:off x="6150000" y="4850000"/>
            <a:ext cx="5350000" cy="340000"/>
          </a:xfrm>
          <a:prstGeom prst="rect">
            <a:avLst/>
          </a:prstGeom>
          <a:noFill/>
          <a:ln/>
        </p:spPr>
        <p:txBody>
          <a:bodyPr wrap="square" lIns="0" tIns="0" rIns="0" bIns="0" rtlCol="0" anchor="t"/>
          <a:lstStyle/>
          <a:p>
            <a:pPr marL="120000" indent="-120000">
              <a:buClr>
                <a:srgbClr val="E8590C"/>
              </a:buClr>
              <a:buFont typeface="Arial"/>
              <a:buChar char="•"/>
            </a:pPr>
            <a:r>
              <a:rPr lang="ko-KR" altLang="en-US" sz="720" kern="0">
                <a:solidFill>
                  <a:srgbClr val="33465B"/>
                </a:solidFill>
                <a:latin typeface="Malgun Gothic" pitchFamily="34" charset="0"/>
                <a:ea typeface="Malgun Gothic" pitchFamily="34" charset="-122"/>
                <a:cs typeface="Malgun Gothic" pitchFamily="34" charset="-120"/>
              </a:rPr>
              <a:t>미공개 정보 제공 금지 및 공정공시 원칙 강조</a:t>
            </a:r>
          </a:p>
          <a:p>
            <a:pPr marL="120000" indent="-120000">
              <a:spcBef>
                <a:spcPts val="70"/>
              </a:spcBef>
              <a:buClr>
                <a:srgbClr val="E8590C"/>
              </a:buClr>
              <a:buFont typeface="Arial"/>
              <a:buChar char="•"/>
            </a:pPr>
            <a:r>
              <a:rPr lang="ko-KR" altLang="en-US" sz="720" kern="0">
                <a:solidFill>
                  <a:srgbClr val="33465B"/>
                </a:solidFill>
                <a:latin typeface="Malgun Gothic" pitchFamily="34" charset="0"/>
                <a:ea typeface="Malgun Gothic" pitchFamily="34" charset="-122"/>
                <a:cs typeface="Malgun Gothic" pitchFamily="34" charset="-120"/>
              </a:rPr>
              <a:t>IR 전용 이메일 운영 및 소통 체계 강화 추진</a:t>
            </a:r>
          </a:p>
        </p:txBody>
      </p:sp>
      <p:sp>
        <p:nvSpPr>
          <p:cNvPr id="255" name="irexp"/>
          <p:cNvSpPr/>
          <p:nvPr/>
        </p:nvSpPr>
        <p:spPr>
          <a:xfrm>
            <a:off x="900000" y="5185000"/>
            <a:ext cx="10600000" cy="215000"/>
          </a:xfrm>
          <a:prstGeom prst="rect">
            <a:avLst/>
          </a:prstGeom>
          <a:noFill/>
          <a:ln/>
        </p:spPr>
        <p:txBody>
          <a:bodyPr wrap="square" lIns="0" tIns="0" rIns="0" bIns="0" rtlCol="0" anchor="ctr"/>
          <a:lstStyle/>
          <a:p>
            <a:pPr marL="0" indent="0" algn="l">
              <a:buNone/>
            </a:pPr>
            <a:r>
              <a:rPr lang="ko-KR" altLang="en-US" sz="700" kern="0">
                <a:solidFill>
                  <a:srgbClr val="5A6B7E"/>
                </a:solidFill>
                <a:latin typeface="Malgun Gothic" pitchFamily="34" charset="0"/>
                <a:ea typeface="Malgun Gothic" pitchFamily="34" charset="-122"/>
                <a:cs typeface="Malgun Gothic" pitchFamily="34" charset="-120"/>
              </a:rPr>
              <a:t>회사는 공정공시 원칙에 따라 공개된 정보 중심의 소통 체계를 강화하고 있다. 다만 투자자는 회사의 설명보다 </a:t>
            </a:r>
            <a:r>
              <a:rPr lang="ko-KR" altLang="en-US" sz="700" b="1" kern="0">
                <a:solidFill>
                  <a:srgbClr val="C2410C"/>
                </a:solidFill>
                <a:latin typeface="Malgun Gothic" pitchFamily="34" charset="0"/>
                <a:ea typeface="Malgun Gothic" pitchFamily="34" charset="-122"/>
                <a:cs typeface="Malgun Gothic" pitchFamily="34" charset="-120"/>
              </a:rPr>
              <a:t>향후 공시의 일관성과 실제 실적</a:t>
            </a:r>
            <a:r>
              <a:rPr lang="ko-KR" altLang="en-US" sz="700" kern="0">
                <a:solidFill>
                  <a:srgbClr val="5A6B7E"/>
                </a:solidFill>
                <a:latin typeface="Malgun Gothic" pitchFamily="34" charset="0"/>
                <a:ea typeface="Malgun Gothic" pitchFamily="34" charset="-122"/>
                <a:cs typeface="Malgun Gothic" pitchFamily="34" charset="-120"/>
              </a:rPr>
              <a:t>을 통해 신뢰 회복 여부를 확인할 필요가 있다.</a:t>
            </a:r>
          </a:p>
        </p:txBody>
      </p:sp>
      <p:sp>
        <p:nvSpPr>
          <p:cNvPr id="400" name="concl">
            <a:extLst>
              <a:ext uri="{C183D7F6-B498-43B3-948B-1728B52AA6E4}">
                <adec:decorative xmlns:adec="http://schemas.microsoft.com/office/drawing/2017/decorative" val="1"/>
              </a:ext>
            </a:extLst>
          </p:cNvPr>
          <p:cNvSpPr/>
          <p:nvPr/>
        </p:nvSpPr>
        <p:spPr>
          <a:xfrm>
            <a:off x="658368" y="5480000"/>
            <a:ext cx="10881360" cy="700000"/>
          </a:xfrm>
          <a:prstGeom prst="rect">
            <a:avLst/>
          </a:prstGeom>
          <a:solidFill>
            <a:srgbClr val="0B2038"/>
          </a:solidFill>
          <a:ln/>
          <a:effectLst>
            <a:outerShdw blurRad="90000" dist="28000" dir="5400000" algn="bl" rotWithShape="0">
              <a:srgbClr val="0E2036">
                <a:alpha val="11000"/>
              </a:srgbClr>
            </a:outerShdw>
          </a:effectLst>
        </p:spPr>
        <p:txBody>
          <a:bodyPr/>
          <a:lstStyle/>
          <a:p>
            <a:endParaRPr lang="ko-KR" altLang="en-US"/>
          </a:p>
        </p:txBody>
      </p:sp>
      <p:sp>
        <p:nvSpPr>
          <p:cNvPr id="401" name="cacc">
            <a:extLst>
              <a:ext uri="{C183D7F6-B498-43B3-948B-1728B52AA6E4}">
                <adec:decorative xmlns:adec="http://schemas.microsoft.com/office/drawing/2017/decorative" val="1"/>
              </a:ext>
            </a:extLst>
          </p:cNvPr>
          <p:cNvSpPr/>
          <p:nvPr/>
        </p:nvSpPr>
        <p:spPr>
          <a:xfrm>
            <a:off x="658368" y="5480000"/>
            <a:ext cx="120000" cy="700000"/>
          </a:xfrm>
          <a:prstGeom prst="rect">
            <a:avLst/>
          </a:prstGeom>
          <a:solidFill>
            <a:srgbClr val="E8590C"/>
          </a:solidFill>
          <a:ln/>
        </p:spPr>
        <p:txBody>
          <a:bodyPr/>
          <a:lstStyle/>
          <a:p>
            <a:endParaRPr lang="ko-KR" altLang="en-US"/>
          </a:p>
        </p:txBody>
      </p:sp>
      <p:sp>
        <p:nvSpPr>
          <p:cNvPr id="402" name="ctxt"/>
          <p:cNvSpPr/>
          <p:nvPr/>
        </p:nvSpPr>
        <p:spPr>
          <a:xfrm>
            <a:off x="1058368" y="5540000"/>
            <a:ext cx="10081360" cy="620000"/>
          </a:xfrm>
          <a:prstGeom prst="rect">
            <a:avLst/>
          </a:prstGeom>
          <a:noFill/>
          <a:ln/>
        </p:spPr>
        <p:txBody>
          <a:bodyPr wrap="square" lIns="0" tIns="0" rIns="0" bIns="0" rtlCol="0" anchor="ctr"/>
          <a:lstStyle/>
          <a:p>
            <a:pPr algn="ctr">
              <a:buNone/>
            </a:pPr>
            <a:r>
              <a:rPr lang="ko-KR" altLang="en-US" sz="820" b="1" spc="200">
                <a:solidFill>
                  <a:srgbClr val="7FE9DC"/>
                </a:solidFill>
                <a:latin typeface="Malgun Gothic" pitchFamily="34" charset="0"/>
                <a:ea typeface="Malgun Gothic" pitchFamily="34" charset="-122"/>
                <a:cs typeface="Malgun Gothic" pitchFamily="34" charset="-120"/>
              </a:rPr>
              <a:t>핵심 메시지</a:t>
            </a:r>
          </a:p>
          <a:p>
            <a:pPr algn="ctr">
              <a:spcBef>
                <a:spcPts val="150"/>
              </a:spcBef>
              <a:buNone/>
            </a:pPr>
            <a:r>
              <a:rPr lang="ko-KR" altLang="en-US" sz="1000">
                <a:solidFill>
                  <a:srgbClr val="E2E8F0"/>
                </a:solidFill>
                <a:latin typeface="Malgun Gothic" pitchFamily="34" charset="0"/>
                <a:ea typeface="Malgun Gothic" pitchFamily="34" charset="-122"/>
                <a:cs typeface="Malgun Gothic" pitchFamily="34" charset="-120"/>
              </a:rPr>
              <a:t>신뢰는 발표가 아니라 </a:t>
            </a:r>
            <a:r>
              <a:rPr lang="ko-KR" altLang="en-US" sz="1000" b="1">
                <a:solidFill>
                  <a:srgbClr val="FFFFFF"/>
                </a:solidFill>
                <a:latin typeface="Malgun Gothic" pitchFamily="34" charset="0"/>
                <a:ea typeface="Malgun Gothic" pitchFamily="34" charset="-122"/>
                <a:cs typeface="Malgun Gothic" pitchFamily="34" charset="-120"/>
              </a:rPr>
              <a:t>공시와 실적</a:t>
            </a:r>
            <a:r>
              <a:rPr lang="ko-KR" altLang="en-US" sz="1000">
                <a:solidFill>
                  <a:srgbClr val="E2E8F0"/>
                </a:solidFill>
                <a:latin typeface="Malgun Gothic" pitchFamily="34" charset="0"/>
                <a:ea typeface="Malgun Gothic" pitchFamily="34" charset="-122"/>
                <a:cs typeface="Malgun Gothic" pitchFamily="34" charset="-120"/>
              </a:rPr>
              <a:t>으로 증명된다.</a:t>
            </a:r>
          </a:p>
          <a:p>
            <a:pPr algn="ctr">
              <a:spcBef>
                <a:spcPts val="120"/>
              </a:spcBef>
              <a:buNone/>
            </a:pPr>
            <a:r>
              <a:rPr lang="ko-KR" altLang="en-US" sz="940">
                <a:solidFill>
                  <a:srgbClr val="C7D2E0"/>
                </a:solidFill>
                <a:latin typeface="Malgun Gothic" pitchFamily="34" charset="0"/>
                <a:ea typeface="Malgun Gothic" pitchFamily="34" charset="-122"/>
                <a:cs typeface="Malgun Gothic" pitchFamily="34" charset="-120"/>
              </a:rPr>
              <a:t>투자자는 ‘무엇을 말했는가’보다 </a:t>
            </a:r>
            <a:r>
              <a:rPr lang="ko-KR" altLang="en-US" sz="940" b="1">
                <a:solidFill>
                  <a:srgbClr val="FDBA74"/>
                </a:solidFill>
                <a:latin typeface="Malgun Gothic" pitchFamily="34" charset="0"/>
                <a:ea typeface="Malgun Gothic" pitchFamily="34" charset="-122"/>
                <a:cs typeface="Malgun Gothic" pitchFamily="34" charset="-120"/>
              </a:rPr>
              <a:t>‘무엇을 실제로 보여주고 증명했는가’</a:t>
            </a:r>
            <a:r>
              <a:rPr lang="ko-KR" altLang="en-US" sz="940">
                <a:solidFill>
                  <a:srgbClr val="C7D2E0"/>
                </a:solidFill>
                <a:latin typeface="Malgun Gothic" pitchFamily="34" charset="0"/>
                <a:ea typeface="Malgun Gothic" pitchFamily="34" charset="-122"/>
                <a:cs typeface="Malgun Gothic" pitchFamily="34" charset="-120"/>
              </a:rPr>
              <a:t>를 확인해야 한다.</a:t>
            </a:r>
          </a:p>
        </p:txBody>
      </p:sp>
      <p:sp>
        <p:nvSpPr>
          <p:cNvPr id="10" name="src"/>
          <p:cNvSpPr/>
          <p:nvPr/>
        </p:nvSpPr>
        <p:spPr>
          <a:xfrm>
            <a:off x="658368" y="6215000"/>
            <a:ext cx="10881360" cy="240000"/>
          </a:xfrm>
          <a:prstGeom prst="rect">
            <a:avLst/>
          </a:prstGeom>
          <a:noFill/>
          <a:ln/>
        </p:spPr>
        <p:txBody>
          <a:bodyPr wrap="square" lIns="0" tIns="0" rIns="0" bIns="0" rtlCol="0" anchor="t"/>
          <a:lstStyle/>
          <a:p>
            <a:pPr algn="ctr">
              <a:buNone/>
            </a:pPr>
            <a:r>
              <a:rPr lang="ko-KR" altLang="en-US" sz="560">
                <a:solidFill>
                  <a:srgbClr val="5A6B7E"/>
                </a:solidFill>
                <a:latin typeface="Malgun Gothic" pitchFamily="34" charset="0"/>
                <a:ea typeface="Malgun Gothic" pitchFamily="34" charset="-122"/>
                <a:cs typeface="Malgun Gothic" pitchFamily="34" charset="-120"/>
              </a:rPr>
              <a:t>출처: 한국거래소 KIND · 삼천당제약 보도자료 · 데일리팜 · 주간한국 · PRESS9 · 쿠키뉴스 · 의학신문 · 메디파나뉴스 · 데일리메디</a:t>
            </a:r>
          </a:p>
        </p:txBody>
      </p:sp>
      <p:sp>
        <p:nvSpPr>
          <p:cNvPr id="20" name="footer 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a:ln/>
        </p:spPr>
        <p:txBody>
          <a:bodyPr/>
          <a:lstStyle/>
          <a:p>
            <a:endParaRPr lang="ko-KR" altLang="en-US"/>
          </a:p>
        </p:txBody>
      </p:sp>
      <p:sp>
        <p:nvSpPr>
          <p:cNvPr id="21" name="Text 19"/>
          <p:cNvSpPr/>
          <p:nvPr/>
        </p:nvSpPr>
        <p:spPr>
          <a:xfrm>
            <a:off x="658368" y="6574536"/>
            <a:ext cx="6400800" cy="283464"/>
          </a:xfrm>
          <a:prstGeom prst="rect">
            <a:avLst/>
          </a:prstGeom>
          <a:noFill/>
          <a:ln/>
        </p:spPr>
        <p:txBody>
          <a:bodyPr wrap="square" lIns="0" tIns="0" rIns="0" bIns="0" rtlCol="0" anchor="ctr"/>
          <a:lstStyle/>
          <a:p>
            <a:pPr marL="0" indent="0">
              <a:buNone/>
            </a:pPr>
            <a:r>
              <a:rPr lang="en-US" sz="850" dirty="0">
                <a:solidFill>
                  <a:srgbClr val="6B7C90"/>
                </a:solidFill>
                <a:latin typeface="Malgun Gothic" pitchFamily="34" charset="0"/>
                <a:ea typeface="Malgun Gothic" pitchFamily="34" charset="-122"/>
                <a:cs typeface="Malgun Gothic" pitchFamily="34" charset="-120"/>
              </a:rPr>
              <a:t>삼천당제약 (000250) · 투자스터디 발표자료</a:t>
            </a:r>
            <a:endParaRPr lang="en-US" sz="850" dirty="0"/>
          </a:p>
        </p:txBody>
      </p:sp>
      <p:sp>
        <p:nvSpPr>
          <p:cNvPr id="22" name="Text 20">
            <a:extLst>
              <a:ext uri="{C183D7F6-B498-43B3-948B-1728B52AA6E4}">
                <adec:decorative xmlns:adec="http://schemas.microsoft.com/office/drawing/2017/decorative" val="1"/>
              </a:ext>
            </a:extLst>
          </p:cNvPr>
          <p:cNvSpPr/>
          <p:nvPr/>
        </p:nvSpPr>
        <p:spPr>
          <a:xfrm>
            <a:off x="11064240" y="6574536"/>
            <a:ext cx="457200" cy="283464"/>
          </a:xfrm>
          <a:prstGeom prst="rect">
            <a:avLst/>
          </a:prstGeom>
          <a:noFill/>
          <a:ln/>
        </p:spPr>
        <p:txBody>
          <a:bodyPr wrap="square" lIns="0" tIns="0" rIns="0" bIns="0" rtlCol="0" anchor="ctr"/>
          <a:lstStyle/>
          <a:p>
            <a:pPr marL="0" indent="0" algn="r">
              <a:buNone/>
            </a:pPr>
            <a:r>
              <a:rPr lang="en-US" sz="850">
                <a:solidFill>
                  <a:srgbClr val="6B7C90"/>
                </a:solidFill>
                <a:latin typeface="Malgun Gothic" pitchFamily="34" charset="0"/>
                <a:ea typeface="Malgun Gothic" pitchFamily="34" charset="-122"/>
                <a:cs typeface="Malgun Gothic"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bg">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080B12"/>
          </a:solidFill>
          <a:ln/>
        </p:spPr>
        <p:txBody>
          <a:bodyPr/>
          <a:lstStyle/>
          <a:p>
            <a:endParaRPr lang="ko-KR" altLang="en-US"/>
          </a:p>
        </p:txBody>
      </p:sp>
      <p:sp>
        <p:nvSpPr>
          <p:cNvPr id="3" name="top rule">
            <a:extLst>
              <a:ext uri="{C183D7F6-B498-43B3-948B-1728B52AA6E4}">
                <adec:decorative xmlns:adec="http://schemas.microsoft.com/office/drawing/2017/decorative" val="1"/>
              </a:ext>
            </a:extLst>
          </p:cNvPr>
          <p:cNvSpPr/>
          <p:nvPr/>
        </p:nvSpPr>
        <p:spPr>
          <a:xfrm>
            <a:off x="0" y="0"/>
            <a:ext cx="12191695" cy="109728"/>
          </a:xfrm>
          <a:prstGeom prst="rect">
            <a:avLst/>
          </a:prstGeom>
          <a:solidFill>
            <a:srgbClr val="1D4ED8"/>
          </a:solidFill>
          <a:ln/>
        </p:spPr>
        <p:txBody>
          <a:bodyPr/>
          <a:lstStyle/>
          <a:p>
            <a:endParaRPr lang="ko-KR" altLang="en-US"/>
          </a:p>
        </p:txBody>
      </p:sp>
      <p:sp>
        <p:nvSpPr>
          <p:cNvPr id="4" name="bottom rule">
            <a:extLst>
              <a:ext uri="{C183D7F6-B498-43B3-948B-1728B52AA6E4}">
                <adec:decorative xmlns:adec="http://schemas.microsoft.com/office/drawing/2017/decorative" val="1"/>
              </a:ext>
            </a:extLst>
          </p:cNvPr>
          <p:cNvSpPr/>
          <p:nvPr/>
        </p:nvSpPr>
        <p:spPr>
          <a:xfrm>
            <a:off x="0" y="6784848"/>
            <a:ext cx="12191695" cy="73152"/>
          </a:xfrm>
          <a:prstGeom prst="rect">
            <a:avLst/>
          </a:prstGeom>
          <a:solidFill>
            <a:srgbClr val="1E3A8A"/>
          </a:solidFill>
          <a:ln/>
        </p:spPr>
        <p:txBody>
          <a:bodyPr/>
          <a:lstStyle/>
          <a:p>
            <a:endParaRPr lang="ko-KR" altLang="en-US"/>
          </a:p>
        </p:txBody>
      </p:sp>
      <p:sp>
        <p:nvSpPr>
          <p:cNvPr id="5" name="Text 3">
            <a:extLst>
              <a:ext uri="{C183D7F6-B498-43B3-948B-1728B52AA6E4}">
                <adec:decorative xmlns:adec="http://schemas.microsoft.com/office/drawing/2017/decorative" val="1"/>
              </a:ext>
            </a:extLst>
          </p:cNvPr>
          <p:cNvSpPr/>
          <p:nvPr/>
        </p:nvSpPr>
        <p:spPr>
          <a:xfrm>
            <a:off x="841248" y="713232"/>
            <a:ext cx="5486400" cy="365760"/>
          </a:xfrm>
          <a:prstGeom prst="rect">
            <a:avLst/>
          </a:prstGeom>
          <a:noFill/>
          <a:ln/>
        </p:spPr>
        <p:txBody>
          <a:bodyPr wrap="square" lIns="0" tIns="0" rIns="0" bIns="0" rtlCol="0" anchor="ctr"/>
          <a:lstStyle/>
          <a:p>
            <a:pPr marL="0" indent="0">
              <a:buNone/>
            </a:pPr>
            <a:r>
              <a:rPr lang="en-US" sz="1400" b="1" kern="0" spc="600" dirty="0">
                <a:solidFill>
                  <a:srgbClr val="60A5FA"/>
                </a:solidFill>
                <a:latin typeface="Malgun Gothic" pitchFamily="34" charset="0"/>
                <a:ea typeface="Malgun Gothic" pitchFamily="34" charset="-122"/>
                <a:cs typeface="Malgun Gothic" pitchFamily="34" charset="-120"/>
              </a:rPr>
              <a:t>SECTION</a:t>
            </a:r>
            <a:endParaRPr lang="en-US" sz="1400" dirty="0"/>
          </a:p>
        </p:txBody>
      </p:sp>
      <p:sp>
        <p:nvSpPr>
          <p:cNvPr id="6" name="Text 4">
            <a:extLst>
              <a:ext uri="{C183D7F6-B498-43B3-948B-1728B52AA6E4}">
                <adec:decorative xmlns:adec="http://schemas.microsoft.com/office/drawing/2017/decorative" val="1"/>
              </a:ext>
            </a:extLst>
          </p:cNvPr>
          <p:cNvSpPr/>
          <p:nvPr/>
        </p:nvSpPr>
        <p:spPr>
          <a:xfrm>
            <a:off x="566928" y="2651760"/>
            <a:ext cx="5852160" cy="3840480"/>
          </a:xfrm>
          <a:prstGeom prst="rect">
            <a:avLst/>
          </a:prstGeom>
          <a:noFill/>
          <a:ln/>
        </p:spPr>
        <p:txBody>
          <a:bodyPr wrap="square" lIns="0" tIns="0" rIns="0" bIns="0" rtlCol="0" anchor="b"/>
          <a:lstStyle/>
          <a:p>
            <a:pPr marL="0" indent="0" algn="l">
              <a:buNone/>
            </a:pPr>
            <a:r>
              <a:rPr lang="en-US" sz="25000" b="1" dirty="0">
                <a:solidFill>
                  <a:srgbClr val="3B82F6"/>
                </a:solidFill>
                <a:latin typeface="Malgun Gothic" pitchFamily="34" charset="0"/>
                <a:ea typeface="Malgun Gothic" pitchFamily="34" charset="-122"/>
                <a:cs typeface="Malgun Gothic" pitchFamily="34" charset="-120"/>
              </a:rPr>
              <a:t>04</a:t>
            </a:r>
            <a:endParaRPr lang="en-US" sz="25000" dirty="0"/>
          </a:p>
        </p:txBody>
      </p:sp>
      <p:sp>
        <p:nvSpPr>
          <p:cNvPr id="7" name="sep">
            <a:extLst>
              <a:ext uri="{C183D7F6-B498-43B3-948B-1728B52AA6E4}">
                <adec:decorative xmlns:adec="http://schemas.microsoft.com/office/drawing/2017/decorative" val="1"/>
              </a:ext>
            </a:extLst>
          </p:cNvPr>
          <p:cNvSpPr/>
          <p:nvPr/>
        </p:nvSpPr>
        <p:spPr>
          <a:xfrm>
            <a:off x="6720840" y="2148840"/>
            <a:ext cx="25603" cy="2560320"/>
          </a:xfrm>
          <a:prstGeom prst="rect">
            <a:avLst/>
          </a:prstGeom>
          <a:solidFill>
            <a:srgbClr val="24344F"/>
          </a:solidFill>
          <a:ln/>
        </p:spPr>
        <p:txBody>
          <a:bodyPr/>
          <a:lstStyle/>
          <a:p>
            <a:endParaRPr lang="ko-KR" altLang="en-US"/>
          </a:p>
        </p:txBody>
      </p:sp>
      <p:sp>
        <p:nvSpPr>
          <p:cNvPr id="8" name="accent">
            <a:extLst>
              <a:ext uri="{C183D7F6-B498-43B3-948B-1728B52AA6E4}">
                <adec:decorative xmlns:adec="http://schemas.microsoft.com/office/drawing/2017/decorative" val="1"/>
              </a:ext>
            </a:extLst>
          </p:cNvPr>
          <p:cNvSpPr/>
          <p:nvPr/>
        </p:nvSpPr>
        <p:spPr>
          <a:xfrm>
            <a:off x="7178040" y="2724912"/>
            <a:ext cx="731520" cy="73152"/>
          </a:xfrm>
          <a:prstGeom prst="rect">
            <a:avLst/>
          </a:prstGeom>
          <a:solidFill>
            <a:srgbClr val="1D4ED8"/>
          </a:solidFill>
          <a:ln/>
        </p:spPr>
        <p:txBody>
          <a:bodyPr/>
          <a:lstStyle/>
          <a:p>
            <a:endParaRPr lang="ko-KR" altLang="en-US"/>
          </a:p>
        </p:txBody>
      </p:sp>
      <p:sp>
        <p:nvSpPr>
          <p:cNvPr id="9" name="Text 7">
            <a:extLst>
              <a:ext uri="{C183D7F6-B498-43B3-948B-1728B52AA6E4}">
                <adec:decorative xmlns:adec="http://schemas.microsoft.com/office/drawing/2017/decorative" val="1"/>
              </a:ext>
            </a:extLst>
          </p:cNvPr>
          <p:cNvSpPr/>
          <p:nvPr/>
        </p:nvSpPr>
        <p:spPr>
          <a:xfrm>
            <a:off x="7132320" y="2944368"/>
            <a:ext cx="4663440" cy="1188720"/>
          </a:xfrm>
          <a:prstGeom prst="rect">
            <a:avLst/>
          </a:prstGeom>
          <a:noFill/>
          <a:ln/>
        </p:spPr>
        <p:txBody>
          <a:bodyPr wrap="square" lIns="0" tIns="0" rIns="0" bIns="0" rtlCol="0" anchor="t"/>
          <a:lstStyle/>
          <a:p>
            <a:pPr marL="0" indent="0" algn="l">
              <a:lnSpc>
                <a:spcPct val="105000"/>
              </a:lnSpc>
              <a:buNone/>
            </a:pPr>
            <a:r>
              <a:rPr lang="en-US" sz="3300" b="1" dirty="0">
                <a:solidFill>
                  <a:srgbClr val="FFFFFF"/>
                </a:solidFill>
                <a:latin typeface="Malgun Gothic" pitchFamily="34" charset="0"/>
                <a:ea typeface="Malgun Gothic" pitchFamily="34" charset="-122"/>
                <a:cs typeface="Malgun Gothic" pitchFamily="34" charset="-120"/>
              </a:rPr>
              <a:t>투자로드맵 · 가치평가</a:t>
            </a:r>
            <a:endParaRPr lang="en-US" sz="3300" dirty="0"/>
          </a:p>
        </p:txBody>
      </p:sp>
      <p:sp>
        <p:nvSpPr>
          <p:cNvPr id="10" name="Text 8">
            <a:extLst>
              <a:ext uri="{C183D7F6-B498-43B3-948B-1728B52AA6E4}">
                <adec:decorative xmlns:adec="http://schemas.microsoft.com/office/drawing/2017/decorative" val="1"/>
              </a:ext>
            </a:extLst>
          </p:cNvPr>
          <p:cNvSpPr/>
          <p:nvPr/>
        </p:nvSpPr>
        <p:spPr>
          <a:xfrm>
            <a:off x="7178040" y="4160520"/>
            <a:ext cx="4663440" cy="457200"/>
          </a:xfrm>
          <a:prstGeom prst="rect">
            <a:avLst/>
          </a:prstGeom>
          <a:noFill/>
          <a:ln/>
        </p:spPr>
        <p:txBody>
          <a:bodyPr wrap="square" lIns="0" tIns="0" rIns="0" bIns="0" rtlCol="0" anchor="ctr"/>
          <a:lstStyle/>
          <a:p>
            <a:pPr marL="0" indent="0" algn="l">
              <a:buNone/>
            </a:pPr>
            <a:r>
              <a:rPr lang="en-US" sz="1500" kern="0" spc="300" dirty="0">
                <a:solidFill>
                  <a:srgbClr val="60A5FA"/>
                </a:solidFill>
                <a:latin typeface="Malgun Gothic" pitchFamily="34" charset="0"/>
                <a:ea typeface="Malgun Gothic" pitchFamily="34" charset="-122"/>
                <a:cs typeface="Malgun Gothic" pitchFamily="34" charset="-120"/>
              </a:rPr>
              <a:t>VALUATION &amp; ROADMAP</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lgn="l">
              <a:buNone/>
            </a:pPr>
            <a:r>
              <a:rPr lang="ko-KR" altLang="en-US" sz="1100" b="1" kern="0" spc="200">
                <a:solidFill>
                  <a:srgbClr val="0D9488"/>
                </a:solidFill>
                <a:latin typeface="Malgun Gothic" pitchFamily="34" charset="0"/>
                <a:ea typeface="Malgun Gothic" pitchFamily="34" charset="-122"/>
                <a:cs typeface="Malgun Gothic" pitchFamily="34" charset="-120"/>
              </a:rPr>
              <a:t>04-1 · 밸류에이션 점검</a:t>
            </a:r>
          </a:p>
        </p:txBody>
      </p:sp>
      <p:sp>
        <p:nvSpPr>
          <p:cNvPr id="3" name="title"/>
          <p:cNvSpPr/>
          <p:nvPr/>
        </p:nvSpPr>
        <p:spPr>
          <a:xfrm>
            <a:off x="658368" y="566928"/>
            <a:ext cx="11430000" cy="603504"/>
          </a:xfrm>
          <a:prstGeom prst="rect">
            <a:avLst/>
          </a:prstGeom>
          <a:noFill/>
          <a:ln/>
        </p:spPr>
        <p:txBody>
          <a:bodyPr wrap="square" lIns="0" tIns="0" rIns="0" bIns="0" rtlCol="0" anchor="ctr"/>
          <a:lstStyle/>
          <a:p>
            <a:pPr marL="0" indent="0" algn="l">
              <a:buNone/>
            </a:pPr>
            <a:r>
              <a:rPr lang="ko-KR" altLang="en-US" sz="2500" b="1" kern="0">
                <a:solidFill>
                  <a:srgbClr val="0E2036"/>
                </a:solidFill>
                <a:latin typeface="Malgun Gothic" pitchFamily="34" charset="0"/>
                <a:ea typeface="Malgun Gothic" pitchFamily="34" charset="-122"/>
                <a:cs typeface="Malgun Gothic" pitchFamily="34" charset="-120"/>
              </a:rPr>
              <a:t>현재 실적만으로 5.6조 시총은 설명되는가</a:t>
            </a:r>
          </a:p>
        </p:txBody>
      </p:sp>
      <p:sp>
        <p:nvSpPr>
          <p:cNvPr id="4" name="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76656" y="1371600"/>
            <a:ext cx="10881360" cy="340000"/>
          </a:xfrm>
          <a:prstGeom prst="rect">
            <a:avLst/>
          </a:prstGeom>
          <a:noFill/>
          <a:ln/>
        </p:spPr>
        <p:txBody>
          <a:bodyPr wrap="square" lIns="0" tIns="0" rIns="0" bIns="0" rtlCol="0" anchor="ctr"/>
          <a:lstStyle/>
          <a:p>
            <a:pPr marL="0" indent="0" algn="l">
              <a:buNone/>
            </a:pPr>
            <a:r>
              <a:rPr lang="ko-KR" altLang="en-US" sz="1300" kern="0">
                <a:solidFill>
                  <a:srgbClr val="33465B"/>
                </a:solidFill>
                <a:latin typeface="Malgun Gothic" pitchFamily="34" charset="0"/>
                <a:ea typeface="Malgun Gothic" pitchFamily="34" charset="-122"/>
                <a:cs typeface="Malgun Gothic" pitchFamily="34" charset="-120"/>
              </a:rPr>
              <a:t>PER 467배 · PSR 24배 · 영업이익 기준 660배 — 현재 가격은 미래 기대를 반영한다</a:t>
            </a:r>
          </a:p>
        </p:txBody>
      </p:sp>
      <p:sp>
        <p:nvSpPr>
          <p:cNvPr id="6" name="lead">
            <a:extLst>
              <a:ext uri="{C183D7F6-B498-43B3-948B-1728B52AA6E4}">
                <adec:decorative xmlns:adec="http://schemas.microsoft.com/office/drawing/2017/decorative" val="1"/>
              </a:ext>
            </a:extLst>
          </p:cNvPr>
          <p:cNvSpPr/>
          <p:nvPr/>
        </p:nvSpPr>
        <p:spPr>
          <a:xfrm>
            <a:off x="676656" y="1730000"/>
            <a:ext cx="10875264" cy="560000"/>
          </a:xfrm>
          <a:prstGeom prst="rect">
            <a:avLst/>
          </a:prstGeom>
          <a:noFill/>
          <a:ln/>
        </p:spPr>
        <p:txBody>
          <a:bodyPr wrap="square" lIns="0" tIns="0" rIns="0" bIns="0" rtlCol="0" anchor="t"/>
          <a:lstStyle/>
          <a:p>
            <a:pPr marL="0" indent="0" algn="l">
              <a:lnSpc>
                <a:spcPct val="106000"/>
              </a:lnSpc>
              <a:buNone/>
            </a:pPr>
            <a:r>
              <a:rPr lang="ko-KR" altLang="en-US" sz="1150" kern="0">
                <a:solidFill>
                  <a:srgbClr val="33465B"/>
                </a:solidFill>
                <a:latin typeface="Malgun Gothic" pitchFamily="34" charset="0"/>
                <a:ea typeface="Malgun Gothic" pitchFamily="34" charset="-122"/>
                <a:cs typeface="Malgun Gothic" pitchFamily="34" charset="-120"/>
              </a:rPr>
              <a:t>2025</a:t>
            </a:r>
            <a:r>
              <a:rPr lang="ko-KR" altLang="en-US" sz="1150" kern="0" dirty="0">
                <a:solidFill>
                  <a:srgbClr val="33465B"/>
                </a:solidFill>
                <a:latin typeface="Malgun Gothic" pitchFamily="34" charset="0"/>
                <a:ea typeface="Malgun Gothic" pitchFamily="34" charset="-122"/>
                <a:cs typeface="Malgun Gothic" pitchFamily="34" charset="-120"/>
              </a:rPr>
              <a:t>년 </a:t>
            </a:r>
            <a:r>
              <a:rPr lang="ko-KR" altLang="en-US" sz="1150" kern="0">
                <a:solidFill>
                  <a:srgbClr val="33465B"/>
                </a:solidFill>
                <a:latin typeface="Malgun Gothic" pitchFamily="34" charset="0"/>
                <a:ea typeface="Malgun Gothic" pitchFamily="34" charset="-122"/>
                <a:cs typeface="Malgun Gothic" pitchFamily="34" charset="-120"/>
              </a:rPr>
              <a:t>확인된 실적 기준으로 보면 시가총액 </a:t>
            </a:r>
            <a:r>
              <a:rPr lang="ko-KR" altLang="en-US" sz="1150" kern="0" dirty="0">
                <a:solidFill>
                  <a:srgbClr val="33465B"/>
                </a:solidFill>
                <a:latin typeface="Malgun Gothic" pitchFamily="34" charset="0"/>
                <a:ea typeface="Malgun Gothic" pitchFamily="34" charset="-122"/>
                <a:cs typeface="Malgun Gothic" pitchFamily="34" charset="-120"/>
              </a:rPr>
              <a:t>약 5.6조 </a:t>
            </a:r>
            <a:r>
              <a:rPr lang="ko-KR" altLang="en-US" sz="1150" kern="0">
                <a:solidFill>
                  <a:srgbClr val="33465B"/>
                </a:solidFill>
                <a:latin typeface="Malgun Gothic" pitchFamily="34" charset="0"/>
                <a:ea typeface="Malgun Gothic" pitchFamily="34" charset="-122"/>
                <a:cs typeface="Malgun Gothic" pitchFamily="34" charset="-120"/>
              </a:rPr>
              <a:t>원은 매우 높은 밸류에이션이다</a:t>
            </a:r>
            <a:r>
              <a:rPr lang="ko-KR" altLang="en-US" sz="1150" kern="0" dirty="0">
                <a:solidFill>
                  <a:srgbClr val="33465B"/>
                </a:solidFill>
                <a:latin typeface="Malgun Gothic" pitchFamily="34" charset="0"/>
                <a:ea typeface="Malgun Gothic" pitchFamily="34" charset="-122"/>
                <a:cs typeface="Malgun Gothic" pitchFamily="34" charset="-120"/>
              </a:rPr>
              <a:t>. </a:t>
            </a:r>
            <a:r>
              <a:rPr lang="ko-KR" altLang="en-US" sz="1150" kern="0">
                <a:solidFill>
                  <a:srgbClr val="33465B"/>
                </a:solidFill>
                <a:latin typeface="Malgun Gothic" pitchFamily="34" charset="0"/>
                <a:ea typeface="Malgun Gothic" pitchFamily="34" charset="-122"/>
                <a:cs typeface="Malgun Gothic" pitchFamily="34" charset="-120"/>
              </a:rPr>
              <a:t>따라서 현재 주가는 기존 안과 사업의 현재 실적보다 </a:t>
            </a:r>
            <a:r>
              <a:rPr lang="ko-KR" altLang="en-US" sz="1150" kern="0" dirty="0">
                <a:solidFill>
                  <a:srgbClr val="33465B"/>
                </a:solidFill>
                <a:latin typeface="Malgun Gothic" pitchFamily="34" charset="0"/>
                <a:ea typeface="Malgun Gothic" pitchFamily="34" charset="-122"/>
                <a:cs typeface="Malgun Gothic" pitchFamily="34" charset="-120"/>
              </a:rPr>
              <a:t>SCD411 </a:t>
            </a:r>
            <a:r>
              <a:rPr lang="ko-KR" altLang="en-US" sz="1150" kern="0">
                <a:solidFill>
                  <a:srgbClr val="33465B"/>
                </a:solidFill>
                <a:latin typeface="Malgun Gothic" pitchFamily="34" charset="0"/>
                <a:ea typeface="Malgun Gothic" pitchFamily="34" charset="-122"/>
                <a:cs typeface="Malgun Gothic" pitchFamily="34" charset="-120"/>
              </a:rPr>
              <a:t>실적화 가능성과 </a:t>
            </a:r>
            <a:r>
              <a:rPr lang="ko-KR" altLang="en-US" sz="1150" kern="0" dirty="0">
                <a:solidFill>
                  <a:srgbClr val="33465B"/>
                </a:solidFill>
                <a:latin typeface="Malgun Gothic" pitchFamily="34" charset="0"/>
                <a:ea typeface="Malgun Gothic" pitchFamily="34" charset="-122"/>
                <a:cs typeface="Malgun Gothic" pitchFamily="34" charset="-120"/>
              </a:rPr>
              <a:t>S-PASS 옵션가치를 상당 부분 반영한 </a:t>
            </a:r>
            <a:r>
              <a:rPr lang="ko-KR" altLang="en-US" sz="1150" kern="0">
                <a:solidFill>
                  <a:srgbClr val="33465B"/>
                </a:solidFill>
                <a:latin typeface="Malgun Gothic" pitchFamily="34" charset="0"/>
                <a:ea typeface="Malgun Gothic" pitchFamily="34" charset="-122"/>
                <a:cs typeface="Malgun Gothic" pitchFamily="34" charset="-120"/>
              </a:rPr>
              <a:t>가격으로</a:t>
            </a:r>
            <a:r>
              <a:rPr lang="ko-KR" altLang="en-US" sz="1150" kern="0" dirty="0">
                <a:solidFill>
                  <a:srgbClr val="33465B"/>
                </a:solidFill>
                <a:latin typeface="Malgun Gothic" pitchFamily="34" charset="0"/>
                <a:ea typeface="Malgun Gothic" pitchFamily="34" charset="-122"/>
                <a:cs typeface="Malgun Gothic" pitchFamily="34" charset="-120"/>
              </a:rPr>
              <a:t> 해석된다.</a:t>
            </a:r>
          </a:p>
        </p:txBody>
      </p:sp>
      <p:sp>
        <p:nvSpPr>
          <p:cNvPr id="7" name="card">
            <a:extLst>
              <a:ext uri="{C183D7F6-B498-43B3-948B-1728B52AA6E4}">
                <adec:decorative xmlns:adec="http://schemas.microsoft.com/office/drawing/2017/decorative" val="1"/>
              </a:ext>
            </a:extLst>
          </p:cNvPr>
          <p:cNvSpPr/>
          <p:nvPr/>
        </p:nvSpPr>
        <p:spPr>
          <a:xfrm>
            <a:off x="658368" y="2380000"/>
            <a:ext cx="3491754" cy="312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8" name="chd">
            <a:extLst>
              <a:ext uri="{C183D7F6-B498-43B3-948B-1728B52AA6E4}">
                <adec:decorative xmlns:adec="http://schemas.microsoft.com/office/drawing/2017/decorative" val="1"/>
              </a:ext>
            </a:extLst>
          </p:cNvPr>
          <p:cNvSpPr/>
          <p:nvPr/>
        </p:nvSpPr>
        <p:spPr>
          <a:xfrm>
            <a:off x="658368" y="2380000"/>
            <a:ext cx="3491754" cy="440000"/>
          </a:xfrm>
          <a:prstGeom prst="rect">
            <a:avLst/>
          </a:prstGeom>
          <a:solidFill>
            <a:srgbClr val="1E3A8A"/>
          </a:solidFill>
          <a:ln/>
        </p:spPr>
        <p:txBody>
          <a:bodyPr/>
          <a:lstStyle/>
          <a:p>
            <a:endParaRPr lang="ko-KR" altLang="en-US"/>
          </a:p>
        </p:txBody>
      </p:sp>
      <p:sp>
        <p:nvSpPr>
          <p:cNvPr id="9" name="cht">
            <a:extLst>
              <a:ext uri="{C183D7F6-B498-43B3-948B-1728B52AA6E4}">
                <adec:decorative xmlns:adec="http://schemas.microsoft.com/office/drawing/2017/decorative" val="1"/>
              </a:ext>
            </a:extLst>
          </p:cNvPr>
          <p:cNvSpPr/>
          <p:nvPr/>
        </p:nvSpPr>
        <p:spPr>
          <a:xfrm>
            <a:off x="828368" y="2380000"/>
            <a:ext cx="3151754" cy="440000"/>
          </a:xfrm>
          <a:prstGeom prst="rect">
            <a:avLst/>
          </a:prstGeom>
          <a:noFill/>
          <a:ln/>
        </p:spPr>
        <p:txBody>
          <a:bodyPr wrap="square" lIns="0" tIns="0" rIns="0" bIns="0" rtlCol="0" anchor="ctr"/>
          <a:lstStyle/>
          <a:p>
            <a:pPr marL="0" indent="0" algn="l">
              <a:buNone/>
            </a:pPr>
            <a:r>
              <a:rPr lang="ko-KR" altLang="en-US" sz="1100" b="1" kern="0">
                <a:solidFill>
                  <a:srgbClr val="FFFFFF"/>
                </a:solidFill>
                <a:latin typeface="Malgun Gothic" pitchFamily="34" charset="0"/>
                <a:ea typeface="Malgun Gothic" pitchFamily="34" charset="-122"/>
                <a:cs typeface="Malgun Gothic" pitchFamily="34" charset="-120"/>
              </a:rPr>
              <a:t>확인된 현재 실적</a:t>
            </a:r>
          </a:p>
        </p:txBody>
      </p:sp>
      <p:sp>
        <p:nvSpPr>
          <p:cNvPr id="10" name="kl">
            <a:extLst>
              <a:ext uri="{C183D7F6-B498-43B3-948B-1728B52AA6E4}">
                <adec:decorative xmlns:adec="http://schemas.microsoft.com/office/drawing/2017/decorative" val="1"/>
              </a:ext>
            </a:extLst>
          </p:cNvPr>
          <p:cNvSpPr/>
          <p:nvPr/>
        </p:nvSpPr>
        <p:spPr>
          <a:xfrm>
            <a:off x="858368" y="2970000"/>
            <a:ext cx="3091754" cy="220000"/>
          </a:xfrm>
          <a:prstGeom prst="rect">
            <a:avLst/>
          </a:prstGeom>
          <a:noFill/>
          <a:ln/>
        </p:spPr>
        <p:txBody>
          <a:bodyPr wrap="square" lIns="0" tIns="0" rIns="0" bIns="0" rtlCol="0" anchor="ctr"/>
          <a:lstStyle/>
          <a:p>
            <a:pPr marL="0" indent="0" algn="l">
              <a:buNone/>
            </a:pPr>
            <a:r>
              <a:rPr lang="ko-KR" altLang="en-US" sz="950" kern="0">
                <a:solidFill>
                  <a:srgbClr val="6B7C90"/>
                </a:solidFill>
                <a:latin typeface="Malgun Gothic" pitchFamily="34" charset="0"/>
                <a:ea typeface="Malgun Gothic" pitchFamily="34" charset="-122"/>
                <a:cs typeface="Malgun Gothic" pitchFamily="34" charset="-120"/>
              </a:rPr>
              <a:t>현재 시가총액</a:t>
            </a:r>
          </a:p>
        </p:txBody>
      </p:sp>
      <p:sp>
        <p:nvSpPr>
          <p:cNvPr id="11" name="kv">
            <a:extLst>
              <a:ext uri="{C183D7F6-B498-43B3-948B-1728B52AA6E4}">
                <adec:decorative xmlns:adec="http://schemas.microsoft.com/office/drawing/2017/decorative" val="1"/>
              </a:ext>
            </a:extLst>
          </p:cNvPr>
          <p:cNvSpPr/>
          <p:nvPr/>
        </p:nvSpPr>
        <p:spPr>
          <a:xfrm>
            <a:off x="858368" y="3185000"/>
            <a:ext cx="3091754" cy="320000"/>
          </a:xfrm>
          <a:prstGeom prst="rect">
            <a:avLst/>
          </a:prstGeom>
          <a:noFill/>
          <a:ln/>
        </p:spPr>
        <p:txBody>
          <a:bodyPr wrap="square" lIns="0" tIns="0" rIns="0" bIns="0" rtlCol="0" anchor="ctr"/>
          <a:lstStyle/>
          <a:p>
            <a:pPr marL="0" indent="0" algn="l">
              <a:buNone/>
            </a:pPr>
            <a:r>
              <a:rPr lang="ko-KR" altLang="en-US" sz="1500" b="1" kern="0">
                <a:solidFill>
                  <a:srgbClr val="0D9488"/>
                </a:solidFill>
                <a:latin typeface="Malgun Gothic" pitchFamily="34" charset="0"/>
                <a:ea typeface="Malgun Gothic" pitchFamily="34" charset="-122"/>
                <a:cs typeface="Malgun Gothic" pitchFamily="34" charset="-120"/>
              </a:rPr>
              <a:t>약 5조 6,063억 원</a:t>
            </a:r>
          </a:p>
        </p:txBody>
      </p:sp>
      <p:sp>
        <p:nvSpPr>
          <p:cNvPr id="12" name="kl">
            <a:extLst>
              <a:ext uri="{C183D7F6-B498-43B3-948B-1728B52AA6E4}">
                <adec:decorative xmlns:adec="http://schemas.microsoft.com/office/drawing/2017/decorative" val="1"/>
              </a:ext>
            </a:extLst>
          </p:cNvPr>
          <p:cNvSpPr/>
          <p:nvPr/>
        </p:nvSpPr>
        <p:spPr>
          <a:xfrm>
            <a:off x="858368" y="3580000"/>
            <a:ext cx="3091754" cy="220000"/>
          </a:xfrm>
          <a:prstGeom prst="rect">
            <a:avLst/>
          </a:prstGeom>
          <a:noFill/>
          <a:ln/>
        </p:spPr>
        <p:txBody>
          <a:bodyPr wrap="square" lIns="0" tIns="0" rIns="0" bIns="0" rtlCol="0" anchor="ctr"/>
          <a:lstStyle/>
          <a:p>
            <a:pPr marL="0" indent="0" algn="l">
              <a:buNone/>
            </a:pPr>
            <a:r>
              <a:rPr lang="ko-KR" altLang="en-US" sz="950" kern="0">
                <a:solidFill>
                  <a:srgbClr val="6B7C90"/>
                </a:solidFill>
                <a:latin typeface="Malgun Gothic" pitchFamily="34" charset="0"/>
                <a:ea typeface="Malgun Gothic" pitchFamily="34" charset="-122"/>
                <a:cs typeface="Malgun Gothic" pitchFamily="34" charset="-120"/>
              </a:rPr>
              <a:t>2025년 매출</a:t>
            </a:r>
          </a:p>
        </p:txBody>
      </p:sp>
      <p:sp>
        <p:nvSpPr>
          <p:cNvPr id="13" name="kv">
            <a:extLst>
              <a:ext uri="{C183D7F6-B498-43B3-948B-1728B52AA6E4}">
                <adec:decorative xmlns:adec="http://schemas.microsoft.com/office/drawing/2017/decorative" val="1"/>
              </a:ext>
            </a:extLst>
          </p:cNvPr>
          <p:cNvSpPr/>
          <p:nvPr/>
        </p:nvSpPr>
        <p:spPr>
          <a:xfrm>
            <a:off x="858368" y="3795000"/>
            <a:ext cx="3091754" cy="320000"/>
          </a:xfrm>
          <a:prstGeom prst="rect">
            <a:avLst/>
          </a:prstGeom>
          <a:noFill/>
          <a:ln/>
        </p:spPr>
        <p:txBody>
          <a:bodyPr wrap="square" lIns="0" tIns="0" rIns="0" bIns="0" rtlCol="0" anchor="ctr"/>
          <a:lstStyle/>
          <a:p>
            <a:pPr marL="0" indent="0" algn="l">
              <a:buNone/>
            </a:pPr>
            <a:r>
              <a:rPr lang="ko-KR" altLang="en-US" sz="1500" b="1" kern="0">
                <a:solidFill>
                  <a:srgbClr val="0E2036"/>
                </a:solidFill>
                <a:latin typeface="Malgun Gothic" pitchFamily="34" charset="0"/>
                <a:ea typeface="Malgun Gothic" pitchFamily="34" charset="-122"/>
                <a:cs typeface="Malgun Gothic" pitchFamily="34" charset="-120"/>
              </a:rPr>
              <a:t>2,318억 원</a:t>
            </a:r>
          </a:p>
        </p:txBody>
      </p:sp>
      <p:sp>
        <p:nvSpPr>
          <p:cNvPr id="14" name="kl">
            <a:extLst>
              <a:ext uri="{C183D7F6-B498-43B3-948B-1728B52AA6E4}">
                <adec:decorative xmlns:adec="http://schemas.microsoft.com/office/drawing/2017/decorative" val="1"/>
              </a:ext>
            </a:extLst>
          </p:cNvPr>
          <p:cNvSpPr/>
          <p:nvPr/>
        </p:nvSpPr>
        <p:spPr>
          <a:xfrm>
            <a:off x="858368" y="4190000"/>
            <a:ext cx="3091754" cy="220000"/>
          </a:xfrm>
          <a:prstGeom prst="rect">
            <a:avLst/>
          </a:prstGeom>
          <a:noFill/>
          <a:ln/>
        </p:spPr>
        <p:txBody>
          <a:bodyPr wrap="square" lIns="0" tIns="0" rIns="0" bIns="0" rtlCol="0" anchor="ctr"/>
          <a:lstStyle/>
          <a:p>
            <a:pPr marL="0" indent="0" algn="l">
              <a:buNone/>
            </a:pPr>
            <a:r>
              <a:rPr lang="ko-KR" altLang="en-US" sz="950" kern="0">
                <a:solidFill>
                  <a:srgbClr val="6B7C90"/>
                </a:solidFill>
                <a:latin typeface="Malgun Gothic" pitchFamily="34" charset="0"/>
                <a:ea typeface="Malgun Gothic" pitchFamily="34" charset="-122"/>
                <a:cs typeface="Malgun Gothic" pitchFamily="34" charset="-120"/>
              </a:rPr>
              <a:t>2025년 영업이익</a:t>
            </a:r>
          </a:p>
        </p:txBody>
      </p:sp>
      <p:sp>
        <p:nvSpPr>
          <p:cNvPr id="15" name="kv">
            <a:extLst>
              <a:ext uri="{C183D7F6-B498-43B3-948B-1728B52AA6E4}">
                <adec:decorative xmlns:adec="http://schemas.microsoft.com/office/drawing/2017/decorative" val="1"/>
              </a:ext>
            </a:extLst>
          </p:cNvPr>
          <p:cNvSpPr/>
          <p:nvPr/>
        </p:nvSpPr>
        <p:spPr>
          <a:xfrm>
            <a:off x="858368" y="4405000"/>
            <a:ext cx="3091754" cy="320000"/>
          </a:xfrm>
          <a:prstGeom prst="rect">
            <a:avLst/>
          </a:prstGeom>
          <a:noFill/>
          <a:ln/>
        </p:spPr>
        <p:txBody>
          <a:bodyPr wrap="square" lIns="0" tIns="0" rIns="0" bIns="0" rtlCol="0" anchor="ctr"/>
          <a:lstStyle/>
          <a:p>
            <a:pPr marL="0" indent="0" algn="l">
              <a:buNone/>
            </a:pPr>
            <a:r>
              <a:rPr lang="ko-KR" altLang="en-US" sz="1500" b="1" kern="0">
                <a:solidFill>
                  <a:srgbClr val="0E2036"/>
                </a:solidFill>
                <a:latin typeface="Malgun Gothic" pitchFamily="34" charset="0"/>
                <a:ea typeface="Malgun Gothic" pitchFamily="34" charset="-122"/>
                <a:cs typeface="Malgun Gothic" pitchFamily="34" charset="-120"/>
              </a:rPr>
              <a:t>85억 원</a:t>
            </a:r>
          </a:p>
        </p:txBody>
      </p:sp>
      <p:sp>
        <p:nvSpPr>
          <p:cNvPr id="16" name="kl">
            <a:extLst>
              <a:ext uri="{C183D7F6-B498-43B3-948B-1728B52AA6E4}">
                <adec:decorative xmlns:adec="http://schemas.microsoft.com/office/drawing/2017/decorative" val="1"/>
              </a:ext>
            </a:extLst>
          </p:cNvPr>
          <p:cNvSpPr/>
          <p:nvPr/>
        </p:nvSpPr>
        <p:spPr>
          <a:xfrm>
            <a:off x="858368" y="4800000"/>
            <a:ext cx="3091754" cy="220000"/>
          </a:xfrm>
          <a:prstGeom prst="rect">
            <a:avLst/>
          </a:prstGeom>
          <a:noFill/>
          <a:ln/>
        </p:spPr>
        <p:txBody>
          <a:bodyPr wrap="square" lIns="0" tIns="0" rIns="0" bIns="0" rtlCol="0" anchor="ctr"/>
          <a:lstStyle/>
          <a:p>
            <a:pPr marL="0" indent="0" algn="l">
              <a:buNone/>
            </a:pPr>
            <a:r>
              <a:rPr lang="ko-KR" altLang="en-US" sz="950" kern="0">
                <a:solidFill>
                  <a:srgbClr val="6B7C90"/>
                </a:solidFill>
                <a:latin typeface="Malgun Gothic" pitchFamily="34" charset="0"/>
                <a:ea typeface="Malgun Gothic" pitchFamily="34" charset="-122"/>
                <a:cs typeface="Malgun Gothic" pitchFamily="34" charset="-120"/>
              </a:rPr>
              <a:t>2025년 당기순이익</a:t>
            </a:r>
          </a:p>
        </p:txBody>
      </p:sp>
      <p:sp>
        <p:nvSpPr>
          <p:cNvPr id="17" name="kv">
            <a:extLst>
              <a:ext uri="{C183D7F6-B498-43B3-948B-1728B52AA6E4}">
                <adec:decorative xmlns:adec="http://schemas.microsoft.com/office/drawing/2017/decorative" val="1"/>
              </a:ext>
            </a:extLst>
          </p:cNvPr>
          <p:cNvSpPr/>
          <p:nvPr/>
        </p:nvSpPr>
        <p:spPr>
          <a:xfrm>
            <a:off x="858368" y="5015000"/>
            <a:ext cx="3091754" cy="320000"/>
          </a:xfrm>
          <a:prstGeom prst="rect">
            <a:avLst/>
          </a:prstGeom>
          <a:noFill/>
          <a:ln/>
        </p:spPr>
        <p:txBody>
          <a:bodyPr wrap="square" lIns="0" tIns="0" rIns="0" bIns="0" rtlCol="0" anchor="ctr"/>
          <a:lstStyle/>
          <a:p>
            <a:pPr marL="0" indent="0" algn="l">
              <a:buNone/>
            </a:pPr>
            <a:r>
              <a:rPr lang="ko-KR" altLang="en-US" sz="1500" b="1" kern="0">
                <a:solidFill>
                  <a:srgbClr val="0E2036"/>
                </a:solidFill>
                <a:latin typeface="Malgun Gothic" pitchFamily="34" charset="0"/>
                <a:ea typeface="Malgun Gothic" pitchFamily="34" charset="-122"/>
                <a:cs typeface="Malgun Gothic" pitchFamily="34" charset="-120"/>
              </a:rPr>
              <a:t>120억 원</a:t>
            </a:r>
          </a:p>
        </p:txBody>
      </p:sp>
      <p:sp>
        <p:nvSpPr>
          <p:cNvPr id="18" name="card">
            <a:extLst>
              <a:ext uri="{C183D7F6-B498-43B3-948B-1728B52AA6E4}">
                <adec:decorative xmlns:adec="http://schemas.microsoft.com/office/drawing/2017/decorative" val="1"/>
              </a:ext>
            </a:extLst>
          </p:cNvPr>
          <p:cNvSpPr/>
          <p:nvPr/>
        </p:nvSpPr>
        <p:spPr>
          <a:xfrm>
            <a:off x="4350122" y="2380000"/>
            <a:ext cx="3491754" cy="312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9" name="chd">
            <a:extLst>
              <a:ext uri="{C183D7F6-B498-43B3-948B-1728B52AA6E4}">
                <adec:decorative xmlns:adec="http://schemas.microsoft.com/office/drawing/2017/decorative" val="1"/>
              </a:ext>
            </a:extLst>
          </p:cNvPr>
          <p:cNvSpPr/>
          <p:nvPr/>
        </p:nvSpPr>
        <p:spPr>
          <a:xfrm>
            <a:off x="4350122" y="2380000"/>
            <a:ext cx="3491754" cy="440000"/>
          </a:xfrm>
          <a:prstGeom prst="rect">
            <a:avLst/>
          </a:prstGeom>
          <a:solidFill>
            <a:srgbClr val="0D9488"/>
          </a:solidFill>
          <a:ln/>
        </p:spPr>
        <p:txBody>
          <a:bodyPr/>
          <a:lstStyle/>
          <a:p>
            <a:endParaRPr lang="ko-KR" altLang="en-US"/>
          </a:p>
        </p:txBody>
      </p:sp>
      <p:sp>
        <p:nvSpPr>
          <p:cNvPr id="20" name="cht">
            <a:extLst>
              <a:ext uri="{C183D7F6-B498-43B3-948B-1728B52AA6E4}">
                <adec:decorative xmlns:adec="http://schemas.microsoft.com/office/drawing/2017/decorative" val="1"/>
              </a:ext>
            </a:extLst>
          </p:cNvPr>
          <p:cNvSpPr/>
          <p:nvPr/>
        </p:nvSpPr>
        <p:spPr>
          <a:xfrm>
            <a:off x="4520122" y="2380000"/>
            <a:ext cx="3151754" cy="440000"/>
          </a:xfrm>
          <a:prstGeom prst="rect">
            <a:avLst/>
          </a:prstGeom>
          <a:noFill/>
          <a:ln/>
        </p:spPr>
        <p:txBody>
          <a:bodyPr wrap="square" lIns="0" tIns="0" rIns="0" bIns="0" rtlCol="0" anchor="ctr"/>
          <a:lstStyle/>
          <a:p>
            <a:pPr marL="0" indent="0" algn="l">
              <a:buNone/>
            </a:pPr>
            <a:r>
              <a:rPr lang="ko-KR" altLang="en-US" sz="1100" b="1" kern="0">
                <a:solidFill>
                  <a:srgbClr val="FFFFFF"/>
                </a:solidFill>
                <a:latin typeface="Malgun Gothic" pitchFamily="34" charset="0"/>
                <a:ea typeface="Malgun Gothic" pitchFamily="34" charset="-122"/>
                <a:cs typeface="Malgun Gothic" pitchFamily="34" charset="-120"/>
              </a:rPr>
              <a:t>현재 실적 기준 밸류에이션</a:t>
            </a:r>
          </a:p>
        </p:txBody>
      </p:sp>
      <p:sp>
        <p:nvSpPr>
          <p:cNvPr id="21" name="met">
            <a:extLst>
              <a:ext uri="{C183D7F6-B498-43B3-948B-1728B52AA6E4}">
                <adec:decorative xmlns:adec="http://schemas.microsoft.com/office/drawing/2017/decorative" val="1"/>
              </a:ext>
            </a:extLst>
          </p:cNvPr>
          <p:cNvSpPr/>
          <p:nvPr/>
        </p:nvSpPr>
        <p:spPr>
          <a:xfrm>
            <a:off x="4550122" y="2950000"/>
            <a:ext cx="3091754" cy="340000"/>
          </a:xfrm>
          <a:prstGeom prst="rect">
            <a:avLst/>
          </a:prstGeom>
          <a:noFill/>
          <a:ln/>
        </p:spPr>
        <p:txBody>
          <a:bodyPr wrap="square" lIns="0" tIns="0" rIns="0" bIns="0" rtlCol="0" anchor="ctr"/>
          <a:lstStyle/>
          <a:p>
            <a:pPr marL="0" indent="0" algn="l">
              <a:buNone/>
            </a:pPr>
            <a:r>
              <a:rPr lang="ko-KR" altLang="en-US" sz="1150" b="1" kern="0">
                <a:solidFill>
                  <a:srgbClr val="1D4ED8"/>
                </a:solidFill>
                <a:latin typeface="Malgun Gothic" pitchFamily="34" charset="0"/>
                <a:ea typeface="Malgun Gothic" pitchFamily="34" charset="-122"/>
                <a:cs typeface="Malgun Gothic" pitchFamily="34" charset="-120"/>
              </a:rPr>
              <a:t>PER   </a:t>
            </a:r>
            <a:r>
              <a:rPr lang="ko-KR" altLang="en-US" sz="1800" b="1" kern="0">
                <a:solidFill>
                  <a:srgbClr val="1D4ED8"/>
                </a:solidFill>
                <a:latin typeface="Malgun Gothic" pitchFamily="34" charset="0"/>
                <a:ea typeface="Malgun Gothic" pitchFamily="34" charset="-122"/>
                <a:cs typeface="Malgun Gothic" pitchFamily="34" charset="-120"/>
              </a:rPr>
              <a:t>약 467배</a:t>
            </a:r>
          </a:p>
        </p:txBody>
      </p:sp>
      <p:sp>
        <p:nvSpPr>
          <p:cNvPr id="22" name="metd">
            <a:extLst>
              <a:ext uri="{C183D7F6-B498-43B3-948B-1728B52AA6E4}">
                <adec:decorative xmlns:adec="http://schemas.microsoft.com/office/drawing/2017/decorative" val="1"/>
              </a:ext>
            </a:extLst>
          </p:cNvPr>
          <p:cNvSpPr/>
          <p:nvPr/>
        </p:nvSpPr>
        <p:spPr>
          <a:xfrm>
            <a:off x="4550122" y="3310000"/>
            <a:ext cx="3091754" cy="230000"/>
          </a:xfrm>
          <a:prstGeom prst="rect">
            <a:avLst/>
          </a:prstGeom>
          <a:noFill/>
          <a:ln/>
        </p:spPr>
        <p:txBody>
          <a:bodyPr wrap="square" lIns="0" tIns="0" rIns="0" bIns="0" rtlCol="0" anchor="ctr"/>
          <a:lstStyle/>
          <a:p>
            <a:pPr marL="0" indent="0" algn="l">
              <a:buNone/>
            </a:pPr>
            <a:r>
              <a:rPr lang="ko-KR" altLang="en-US" sz="850" kern="0">
                <a:solidFill>
                  <a:srgbClr val="33465B"/>
                </a:solidFill>
                <a:latin typeface="Malgun Gothic" pitchFamily="34" charset="0"/>
                <a:ea typeface="Malgun Gothic" pitchFamily="34" charset="-122"/>
                <a:cs typeface="Malgun Gothic" pitchFamily="34" charset="-120"/>
              </a:rPr>
              <a:t>순이익 1원당 약 467원의 가치 부여</a:t>
            </a:r>
          </a:p>
        </p:txBody>
      </p:sp>
      <p:sp>
        <p:nvSpPr>
          <p:cNvPr id="23" name="met">
            <a:extLst>
              <a:ext uri="{C183D7F6-B498-43B3-948B-1728B52AA6E4}">
                <adec:decorative xmlns:adec="http://schemas.microsoft.com/office/drawing/2017/decorative" val="1"/>
              </a:ext>
            </a:extLst>
          </p:cNvPr>
          <p:cNvSpPr/>
          <p:nvPr/>
        </p:nvSpPr>
        <p:spPr>
          <a:xfrm>
            <a:off x="4550122" y="3640000"/>
            <a:ext cx="3091754" cy="340000"/>
          </a:xfrm>
          <a:prstGeom prst="rect">
            <a:avLst/>
          </a:prstGeom>
          <a:noFill/>
          <a:ln/>
        </p:spPr>
        <p:txBody>
          <a:bodyPr wrap="square" lIns="0" tIns="0" rIns="0" bIns="0" rtlCol="0" anchor="ctr"/>
          <a:lstStyle/>
          <a:p>
            <a:pPr marL="0" indent="0" algn="l">
              <a:buNone/>
            </a:pPr>
            <a:r>
              <a:rPr lang="ko-KR" altLang="en-US" sz="1150" b="1" kern="0">
                <a:solidFill>
                  <a:srgbClr val="0D9488"/>
                </a:solidFill>
                <a:latin typeface="Malgun Gothic" pitchFamily="34" charset="0"/>
                <a:ea typeface="Malgun Gothic" pitchFamily="34" charset="-122"/>
                <a:cs typeface="Malgun Gothic" pitchFamily="34" charset="-120"/>
              </a:rPr>
              <a:t>PSR   </a:t>
            </a:r>
            <a:r>
              <a:rPr lang="ko-KR" altLang="en-US" sz="1800" b="1" kern="0">
                <a:solidFill>
                  <a:srgbClr val="0D9488"/>
                </a:solidFill>
                <a:latin typeface="Malgun Gothic" pitchFamily="34" charset="0"/>
                <a:ea typeface="Malgun Gothic" pitchFamily="34" charset="-122"/>
                <a:cs typeface="Malgun Gothic" pitchFamily="34" charset="-120"/>
              </a:rPr>
              <a:t>약 24배</a:t>
            </a:r>
          </a:p>
        </p:txBody>
      </p:sp>
      <p:sp>
        <p:nvSpPr>
          <p:cNvPr id="24" name="metd">
            <a:extLst>
              <a:ext uri="{C183D7F6-B498-43B3-948B-1728B52AA6E4}">
                <adec:decorative xmlns:adec="http://schemas.microsoft.com/office/drawing/2017/decorative" val="1"/>
              </a:ext>
            </a:extLst>
          </p:cNvPr>
          <p:cNvSpPr/>
          <p:nvPr/>
        </p:nvSpPr>
        <p:spPr>
          <a:xfrm>
            <a:off x="4550122" y="4000000"/>
            <a:ext cx="3091754" cy="230000"/>
          </a:xfrm>
          <a:prstGeom prst="rect">
            <a:avLst/>
          </a:prstGeom>
          <a:noFill/>
          <a:ln/>
        </p:spPr>
        <p:txBody>
          <a:bodyPr wrap="square" lIns="0" tIns="0" rIns="0" bIns="0" rtlCol="0" anchor="ctr"/>
          <a:lstStyle/>
          <a:p>
            <a:pPr marL="0" indent="0" algn="l">
              <a:buNone/>
            </a:pPr>
            <a:r>
              <a:rPr lang="ko-KR" altLang="en-US" sz="850" kern="0">
                <a:solidFill>
                  <a:srgbClr val="33465B"/>
                </a:solidFill>
                <a:latin typeface="Malgun Gothic" pitchFamily="34" charset="0"/>
                <a:ea typeface="Malgun Gothic" pitchFamily="34" charset="-122"/>
                <a:cs typeface="Malgun Gothic" pitchFamily="34" charset="-120"/>
              </a:rPr>
              <a:t>매출 1원당 약 24원의 가치 부여</a:t>
            </a:r>
          </a:p>
        </p:txBody>
      </p:sp>
      <p:sp>
        <p:nvSpPr>
          <p:cNvPr id="25" name="met">
            <a:extLst>
              <a:ext uri="{C183D7F6-B498-43B3-948B-1728B52AA6E4}">
                <adec:decorative xmlns:adec="http://schemas.microsoft.com/office/drawing/2017/decorative" val="1"/>
              </a:ext>
            </a:extLst>
          </p:cNvPr>
          <p:cNvSpPr/>
          <p:nvPr/>
        </p:nvSpPr>
        <p:spPr>
          <a:xfrm>
            <a:off x="4550122" y="4330000"/>
            <a:ext cx="3091754" cy="340000"/>
          </a:xfrm>
          <a:prstGeom prst="rect">
            <a:avLst/>
          </a:prstGeom>
          <a:noFill/>
          <a:ln/>
        </p:spPr>
        <p:txBody>
          <a:bodyPr wrap="square" lIns="0" tIns="0" rIns="0" bIns="0" rtlCol="0" anchor="ctr"/>
          <a:lstStyle/>
          <a:p>
            <a:pPr marL="0" indent="0" algn="l">
              <a:buNone/>
            </a:pPr>
            <a:r>
              <a:rPr lang="ko-KR" altLang="en-US" sz="1150" b="1" kern="0">
                <a:solidFill>
                  <a:srgbClr val="1E3A8A"/>
                </a:solidFill>
                <a:latin typeface="Malgun Gothic" pitchFamily="34" charset="0"/>
                <a:ea typeface="Malgun Gothic" pitchFamily="34" charset="-122"/>
                <a:cs typeface="Malgun Gothic" pitchFamily="34" charset="-120"/>
              </a:rPr>
              <a:t>POR   </a:t>
            </a:r>
            <a:r>
              <a:rPr lang="ko-KR" altLang="en-US" sz="1800" b="1" kern="0">
                <a:solidFill>
                  <a:srgbClr val="1E3A8A"/>
                </a:solidFill>
                <a:latin typeface="Malgun Gothic" pitchFamily="34" charset="0"/>
                <a:ea typeface="Malgun Gothic" pitchFamily="34" charset="-122"/>
                <a:cs typeface="Malgun Gothic" pitchFamily="34" charset="-120"/>
              </a:rPr>
              <a:t>약 660배</a:t>
            </a:r>
          </a:p>
        </p:txBody>
      </p:sp>
      <p:sp>
        <p:nvSpPr>
          <p:cNvPr id="26" name="metd">
            <a:extLst>
              <a:ext uri="{C183D7F6-B498-43B3-948B-1728B52AA6E4}">
                <adec:decorative xmlns:adec="http://schemas.microsoft.com/office/drawing/2017/decorative" val="1"/>
              </a:ext>
            </a:extLst>
          </p:cNvPr>
          <p:cNvSpPr/>
          <p:nvPr/>
        </p:nvSpPr>
        <p:spPr>
          <a:xfrm>
            <a:off x="4550122" y="4690000"/>
            <a:ext cx="3091754" cy="230000"/>
          </a:xfrm>
          <a:prstGeom prst="rect">
            <a:avLst/>
          </a:prstGeom>
          <a:noFill/>
          <a:ln/>
        </p:spPr>
        <p:txBody>
          <a:bodyPr wrap="square" lIns="0" tIns="0" rIns="0" bIns="0" rtlCol="0" anchor="ctr"/>
          <a:lstStyle/>
          <a:p>
            <a:pPr marL="0" indent="0" algn="l">
              <a:buNone/>
            </a:pPr>
            <a:r>
              <a:rPr lang="ko-KR" altLang="en-US" sz="850" kern="0">
                <a:solidFill>
                  <a:srgbClr val="33465B"/>
                </a:solidFill>
                <a:latin typeface="Malgun Gothic" pitchFamily="34" charset="0"/>
                <a:ea typeface="Malgun Gothic" pitchFamily="34" charset="-122"/>
                <a:cs typeface="Malgun Gothic" pitchFamily="34" charset="-120"/>
              </a:rPr>
              <a:t>영업이익 1원당 약 660원의 가치 부여</a:t>
            </a:r>
          </a:p>
        </p:txBody>
      </p:sp>
      <p:sp>
        <p:nvSpPr>
          <p:cNvPr id="27" name="pornote">
            <a:extLst>
              <a:ext uri="{C183D7F6-B498-43B3-948B-1728B52AA6E4}">
                <adec:decorative xmlns:adec="http://schemas.microsoft.com/office/drawing/2017/decorative" val="1"/>
              </a:ext>
            </a:extLst>
          </p:cNvPr>
          <p:cNvSpPr/>
          <p:nvPr/>
        </p:nvSpPr>
        <p:spPr>
          <a:xfrm>
            <a:off x="4550122" y="5030000"/>
            <a:ext cx="3091754" cy="420000"/>
          </a:xfrm>
          <a:prstGeom prst="rect">
            <a:avLst/>
          </a:prstGeom>
          <a:noFill/>
          <a:ln/>
        </p:spPr>
        <p:txBody>
          <a:bodyPr wrap="square" lIns="0" tIns="0" rIns="0" bIns="0" rtlCol="0" anchor="t"/>
          <a:lstStyle/>
          <a:p>
            <a:pPr marL="0" indent="0" algn="l">
              <a:lnSpc>
                <a:spcPct val="108000"/>
              </a:lnSpc>
              <a:buNone/>
            </a:pPr>
            <a:r>
              <a:rPr lang="ko-KR" altLang="en-US" sz="780" kern="0">
                <a:solidFill>
                  <a:srgbClr val="6B7C90"/>
                </a:solidFill>
                <a:latin typeface="Malgun Gothic" pitchFamily="34" charset="0"/>
                <a:ea typeface="Malgun Gothic" pitchFamily="34" charset="-122"/>
                <a:cs typeface="Malgun Gothic" pitchFamily="34" charset="-120"/>
              </a:rPr>
              <a:t>※ POR은 영업이익 기준 밸류에이션 부담을 보기 위한 보조 지표.</a:t>
            </a:r>
          </a:p>
        </p:txBody>
      </p:sp>
      <p:sp>
        <p:nvSpPr>
          <p:cNvPr id="28" name="card">
            <a:extLst>
              <a:ext uri="{C183D7F6-B498-43B3-948B-1728B52AA6E4}">
                <adec:decorative xmlns:adec="http://schemas.microsoft.com/office/drawing/2017/decorative" val="1"/>
              </a:ext>
            </a:extLst>
          </p:cNvPr>
          <p:cNvSpPr/>
          <p:nvPr/>
        </p:nvSpPr>
        <p:spPr>
          <a:xfrm>
            <a:off x="8041876" y="2380000"/>
            <a:ext cx="3491754" cy="312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29" name="chd"/>
          <p:cNvSpPr/>
          <p:nvPr/>
        </p:nvSpPr>
        <p:spPr>
          <a:xfrm>
            <a:off x="8041876" y="2380000"/>
            <a:ext cx="3491754" cy="440000"/>
          </a:xfrm>
          <a:prstGeom prst="rect">
            <a:avLst/>
          </a:prstGeom>
          <a:solidFill>
            <a:srgbClr val="1D4ED8"/>
          </a:solidFill>
          <a:ln/>
        </p:spPr>
        <p:txBody>
          <a:bodyPr/>
          <a:lstStyle/>
          <a:p>
            <a:endParaRPr lang="ko-KR" altLang="en-US"/>
          </a:p>
        </p:txBody>
      </p:sp>
      <p:sp>
        <p:nvSpPr>
          <p:cNvPr id="30" name="cht">
            <a:extLst>
              <a:ext uri="{C183D7F6-B498-43B3-948B-1728B52AA6E4}">
                <adec:decorative xmlns:adec="http://schemas.microsoft.com/office/drawing/2017/decorative" val="1"/>
              </a:ext>
            </a:extLst>
          </p:cNvPr>
          <p:cNvSpPr/>
          <p:nvPr/>
        </p:nvSpPr>
        <p:spPr>
          <a:xfrm>
            <a:off x="8211876" y="2380000"/>
            <a:ext cx="3151754" cy="440000"/>
          </a:xfrm>
          <a:prstGeom prst="rect">
            <a:avLst/>
          </a:prstGeom>
          <a:noFill/>
          <a:ln/>
        </p:spPr>
        <p:txBody>
          <a:bodyPr wrap="square" lIns="0" tIns="0" rIns="0" bIns="0" rtlCol="0" anchor="ctr"/>
          <a:lstStyle/>
          <a:p>
            <a:pPr marL="0" indent="0" algn="l">
              <a:buNone/>
            </a:pPr>
            <a:r>
              <a:rPr lang="ko-KR" altLang="en-US" sz="1100" b="1" kern="0">
                <a:solidFill>
                  <a:srgbClr val="FFFFFF"/>
                </a:solidFill>
                <a:latin typeface="Malgun Gothic" pitchFamily="34" charset="0"/>
                <a:ea typeface="Malgun Gothic" pitchFamily="34" charset="-122"/>
                <a:cs typeface="Malgun Gothic" pitchFamily="34" charset="-120"/>
              </a:rPr>
              <a:t>현재 시총이 반영한 미래 기대</a:t>
            </a:r>
          </a:p>
        </p:txBody>
      </p:sp>
      <p:sp>
        <p:nvSpPr>
          <p:cNvPr id="31" name="blkt">
            <a:extLst>
              <a:ext uri="{C183D7F6-B498-43B3-948B-1728B52AA6E4}">
                <adec:decorative xmlns:adec="http://schemas.microsoft.com/office/drawing/2017/decorative" val="1"/>
              </a:ext>
            </a:extLst>
          </p:cNvPr>
          <p:cNvSpPr/>
          <p:nvPr/>
        </p:nvSpPr>
        <p:spPr>
          <a:xfrm>
            <a:off x="8241876" y="2960000"/>
            <a:ext cx="3091754" cy="280000"/>
          </a:xfrm>
          <a:prstGeom prst="rect">
            <a:avLst/>
          </a:prstGeom>
          <a:noFill/>
          <a:ln/>
        </p:spPr>
        <p:txBody>
          <a:bodyPr wrap="square" lIns="0" tIns="0" rIns="0" bIns="0" rtlCol="0" anchor="ctr"/>
          <a:lstStyle/>
          <a:p>
            <a:pPr marL="0" indent="0" algn="l">
              <a:buNone/>
            </a:pPr>
            <a:r>
              <a:rPr lang="ko-KR" altLang="en-US" sz="1000" b="1" kern="0">
                <a:solidFill>
                  <a:srgbClr val="1E3A8A"/>
                </a:solidFill>
                <a:latin typeface="Malgun Gothic" pitchFamily="34" charset="0"/>
                <a:ea typeface="Malgun Gothic" pitchFamily="34" charset="-122"/>
                <a:cs typeface="Malgun Gothic" pitchFamily="34" charset="-120"/>
              </a:rPr>
              <a:t>1  기존 안과 사업</a:t>
            </a:r>
          </a:p>
        </p:txBody>
      </p:sp>
      <p:sp>
        <p:nvSpPr>
          <p:cNvPr id="32" name="blkb">
            <a:extLst>
              <a:ext uri="{C183D7F6-B498-43B3-948B-1728B52AA6E4}">
                <adec:decorative xmlns:adec="http://schemas.microsoft.com/office/drawing/2017/decorative" val="1"/>
              </a:ext>
            </a:extLst>
          </p:cNvPr>
          <p:cNvSpPr/>
          <p:nvPr/>
        </p:nvSpPr>
        <p:spPr>
          <a:xfrm>
            <a:off x="8241876" y="3260000"/>
            <a:ext cx="3091754" cy="520000"/>
          </a:xfrm>
          <a:prstGeom prst="rect">
            <a:avLst/>
          </a:prstGeom>
          <a:noFill/>
          <a:ln/>
        </p:spPr>
        <p:txBody>
          <a:bodyPr wrap="square" lIns="0" tIns="0" rIns="0" bIns="0" rtlCol="0" anchor="t"/>
          <a:lstStyle/>
          <a:p>
            <a:pPr marL="0" indent="0" algn="l">
              <a:lnSpc>
                <a:spcPct val="112000"/>
              </a:lnSpc>
              <a:buNone/>
            </a:pPr>
            <a:r>
              <a:rPr lang="ko-KR" altLang="en-US" sz="830" kern="0">
                <a:solidFill>
                  <a:srgbClr val="33465B"/>
                </a:solidFill>
                <a:latin typeface="Malgun Gothic" pitchFamily="34" charset="0"/>
                <a:ea typeface="Malgun Gothic" pitchFamily="34" charset="-122"/>
                <a:cs typeface="Malgun Gothic" pitchFamily="34" charset="-120"/>
              </a:rPr>
              <a:t>현재 매출·현금흐름 기반 · 단, 5.6조 시총 전체를 설명하기엔 한계</a:t>
            </a:r>
          </a:p>
        </p:txBody>
      </p:sp>
      <p:sp>
        <p:nvSpPr>
          <p:cNvPr id="33" name="blkt"/>
          <p:cNvSpPr/>
          <p:nvPr/>
        </p:nvSpPr>
        <p:spPr>
          <a:xfrm>
            <a:off x="8241876" y="3790000"/>
            <a:ext cx="3091754" cy="280000"/>
          </a:xfrm>
          <a:prstGeom prst="rect">
            <a:avLst/>
          </a:prstGeom>
          <a:noFill/>
          <a:ln/>
        </p:spPr>
        <p:txBody>
          <a:bodyPr wrap="square" lIns="0" tIns="0" rIns="0" bIns="0" rtlCol="0" anchor="ctr"/>
          <a:lstStyle/>
          <a:p>
            <a:pPr marL="0" indent="0" algn="l">
              <a:buNone/>
            </a:pPr>
            <a:r>
              <a:rPr lang="ko-KR" altLang="en-US" sz="1000" b="1" kern="0">
                <a:solidFill>
                  <a:srgbClr val="1D4ED8"/>
                </a:solidFill>
                <a:latin typeface="Malgun Gothic" pitchFamily="34" charset="0"/>
                <a:ea typeface="Malgun Gothic" pitchFamily="34" charset="-122"/>
                <a:cs typeface="Malgun Gothic" pitchFamily="34" charset="-120"/>
              </a:rPr>
              <a:t>2  SCD411 실적화</a:t>
            </a:r>
          </a:p>
        </p:txBody>
      </p:sp>
      <p:sp>
        <p:nvSpPr>
          <p:cNvPr id="34" name="blkb">
            <a:extLst>
              <a:ext uri="{C183D7F6-B498-43B3-948B-1728B52AA6E4}">
                <adec:decorative xmlns:adec="http://schemas.microsoft.com/office/drawing/2017/decorative" val="1"/>
              </a:ext>
            </a:extLst>
          </p:cNvPr>
          <p:cNvSpPr/>
          <p:nvPr/>
        </p:nvSpPr>
        <p:spPr>
          <a:xfrm>
            <a:off x="8241876" y="4090000"/>
            <a:ext cx="3091754" cy="520000"/>
          </a:xfrm>
          <a:prstGeom prst="rect">
            <a:avLst/>
          </a:prstGeom>
          <a:noFill/>
          <a:ln/>
        </p:spPr>
        <p:txBody>
          <a:bodyPr wrap="square" lIns="0" tIns="0" rIns="0" bIns="0" rtlCol="0" anchor="t"/>
          <a:lstStyle/>
          <a:p>
            <a:pPr marL="0" indent="0" algn="l">
              <a:lnSpc>
                <a:spcPct val="112000"/>
              </a:lnSpc>
              <a:buNone/>
            </a:pPr>
            <a:r>
              <a:rPr lang="ko-KR" altLang="en-US" sz="830" kern="0">
                <a:solidFill>
                  <a:srgbClr val="33465B"/>
                </a:solidFill>
                <a:latin typeface="Malgun Gothic" pitchFamily="34" charset="0"/>
                <a:ea typeface="Malgun Gothic" pitchFamily="34" charset="-122"/>
                <a:cs typeface="Malgun Gothic" pitchFamily="34" charset="-120"/>
              </a:rPr>
              <a:t>출하량 증가 · 매출 인식 · Profit Sharing 확대 · 미국 시장 진입 · 영업이익률 개선</a:t>
            </a:r>
          </a:p>
        </p:txBody>
      </p:sp>
      <p:sp>
        <p:nvSpPr>
          <p:cNvPr id="35" name="blkt">
            <a:extLst>
              <a:ext uri="{C183D7F6-B498-43B3-948B-1728B52AA6E4}">
                <adec:decorative xmlns:adec="http://schemas.microsoft.com/office/drawing/2017/decorative" val="1"/>
              </a:ext>
            </a:extLst>
          </p:cNvPr>
          <p:cNvSpPr/>
          <p:nvPr/>
        </p:nvSpPr>
        <p:spPr>
          <a:xfrm>
            <a:off x="8241876" y="4620000"/>
            <a:ext cx="3091754" cy="280000"/>
          </a:xfrm>
          <a:prstGeom prst="rect">
            <a:avLst/>
          </a:prstGeom>
          <a:noFill/>
          <a:ln/>
        </p:spPr>
        <p:txBody>
          <a:bodyPr wrap="square" lIns="0" tIns="0" rIns="0" bIns="0" rtlCol="0" anchor="ctr"/>
          <a:lstStyle/>
          <a:p>
            <a:pPr marL="0" indent="0" algn="l">
              <a:buNone/>
            </a:pPr>
            <a:r>
              <a:rPr lang="ko-KR" altLang="en-US" sz="1000" b="1" kern="0">
                <a:solidFill>
                  <a:srgbClr val="0D9488"/>
                </a:solidFill>
                <a:latin typeface="Malgun Gothic" pitchFamily="34" charset="0"/>
                <a:ea typeface="Malgun Gothic" pitchFamily="34" charset="-122"/>
                <a:cs typeface="Malgun Gothic" pitchFamily="34" charset="-120"/>
              </a:rPr>
              <a:t>3  S-PASS 옵션가치</a:t>
            </a:r>
          </a:p>
        </p:txBody>
      </p:sp>
      <p:sp>
        <p:nvSpPr>
          <p:cNvPr id="36" name="blkb">
            <a:extLst>
              <a:ext uri="{C183D7F6-B498-43B3-948B-1728B52AA6E4}">
                <adec:decorative xmlns:adec="http://schemas.microsoft.com/office/drawing/2017/decorative" val="1"/>
              </a:ext>
            </a:extLst>
          </p:cNvPr>
          <p:cNvSpPr/>
          <p:nvPr/>
        </p:nvSpPr>
        <p:spPr>
          <a:xfrm>
            <a:off x="8241876" y="4920000"/>
            <a:ext cx="3091754" cy="520000"/>
          </a:xfrm>
          <a:prstGeom prst="rect">
            <a:avLst/>
          </a:prstGeom>
          <a:noFill/>
          <a:ln/>
        </p:spPr>
        <p:txBody>
          <a:bodyPr wrap="square" lIns="0" tIns="0" rIns="0" bIns="0" rtlCol="0" anchor="t"/>
          <a:lstStyle/>
          <a:p>
            <a:pPr marL="0" indent="0" algn="l">
              <a:lnSpc>
                <a:spcPct val="112000"/>
              </a:lnSpc>
              <a:buNone/>
            </a:pPr>
            <a:r>
              <a:rPr lang="ko-KR" altLang="en-US" sz="830" kern="0">
                <a:solidFill>
                  <a:srgbClr val="33465B"/>
                </a:solidFill>
                <a:latin typeface="Malgun Gothic" pitchFamily="34" charset="0"/>
                <a:ea typeface="Malgun Gothic" pitchFamily="34" charset="-122"/>
                <a:cs typeface="Malgun Gothic" pitchFamily="34" charset="-120"/>
              </a:rPr>
              <a:t>경구 세마글루타이드 · 경구 인슐린 · 파트너 계약 · 마일스톤 수령 · 장기 플랫폼 확장</a:t>
            </a:r>
          </a:p>
        </p:txBody>
      </p:sp>
      <p:sp>
        <p:nvSpPr>
          <p:cNvPr id="37" name="band">
            <a:extLst>
              <a:ext uri="{C183D7F6-B498-43B3-948B-1728B52AA6E4}">
                <adec:decorative xmlns:adec="http://schemas.microsoft.com/office/drawing/2017/decorative" val="1"/>
              </a:ext>
            </a:extLst>
          </p:cNvPr>
          <p:cNvSpPr/>
          <p:nvPr/>
        </p:nvSpPr>
        <p:spPr>
          <a:xfrm>
            <a:off x="658368" y="5580000"/>
            <a:ext cx="10875264" cy="600000"/>
          </a:xfrm>
          <a:prstGeom prst="rect">
            <a:avLst/>
          </a:prstGeom>
          <a:solidFill>
            <a:srgbClr val="E7EFFA"/>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38" name="bandbar"/>
          <p:cNvSpPr/>
          <p:nvPr/>
        </p:nvSpPr>
        <p:spPr>
          <a:xfrm>
            <a:off x="658368" y="5580000"/>
            <a:ext cx="82296" cy="600000"/>
          </a:xfrm>
          <a:prstGeom prst="rect">
            <a:avLst/>
          </a:prstGeom>
          <a:solidFill>
            <a:srgbClr val="0D9488"/>
          </a:solidFill>
          <a:ln/>
        </p:spPr>
        <p:txBody>
          <a:bodyPr/>
          <a:lstStyle/>
          <a:p>
            <a:endParaRPr lang="ko-KR" altLang="en-US"/>
          </a:p>
        </p:txBody>
      </p:sp>
      <p:sp>
        <p:nvSpPr>
          <p:cNvPr id="39" name="bandtxt"/>
          <p:cNvSpPr/>
          <p:nvPr/>
        </p:nvSpPr>
        <p:spPr>
          <a:xfrm>
            <a:off x="950000" y="5620000"/>
            <a:ext cx="10200000" cy="520000"/>
          </a:xfrm>
          <a:prstGeom prst="rect">
            <a:avLst/>
          </a:prstGeom>
          <a:noFill/>
          <a:ln/>
        </p:spPr>
        <p:txBody>
          <a:bodyPr wrap="square" lIns="0" tIns="0" rIns="0" bIns="0" rtlCol="0" anchor="ctr"/>
          <a:lstStyle/>
          <a:p>
            <a:pPr marL="0" indent="0" algn="l">
              <a:lnSpc>
                <a:spcPct val="106000"/>
              </a:lnSpc>
              <a:buNone/>
            </a:pPr>
            <a:r>
              <a:rPr lang="ko-KR" altLang="en-US" sz="1200" b="1" kern="0">
                <a:solidFill>
                  <a:srgbClr val="0D9488"/>
                </a:solidFill>
                <a:latin typeface="Malgun Gothic" pitchFamily="34" charset="0"/>
                <a:ea typeface="Malgun Gothic" pitchFamily="34" charset="-122"/>
                <a:cs typeface="Malgun Gothic" pitchFamily="34" charset="-120"/>
              </a:rPr>
              <a:t>핵심  </a:t>
            </a:r>
            <a:r>
              <a:rPr lang="ko-KR" altLang="en-US" sz="1200" kern="0">
                <a:solidFill>
                  <a:srgbClr val="33465B"/>
                </a:solidFill>
                <a:latin typeface="Malgun Gothic" pitchFamily="34" charset="0"/>
                <a:ea typeface="Malgun Gothic" pitchFamily="34" charset="-122"/>
                <a:cs typeface="Malgun Gothic" pitchFamily="34" charset="-120"/>
              </a:rPr>
              <a:t>현재 시총 5.6조 원은 확인된 실적을 사는 가격이 아니라, SCD411이 실적으로 증명되고 S-PASS가 옵션에서 실제 가치로 전환될 것이라는 기대를 반영한 가격이다.</a:t>
            </a:r>
          </a:p>
        </p:txBody>
      </p:sp>
      <p:sp>
        <p:nvSpPr>
          <p:cNvPr id="40" name="notes"/>
          <p:cNvSpPr/>
          <p:nvPr/>
        </p:nvSpPr>
        <p:spPr>
          <a:xfrm>
            <a:off x="676656" y="6210000"/>
            <a:ext cx="10875264" cy="350000"/>
          </a:xfrm>
          <a:prstGeom prst="rect">
            <a:avLst/>
          </a:prstGeom>
          <a:noFill/>
          <a:ln/>
        </p:spPr>
        <p:txBody>
          <a:bodyPr wrap="square" lIns="0" tIns="0" rIns="0" bIns="0" rtlCol="0" anchor="t"/>
          <a:lstStyle/>
          <a:p>
            <a:pPr marL="0" indent="0" algn="l">
              <a:buNone/>
            </a:pPr>
            <a:r>
              <a:rPr lang="ko-KR" altLang="en-US" sz="780" kern="0">
                <a:solidFill>
                  <a:srgbClr val="6B7C90"/>
                </a:solidFill>
                <a:latin typeface="Malgun Gothic" pitchFamily="34" charset="0"/>
                <a:ea typeface="Malgun Gothic" pitchFamily="34" charset="-122"/>
                <a:cs typeface="Malgun Gothic" pitchFamily="34" charset="-120"/>
              </a:rPr>
              <a:t>PER = 시가총액 ÷ 순이익  ·  PSR = 시가총액 ÷ 매출  ·  POR = 시가총액 ÷ 영업이익</a:t>
            </a:r>
          </a:p>
          <a:p>
            <a:pPr marL="0" indent="0" algn="l">
              <a:buNone/>
            </a:pPr>
            <a:r>
              <a:rPr lang="ko-KR" altLang="en-US" sz="780" kern="0">
                <a:solidFill>
                  <a:srgbClr val="6B7C90"/>
                </a:solidFill>
                <a:latin typeface="Malgun Gothic" pitchFamily="34" charset="0"/>
                <a:ea typeface="Malgun Gothic" pitchFamily="34" charset="-122"/>
                <a:cs typeface="Malgun Gothic" pitchFamily="34" charset="-120"/>
              </a:rPr>
              <a:t>본 자료는 투자 권유가 아니라 공개 실적과 시가총액 기준의 투자스터디용 분석이다.</a:t>
            </a:r>
          </a:p>
        </p:txBody>
      </p:sp>
      <p:sp>
        <p:nvSpPr>
          <p:cNvPr id="41" name="footerbar"/>
          <p:cNvSpPr/>
          <p:nvPr/>
        </p:nvSpPr>
        <p:spPr>
          <a:xfrm>
            <a:off x="0" y="6583680"/>
            <a:ext cx="12191695" cy="274320"/>
          </a:xfrm>
          <a:prstGeom prst="rect">
            <a:avLst/>
          </a:prstGeom>
          <a:solidFill>
            <a:srgbClr val="F2F6FC"/>
          </a:solidFill>
          <a:ln/>
        </p:spPr>
        <p:txBody>
          <a:bodyPr/>
          <a:lstStyle/>
          <a:p>
            <a:endParaRPr lang="ko-KR" altLang="en-US"/>
          </a:p>
        </p:txBody>
      </p:sp>
      <p:sp>
        <p:nvSpPr>
          <p:cNvPr id="42" name="ftxt"/>
          <p:cNvSpPr/>
          <p:nvPr/>
        </p:nvSpPr>
        <p:spPr>
          <a:xfrm>
            <a:off x="658368" y="6574536"/>
            <a:ext cx="6400800" cy="283464"/>
          </a:xfrm>
          <a:prstGeom prst="rect">
            <a:avLst/>
          </a:prstGeom>
          <a:noFill/>
          <a:ln/>
        </p:spPr>
        <p:txBody>
          <a:bodyPr wrap="square" lIns="0" tIns="0" rIns="0" bIns="0" rtlCol="0" anchor="ctr"/>
          <a:lstStyle/>
          <a:p>
            <a:pPr marL="0" indent="0" algn="l">
              <a:buNone/>
            </a:pPr>
            <a:r>
              <a:rPr lang="ko-KR" altLang="en-US" sz="850" kern="0">
                <a:solidFill>
                  <a:srgbClr val="6B7C90"/>
                </a:solidFill>
                <a:latin typeface="Malgun Gothic" pitchFamily="34" charset="0"/>
                <a:ea typeface="Malgun Gothic" pitchFamily="34" charset="-122"/>
                <a:cs typeface="Malgun Gothic" pitchFamily="34" charset="-120"/>
              </a:rPr>
              <a:t>삼천당제약 (000250) · 투자스터디 발표자료</a:t>
            </a:r>
          </a:p>
        </p:txBody>
      </p:sp>
      <p:sp>
        <p:nvSpPr>
          <p:cNvPr id="43" name="fpg"/>
          <p:cNvSpPr/>
          <p:nvPr/>
        </p:nvSpPr>
        <p:spPr>
          <a:xfrm>
            <a:off x="11064240" y="6574536"/>
            <a:ext cx="457200" cy="283464"/>
          </a:xfrm>
          <a:prstGeom prst="rect">
            <a:avLst/>
          </a:prstGeom>
          <a:noFill/>
          <a:ln/>
        </p:spPr>
        <p:txBody>
          <a:bodyPr wrap="square" lIns="0" tIns="0" rIns="0" bIns="0" rtlCol="0" anchor="ctr"/>
          <a:lstStyle/>
          <a:p>
            <a:pPr marL="0" indent="0" algn="r">
              <a:buNone/>
            </a:pPr>
            <a:r>
              <a:rPr lang="ko-KR" altLang="en-US" sz="850" kern="0">
                <a:solidFill>
                  <a:srgbClr val="6B7C90"/>
                </a:solidFill>
                <a:latin typeface="Malgun Gothic" pitchFamily="34" charset="0"/>
                <a:ea typeface="Malgun Gothic" pitchFamily="34" charset="-122"/>
                <a:cs typeface="Malgun Gothic" pitchFamily="34" charset="-120"/>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lgn="l">
              <a:buNone/>
            </a:pPr>
            <a:r>
              <a:rPr lang="ko-KR" altLang="en-US" sz="1100" b="1" kern="0" spc="200">
                <a:solidFill>
                  <a:srgbClr val="0D9488"/>
                </a:solidFill>
                <a:latin typeface="Malgun Gothic" pitchFamily="34" charset="0"/>
                <a:ea typeface="Malgun Gothic" pitchFamily="34" charset="-122"/>
                <a:cs typeface="Malgun Gothic" pitchFamily="34" charset="-120"/>
              </a:rPr>
              <a:t>04-1A · 밸류에이션 역산</a:t>
            </a:r>
          </a:p>
        </p:txBody>
      </p:sp>
      <p:sp>
        <p:nvSpPr>
          <p:cNvPr id="3" name="title"/>
          <p:cNvSpPr/>
          <p:nvPr/>
        </p:nvSpPr>
        <p:spPr>
          <a:xfrm>
            <a:off x="658368" y="566928"/>
            <a:ext cx="11430000" cy="603504"/>
          </a:xfrm>
          <a:prstGeom prst="rect">
            <a:avLst/>
          </a:prstGeom>
          <a:noFill/>
          <a:ln/>
        </p:spPr>
        <p:txBody>
          <a:bodyPr wrap="square" lIns="0" tIns="0" rIns="0" bIns="0" rtlCol="0" anchor="ctr"/>
          <a:lstStyle/>
          <a:p>
            <a:pPr marL="0" indent="0" algn="l">
              <a:buNone/>
            </a:pPr>
            <a:r>
              <a:rPr lang="ko-KR" altLang="en-US" sz="2400" b="1" kern="0">
                <a:solidFill>
                  <a:srgbClr val="0E2036"/>
                </a:solidFill>
                <a:latin typeface="Malgun Gothic" pitchFamily="34" charset="0"/>
                <a:ea typeface="Malgun Gothic" pitchFamily="34" charset="-122"/>
                <a:cs typeface="Malgun Gothic" pitchFamily="34" charset="-120"/>
              </a:rPr>
              <a:t>현재 5.6조 시총은 어떤 미래를 가정하는가</a:t>
            </a:r>
          </a:p>
        </p:txBody>
      </p:sp>
      <p:sp>
        <p:nvSpPr>
          <p:cNvPr id="4" name="tick"/>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p:cNvSpPr/>
          <p:nvPr/>
        </p:nvSpPr>
        <p:spPr>
          <a:xfrm>
            <a:off x="676656" y="1371600"/>
            <a:ext cx="10881360" cy="340000"/>
          </a:xfrm>
          <a:prstGeom prst="rect">
            <a:avLst/>
          </a:prstGeom>
          <a:noFill/>
          <a:ln/>
        </p:spPr>
        <p:txBody>
          <a:bodyPr wrap="square" lIns="0" tIns="0" rIns="0" bIns="0" rtlCol="0" anchor="ctr"/>
          <a:lstStyle/>
          <a:p>
            <a:pPr marL="0" indent="0" algn="l">
              <a:buNone/>
            </a:pPr>
            <a:r>
              <a:rPr lang="ko-KR" altLang="en-US" sz="1150" kern="0">
                <a:solidFill>
                  <a:srgbClr val="33465B"/>
                </a:solidFill>
                <a:latin typeface="Malgun Gothic" pitchFamily="34" charset="0"/>
                <a:ea typeface="Malgun Gothic" pitchFamily="34" charset="-122"/>
                <a:cs typeface="Malgun Gothic" pitchFamily="34" charset="-120"/>
              </a:rPr>
              <a:t>현재 PER 467배는 과도기적 수치 — 미래 이익 역산에는 정상화된 PER 구간을 가정한다.</a:t>
            </a:r>
          </a:p>
        </p:txBody>
      </p:sp>
      <p:sp>
        <p:nvSpPr>
          <p:cNvPr id="6" name="lead"/>
          <p:cNvSpPr/>
          <p:nvPr/>
        </p:nvSpPr>
        <p:spPr>
          <a:xfrm>
            <a:off x="676656" y="1700000"/>
            <a:ext cx="10875264" cy="300000"/>
          </a:xfrm>
          <a:prstGeom prst="rect">
            <a:avLst/>
          </a:prstGeom>
          <a:noFill/>
          <a:ln/>
        </p:spPr>
        <p:txBody>
          <a:bodyPr wrap="square" lIns="0" tIns="0" rIns="0" bIns="0" rtlCol="0" anchor="t"/>
          <a:lstStyle/>
          <a:p>
            <a:pPr marL="0" indent="0" algn="l">
              <a:buNone/>
            </a:pPr>
            <a:r>
              <a:rPr lang="ko-KR" altLang="en-US" sz="1080" kern="0">
                <a:solidFill>
                  <a:srgbClr val="33465B"/>
                </a:solidFill>
                <a:latin typeface="Malgun Gothic" pitchFamily="34" charset="0"/>
                <a:ea typeface="Malgun Gothic" pitchFamily="34" charset="-122"/>
                <a:cs typeface="Malgun Gothic" pitchFamily="34" charset="-120"/>
              </a:rPr>
              <a:t>현재 시총 5.6조 원 = 2025년 순이익 120억 원 기준 </a:t>
            </a:r>
            <a:r>
              <a:rPr lang="ko-KR" altLang="en-US" sz="1080" b="1" kern="0">
                <a:solidFill>
                  <a:srgbClr val="C2410C"/>
                </a:solidFill>
                <a:latin typeface="Malgun Gothic" pitchFamily="34" charset="0"/>
                <a:ea typeface="Malgun Gothic" pitchFamily="34" charset="-122"/>
                <a:cs typeface="Malgun Gothic" pitchFamily="34" charset="-120"/>
              </a:rPr>
              <a:t>PER 467배</a:t>
            </a:r>
            <a:r>
              <a:rPr lang="ko-KR" altLang="en-US" sz="1080" kern="0">
                <a:solidFill>
                  <a:srgbClr val="33465B"/>
                </a:solidFill>
                <a:latin typeface="Malgun Gothic" pitchFamily="34" charset="0"/>
                <a:ea typeface="Malgun Gothic" pitchFamily="34" charset="-122"/>
                <a:cs typeface="Malgun Gothic" pitchFamily="34" charset="-120"/>
              </a:rPr>
              <a:t>. 실적이 커진 뒤 받을 </a:t>
            </a:r>
            <a:r>
              <a:rPr lang="ko-KR" altLang="en-US" sz="1080" b="1" kern="0">
                <a:solidFill>
                  <a:srgbClr val="1D4ED8"/>
                </a:solidFill>
                <a:latin typeface="Malgun Gothic" pitchFamily="34" charset="0"/>
                <a:ea typeface="Malgun Gothic" pitchFamily="34" charset="-122"/>
                <a:cs typeface="Malgun Gothic" pitchFamily="34" charset="-120"/>
              </a:rPr>
              <a:t>정상화 PER(20~50배)</a:t>
            </a:r>
            <a:r>
              <a:rPr lang="ko-KR" altLang="en-US" sz="1080" kern="0">
                <a:solidFill>
                  <a:srgbClr val="33465B"/>
                </a:solidFill>
                <a:latin typeface="Malgun Gothic" pitchFamily="34" charset="0"/>
                <a:ea typeface="Malgun Gothic" pitchFamily="34" charset="-122"/>
                <a:cs typeface="Malgun Gothic" pitchFamily="34" charset="-120"/>
              </a:rPr>
              <a:t> 구간으로 필요 순이익을 역산한다.</a:t>
            </a:r>
          </a:p>
        </p:txBody>
      </p:sp>
      <p:sp>
        <p:nvSpPr>
          <p:cNvPr id="7" name="card"/>
          <p:cNvSpPr/>
          <p:nvPr/>
        </p:nvSpPr>
        <p:spPr>
          <a:xfrm>
            <a:off x="658368" y="2050000"/>
            <a:ext cx="3520000" cy="198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8" name="chd"/>
          <p:cNvSpPr/>
          <p:nvPr/>
        </p:nvSpPr>
        <p:spPr>
          <a:xfrm>
            <a:off x="658368" y="2050000"/>
            <a:ext cx="3520000" cy="360000"/>
          </a:xfrm>
          <a:prstGeom prst="rect">
            <a:avLst/>
          </a:prstGeom>
          <a:solidFill>
            <a:srgbClr val="1E3A8A"/>
          </a:solidFill>
          <a:ln/>
        </p:spPr>
        <p:txBody>
          <a:bodyPr/>
          <a:lstStyle/>
          <a:p>
            <a:endParaRPr lang="ko-KR" altLang="en-US"/>
          </a:p>
        </p:txBody>
      </p:sp>
      <p:sp>
        <p:nvSpPr>
          <p:cNvPr id="9" name="cht"/>
          <p:cNvSpPr/>
          <p:nvPr/>
        </p:nvSpPr>
        <p:spPr>
          <a:xfrm>
            <a:off x="828368" y="2050000"/>
            <a:ext cx="3180000" cy="360000"/>
          </a:xfrm>
          <a:prstGeom prst="rect">
            <a:avLst/>
          </a:prstGeom>
          <a:noFill/>
          <a:ln/>
        </p:spPr>
        <p:txBody>
          <a:bodyPr wrap="square" lIns="0" tIns="0" rIns="0" bIns="0" rtlCol="0" anchor="ctr"/>
          <a:lstStyle/>
          <a:p>
            <a:pPr marL="0" indent="0" algn="l">
              <a:buNone/>
            </a:pPr>
            <a:r>
              <a:rPr lang="ko-KR" altLang="en-US" sz="1050" b="1" kern="0">
                <a:solidFill>
                  <a:srgbClr val="FFFFFF"/>
                </a:solidFill>
                <a:latin typeface="Malgun Gothic" pitchFamily="34" charset="0"/>
                <a:ea typeface="Malgun Gothic" pitchFamily="34" charset="-122"/>
                <a:cs typeface="Malgun Gothic" pitchFamily="34" charset="-120"/>
              </a:rPr>
              <a:t>현재 실적 기준 (과도기)</a:t>
            </a:r>
          </a:p>
        </p:txBody>
      </p:sp>
      <p:sp>
        <p:nvSpPr>
          <p:cNvPr id="10" name="mrow"/>
          <p:cNvSpPr/>
          <p:nvPr/>
        </p:nvSpPr>
        <p:spPr>
          <a:xfrm>
            <a:off x="838368" y="2500000"/>
            <a:ext cx="3160000" cy="235000"/>
          </a:xfrm>
          <a:prstGeom prst="rect">
            <a:avLst/>
          </a:prstGeom>
          <a:noFill/>
          <a:ln/>
        </p:spPr>
        <p:txBody>
          <a:bodyPr wrap="square" lIns="0" tIns="0" rIns="0" bIns="0" rtlCol="0" anchor="ctr"/>
          <a:lstStyle/>
          <a:p>
            <a:pPr marL="0" indent="0" algn="l">
              <a:buNone/>
            </a:pPr>
            <a:r>
              <a:rPr lang="ko-KR" altLang="en-US" sz="880" kern="0">
                <a:solidFill>
                  <a:srgbClr val="6B7C90"/>
                </a:solidFill>
                <a:latin typeface="Malgun Gothic" pitchFamily="34" charset="0"/>
                <a:ea typeface="Malgun Gothic" pitchFamily="34" charset="-122"/>
                <a:cs typeface="Malgun Gothic" pitchFamily="34" charset="-120"/>
              </a:rPr>
              <a:t>현재 시가총액     </a:t>
            </a:r>
            <a:r>
              <a:rPr lang="ko-KR" altLang="en-US" sz="1000" b="1" kern="0">
                <a:solidFill>
                  <a:srgbClr val="0E2036"/>
                </a:solidFill>
                <a:latin typeface="Malgun Gothic" pitchFamily="34" charset="0"/>
                <a:ea typeface="Malgun Gothic" pitchFamily="34" charset="-122"/>
                <a:cs typeface="Malgun Gothic" pitchFamily="34" charset="-120"/>
              </a:rPr>
              <a:t>약 5.6조 원</a:t>
            </a:r>
          </a:p>
        </p:txBody>
      </p:sp>
      <p:sp>
        <p:nvSpPr>
          <p:cNvPr id="11" name="mrow"/>
          <p:cNvSpPr/>
          <p:nvPr/>
        </p:nvSpPr>
        <p:spPr>
          <a:xfrm>
            <a:off x="838368" y="2790000"/>
            <a:ext cx="3160000" cy="235000"/>
          </a:xfrm>
          <a:prstGeom prst="rect">
            <a:avLst/>
          </a:prstGeom>
          <a:noFill/>
          <a:ln/>
        </p:spPr>
        <p:txBody>
          <a:bodyPr wrap="square" lIns="0" tIns="0" rIns="0" bIns="0" rtlCol="0" anchor="ctr"/>
          <a:lstStyle/>
          <a:p>
            <a:pPr marL="0" indent="0" algn="l">
              <a:buNone/>
            </a:pPr>
            <a:r>
              <a:rPr lang="ko-KR" altLang="en-US" sz="880" kern="0">
                <a:solidFill>
                  <a:srgbClr val="6B7C90"/>
                </a:solidFill>
                <a:latin typeface="Malgun Gothic" pitchFamily="34" charset="0"/>
                <a:ea typeface="Malgun Gothic" pitchFamily="34" charset="-122"/>
                <a:cs typeface="Malgun Gothic" pitchFamily="34" charset="-120"/>
              </a:rPr>
              <a:t>2025년 순이익     </a:t>
            </a:r>
            <a:r>
              <a:rPr lang="ko-KR" altLang="en-US" sz="1000" b="1" kern="0">
                <a:solidFill>
                  <a:srgbClr val="0E2036"/>
                </a:solidFill>
                <a:latin typeface="Malgun Gothic" pitchFamily="34" charset="0"/>
                <a:ea typeface="Malgun Gothic" pitchFamily="34" charset="-122"/>
                <a:cs typeface="Malgun Gothic" pitchFamily="34" charset="-120"/>
              </a:rPr>
              <a:t>120억 원</a:t>
            </a:r>
          </a:p>
        </p:txBody>
      </p:sp>
      <p:sp>
        <p:nvSpPr>
          <p:cNvPr id="12" name="mrow"/>
          <p:cNvSpPr/>
          <p:nvPr/>
        </p:nvSpPr>
        <p:spPr>
          <a:xfrm>
            <a:off x="838368" y="3080000"/>
            <a:ext cx="3160000" cy="235000"/>
          </a:xfrm>
          <a:prstGeom prst="rect">
            <a:avLst/>
          </a:prstGeom>
          <a:noFill/>
          <a:ln/>
        </p:spPr>
        <p:txBody>
          <a:bodyPr wrap="square" lIns="0" tIns="0" rIns="0" bIns="0" rtlCol="0" anchor="ctr"/>
          <a:lstStyle/>
          <a:p>
            <a:pPr marL="0" indent="0" algn="l">
              <a:buNone/>
            </a:pPr>
            <a:r>
              <a:rPr lang="ko-KR" altLang="en-US" sz="880" kern="0">
                <a:solidFill>
                  <a:srgbClr val="6B7C90"/>
                </a:solidFill>
                <a:latin typeface="Malgun Gothic" pitchFamily="34" charset="0"/>
                <a:ea typeface="Malgun Gothic" pitchFamily="34" charset="-122"/>
                <a:cs typeface="Malgun Gothic" pitchFamily="34" charset="-120"/>
              </a:rPr>
              <a:t>현재 POR     </a:t>
            </a:r>
            <a:r>
              <a:rPr lang="ko-KR" altLang="en-US" sz="1000" b="1" kern="0">
                <a:solidFill>
                  <a:srgbClr val="0E2036"/>
                </a:solidFill>
                <a:latin typeface="Malgun Gothic" pitchFamily="34" charset="0"/>
                <a:ea typeface="Malgun Gothic" pitchFamily="34" charset="-122"/>
                <a:cs typeface="Malgun Gothic" pitchFamily="34" charset="-120"/>
              </a:rPr>
              <a:t>약 660배</a:t>
            </a:r>
          </a:p>
        </p:txBody>
      </p:sp>
      <p:sp>
        <p:nvSpPr>
          <p:cNvPr id="13" name="peremp"/>
          <p:cNvSpPr/>
          <p:nvPr/>
        </p:nvSpPr>
        <p:spPr>
          <a:xfrm>
            <a:off x="808368" y="3380000"/>
            <a:ext cx="3220000" cy="470000"/>
          </a:xfrm>
          <a:prstGeom prst="rect">
            <a:avLst/>
          </a:prstGeom>
          <a:solidFill>
            <a:srgbClr val="FCEBE0"/>
          </a:solidFill>
          <a:ln w="12700">
            <a:solidFill>
              <a:srgbClr val="C2410C"/>
            </a:solidFill>
            <a:prstDash val="solid"/>
          </a:ln>
        </p:spPr>
        <p:txBody>
          <a:bodyPr/>
          <a:lstStyle/>
          <a:p>
            <a:endParaRPr lang="ko-KR" altLang="en-US"/>
          </a:p>
        </p:txBody>
      </p:sp>
      <p:sp>
        <p:nvSpPr>
          <p:cNvPr id="14" name="pertxt"/>
          <p:cNvSpPr/>
          <p:nvPr/>
        </p:nvSpPr>
        <p:spPr>
          <a:xfrm>
            <a:off x="958368" y="3380000"/>
            <a:ext cx="2920000" cy="470000"/>
          </a:xfrm>
          <a:prstGeom prst="rect">
            <a:avLst/>
          </a:prstGeom>
          <a:noFill/>
          <a:ln/>
        </p:spPr>
        <p:txBody>
          <a:bodyPr wrap="square" lIns="0" tIns="0" rIns="0" bIns="0" rtlCol="0" anchor="ctr"/>
          <a:lstStyle/>
          <a:p>
            <a:pPr marL="0" indent="0" algn="l">
              <a:buNone/>
            </a:pPr>
            <a:r>
              <a:rPr lang="ko-KR" altLang="en-US" sz="900" b="1" kern="0">
                <a:solidFill>
                  <a:srgbClr val="C2410C"/>
                </a:solidFill>
                <a:latin typeface="Malgun Gothic" pitchFamily="34" charset="0"/>
                <a:ea typeface="Malgun Gothic" pitchFamily="34" charset="-122"/>
                <a:cs typeface="Malgun Gothic" pitchFamily="34" charset="-120"/>
              </a:rPr>
              <a:t>현재 PER      </a:t>
            </a:r>
            <a:r>
              <a:rPr lang="ko-KR" altLang="en-US" sz="1900" b="1" kern="0">
                <a:solidFill>
                  <a:srgbClr val="C2410C"/>
                </a:solidFill>
                <a:latin typeface="Malgun Gothic" pitchFamily="34" charset="0"/>
                <a:ea typeface="Malgun Gothic" pitchFamily="34" charset="-122"/>
                <a:cs typeface="Malgun Gothic" pitchFamily="34" charset="-120"/>
              </a:rPr>
              <a:t>약 467배</a:t>
            </a:r>
          </a:p>
        </p:txBody>
      </p:sp>
      <p:sp>
        <p:nvSpPr>
          <p:cNvPr id="15" name="lnote"/>
          <p:cNvSpPr/>
          <p:nvPr/>
        </p:nvSpPr>
        <p:spPr>
          <a:xfrm>
            <a:off x="838368" y="3930000"/>
            <a:ext cx="3160000" cy="300000"/>
          </a:xfrm>
          <a:prstGeom prst="rect">
            <a:avLst/>
          </a:prstGeom>
          <a:noFill/>
          <a:ln/>
        </p:spPr>
        <p:txBody>
          <a:bodyPr wrap="square" lIns="0" tIns="0" rIns="0" bIns="0" rtlCol="0" anchor="t"/>
          <a:lstStyle/>
          <a:p>
            <a:pPr marL="0" indent="0" algn="l">
              <a:lnSpc>
                <a:spcPct val="104000"/>
              </a:lnSpc>
              <a:buNone/>
            </a:pPr>
            <a:r>
              <a:rPr lang="ko-KR" altLang="en-US" sz="830" kern="0">
                <a:solidFill>
                  <a:srgbClr val="33465B"/>
                </a:solidFill>
                <a:latin typeface="Malgun Gothic" pitchFamily="34" charset="0"/>
                <a:ea typeface="Malgun Gothic" pitchFamily="34" charset="-122"/>
                <a:cs typeface="Malgun Gothic" pitchFamily="34" charset="-120"/>
              </a:rPr>
              <a:t>순이익이 아직 작아 PER이 과도하게 높게 나타나는 구간이다.</a:t>
            </a:r>
          </a:p>
        </p:txBody>
      </p:sp>
      <p:sp>
        <p:nvSpPr>
          <p:cNvPr id="16" name="card"/>
          <p:cNvSpPr/>
          <p:nvPr/>
        </p:nvSpPr>
        <p:spPr>
          <a:xfrm>
            <a:off x="4478368" y="2050000"/>
            <a:ext cx="7055264" cy="198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7" name="chd"/>
          <p:cNvSpPr/>
          <p:nvPr/>
        </p:nvSpPr>
        <p:spPr>
          <a:xfrm>
            <a:off x="4478368" y="2050000"/>
            <a:ext cx="7055264" cy="360000"/>
          </a:xfrm>
          <a:prstGeom prst="rect">
            <a:avLst/>
          </a:prstGeom>
          <a:solidFill>
            <a:srgbClr val="1D4ED8"/>
          </a:solidFill>
          <a:ln/>
        </p:spPr>
        <p:txBody>
          <a:bodyPr/>
          <a:lstStyle/>
          <a:p>
            <a:endParaRPr lang="ko-KR" altLang="en-US"/>
          </a:p>
        </p:txBody>
      </p:sp>
      <p:sp>
        <p:nvSpPr>
          <p:cNvPr id="18" name="cht"/>
          <p:cNvSpPr/>
          <p:nvPr/>
        </p:nvSpPr>
        <p:spPr>
          <a:xfrm>
            <a:off x="4648368" y="2050000"/>
            <a:ext cx="6715264" cy="360000"/>
          </a:xfrm>
          <a:prstGeom prst="rect">
            <a:avLst/>
          </a:prstGeom>
          <a:noFill/>
          <a:ln/>
        </p:spPr>
        <p:txBody>
          <a:bodyPr wrap="square" lIns="0" tIns="0" rIns="0" bIns="0" rtlCol="0" anchor="ctr"/>
          <a:lstStyle/>
          <a:p>
            <a:pPr marL="0" indent="0" algn="l">
              <a:buNone/>
            </a:pPr>
            <a:r>
              <a:rPr lang="ko-KR" altLang="en-US" sz="1050" b="1" kern="0">
                <a:solidFill>
                  <a:srgbClr val="FFFFFF"/>
                </a:solidFill>
                <a:latin typeface="Malgun Gothic" pitchFamily="34" charset="0"/>
                <a:ea typeface="Malgun Gothic" pitchFamily="34" charset="-122"/>
                <a:cs typeface="Malgun Gothic" pitchFamily="34" charset="-120"/>
              </a:rPr>
              <a:t>현재 시총 5.6조를 정당화하려면?  </a:t>
            </a:r>
            <a:r>
              <a:rPr lang="ko-KR" altLang="en-US" sz="1050" b="1" kern="0">
                <a:solidFill>
                  <a:srgbClr val="BFD3F2"/>
                </a:solidFill>
                <a:latin typeface="Malgun Gothic" pitchFamily="34" charset="0"/>
                <a:ea typeface="Malgun Gothic" pitchFamily="34" charset="-122"/>
                <a:cs typeface="Malgun Gothic" pitchFamily="34" charset="-120"/>
              </a:rPr>
              <a:t>정상화 PER 시나리오</a:t>
            </a:r>
          </a:p>
        </p:txBody>
      </p:sp>
      <p:sp>
        <p:nvSpPr>
          <p:cNvPr id="19" name="rsub"/>
          <p:cNvSpPr/>
          <p:nvPr/>
        </p:nvSpPr>
        <p:spPr>
          <a:xfrm>
            <a:off x="4663368" y="2465000"/>
            <a:ext cx="6685264" cy="300000"/>
          </a:xfrm>
          <a:prstGeom prst="rect">
            <a:avLst/>
          </a:prstGeom>
          <a:noFill/>
          <a:ln/>
        </p:spPr>
        <p:txBody>
          <a:bodyPr wrap="square" lIns="0" tIns="0" rIns="0" bIns="0" rtlCol="0" anchor="t"/>
          <a:lstStyle/>
          <a:p>
            <a:pPr marL="0" indent="0" algn="l">
              <a:lnSpc>
                <a:spcPct val="103000"/>
              </a:lnSpc>
              <a:buNone/>
            </a:pPr>
            <a:r>
              <a:rPr lang="ko-KR" altLang="en-US" sz="870" kern="0">
                <a:solidFill>
                  <a:srgbClr val="33465B"/>
                </a:solidFill>
                <a:latin typeface="Malgun Gothic" pitchFamily="34" charset="0"/>
                <a:ea typeface="Malgun Gothic" pitchFamily="34" charset="-122"/>
                <a:cs typeface="Malgun Gothic" pitchFamily="34" charset="-120"/>
              </a:rPr>
              <a:t>제약·바이오 흑자기업은 통상 </a:t>
            </a:r>
            <a:r>
              <a:rPr lang="ko-KR" altLang="en-US" sz="870" b="1" kern="0">
                <a:solidFill>
                  <a:srgbClr val="1D4ED8"/>
                </a:solidFill>
                <a:latin typeface="Malgun Gothic" pitchFamily="34" charset="0"/>
                <a:ea typeface="Malgun Gothic" pitchFamily="34" charset="-122"/>
                <a:cs typeface="Malgun Gothic" pitchFamily="34" charset="-120"/>
              </a:rPr>
              <a:t>20~40배</a:t>
            </a:r>
            <a:r>
              <a:rPr lang="ko-KR" altLang="en-US" sz="870" kern="0">
                <a:solidFill>
                  <a:srgbClr val="33465B"/>
                </a:solidFill>
                <a:latin typeface="Malgun Gothic" pitchFamily="34" charset="0"/>
                <a:ea typeface="Malgun Gothic" pitchFamily="34" charset="-122"/>
                <a:cs typeface="Malgun Gothic" pitchFamily="34" charset="-120"/>
              </a:rPr>
              <a:t>, 고성장 프리미엄은 40배 이상도 관찰된다. 아래는 가정 PER별 필요 순이익이다.</a:t>
            </a:r>
          </a:p>
        </p:txBody>
      </p:sp>
      <p:sp>
        <p:nvSpPr>
          <p:cNvPr id="20" name="th"/>
          <p:cNvSpPr/>
          <p:nvPr/>
        </p:nvSpPr>
        <p:spPr>
          <a:xfrm>
            <a:off x="4663368" y="2810000"/>
            <a:ext cx="6685264" cy="248000"/>
          </a:xfrm>
          <a:prstGeom prst="rect">
            <a:avLst/>
          </a:prstGeom>
          <a:solidFill>
            <a:srgbClr val="1E3A8A"/>
          </a:solidFill>
          <a:ln/>
        </p:spPr>
        <p:txBody>
          <a:bodyPr/>
          <a:lstStyle/>
          <a:p>
            <a:endParaRPr lang="ko-KR" altLang="en-US"/>
          </a:p>
        </p:txBody>
      </p:sp>
      <p:sp>
        <p:nvSpPr>
          <p:cNvPr id="21" name="h1"/>
          <p:cNvSpPr/>
          <p:nvPr/>
        </p:nvSpPr>
        <p:spPr>
          <a:xfrm>
            <a:off x="4783368" y="2810000"/>
            <a:ext cx="1130000" cy="248000"/>
          </a:xfrm>
          <a:prstGeom prst="rect">
            <a:avLst/>
          </a:prstGeom>
          <a:noFill/>
          <a:ln/>
        </p:spPr>
        <p:txBody>
          <a:bodyPr wrap="square" lIns="0" tIns="0" rIns="0" bIns="0" rtlCol="0" anchor="ctr"/>
          <a:lstStyle/>
          <a:p>
            <a:pPr marL="0" indent="0" algn="l">
              <a:buNone/>
            </a:pPr>
            <a:r>
              <a:rPr lang="ko-KR" altLang="en-US" sz="860" b="1" kern="0">
                <a:solidFill>
                  <a:srgbClr val="FFFFFF"/>
                </a:solidFill>
                <a:latin typeface="Malgun Gothic" pitchFamily="34" charset="0"/>
                <a:ea typeface="Malgun Gothic" pitchFamily="34" charset="-122"/>
                <a:cs typeface="Malgun Gothic" pitchFamily="34" charset="-120"/>
              </a:rPr>
              <a:t>가정 PER</a:t>
            </a:r>
          </a:p>
        </p:txBody>
      </p:sp>
      <p:sp>
        <p:nvSpPr>
          <p:cNvPr id="22" name="h2"/>
          <p:cNvSpPr/>
          <p:nvPr/>
        </p:nvSpPr>
        <p:spPr>
          <a:xfrm>
            <a:off x="5953368" y="2810000"/>
            <a:ext cx="3675264" cy="248000"/>
          </a:xfrm>
          <a:prstGeom prst="rect">
            <a:avLst/>
          </a:prstGeom>
          <a:noFill/>
          <a:ln/>
        </p:spPr>
        <p:txBody>
          <a:bodyPr wrap="square" lIns="0" tIns="0" rIns="0" bIns="0" rtlCol="0" anchor="ctr"/>
          <a:lstStyle/>
          <a:p>
            <a:pPr marL="0" indent="0" algn="l">
              <a:buNone/>
            </a:pPr>
            <a:r>
              <a:rPr lang="ko-KR" altLang="en-US" sz="860" b="1" kern="0">
                <a:solidFill>
                  <a:srgbClr val="FFFFFF"/>
                </a:solidFill>
                <a:latin typeface="Malgun Gothic" pitchFamily="34" charset="0"/>
                <a:ea typeface="Malgun Gothic" pitchFamily="34" charset="-122"/>
                <a:cs typeface="Malgun Gothic" pitchFamily="34" charset="-120"/>
              </a:rPr>
              <a:t>의미</a:t>
            </a:r>
          </a:p>
        </p:txBody>
      </p:sp>
      <p:sp>
        <p:nvSpPr>
          <p:cNvPr id="23" name="h3"/>
          <p:cNvSpPr/>
          <p:nvPr/>
        </p:nvSpPr>
        <p:spPr>
          <a:xfrm>
            <a:off x="9628632" y="2810000"/>
            <a:ext cx="1580000" cy="248000"/>
          </a:xfrm>
          <a:prstGeom prst="rect">
            <a:avLst/>
          </a:prstGeom>
          <a:noFill/>
          <a:ln/>
        </p:spPr>
        <p:txBody>
          <a:bodyPr wrap="square" lIns="0" tIns="0" rIns="0" bIns="0" rtlCol="0" anchor="ctr"/>
          <a:lstStyle/>
          <a:p>
            <a:pPr marL="0" indent="0" algn="r">
              <a:buNone/>
            </a:pPr>
            <a:r>
              <a:rPr lang="ko-KR" altLang="en-US" sz="860" b="1" kern="0">
                <a:solidFill>
                  <a:srgbClr val="FFFFFF"/>
                </a:solidFill>
                <a:latin typeface="Malgun Gothic" pitchFamily="34" charset="0"/>
                <a:ea typeface="Malgun Gothic" pitchFamily="34" charset="-122"/>
                <a:cs typeface="Malgun Gothic" pitchFamily="34" charset="-120"/>
              </a:rPr>
              <a:t>필요 순이익</a:t>
            </a:r>
          </a:p>
        </p:txBody>
      </p:sp>
      <p:sp>
        <p:nvSpPr>
          <p:cNvPr id="24" name="trow"/>
          <p:cNvSpPr/>
          <p:nvPr/>
        </p:nvSpPr>
        <p:spPr>
          <a:xfrm>
            <a:off x="4663368" y="3058000"/>
            <a:ext cx="6685264" cy="248000"/>
          </a:xfrm>
          <a:prstGeom prst="rect">
            <a:avLst/>
          </a:prstGeom>
          <a:solidFill>
            <a:srgbClr val="EAF6F3"/>
          </a:solidFill>
          <a:ln/>
        </p:spPr>
        <p:txBody>
          <a:bodyPr/>
          <a:lstStyle/>
          <a:p>
            <a:endParaRPr lang="ko-KR" altLang="en-US"/>
          </a:p>
        </p:txBody>
      </p:sp>
      <p:sp>
        <p:nvSpPr>
          <p:cNvPr id="25" name="r1"/>
          <p:cNvSpPr/>
          <p:nvPr/>
        </p:nvSpPr>
        <p:spPr>
          <a:xfrm>
            <a:off x="4783368" y="3058000"/>
            <a:ext cx="1130000" cy="248000"/>
          </a:xfrm>
          <a:prstGeom prst="rect">
            <a:avLst/>
          </a:prstGeom>
          <a:noFill/>
          <a:ln/>
        </p:spPr>
        <p:txBody>
          <a:bodyPr wrap="square" lIns="0" tIns="0" rIns="0" bIns="0" rtlCol="0" anchor="ctr"/>
          <a:lstStyle/>
          <a:p>
            <a:pPr marL="0" indent="0" algn="l">
              <a:buNone/>
            </a:pPr>
            <a:r>
              <a:rPr lang="ko-KR" altLang="en-US" sz="1000" b="1" kern="0">
                <a:solidFill>
                  <a:srgbClr val="047857"/>
                </a:solidFill>
                <a:latin typeface="Malgun Gothic" pitchFamily="34" charset="0"/>
                <a:ea typeface="Malgun Gothic" pitchFamily="34" charset="-122"/>
                <a:cs typeface="Malgun Gothic" pitchFamily="34" charset="-120"/>
              </a:rPr>
              <a:t>PER 20배</a:t>
            </a:r>
          </a:p>
        </p:txBody>
      </p:sp>
      <p:sp>
        <p:nvSpPr>
          <p:cNvPr id="26" name="r2"/>
          <p:cNvSpPr/>
          <p:nvPr/>
        </p:nvSpPr>
        <p:spPr>
          <a:xfrm>
            <a:off x="5953368" y="3058000"/>
            <a:ext cx="3675264" cy="248000"/>
          </a:xfrm>
          <a:prstGeom prst="rect">
            <a:avLst/>
          </a:prstGeom>
          <a:noFill/>
          <a:ln/>
        </p:spPr>
        <p:txBody>
          <a:bodyPr wrap="square" lIns="0" tIns="0" rIns="0" bIns="0" rtlCol="0" anchor="ctr"/>
          <a:lstStyle/>
          <a:p>
            <a:pPr marL="0" indent="0" algn="l">
              <a:buNone/>
            </a:pPr>
            <a:r>
              <a:rPr lang="ko-KR" altLang="en-US" sz="850" kern="0">
                <a:solidFill>
                  <a:srgbClr val="33465B"/>
                </a:solidFill>
                <a:latin typeface="Malgun Gothic" pitchFamily="34" charset="0"/>
                <a:ea typeface="Malgun Gothic" pitchFamily="34" charset="-122"/>
                <a:cs typeface="Malgun Gothic" pitchFamily="34" charset="-120"/>
              </a:rPr>
              <a:t>성숙 제약사 · 보수적 성장</a:t>
            </a:r>
          </a:p>
        </p:txBody>
      </p:sp>
      <p:sp>
        <p:nvSpPr>
          <p:cNvPr id="27" name="r3"/>
          <p:cNvSpPr/>
          <p:nvPr/>
        </p:nvSpPr>
        <p:spPr>
          <a:xfrm>
            <a:off x="9628632" y="3058000"/>
            <a:ext cx="1580000" cy="248000"/>
          </a:xfrm>
          <a:prstGeom prst="rect">
            <a:avLst/>
          </a:prstGeom>
          <a:noFill/>
          <a:ln/>
        </p:spPr>
        <p:txBody>
          <a:bodyPr wrap="square" lIns="0" tIns="0" rIns="0" bIns="0" rtlCol="0" anchor="ctr"/>
          <a:lstStyle/>
          <a:p>
            <a:pPr marL="0" indent="0" algn="r">
              <a:buNone/>
            </a:pPr>
            <a:r>
              <a:rPr lang="ko-KR" altLang="en-US" sz="1050" b="1" kern="0">
                <a:solidFill>
                  <a:srgbClr val="047857"/>
                </a:solidFill>
                <a:latin typeface="Malgun Gothic" pitchFamily="34" charset="0"/>
                <a:ea typeface="Malgun Gothic" pitchFamily="34" charset="-122"/>
                <a:cs typeface="Malgun Gothic" pitchFamily="34" charset="-120"/>
              </a:rPr>
              <a:t>약 2,800억 원</a:t>
            </a:r>
          </a:p>
        </p:txBody>
      </p:sp>
      <p:sp>
        <p:nvSpPr>
          <p:cNvPr id="28" name="trow"/>
          <p:cNvSpPr/>
          <p:nvPr/>
        </p:nvSpPr>
        <p:spPr>
          <a:xfrm>
            <a:off x="4663368" y="3306000"/>
            <a:ext cx="6685264" cy="248000"/>
          </a:xfrm>
          <a:prstGeom prst="rect">
            <a:avLst/>
          </a:prstGeom>
          <a:solidFill>
            <a:srgbClr val="EAF1FC"/>
          </a:solidFill>
          <a:ln/>
        </p:spPr>
        <p:txBody>
          <a:bodyPr/>
          <a:lstStyle/>
          <a:p>
            <a:endParaRPr lang="ko-KR" altLang="en-US"/>
          </a:p>
        </p:txBody>
      </p:sp>
      <p:sp>
        <p:nvSpPr>
          <p:cNvPr id="29" name="r1"/>
          <p:cNvSpPr/>
          <p:nvPr/>
        </p:nvSpPr>
        <p:spPr>
          <a:xfrm>
            <a:off x="4783368" y="3306000"/>
            <a:ext cx="1130000" cy="248000"/>
          </a:xfrm>
          <a:prstGeom prst="rect">
            <a:avLst/>
          </a:prstGeom>
          <a:noFill/>
          <a:ln/>
        </p:spPr>
        <p:txBody>
          <a:bodyPr wrap="square" lIns="0" tIns="0" rIns="0" bIns="0" rtlCol="0" anchor="ctr"/>
          <a:lstStyle/>
          <a:p>
            <a:pPr marL="0" indent="0" algn="l">
              <a:buNone/>
            </a:pPr>
            <a:r>
              <a:rPr lang="ko-KR" altLang="en-US" sz="1000" b="1" kern="0">
                <a:solidFill>
                  <a:srgbClr val="1D4ED8"/>
                </a:solidFill>
                <a:latin typeface="Malgun Gothic" pitchFamily="34" charset="0"/>
                <a:ea typeface="Malgun Gothic" pitchFamily="34" charset="-122"/>
                <a:cs typeface="Malgun Gothic" pitchFamily="34" charset="-120"/>
              </a:rPr>
              <a:t>PER 30배</a:t>
            </a:r>
          </a:p>
        </p:txBody>
      </p:sp>
      <p:sp>
        <p:nvSpPr>
          <p:cNvPr id="30" name="r2"/>
          <p:cNvSpPr/>
          <p:nvPr/>
        </p:nvSpPr>
        <p:spPr>
          <a:xfrm>
            <a:off x="5953368" y="3306000"/>
            <a:ext cx="3675264" cy="248000"/>
          </a:xfrm>
          <a:prstGeom prst="rect">
            <a:avLst/>
          </a:prstGeom>
          <a:noFill/>
          <a:ln/>
        </p:spPr>
        <p:txBody>
          <a:bodyPr wrap="square" lIns="0" tIns="0" rIns="0" bIns="0" rtlCol="0" anchor="ctr"/>
          <a:lstStyle/>
          <a:p>
            <a:pPr marL="0" indent="0" algn="l">
              <a:buNone/>
            </a:pPr>
            <a:r>
              <a:rPr lang="ko-KR" altLang="en-US" sz="850" kern="0">
                <a:solidFill>
                  <a:srgbClr val="33465B"/>
                </a:solidFill>
                <a:latin typeface="Malgun Gothic" pitchFamily="34" charset="0"/>
                <a:ea typeface="Malgun Gothic" pitchFamily="34" charset="-122"/>
                <a:cs typeface="Malgun Gothic" pitchFamily="34" charset="-120"/>
              </a:rPr>
              <a:t>성장 제약사</a:t>
            </a:r>
          </a:p>
        </p:txBody>
      </p:sp>
      <p:sp>
        <p:nvSpPr>
          <p:cNvPr id="31" name="r3"/>
          <p:cNvSpPr/>
          <p:nvPr/>
        </p:nvSpPr>
        <p:spPr>
          <a:xfrm>
            <a:off x="9628632" y="3306000"/>
            <a:ext cx="1580000" cy="248000"/>
          </a:xfrm>
          <a:prstGeom prst="rect">
            <a:avLst/>
          </a:prstGeom>
          <a:noFill/>
          <a:ln/>
        </p:spPr>
        <p:txBody>
          <a:bodyPr wrap="square" lIns="0" tIns="0" rIns="0" bIns="0" rtlCol="0" anchor="ctr"/>
          <a:lstStyle/>
          <a:p>
            <a:pPr marL="0" indent="0" algn="r">
              <a:buNone/>
            </a:pPr>
            <a:r>
              <a:rPr lang="ko-KR" altLang="en-US" sz="1050" b="1" kern="0">
                <a:solidFill>
                  <a:srgbClr val="1D4ED8"/>
                </a:solidFill>
                <a:latin typeface="Malgun Gothic" pitchFamily="34" charset="0"/>
                <a:ea typeface="Malgun Gothic" pitchFamily="34" charset="-122"/>
                <a:cs typeface="Malgun Gothic" pitchFamily="34" charset="-120"/>
              </a:rPr>
              <a:t>약 1,870억 원</a:t>
            </a:r>
          </a:p>
        </p:txBody>
      </p:sp>
      <p:sp>
        <p:nvSpPr>
          <p:cNvPr id="32" name="trow"/>
          <p:cNvSpPr/>
          <p:nvPr/>
        </p:nvSpPr>
        <p:spPr>
          <a:xfrm>
            <a:off x="4663368" y="3554000"/>
            <a:ext cx="6685264" cy="248000"/>
          </a:xfrm>
          <a:prstGeom prst="rect">
            <a:avLst/>
          </a:prstGeom>
          <a:solidFill>
            <a:srgbClr val="F5F8FD"/>
          </a:solidFill>
          <a:ln/>
        </p:spPr>
        <p:txBody>
          <a:bodyPr/>
          <a:lstStyle/>
          <a:p>
            <a:endParaRPr lang="ko-KR" altLang="en-US"/>
          </a:p>
        </p:txBody>
      </p:sp>
      <p:sp>
        <p:nvSpPr>
          <p:cNvPr id="33" name="r1"/>
          <p:cNvSpPr/>
          <p:nvPr/>
        </p:nvSpPr>
        <p:spPr>
          <a:xfrm>
            <a:off x="4783368" y="3554000"/>
            <a:ext cx="1130000" cy="248000"/>
          </a:xfrm>
          <a:prstGeom prst="rect">
            <a:avLst/>
          </a:prstGeom>
          <a:noFill/>
          <a:ln/>
        </p:spPr>
        <p:txBody>
          <a:bodyPr wrap="square" lIns="0" tIns="0" rIns="0" bIns="0" rtlCol="0" anchor="ctr"/>
          <a:lstStyle/>
          <a:p>
            <a:pPr marL="0" indent="0" algn="l">
              <a:buNone/>
            </a:pPr>
            <a:r>
              <a:rPr lang="ko-KR" altLang="en-US" sz="1000" b="1" kern="0">
                <a:solidFill>
                  <a:srgbClr val="1D4ED8"/>
                </a:solidFill>
                <a:latin typeface="Malgun Gothic" pitchFamily="34" charset="0"/>
                <a:ea typeface="Malgun Gothic" pitchFamily="34" charset="-122"/>
                <a:cs typeface="Malgun Gothic" pitchFamily="34" charset="-120"/>
              </a:rPr>
              <a:t>PER 40배</a:t>
            </a:r>
          </a:p>
        </p:txBody>
      </p:sp>
      <p:sp>
        <p:nvSpPr>
          <p:cNvPr id="34" name="r2"/>
          <p:cNvSpPr/>
          <p:nvPr/>
        </p:nvSpPr>
        <p:spPr>
          <a:xfrm>
            <a:off x="5953368" y="3554000"/>
            <a:ext cx="3675264" cy="248000"/>
          </a:xfrm>
          <a:prstGeom prst="rect">
            <a:avLst/>
          </a:prstGeom>
          <a:noFill/>
          <a:ln/>
        </p:spPr>
        <p:txBody>
          <a:bodyPr wrap="square" lIns="0" tIns="0" rIns="0" bIns="0" rtlCol="0" anchor="ctr"/>
          <a:lstStyle/>
          <a:p>
            <a:pPr marL="0" indent="0" algn="l">
              <a:buNone/>
            </a:pPr>
            <a:r>
              <a:rPr lang="ko-KR" altLang="en-US" sz="850" kern="0">
                <a:solidFill>
                  <a:srgbClr val="33465B"/>
                </a:solidFill>
                <a:latin typeface="Malgun Gothic" pitchFamily="34" charset="0"/>
                <a:ea typeface="Malgun Gothic" pitchFamily="34" charset="-122"/>
                <a:cs typeface="Malgun Gothic" pitchFamily="34" charset="-120"/>
              </a:rPr>
              <a:t>고성장 프리미엄 유지</a:t>
            </a:r>
          </a:p>
        </p:txBody>
      </p:sp>
      <p:sp>
        <p:nvSpPr>
          <p:cNvPr id="35" name="r3"/>
          <p:cNvSpPr/>
          <p:nvPr/>
        </p:nvSpPr>
        <p:spPr>
          <a:xfrm>
            <a:off x="9628632" y="3554000"/>
            <a:ext cx="1580000" cy="248000"/>
          </a:xfrm>
          <a:prstGeom prst="rect">
            <a:avLst/>
          </a:prstGeom>
          <a:noFill/>
          <a:ln/>
        </p:spPr>
        <p:txBody>
          <a:bodyPr wrap="square" lIns="0" tIns="0" rIns="0" bIns="0" rtlCol="0" anchor="ctr"/>
          <a:lstStyle/>
          <a:p>
            <a:pPr marL="0" indent="0" algn="r">
              <a:buNone/>
            </a:pPr>
            <a:r>
              <a:rPr lang="ko-KR" altLang="en-US" sz="1050" b="1" kern="0">
                <a:solidFill>
                  <a:srgbClr val="1D4ED8"/>
                </a:solidFill>
                <a:latin typeface="Malgun Gothic" pitchFamily="34" charset="0"/>
                <a:ea typeface="Malgun Gothic" pitchFamily="34" charset="-122"/>
                <a:cs typeface="Malgun Gothic" pitchFamily="34" charset="-120"/>
              </a:rPr>
              <a:t>약 1,400억 원</a:t>
            </a:r>
          </a:p>
        </p:txBody>
      </p:sp>
      <p:sp>
        <p:nvSpPr>
          <p:cNvPr id="36" name="trow"/>
          <p:cNvSpPr/>
          <p:nvPr/>
        </p:nvSpPr>
        <p:spPr>
          <a:xfrm>
            <a:off x="4663368" y="3802000"/>
            <a:ext cx="6685264" cy="248000"/>
          </a:xfrm>
          <a:prstGeom prst="rect">
            <a:avLst/>
          </a:prstGeom>
          <a:solidFill>
            <a:srgbClr val="EFF7F5"/>
          </a:solidFill>
          <a:ln/>
        </p:spPr>
        <p:txBody>
          <a:bodyPr/>
          <a:lstStyle/>
          <a:p>
            <a:endParaRPr lang="ko-KR" altLang="en-US"/>
          </a:p>
        </p:txBody>
      </p:sp>
      <p:sp>
        <p:nvSpPr>
          <p:cNvPr id="37" name="r1"/>
          <p:cNvSpPr/>
          <p:nvPr/>
        </p:nvSpPr>
        <p:spPr>
          <a:xfrm>
            <a:off x="4783368" y="3802000"/>
            <a:ext cx="1130000" cy="248000"/>
          </a:xfrm>
          <a:prstGeom prst="rect">
            <a:avLst/>
          </a:prstGeom>
          <a:noFill/>
          <a:ln/>
        </p:spPr>
        <p:txBody>
          <a:bodyPr wrap="square" lIns="0" tIns="0" rIns="0" bIns="0" rtlCol="0" anchor="ctr"/>
          <a:lstStyle/>
          <a:p>
            <a:pPr marL="0" indent="0" algn="l">
              <a:buNone/>
            </a:pPr>
            <a:r>
              <a:rPr lang="ko-KR" altLang="en-US" sz="1000" b="1" kern="0">
                <a:solidFill>
                  <a:srgbClr val="0F766E"/>
                </a:solidFill>
                <a:latin typeface="Malgun Gothic" pitchFamily="34" charset="0"/>
                <a:ea typeface="Malgun Gothic" pitchFamily="34" charset="-122"/>
                <a:cs typeface="Malgun Gothic" pitchFamily="34" charset="-120"/>
              </a:rPr>
              <a:t>PER 50배</a:t>
            </a:r>
          </a:p>
        </p:txBody>
      </p:sp>
      <p:sp>
        <p:nvSpPr>
          <p:cNvPr id="38" name="r2"/>
          <p:cNvSpPr/>
          <p:nvPr/>
        </p:nvSpPr>
        <p:spPr>
          <a:xfrm>
            <a:off x="5953368" y="3802000"/>
            <a:ext cx="3675264" cy="248000"/>
          </a:xfrm>
          <a:prstGeom prst="rect">
            <a:avLst/>
          </a:prstGeom>
          <a:noFill/>
          <a:ln/>
        </p:spPr>
        <p:txBody>
          <a:bodyPr wrap="square" lIns="0" tIns="0" rIns="0" bIns="0" rtlCol="0" anchor="ctr"/>
          <a:lstStyle/>
          <a:p>
            <a:pPr marL="0" indent="0" algn="l">
              <a:buNone/>
            </a:pPr>
            <a:r>
              <a:rPr lang="ko-KR" altLang="en-US" sz="850" kern="0">
                <a:solidFill>
                  <a:srgbClr val="33465B"/>
                </a:solidFill>
                <a:latin typeface="Malgun Gothic" pitchFamily="34" charset="0"/>
                <a:ea typeface="Malgun Gothic" pitchFamily="34" charset="-122"/>
                <a:cs typeface="Malgun Gothic" pitchFamily="34" charset="-120"/>
              </a:rPr>
              <a:t>강한 성장 기대 지속</a:t>
            </a:r>
          </a:p>
        </p:txBody>
      </p:sp>
      <p:sp>
        <p:nvSpPr>
          <p:cNvPr id="39" name="r3"/>
          <p:cNvSpPr/>
          <p:nvPr/>
        </p:nvSpPr>
        <p:spPr>
          <a:xfrm>
            <a:off x="9628632" y="3802000"/>
            <a:ext cx="1580000" cy="248000"/>
          </a:xfrm>
          <a:prstGeom prst="rect">
            <a:avLst/>
          </a:prstGeom>
          <a:noFill/>
          <a:ln/>
        </p:spPr>
        <p:txBody>
          <a:bodyPr wrap="square" lIns="0" tIns="0" rIns="0" bIns="0" rtlCol="0" anchor="ctr"/>
          <a:lstStyle/>
          <a:p>
            <a:pPr marL="0" indent="0" algn="r">
              <a:buNone/>
            </a:pPr>
            <a:r>
              <a:rPr lang="ko-KR" altLang="en-US" sz="1050" b="1" kern="0">
                <a:solidFill>
                  <a:srgbClr val="0F766E"/>
                </a:solidFill>
                <a:latin typeface="Malgun Gothic" pitchFamily="34" charset="0"/>
                <a:ea typeface="Malgun Gothic" pitchFamily="34" charset="-122"/>
                <a:cs typeface="Malgun Gothic" pitchFamily="34" charset="-120"/>
              </a:rPr>
              <a:t>약 1,120억 원</a:t>
            </a:r>
          </a:p>
        </p:txBody>
      </p:sp>
      <p:sp>
        <p:nvSpPr>
          <p:cNvPr id="40" name="calc"/>
          <p:cNvSpPr/>
          <p:nvPr/>
        </p:nvSpPr>
        <p:spPr>
          <a:xfrm>
            <a:off x="658368" y="4080000"/>
            <a:ext cx="10875264" cy="400000"/>
          </a:xfrm>
          <a:prstGeom prst="roundRect">
            <a:avLst>
              <a:gd name="adj" fmla="val 8000"/>
            </a:avLst>
          </a:prstGeom>
          <a:solidFill>
            <a:srgbClr val="E7EFFA"/>
          </a:solidFill>
          <a:ln w="12700">
            <a:solidFill>
              <a:srgbClr val="D5E0F0"/>
            </a:solidFill>
            <a:prstDash val="solid"/>
          </a:ln>
        </p:spPr>
        <p:txBody>
          <a:bodyPr/>
          <a:lstStyle/>
          <a:p>
            <a:endParaRPr lang="ko-KR" altLang="en-US"/>
          </a:p>
        </p:txBody>
      </p:sp>
      <p:sp>
        <p:nvSpPr>
          <p:cNvPr id="41" name="calctxt"/>
          <p:cNvSpPr/>
          <p:nvPr/>
        </p:nvSpPr>
        <p:spPr>
          <a:xfrm>
            <a:off x="888368" y="4080000"/>
            <a:ext cx="10415264" cy="400000"/>
          </a:xfrm>
          <a:prstGeom prst="rect">
            <a:avLst/>
          </a:prstGeom>
          <a:noFill/>
          <a:ln/>
        </p:spPr>
        <p:txBody>
          <a:bodyPr wrap="square" lIns="0" tIns="0" rIns="0" bIns="0" rtlCol="0" anchor="ctr"/>
          <a:lstStyle/>
          <a:p>
            <a:pPr marL="0" indent="0" algn="l">
              <a:buNone/>
            </a:pPr>
            <a:r>
              <a:rPr lang="ko-KR" altLang="en-US" sz="1000" b="1" kern="0">
                <a:solidFill>
                  <a:srgbClr val="1E3A8A"/>
                </a:solidFill>
                <a:latin typeface="Malgun Gothic" pitchFamily="34" charset="0"/>
                <a:ea typeface="Malgun Gothic" pitchFamily="34" charset="-122"/>
                <a:cs typeface="Malgun Gothic" pitchFamily="34" charset="-120"/>
              </a:rPr>
              <a:t>필요 순이익 = 현재 시가총액 ÷ 가정 PER</a:t>
            </a:r>
            <a:r>
              <a:rPr lang="ko-KR" altLang="en-US" sz="1000" kern="0">
                <a:solidFill>
                  <a:srgbClr val="33465B"/>
                </a:solidFill>
                <a:latin typeface="Malgun Gothic" pitchFamily="34" charset="0"/>
                <a:ea typeface="Malgun Gothic" pitchFamily="34" charset="-122"/>
                <a:cs typeface="Malgun Gothic" pitchFamily="34" charset="-120"/>
              </a:rPr>
              <a:t>     예)  5.6조 원 ÷ PER 30배  =  약 1,870억 원</a:t>
            </a:r>
          </a:p>
        </p:txBody>
      </p:sp>
      <p:sp>
        <p:nvSpPr>
          <p:cNvPr id="42" name="gbox"/>
          <p:cNvSpPr/>
          <p:nvPr/>
        </p:nvSpPr>
        <p:spPr>
          <a:xfrm>
            <a:off x="658368" y="4540000"/>
            <a:ext cx="10875264" cy="760000"/>
          </a:xfrm>
          <a:prstGeom prst="roundRect">
            <a:avLst>
              <a:gd name="adj" fmla="val 8000"/>
            </a:avLst>
          </a:prstGeom>
          <a:solidFill>
            <a:srgbClr val="EAF6F3"/>
          </a:solidFill>
          <a:ln w="12700">
            <a:solidFill>
              <a:srgbClr val="BFE3D8"/>
            </a:solidFill>
            <a:prstDash val="solid"/>
          </a:ln>
        </p:spPr>
        <p:txBody>
          <a:bodyPr/>
          <a:lstStyle/>
          <a:p>
            <a:endParaRPr lang="ko-KR" altLang="en-US"/>
          </a:p>
        </p:txBody>
      </p:sp>
      <p:sp>
        <p:nvSpPr>
          <p:cNvPr id="43" name="gbar"/>
          <p:cNvSpPr/>
          <p:nvPr/>
        </p:nvSpPr>
        <p:spPr>
          <a:xfrm>
            <a:off x="658368" y="4540000"/>
            <a:ext cx="72000" cy="760000"/>
          </a:xfrm>
          <a:prstGeom prst="rect">
            <a:avLst/>
          </a:prstGeom>
          <a:solidFill>
            <a:srgbClr val="047857"/>
          </a:solidFill>
          <a:ln/>
        </p:spPr>
        <p:txBody>
          <a:bodyPr/>
          <a:lstStyle/>
          <a:p>
            <a:endParaRPr lang="ko-KR" altLang="en-US"/>
          </a:p>
        </p:txBody>
      </p:sp>
      <p:sp>
        <p:nvSpPr>
          <p:cNvPr id="44" name="gtxt"/>
          <p:cNvSpPr/>
          <p:nvPr/>
        </p:nvSpPr>
        <p:spPr>
          <a:xfrm>
            <a:off x="858368" y="4595000"/>
            <a:ext cx="10495264" cy="650000"/>
          </a:xfrm>
          <a:prstGeom prst="rect">
            <a:avLst/>
          </a:prstGeom>
          <a:noFill/>
          <a:ln/>
        </p:spPr>
        <p:txBody>
          <a:bodyPr wrap="square" lIns="0" tIns="0" rIns="0" bIns="0" rtlCol="0" anchor="ctr"/>
          <a:lstStyle/>
          <a:p>
            <a:pPr marL="0" indent="0" algn="l">
              <a:buNone/>
            </a:pPr>
            <a:r>
              <a:rPr lang="ko-KR" altLang="en-US" sz="900" b="1" kern="0">
                <a:solidFill>
                  <a:srgbClr val="047857"/>
                </a:solidFill>
                <a:latin typeface="Malgun Gothic" pitchFamily="34" charset="0"/>
                <a:ea typeface="Malgun Gothic" pitchFamily="34" charset="-122"/>
                <a:cs typeface="Malgun Gothic" pitchFamily="34" charset="-120"/>
              </a:rPr>
              <a:t>PER 가정 근거   </a:t>
            </a:r>
            <a:r>
              <a:rPr lang="ko-KR" altLang="en-US" sz="850" kern="0">
                <a:solidFill>
                  <a:srgbClr val="33465B"/>
                </a:solidFill>
                <a:latin typeface="Malgun Gothic" pitchFamily="34" charset="0"/>
                <a:ea typeface="Malgun Gothic" pitchFamily="34" charset="-122"/>
                <a:cs typeface="Malgun Gothic" pitchFamily="34" charset="-120"/>
              </a:rPr>
              <a:t>PER 20~50배는 확정 목표배수가 아니라 업종에서 관찰되는 PER 구간을 참고한 시나리오 가정이다.</a:t>
            </a:r>
          </a:p>
          <a:p>
            <a:pPr marL="0" indent="0" algn="l">
              <a:lnSpc>
                <a:spcPct val="105000"/>
              </a:lnSpc>
              <a:spcBef>
                <a:spcPts val="200"/>
              </a:spcBef>
              <a:buNone/>
            </a:pPr>
            <a:r>
              <a:rPr lang="ko-KR" altLang="en-US" sz="850" b="1" kern="0">
                <a:solidFill>
                  <a:srgbClr val="047857"/>
                </a:solidFill>
                <a:latin typeface="Malgun Gothic" pitchFamily="34" charset="0"/>
                <a:ea typeface="Malgun Gothic" pitchFamily="34" charset="-122"/>
                <a:cs typeface="Malgun Gothic" pitchFamily="34" charset="-120"/>
              </a:rPr>
              <a:t>관찰 사례  </a:t>
            </a:r>
            <a:r>
              <a:rPr lang="ko-KR" altLang="en-US" sz="850" kern="0">
                <a:solidFill>
                  <a:srgbClr val="33465B"/>
                </a:solidFill>
                <a:latin typeface="Malgun Gothic" pitchFamily="34" charset="0"/>
                <a:ea typeface="Malgun Gothic" pitchFamily="34" charset="-122"/>
                <a:cs typeface="Malgun Gothic" pitchFamily="34" charset="-120"/>
              </a:rPr>
              <a:t>한미약품 34배 · 유한양행 36배 · 셀트리온 43배 · 삼성바이오로직스 61배 · 파마리서치 20배 · 휴온스글로벌 27배</a:t>
            </a:r>
          </a:p>
          <a:p>
            <a:pPr marL="0" indent="0" algn="l">
              <a:lnSpc>
                <a:spcPct val="105000"/>
              </a:lnSpc>
              <a:spcBef>
                <a:spcPts val="160"/>
              </a:spcBef>
              <a:buNone/>
            </a:pPr>
            <a:r>
              <a:rPr lang="ko-KR" altLang="en-US" sz="850" b="1" kern="0">
                <a:solidFill>
                  <a:srgbClr val="047857"/>
                </a:solidFill>
                <a:latin typeface="Malgun Gothic" pitchFamily="34" charset="0"/>
                <a:ea typeface="Malgun Gothic" pitchFamily="34" charset="-122"/>
                <a:cs typeface="Malgun Gothic" pitchFamily="34" charset="-120"/>
              </a:rPr>
              <a:t>적용  </a:t>
            </a:r>
            <a:r>
              <a:rPr lang="ko-KR" altLang="en-US" sz="850" kern="0">
                <a:solidFill>
                  <a:srgbClr val="33465B"/>
                </a:solidFill>
                <a:latin typeface="Malgun Gothic" pitchFamily="34" charset="0"/>
                <a:ea typeface="Malgun Gothic" pitchFamily="34" charset="-122"/>
                <a:cs typeface="Malgun Gothic" pitchFamily="34" charset="-120"/>
              </a:rPr>
              <a:t>20배 보수 · 30배 성장 · 40배 고성장 · 50배 강한 프리미엄</a:t>
            </a:r>
            <a:r>
              <a:rPr lang="ko-KR" altLang="en-US" sz="780" kern="0">
                <a:solidFill>
                  <a:srgbClr val="6B7C90"/>
                </a:solidFill>
                <a:latin typeface="Malgun Gothic" pitchFamily="34" charset="0"/>
                <a:ea typeface="Malgun Gothic" pitchFamily="34" charset="-122"/>
                <a:cs typeface="Malgun Gothic" pitchFamily="34" charset="-120"/>
              </a:rPr>
              <a:t>     출처: 메디파나뉴스, 제약·바이오기업 PER 분석 기사</a:t>
            </a:r>
          </a:p>
        </p:txBody>
      </p:sp>
      <p:sp>
        <p:nvSpPr>
          <p:cNvPr id="45" name="qbox"/>
          <p:cNvSpPr/>
          <p:nvPr/>
        </p:nvSpPr>
        <p:spPr>
          <a:xfrm>
            <a:off x="658368" y="5360000"/>
            <a:ext cx="10875264" cy="460000"/>
          </a:xfrm>
          <a:prstGeom prst="rect">
            <a:avLst/>
          </a:prstGeom>
          <a:solidFill>
            <a:srgbClr val="0E2036"/>
          </a:solidFill>
          <a:ln/>
          <a:effectLst>
            <a:outerShdw blurRad="88900" dist="25400" dir="5400000" algn="bl" rotWithShape="0">
              <a:srgbClr val="0E2036">
                <a:alpha val="10000"/>
              </a:srgbClr>
            </a:outerShdw>
          </a:effectLst>
        </p:spPr>
        <p:txBody>
          <a:bodyPr/>
          <a:lstStyle/>
          <a:p>
            <a:endParaRPr lang="ko-KR" altLang="en-US"/>
          </a:p>
        </p:txBody>
      </p:sp>
      <p:sp>
        <p:nvSpPr>
          <p:cNvPr id="46" name="qbar"/>
          <p:cNvSpPr/>
          <p:nvPr/>
        </p:nvSpPr>
        <p:spPr>
          <a:xfrm>
            <a:off x="658368" y="5360000"/>
            <a:ext cx="82296" cy="460000"/>
          </a:xfrm>
          <a:prstGeom prst="rect">
            <a:avLst/>
          </a:prstGeom>
          <a:solidFill>
            <a:srgbClr val="0D9488"/>
          </a:solidFill>
          <a:ln/>
        </p:spPr>
        <p:txBody>
          <a:bodyPr/>
          <a:lstStyle/>
          <a:p>
            <a:endParaRPr lang="ko-KR" altLang="en-US"/>
          </a:p>
        </p:txBody>
      </p:sp>
      <p:sp>
        <p:nvSpPr>
          <p:cNvPr id="47" name="qtxt"/>
          <p:cNvSpPr/>
          <p:nvPr/>
        </p:nvSpPr>
        <p:spPr>
          <a:xfrm>
            <a:off x="950000" y="5360000"/>
            <a:ext cx="10150000" cy="460000"/>
          </a:xfrm>
          <a:prstGeom prst="rect">
            <a:avLst/>
          </a:prstGeom>
          <a:noFill/>
          <a:ln/>
        </p:spPr>
        <p:txBody>
          <a:bodyPr wrap="square" lIns="0" tIns="0" rIns="0" bIns="0" rtlCol="0" anchor="ctr"/>
          <a:lstStyle/>
          <a:p>
            <a:pPr marL="0" indent="0" algn="l">
              <a:buNone/>
            </a:pPr>
            <a:r>
              <a:rPr lang="ko-KR" altLang="en-US" sz="1080" b="1" kern="0">
                <a:solidFill>
                  <a:srgbClr val="7DE3D4"/>
                </a:solidFill>
                <a:latin typeface="Malgun Gothic" pitchFamily="34" charset="0"/>
                <a:ea typeface="Malgun Gothic" pitchFamily="34" charset="-122"/>
                <a:cs typeface="Malgun Gothic" pitchFamily="34" charset="-120"/>
              </a:rPr>
              <a:t>핵심 질문  </a:t>
            </a:r>
            <a:r>
              <a:rPr lang="ko-KR" altLang="en-US" sz="1080" b="1" kern="0">
                <a:solidFill>
                  <a:srgbClr val="FFFFFF"/>
                </a:solidFill>
                <a:latin typeface="Malgun Gothic" pitchFamily="34" charset="0"/>
                <a:ea typeface="Malgun Gothic" pitchFamily="34" charset="-122"/>
                <a:cs typeface="Malgun Gothic" pitchFamily="34" charset="-120"/>
              </a:rPr>
              <a:t>SCD411과 S-PASS가 실제로 순이익 1,100억~2,800억 원 규모를 만들 수 있는가?</a:t>
            </a:r>
          </a:p>
        </p:txBody>
      </p:sp>
      <p:sp>
        <p:nvSpPr>
          <p:cNvPr id="48" name="notes"/>
          <p:cNvSpPr/>
          <p:nvPr/>
        </p:nvSpPr>
        <p:spPr>
          <a:xfrm>
            <a:off x="676656" y="5900000"/>
            <a:ext cx="10875264" cy="620000"/>
          </a:xfrm>
          <a:prstGeom prst="rect">
            <a:avLst/>
          </a:prstGeom>
          <a:noFill/>
          <a:ln/>
        </p:spPr>
        <p:txBody>
          <a:bodyPr wrap="square" lIns="0" tIns="0" rIns="0" bIns="0" rtlCol="0" anchor="t"/>
          <a:lstStyle/>
          <a:p>
            <a:pPr marL="0" indent="0" algn="l">
              <a:buNone/>
            </a:pPr>
            <a:r>
              <a:rPr lang="ko-KR" altLang="en-US" sz="720" kern="0">
                <a:solidFill>
                  <a:srgbClr val="6B7C90"/>
                </a:solidFill>
                <a:latin typeface="Malgun Gothic" pitchFamily="34" charset="0"/>
                <a:ea typeface="Malgun Gothic" pitchFamily="34" charset="-122"/>
                <a:cs typeface="Malgun Gothic" pitchFamily="34" charset="-120"/>
              </a:rPr>
              <a:t>※ PER 20/30/40/50배는 확정 밸류에이션이 아니라 시나리오 가정이다.</a:t>
            </a:r>
          </a:p>
          <a:p>
            <a:pPr marL="0" indent="0" algn="l">
              <a:spcBef>
                <a:spcPts val="120"/>
              </a:spcBef>
              <a:buNone/>
            </a:pPr>
            <a:r>
              <a:rPr lang="ko-KR" altLang="en-US" sz="720" kern="0">
                <a:solidFill>
                  <a:srgbClr val="6B7C90"/>
                </a:solidFill>
                <a:latin typeface="Malgun Gothic" pitchFamily="34" charset="0"/>
                <a:ea typeface="Malgun Gothic" pitchFamily="34" charset="-122"/>
                <a:cs typeface="Malgun Gothic" pitchFamily="34" charset="-120"/>
              </a:rPr>
              <a:t>※ 실제 기업가치는 SCD411 출하량·매출 인식·Profit Sharing 규모·영업이익률·S-PASS 계약 및 상업화 여부에 따라 달라질 수 있다.</a:t>
            </a:r>
          </a:p>
          <a:p>
            <a:pPr marL="0" indent="0" algn="l">
              <a:spcBef>
                <a:spcPts val="120"/>
              </a:spcBef>
              <a:buNone/>
            </a:pPr>
            <a:r>
              <a:rPr lang="ko-KR" altLang="en-US" sz="720" kern="0">
                <a:solidFill>
                  <a:srgbClr val="6B7C90"/>
                </a:solidFill>
                <a:latin typeface="Malgun Gothic" pitchFamily="34" charset="0"/>
                <a:ea typeface="Malgun Gothic" pitchFamily="34" charset="-122"/>
                <a:cs typeface="Malgun Gothic" pitchFamily="34" charset="-120"/>
              </a:rPr>
              <a:t>※ 현재 PER 467배는 2025년 순이익 120억 원 기준 현재 실적 기준 밸류에이션이며, 미래 순이익 역산에는 실적 성장 이후의 정상화 PER을 가정했다.</a:t>
            </a:r>
          </a:p>
        </p:txBody>
      </p:sp>
      <p:sp>
        <p:nvSpPr>
          <p:cNvPr id="49" name="footerbar"/>
          <p:cNvSpPr/>
          <p:nvPr/>
        </p:nvSpPr>
        <p:spPr>
          <a:xfrm>
            <a:off x="0" y="6583680"/>
            <a:ext cx="12191695" cy="274320"/>
          </a:xfrm>
          <a:prstGeom prst="rect">
            <a:avLst/>
          </a:prstGeom>
          <a:solidFill>
            <a:srgbClr val="F2F6FC"/>
          </a:solidFill>
          <a:ln/>
        </p:spPr>
        <p:txBody>
          <a:bodyPr/>
          <a:lstStyle/>
          <a:p>
            <a:endParaRPr lang="ko-KR" altLang="en-US"/>
          </a:p>
        </p:txBody>
      </p:sp>
      <p:sp>
        <p:nvSpPr>
          <p:cNvPr id="50" name="ftxt"/>
          <p:cNvSpPr/>
          <p:nvPr/>
        </p:nvSpPr>
        <p:spPr>
          <a:xfrm>
            <a:off x="658368" y="6574536"/>
            <a:ext cx="6400800" cy="283464"/>
          </a:xfrm>
          <a:prstGeom prst="rect">
            <a:avLst/>
          </a:prstGeom>
          <a:noFill/>
          <a:ln/>
        </p:spPr>
        <p:txBody>
          <a:bodyPr wrap="square" lIns="0" tIns="0" rIns="0" bIns="0" rtlCol="0" anchor="ctr"/>
          <a:lstStyle/>
          <a:p>
            <a:pPr marL="0" indent="0" algn="l">
              <a:buNone/>
            </a:pPr>
            <a:r>
              <a:rPr lang="ko-KR" altLang="en-US" sz="850" kern="0">
                <a:solidFill>
                  <a:srgbClr val="6B7C90"/>
                </a:solidFill>
                <a:latin typeface="Malgun Gothic" pitchFamily="34" charset="0"/>
                <a:ea typeface="Malgun Gothic" pitchFamily="34" charset="-122"/>
                <a:cs typeface="Malgun Gothic" pitchFamily="34" charset="-120"/>
              </a:rPr>
              <a:t>삼천당제약 (000250) · 투자스터디 발표자료</a:t>
            </a:r>
          </a:p>
        </p:txBody>
      </p:sp>
      <p:sp>
        <p:nvSpPr>
          <p:cNvPr id="51" name="fpg"/>
          <p:cNvSpPr/>
          <p:nvPr/>
        </p:nvSpPr>
        <p:spPr>
          <a:xfrm>
            <a:off x="11064240" y="6574536"/>
            <a:ext cx="457200" cy="283464"/>
          </a:xfrm>
          <a:prstGeom prst="rect">
            <a:avLst/>
          </a:prstGeom>
          <a:noFill/>
          <a:ln/>
        </p:spPr>
        <p:txBody>
          <a:bodyPr wrap="square" lIns="0" tIns="0" rIns="0" bIns="0" rtlCol="0" anchor="ctr"/>
          <a:lstStyle/>
          <a:p>
            <a:pPr marL="0" indent="0" algn="r">
              <a:buNone/>
            </a:pPr>
            <a:r>
              <a:rPr lang="ko-KR" altLang="en-US" sz="850" kern="0">
                <a:solidFill>
                  <a:srgbClr val="6B7C90"/>
                </a:solidFill>
                <a:latin typeface="Malgun Gothic" pitchFamily="34" charset="0"/>
                <a:ea typeface="Malgun Gothic" pitchFamily="34" charset="-122"/>
                <a:cs typeface="Malgun Gothic" pitchFamily="34" charset="-120"/>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a:extLst>
              <a:ext uri="{C183D7F6-B498-43B3-948B-1728B52AA6E4}">
                <adec:decorative xmlns:adec="http://schemas.microsoft.com/office/drawing/2017/decorative" val="1"/>
              </a:ext>
            </a:extLst>
          </p:cNvPr>
          <p:cNvSpPr/>
          <p:nvPr/>
        </p:nvSpPr>
        <p:spPr>
          <a:xfrm>
            <a:off x="676656" y="274320"/>
            <a:ext cx="10972800" cy="237744"/>
          </a:xfrm>
          <a:prstGeom prst="rect">
            <a:avLst/>
          </a:prstGeom>
          <a:noFill/>
          <a:ln/>
        </p:spPr>
        <p:txBody>
          <a:bodyPr wrap="square" lIns="0" tIns="0" rIns="0" bIns="0" rtlCol="0" anchor="ctr"/>
          <a:lstStyle/>
          <a:p>
            <a:pPr marL="0" indent="0" algn="l">
              <a:buNone/>
            </a:pPr>
            <a:r>
              <a:rPr lang="ko-KR" altLang="en-US" sz="1100" b="1" kern="0" spc="200">
                <a:solidFill>
                  <a:srgbClr val="0D9488"/>
                </a:solidFill>
                <a:latin typeface="Malgun Gothic" pitchFamily="34" charset="0"/>
                <a:ea typeface="Malgun Gothic" pitchFamily="34" charset="-122"/>
                <a:cs typeface="Malgun Gothic" pitchFamily="34" charset="-120"/>
              </a:rPr>
              <a:t>04-2 · SCD411 정량 시나리오</a:t>
            </a:r>
          </a:p>
        </p:txBody>
      </p:sp>
      <p:sp>
        <p:nvSpPr>
          <p:cNvPr id="3" name="title"/>
          <p:cNvSpPr/>
          <p:nvPr/>
        </p:nvSpPr>
        <p:spPr>
          <a:xfrm>
            <a:off x="658368" y="566928"/>
            <a:ext cx="11430000" cy="603504"/>
          </a:xfrm>
          <a:prstGeom prst="rect">
            <a:avLst/>
          </a:prstGeom>
          <a:noFill/>
          <a:ln/>
        </p:spPr>
        <p:txBody>
          <a:bodyPr wrap="square" lIns="0" tIns="0" rIns="0" bIns="0" rtlCol="0" anchor="ctr"/>
          <a:lstStyle/>
          <a:p>
            <a:pPr marL="0" indent="0" algn="l">
              <a:buNone/>
            </a:pPr>
            <a:r>
              <a:rPr lang="ko-KR" altLang="en-US" sz="2350" b="1" kern="0">
                <a:solidFill>
                  <a:srgbClr val="0E2036"/>
                </a:solidFill>
                <a:latin typeface="Malgun Gothic" pitchFamily="34" charset="0"/>
                <a:ea typeface="Malgun Gothic" pitchFamily="34" charset="-122"/>
                <a:cs typeface="Malgun Gothic" pitchFamily="34" charset="-120"/>
              </a:rPr>
              <a:t>SCD411 정량 시나리오</a:t>
            </a:r>
          </a:p>
        </p:txBody>
      </p:sp>
      <p:sp>
        <p:nvSpPr>
          <p:cNvPr id="4" name="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a:extLst>
              <a:ext uri="{C183D7F6-B498-43B3-948B-1728B52AA6E4}">
                <adec:decorative xmlns:adec="http://schemas.microsoft.com/office/drawing/2017/decorative" val="1"/>
              </a:ext>
            </a:extLst>
          </p:cNvPr>
          <p:cNvSpPr/>
          <p:nvPr/>
        </p:nvSpPr>
        <p:spPr>
          <a:xfrm>
            <a:off x="676656" y="1371600"/>
            <a:ext cx="10881360" cy="320000"/>
          </a:xfrm>
          <a:prstGeom prst="rect">
            <a:avLst/>
          </a:prstGeom>
          <a:noFill/>
          <a:ln/>
        </p:spPr>
        <p:txBody>
          <a:bodyPr wrap="square" lIns="0" tIns="0" rIns="0" bIns="0" rtlCol="0" anchor="ctr"/>
          <a:lstStyle/>
          <a:p>
            <a:pPr marL="0" indent="0" algn="l">
              <a:buNone/>
            </a:pPr>
            <a:r>
              <a:rPr lang="ko-KR" altLang="en-US" sz="1150" kern="0" dirty="0">
                <a:solidFill>
                  <a:srgbClr val="33465B"/>
                </a:solidFill>
                <a:latin typeface="Malgun Gothic" pitchFamily="34" charset="0"/>
                <a:ea typeface="Malgun Gothic" pitchFamily="34" charset="-122"/>
                <a:cs typeface="Malgun Gothic" pitchFamily="34" charset="-120"/>
              </a:rPr>
              <a:t>현재 </a:t>
            </a:r>
            <a:r>
              <a:rPr lang="ko-KR" altLang="en-US" sz="1150" kern="0" dirty="0" err="1">
                <a:solidFill>
                  <a:srgbClr val="33465B"/>
                </a:solidFill>
                <a:latin typeface="Malgun Gothic" pitchFamily="34" charset="0"/>
                <a:ea typeface="Malgun Gothic" pitchFamily="34" charset="-122"/>
                <a:cs typeface="Malgun Gothic" pitchFamily="34" charset="-120"/>
              </a:rPr>
              <a:t>시총</a:t>
            </a:r>
            <a:r>
              <a:rPr lang="ko-KR" altLang="en-US" sz="1150" kern="0" dirty="0">
                <a:solidFill>
                  <a:srgbClr val="33465B"/>
                </a:solidFill>
                <a:latin typeface="Malgun Gothic" pitchFamily="34" charset="0"/>
                <a:ea typeface="Malgun Gothic" pitchFamily="34" charset="-122"/>
                <a:cs typeface="Malgun Gothic" pitchFamily="34" charset="-120"/>
              </a:rPr>
              <a:t> 5.6조를 정당화하려면 SCD411은 얼마나 벌어야 하는가</a:t>
            </a:r>
          </a:p>
        </p:txBody>
      </p:sp>
      <p:sp>
        <p:nvSpPr>
          <p:cNvPr id="6" name="lead">
            <a:extLst>
              <a:ext uri="{C183D7F6-B498-43B3-948B-1728B52AA6E4}">
                <adec:decorative xmlns:adec="http://schemas.microsoft.com/office/drawing/2017/decorative" val="1"/>
              </a:ext>
            </a:extLst>
          </p:cNvPr>
          <p:cNvSpPr/>
          <p:nvPr/>
        </p:nvSpPr>
        <p:spPr>
          <a:xfrm>
            <a:off x="676656" y="1710000"/>
            <a:ext cx="10875264" cy="430000"/>
          </a:xfrm>
          <a:prstGeom prst="rect">
            <a:avLst/>
          </a:prstGeom>
          <a:noFill/>
          <a:ln/>
        </p:spPr>
        <p:txBody>
          <a:bodyPr wrap="square" lIns="0" tIns="0" rIns="0" bIns="0" rtlCol="0" anchor="t"/>
          <a:lstStyle/>
          <a:p>
            <a:pPr marL="0" indent="0" algn="l">
              <a:lnSpc>
                <a:spcPct val="106000"/>
              </a:lnSpc>
              <a:buNone/>
            </a:pPr>
            <a:r>
              <a:rPr lang="ko-KR" altLang="en-US" sz="1080" kern="0">
                <a:solidFill>
                  <a:srgbClr val="33465B"/>
                </a:solidFill>
                <a:latin typeface="Malgun Gothic" pitchFamily="34" charset="0"/>
                <a:ea typeface="Malgun Gothic" pitchFamily="34" charset="-122"/>
                <a:cs typeface="Malgun Gothic" pitchFamily="34" charset="-120"/>
              </a:rPr>
              <a:t>앞 장에서 현재 시총 5.6조 원은 향후 순이익 </a:t>
            </a:r>
            <a:r>
              <a:rPr lang="ko-KR" altLang="en-US" sz="1080" b="1" kern="0">
                <a:solidFill>
                  <a:srgbClr val="1D4ED8"/>
                </a:solidFill>
                <a:latin typeface="Malgun Gothic" pitchFamily="34" charset="0"/>
                <a:ea typeface="Malgun Gothic" pitchFamily="34" charset="-122"/>
                <a:cs typeface="Malgun Gothic" pitchFamily="34" charset="-120"/>
              </a:rPr>
              <a:t>1,100억~2,800억 원</a:t>
            </a:r>
            <a:r>
              <a:rPr lang="ko-KR" altLang="en-US" sz="1080" kern="0">
                <a:solidFill>
                  <a:srgbClr val="33465B"/>
                </a:solidFill>
                <a:latin typeface="Malgun Gothic" pitchFamily="34" charset="0"/>
                <a:ea typeface="Malgun Gothic" pitchFamily="34" charset="-122"/>
                <a:cs typeface="Malgun Gothic" pitchFamily="34" charset="-120"/>
              </a:rPr>
              <a:t> 수준을 요구한다고 역산했다. 따라서 SCD411의 질문은 “성공할 수 있는가?”가 아니라 </a:t>
            </a:r>
            <a:r>
              <a:rPr lang="ko-KR" altLang="en-US" sz="1080" b="1" kern="0">
                <a:solidFill>
                  <a:srgbClr val="1E3A8A"/>
                </a:solidFill>
                <a:latin typeface="Malgun Gothic" pitchFamily="34" charset="0"/>
                <a:ea typeface="Malgun Gothic" pitchFamily="34" charset="-122"/>
                <a:cs typeface="Malgun Gothic" pitchFamily="34" charset="-120"/>
              </a:rPr>
              <a:t>“얼마나 큰 매출·이익을 만들 수 있는가?”</a:t>
            </a:r>
            <a:r>
              <a:rPr lang="ko-KR" altLang="en-US" sz="1080" kern="0">
                <a:solidFill>
                  <a:srgbClr val="33465B"/>
                </a:solidFill>
                <a:latin typeface="Malgun Gothic" pitchFamily="34" charset="0"/>
                <a:ea typeface="Malgun Gothic" pitchFamily="34" charset="-122"/>
                <a:cs typeface="Malgun Gothic" pitchFamily="34" charset="-120"/>
              </a:rPr>
              <a:t>이다.</a:t>
            </a:r>
          </a:p>
        </p:txBody>
      </p:sp>
      <p:sp>
        <p:nvSpPr>
          <p:cNvPr id="7" name="card">
            <a:extLst>
              <a:ext uri="{C183D7F6-B498-43B3-948B-1728B52AA6E4}">
                <adec:decorative xmlns:adec="http://schemas.microsoft.com/office/drawing/2017/decorative" val="1"/>
              </a:ext>
            </a:extLst>
          </p:cNvPr>
          <p:cNvSpPr/>
          <p:nvPr/>
        </p:nvSpPr>
        <p:spPr>
          <a:xfrm>
            <a:off x="658368" y="2210000"/>
            <a:ext cx="3438421" cy="236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8" name="chd"/>
          <p:cNvSpPr/>
          <p:nvPr/>
        </p:nvSpPr>
        <p:spPr>
          <a:xfrm>
            <a:off x="658368" y="2210000"/>
            <a:ext cx="3438421" cy="340000"/>
          </a:xfrm>
          <a:prstGeom prst="rect">
            <a:avLst/>
          </a:prstGeom>
          <a:solidFill>
            <a:srgbClr val="1E3A8A"/>
          </a:solidFill>
          <a:ln/>
        </p:spPr>
        <p:txBody>
          <a:bodyPr/>
          <a:lstStyle/>
          <a:p>
            <a:endParaRPr lang="ko-KR" altLang="en-US"/>
          </a:p>
        </p:txBody>
      </p:sp>
      <p:sp>
        <p:nvSpPr>
          <p:cNvPr id="9" name="cht"/>
          <p:cNvSpPr/>
          <p:nvPr/>
        </p:nvSpPr>
        <p:spPr>
          <a:xfrm>
            <a:off x="823368" y="2210000"/>
            <a:ext cx="3108421" cy="340000"/>
          </a:xfrm>
          <a:prstGeom prst="rect">
            <a:avLst/>
          </a:prstGeom>
          <a:noFill/>
          <a:ln/>
        </p:spPr>
        <p:txBody>
          <a:bodyPr wrap="square" lIns="0" tIns="0" rIns="0" bIns="0" rtlCol="0" anchor="ctr"/>
          <a:lstStyle/>
          <a:p>
            <a:pPr marL="0" indent="0" algn="l">
              <a:buNone/>
            </a:pPr>
            <a:r>
              <a:rPr lang="ko-KR" altLang="en-US" sz="940" b="1" kern="0">
                <a:solidFill>
                  <a:srgbClr val="FFFFFF"/>
                </a:solidFill>
                <a:latin typeface="Malgun Gothic" pitchFamily="34" charset="0"/>
                <a:ea typeface="Malgun Gothic" pitchFamily="34" charset="-122"/>
                <a:cs typeface="Malgun Gothic" pitchFamily="34" charset="-120"/>
              </a:rPr>
              <a:t>SCD411 정량 시나리오의 기준</a:t>
            </a:r>
          </a:p>
        </p:txBody>
      </p:sp>
      <p:sp>
        <p:nvSpPr>
          <p:cNvPr id="10" name="cbody">
            <a:extLst>
              <a:ext uri="{C183D7F6-B498-43B3-948B-1728B52AA6E4}">
                <adec:decorative xmlns:adec="http://schemas.microsoft.com/office/drawing/2017/decorative" val="1"/>
              </a:ext>
            </a:extLst>
          </p:cNvPr>
          <p:cNvSpPr/>
          <p:nvPr/>
        </p:nvSpPr>
        <p:spPr>
          <a:xfrm>
            <a:off x="833368" y="2645000"/>
            <a:ext cx="3103421" cy="1855000"/>
          </a:xfrm>
          <a:prstGeom prst="rect">
            <a:avLst/>
          </a:prstGeom>
          <a:noFill/>
          <a:ln/>
        </p:spPr>
        <p:txBody>
          <a:bodyPr wrap="square" lIns="0" tIns="0" rIns="0" bIns="0" rtlCol="0" anchor="t"/>
          <a:lstStyle/>
          <a:p>
            <a:pPr marL="0" indent="0" algn="l">
              <a:lnSpc>
                <a:spcPct val="106000"/>
              </a:lnSpc>
              <a:buNone/>
            </a:pPr>
            <a:r>
              <a:rPr lang="ko-KR" altLang="en-US" sz="810" b="1" kern="0">
                <a:solidFill>
                  <a:srgbClr val="1E3A8A"/>
                </a:solidFill>
                <a:latin typeface="Malgun Gothic" pitchFamily="34" charset="0"/>
                <a:ea typeface="Malgun Gothic" pitchFamily="34" charset="-122"/>
                <a:cs typeface="Malgun Gothic" pitchFamily="34" charset="-120"/>
              </a:rPr>
              <a:t>▪ </a:t>
            </a:r>
            <a:r>
              <a:rPr lang="ko-KR" altLang="en-US" sz="810" kern="0">
                <a:solidFill>
                  <a:srgbClr val="33465B"/>
                </a:solidFill>
                <a:latin typeface="Malgun Gothic" pitchFamily="34" charset="0"/>
                <a:ea typeface="Malgun Gothic" pitchFamily="34" charset="-122"/>
                <a:cs typeface="Malgun Gothic" pitchFamily="34" charset="-120"/>
              </a:rPr>
              <a:t>글로벌 아일리아 시장 규모 </a:t>
            </a:r>
            <a:r>
              <a:rPr lang="ko-KR" altLang="en-US" sz="810" b="1" kern="0">
                <a:solidFill>
                  <a:srgbClr val="1E3A8A"/>
                </a:solidFill>
                <a:latin typeface="Malgun Gothic" pitchFamily="34" charset="0"/>
                <a:ea typeface="Malgun Gothic" pitchFamily="34" charset="-122"/>
                <a:cs typeface="Malgun Gothic" pitchFamily="34" charset="-120"/>
              </a:rPr>
              <a:t>약 13~14조 원</a:t>
            </a:r>
          </a:p>
          <a:p>
            <a:pPr marL="0" indent="0" algn="l">
              <a:lnSpc>
                <a:spcPct val="106000"/>
              </a:lnSpc>
              <a:spcBef>
                <a:spcPts val="340"/>
              </a:spcBef>
              <a:buNone/>
            </a:pPr>
            <a:r>
              <a:rPr lang="ko-KR" altLang="en-US" sz="810" b="1" kern="0">
                <a:solidFill>
                  <a:srgbClr val="1E3A8A"/>
                </a:solidFill>
                <a:latin typeface="Malgun Gothic" pitchFamily="34" charset="0"/>
                <a:ea typeface="Malgun Gothic" pitchFamily="34" charset="-122"/>
                <a:cs typeface="Malgun Gothic" pitchFamily="34" charset="-120"/>
              </a:rPr>
              <a:t>▪ </a:t>
            </a:r>
            <a:r>
              <a:rPr lang="ko-KR" altLang="en-US" sz="810" kern="0">
                <a:solidFill>
                  <a:srgbClr val="33465B"/>
                </a:solidFill>
                <a:latin typeface="Malgun Gothic" pitchFamily="34" charset="0"/>
                <a:ea typeface="Malgun Gothic" pitchFamily="34" charset="-122"/>
                <a:cs typeface="Malgun Gothic" pitchFamily="34" charset="-120"/>
              </a:rPr>
              <a:t>SCD411은 아일리아 바이오시밀러</a:t>
            </a:r>
          </a:p>
          <a:p>
            <a:pPr marL="0" indent="0" algn="l">
              <a:lnSpc>
                <a:spcPct val="106000"/>
              </a:lnSpc>
              <a:spcBef>
                <a:spcPts val="340"/>
              </a:spcBef>
              <a:buNone/>
            </a:pPr>
            <a:r>
              <a:rPr lang="ko-KR" altLang="en-US" sz="810" b="1" kern="0">
                <a:solidFill>
                  <a:srgbClr val="1E3A8A"/>
                </a:solidFill>
                <a:latin typeface="Malgun Gothic" pitchFamily="34" charset="0"/>
                <a:ea typeface="Malgun Gothic" pitchFamily="34" charset="-122"/>
                <a:cs typeface="Malgun Gothic" pitchFamily="34" charset="-120"/>
              </a:rPr>
              <a:t>▪ </a:t>
            </a:r>
            <a:r>
              <a:rPr lang="ko-KR" altLang="en-US" sz="810" kern="0">
                <a:solidFill>
                  <a:srgbClr val="33465B"/>
                </a:solidFill>
                <a:latin typeface="Malgun Gothic" pitchFamily="34" charset="0"/>
                <a:ea typeface="Malgun Gothic" pitchFamily="34" charset="-122"/>
                <a:cs typeface="Malgun Gothic" pitchFamily="34" charset="-120"/>
              </a:rPr>
              <a:t>투자포인트는 허가 여부가 아니라 </a:t>
            </a:r>
            <a:r>
              <a:rPr lang="ko-KR" altLang="en-US" sz="810" b="1" kern="0">
                <a:solidFill>
                  <a:srgbClr val="33465B"/>
                </a:solidFill>
                <a:latin typeface="Malgun Gothic" pitchFamily="34" charset="0"/>
                <a:ea typeface="Malgun Gothic" pitchFamily="34" charset="-122"/>
                <a:cs typeface="Malgun Gothic" pitchFamily="34" charset="-120"/>
              </a:rPr>
              <a:t>실제 판매 규모</a:t>
            </a:r>
          </a:p>
          <a:p>
            <a:pPr marL="0" indent="0" algn="l">
              <a:lnSpc>
                <a:spcPct val="106000"/>
              </a:lnSpc>
              <a:spcBef>
                <a:spcPts val="340"/>
              </a:spcBef>
              <a:buNone/>
            </a:pPr>
            <a:r>
              <a:rPr lang="ko-KR" altLang="en-US" sz="810" b="1" kern="0">
                <a:solidFill>
                  <a:srgbClr val="1E3A8A"/>
                </a:solidFill>
                <a:latin typeface="Malgun Gothic" pitchFamily="34" charset="0"/>
                <a:ea typeface="Malgun Gothic" pitchFamily="34" charset="-122"/>
                <a:cs typeface="Malgun Gothic" pitchFamily="34" charset="-120"/>
              </a:rPr>
              <a:t>▪ </a:t>
            </a:r>
            <a:r>
              <a:rPr lang="ko-KR" altLang="en-US" sz="810" kern="0">
                <a:solidFill>
                  <a:srgbClr val="33465B"/>
                </a:solidFill>
                <a:latin typeface="Malgun Gothic" pitchFamily="34" charset="0"/>
                <a:ea typeface="Malgun Gothic" pitchFamily="34" charset="-122"/>
                <a:cs typeface="Malgun Gothic" pitchFamily="34" charset="-120"/>
              </a:rPr>
              <a:t>점유율 몇 %만 확보해도 실적이 크게 달라질 수 있음</a:t>
            </a:r>
          </a:p>
          <a:p>
            <a:pPr marL="0" indent="0" algn="l">
              <a:lnSpc>
                <a:spcPct val="106000"/>
              </a:lnSpc>
              <a:spcBef>
                <a:spcPts val="340"/>
              </a:spcBef>
              <a:buNone/>
            </a:pPr>
            <a:r>
              <a:rPr lang="ko-KR" altLang="en-US" sz="810" b="1" kern="0">
                <a:solidFill>
                  <a:srgbClr val="1E3A8A"/>
                </a:solidFill>
                <a:latin typeface="Malgun Gothic" pitchFamily="34" charset="0"/>
                <a:ea typeface="Malgun Gothic" pitchFamily="34" charset="-122"/>
                <a:cs typeface="Malgun Gothic" pitchFamily="34" charset="-120"/>
              </a:rPr>
              <a:t>▪ </a:t>
            </a:r>
            <a:r>
              <a:rPr lang="ko-KR" altLang="en-US" sz="810" kern="0">
                <a:solidFill>
                  <a:srgbClr val="33465B"/>
                </a:solidFill>
                <a:latin typeface="Malgun Gothic" pitchFamily="34" charset="0"/>
                <a:ea typeface="Malgun Gothic" pitchFamily="34" charset="-122"/>
                <a:cs typeface="Malgun Gothic" pitchFamily="34" charset="-120"/>
              </a:rPr>
              <a:t>단, 인식 매출은 국가별 계약·가격 할인·수익배분 구조에 따라 달라짐</a:t>
            </a:r>
          </a:p>
        </p:txBody>
      </p:sp>
      <p:sp>
        <p:nvSpPr>
          <p:cNvPr id="11" name="emp">
            <a:extLst>
              <a:ext uri="{C183D7F6-B498-43B3-948B-1728B52AA6E4}">
                <adec:decorative xmlns:adec="http://schemas.microsoft.com/office/drawing/2017/decorative" val="1"/>
              </a:ext>
            </a:extLst>
          </p:cNvPr>
          <p:cNvSpPr/>
          <p:nvPr/>
        </p:nvSpPr>
        <p:spPr>
          <a:xfrm>
            <a:off x="808368" y="4010000"/>
            <a:ext cx="3138421" cy="470000"/>
          </a:xfrm>
          <a:prstGeom prst="rect">
            <a:avLst/>
          </a:prstGeom>
          <a:solidFill>
            <a:srgbClr val="EAF1FC"/>
          </a:solidFill>
          <a:ln/>
        </p:spPr>
        <p:txBody>
          <a:bodyPr/>
          <a:lstStyle/>
          <a:p>
            <a:endParaRPr lang="ko-KR" altLang="en-US"/>
          </a:p>
        </p:txBody>
      </p:sp>
      <p:sp>
        <p:nvSpPr>
          <p:cNvPr id="12" name="emptxt">
            <a:extLst>
              <a:ext uri="{C183D7F6-B498-43B3-948B-1728B52AA6E4}">
                <adec:decorative xmlns:adec="http://schemas.microsoft.com/office/drawing/2017/decorative" val="1"/>
              </a:ext>
            </a:extLst>
          </p:cNvPr>
          <p:cNvSpPr/>
          <p:nvPr/>
        </p:nvSpPr>
        <p:spPr>
          <a:xfrm>
            <a:off x="938368" y="4010000"/>
            <a:ext cx="2878421" cy="470000"/>
          </a:xfrm>
          <a:prstGeom prst="rect">
            <a:avLst/>
          </a:prstGeom>
          <a:noFill/>
          <a:ln/>
        </p:spPr>
        <p:txBody>
          <a:bodyPr wrap="square" lIns="0" tIns="0" rIns="0" bIns="0" rtlCol="0" anchor="ctr"/>
          <a:lstStyle/>
          <a:p>
            <a:pPr marL="0" indent="0" algn="l">
              <a:lnSpc>
                <a:spcPct val="104000"/>
              </a:lnSpc>
              <a:buNone/>
            </a:pPr>
            <a:r>
              <a:rPr lang="ko-KR" altLang="en-US" sz="780" b="1" kern="0">
                <a:solidFill>
                  <a:srgbClr val="1D4ED8"/>
                </a:solidFill>
                <a:latin typeface="Malgun Gothic" pitchFamily="34" charset="0"/>
                <a:ea typeface="Malgun Gothic" pitchFamily="34" charset="-122"/>
                <a:cs typeface="Malgun Gothic" pitchFamily="34" charset="-120"/>
              </a:rPr>
              <a:t>시장 규모는 크지만, 중요한 것은 전체 시장이 아니라 삼천당이 실제로 인식할 매출·이익이다.</a:t>
            </a:r>
          </a:p>
        </p:txBody>
      </p:sp>
      <p:sp>
        <p:nvSpPr>
          <p:cNvPr id="13" name="card"/>
          <p:cNvSpPr/>
          <p:nvPr/>
        </p:nvSpPr>
        <p:spPr>
          <a:xfrm>
            <a:off x="4376789" y="2210000"/>
            <a:ext cx="3438421" cy="236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4" name="chd">
            <a:extLst>
              <a:ext uri="{C183D7F6-B498-43B3-948B-1728B52AA6E4}">
                <adec:decorative xmlns:adec="http://schemas.microsoft.com/office/drawing/2017/decorative" val="1"/>
              </a:ext>
            </a:extLst>
          </p:cNvPr>
          <p:cNvSpPr/>
          <p:nvPr/>
        </p:nvSpPr>
        <p:spPr>
          <a:xfrm>
            <a:off x="4376789" y="2210000"/>
            <a:ext cx="3438421" cy="340000"/>
          </a:xfrm>
          <a:prstGeom prst="rect">
            <a:avLst/>
          </a:prstGeom>
          <a:solidFill>
            <a:srgbClr val="1D4ED8"/>
          </a:solidFill>
          <a:ln/>
        </p:spPr>
        <p:txBody>
          <a:bodyPr/>
          <a:lstStyle/>
          <a:p>
            <a:endParaRPr lang="ko-KR" altLang="en-US"/>
          </a:p>
        </p:txBody>
      </p:sp>
      <p:sp>
        <p:nvSpPr>
          <p:cNvPr id="15" name="cht">
            <a:extLst>
              <a:ext uri="{C183D7F6-B498-43B3-948B-1728B52AA6E4}">
                <adec:decorative xmlns:adec="http://schemas.microsoft.com/office/drawing/2017/decorative" val="1"/>
              </a:ext>
            </a:extLst>
          </p:cNvPr>
          <p:cNvSpPr/>
          <p:nvPr/>
        </p:nvSpPr>
        <p:spPr>
          <a:xfrm>
            <a:off x="4541789" y="2210000"/>
            <a:ext cx="3108421" cy="340000"/>
          </a:xfrm>
          <a:prstGeom prst="rect">
            <a:avLst/>
          </a:prstGeom>
          <a:noFill/>
          <a:ln/>
        </p:spPr>
        <p:txBody>
          <a:bodyPr wrap="square" lIns="0" tIns="0" rIns="0" bIns="0" rtlCol="0" anchor="ctr"/>
          <a:lstStyle/>
          <a:p>
            <a:pPr marL="0" indent="0" algn="l">
              <a:buNone/>
            </a:pPr>
            <a:r>
              <a:rPr lang="ko-KR" altLang="en-US" sz="940" b="1" kern="0">
                <a:solidFill>
                  <a:srgbClr val="FFFFFF"/>
                </a:solidFill>
                <a:latin typeface="Malgun Gothic" pitchFamily="34" charset="0"/>
                <a:ea typeface="Malgun Gothic" pitchFamily="34" charset="-122"/>
                <a:cs typeface="Malgun Gothic" pitchFamily="34" charset="-120"/>
              </a:rPr>
              <a:t>시장점유율별 단순 매출 잠재력</a:t>
            </a:r>
          </a:p>
        </p:txBody>
      </p:sp>
      <p:sp>
        <p:nvSpPr>
          <p:cNvPr id="16" name="th">
            <a:extLst>
              <a:ext uri="{C183D7F6-B498-43B3-948B-1728B52AA6E4}">
                <adec:decorative xmlns:adec="http://schemas.microsoft.com/office/drawing/2017/decorative" val="1"/>
              </a:ext>
            </a:extLst>
          </p:cNvPr>
          <p:cNvSpPr/>
          <p:nvPr/>
        </p:nvSpPr>
        <p:spPr>
          <a:xfrm>
            <a:off x="4546789" y="2670000"/>
            <a:ext cx="3098421" cy="300000"/>
          </a:xfrm>
          <a:prstGeom prst="rect">
            <a:avLst/>
          </a:prstGeom>
          <a:solidFill>
            <a:srgbClr val="1E3A8A"/>
          </a:solidFill>
          <a:ln/>
        </p:spPr>
        <p:txBody>
          <a:bodyPr/>
          <a:lstStyle/>
          <a:p>
            <a:endParaRPr lang="ko-KR" altLang="en-US"/>
          </a:p>
        </p:txBody>
      </p:sp>
      <p:sp>
        <p:nvSpPr>
          <p:cNvPr id="17" name="h1">
            <a:extLst>
              <a:ext uri="{C183D7F6-B498-43B3-948B-1728B52AA6E4}">
                <adec:decorative xmlns:adec="http://schemas.microsoft.com/office/drawing/2017/decorative" val="1"/>
              </a:ext>
            </a:extLst>
          </p:cNvPr>
          <p:cNvSpPr/>
          <p:nvPr/>
        </p:nvSpPr>
        <p:spPr>
          <a:xfrm>
            <a:off x="4656789" y="2670000"/>
            <a:ext cx="1611178" cy="300000"/>
          </a:xfrm>
          <a:prstGeom prst="rect">
            <a:avLst/>
          </a:prstGeom>
          <a:noFill/>
          <a:ln/>
        </p:spPr>
        <p:txBody>
          <a:bodyPr wrap="square" lIns="0" tIns="0" rIns="0" bIns="0" rtlCol="0" anchor="ctr"/>
          <a:lstStyle/>
          <a:p>
            <a:pPr marL="0" indent="0" algn="l">
              <a:buNone/>
            </a:pPr>
            <a:r>
              <a:rPr lang="ko-KR" altLang="en-US" sz="850" b="1" kern="0">
                <a:solidFill>
                  <a:srgbClr val="FFFFFF"/>
                </a:solidFill>
                <a:latin typeface="Malgun Gothic" pitchFamily="34" charset="0"/>
                <a:ea typeface="Malgun Gothic" pitchFamily="34" charset="-122"/>
                <a:cs typeface="Malgun Gothic" pitchFamily="34" charset="-120"/>
              </a:rPr>
              <a:t>점유율 가정</a:t>
            </a:r>
          </a:p>
        </p:txBody>
      </p:sp>
      <p:sp>
        <p:nvSpPr>
          <p:cNvPr id="18" name="h2">
            <a:extLst>
              <a:ext uri="{C183D7F6-B498-43B3-948B-1728B52AA6E4}">
                <adec:decorative xmlns:adec="http://schemas.microsoft.com/office/drawing/2017/decorative" val="1"/>
              </a:ext>
            </a:extLst>
          </p:cNvPr>
          <p:cNvSpPr/>
          <p:nvPr/>
        </p:nvSpPr>
        <p:spPr>
          <a:xfrm>
            <a:off x="6095999" y="2670000"/>
            <a:ext cx="1439210" cy="300000"/>
          </a:xfrm>
          <a:prstGeom prst="rect">
            <a:avLst/>
          </a:prstGeom>
          <a:noFill/>
          <a:ln/>
        </p:spPr>
        <p:txBody>
          <a:bodyPr wrap="square" lIns="0" tIns="0" rIns="0" bIns="0" rtlCol="0" anchor="ctr"/>
          <a:lstStyle/>
          <a:p>
            <a:pPr marL="0" indent="0" algn="r">
              <a:buNone/>
            </a:pPr>
            <a:r>
              <a:rPr lang="ko-KR" altLang="en-US" sz="850" b="1" kern="0">
                <a:solidFill>
                  <a:srgbClr val="FFFFFF"/>
                </a:solidFill>
                <a:latin typeface="Malgun Gothic" pitchFamily="34" charset="0"/>
                <a:ea typeface="Malgun Gothic" pitchFamily="34" charset="-122"/>
                <a:cs typeface="Malgun Gothic" pitchFamily="34" charset="-120"/>
              </a:rPr>
              <a:t>매출 잠재력</a:t>
            </a:r>
          </a:p>
        </p:txBody>
      </p:sp>
      <p:sp>
        <p:nvSpPr>
          <p:cNvPr id="19" name="tr">
            <a:extLst>
              <a:ext uri="{C183D7F6-B498-43B3-948B-1728B52AA6E4}">
                <adec:decorative xmlns:adec="http://schemas.microsoft.com/office/drawing/2017/decorative" val="1"/>
              </a:ext>
            </a:extLst>
          </p:cNvPr>
          <p:cNvSpPr/>
          <p:nvPr/>
        </p:nvSpPr>
        <p:spPr>
          <a:xfrm>
            <a:off x="4546789" y="2970000"/>
            <a:ext cx="3098421" cy="300000"/>
          </a:xfrm>
          <a:prstGeom prst="rect">
            <a:avLst/>
          </a:prstGeom>
          <a:solidFill>
            <a:srgbClr val="EAF1FC"/>
          </a:solidFill>
          <a:ln/>
        </p:spPr>
        <p:txBody>
          <a:bodyPr/>
          <a:lstStyle/>
          <a:p>
            <a:endParaRPr lang="ko-KR" altLang="en-US"/>
          </a:p>
        </p:txBody>
      </p:sp>
      <p:sp>
        <p:nvSpPr>
          <p:cNvPr id="20" name="c1"/>
          <p:cNvSpPr/>
          <p:nvPr/>
        </p:nvSpPr>
        <p:spPr>
          <a:xfrm>
            <a:off x="4656789" y="2970000"/>
            <a:ext cx="1611178" cy="300000"/>
          </a:xfrm>
          <a:prstGeom prst="rect">
            <a:avLst/>
          </a:prstGeom>
          <a:noFill/>
          <a:ln/>
        </p:spPr>
        <p:txBody>
          <a:bodyPr wrap="square" lIns="0" tIns="0" rIns="0" bIns="0" rtlCol="0" anchor="ctr"/>
          <a:lstStyle/>
          <a:p>
            <a:pPr marL="0" indent="0" algn="l">
              <a:buNone/>
            </a:pPr>
            <a:r>
              <a:rPr lang="ko-KR" altLang="en-US" sz="1000" b="1" kern="0">
                <a:solidFill>
                  <a:srgbClr val="1E3A8A"/>
                </a:solidFill>
                <a:latin typeface="Malgun Gothic" pitchFamily="34" charset="0"/>
                <a:ea typeface="Malgun Gothic" pitchFamily="34" charset="-122"/>
                <a:cs typeface="Malgun Gothic" pitchFamily="34" charset="-120"/>
              </a:rPr>
              <a:t>1% 점유</a:t>
            </a:r>
          </a:p>
        </p:txBody>
      </p:sp>
      <p:sp>
        <p:nvSpPr>
          <p:cNvPr id="21" name="c2"/>
          <p:cNvSpPr/>
          <p:nvPr/>
        </p:nvSpPr>
        <p:spPr>
          <a:xfrm>
            <a:off x="6095999" y="2970000"/>
            <a:ext cx="1439210" cy="300000"/>
          </a:xfrm>
          <a:prstGeom prst="rect">
            <a:avLst/>
          </a:prstGeom>
          <a:noFill/>
          <a:ln/>
        </p:spPr>
        <p:txBody>
          <a:bodyPr wrap="square" lIns="0" tIns="0" rIns="0" bIns="0" rtlCol="0" anchor="ctr"/>
          <a:lstStyle/>
          <a:p>
            <a:pPr marL="0" indent="0" algn="r">
              <a:buNone/>
            </a:pPr>
            <a:r>
              <a:rPr lang="ko-KR" altLang="en-US" sz="1050" b="1" kern="0">
                <a:solidFill>
                  <a:srgbClr val="1D4ED8"/>
                </a:solidFill>
                <a:latin typeface="Malgun Gothic" pitchFamily="34" charset="0"/>
                <a:ea typeface="Malgun Gothic" pitchFamily="34" charset="-122"/>
                <a:cs typeface="Malgun Gothic" pitchFamily="34" charset="-120"/>
              </a:rPr>
              <a:t>약 1,400억 원</a:t>
            </a:r>
          </a:p>
        </p:txBody>
      </p:sp>
      <p:sp>
        <p:nvSpPr>
          <p:cNvPr id="22" name="tr">
            <a:extLst>
              <a:ext uri="{C183D7F6-B498-43B3-948B-1728B52AA6E4}">
                <adec:decorative xmlns:adec="http://schemas.microsoft.com/office/drawing/2017/decorative" val="1"/>
              </a:ext>
            </a:extLst>
          </p:cNvPr>
          <p:cNvSpPr/>
          <p:nvPr/>
        </p:nvSpPr>
        <p:spPr>
          <a:xfrm>
            <a:off x="4546789" y="3270000"/>
            <a:ext cx="3098421" cy="300000"/>
          </a:xfrm>
          <a:prstGeom prst="rect">
            <a:avLst/>
          </a:prstGeom>
          <a:solidFill>
            <a:srgbClr val="F5F8FD"/>
          </a:solidFill>
          <a:ln/>
        </p:spPr>
        <p:txBody>
          <a:bodyPr/>
          <a:lstStyle/>
          <a:p>
            <a:endParaRPr lang="ko-KR" altLang="en-US"/>
          </a:p>
        </p:txBody>
      </p:sp>
      <p:sp>
        <p:nvSpPr>
          <p:cNvPr id="23" name="c1">
            <a:extLst>
              <a:ext uri="{C183D7F6-B498-43B3-948B-1728B52AA6E4}">
                <adec:decorative xmlns:adec="http://schemas.microsoft.com/office/drawing/2017/decorative" val="1"/>
              </a:ext>
            </a:extLst>
          </p:cNvPr>
          <p:cNvSpPr/>
          <p:nvPr/>
        </p:nvSpPr>
        <p:spPr>
          <a:xfrm>
            <a:off x="4656789" y="3270000"/>
            <a:ext cx="1611178" cy="300000"/>
          </a:xfrm>
          <a:prstGeom prst="rect">
            <a:avLst/>
          </a:prstGeom>
          <a:noFill/>
          <a:ln/>
        </p:spPr>
        <p:txBody>
          <a:bodyPr wrap="square" lIns="0" tIns="0" rIns="0" bIns="0" rtlCol="0" anchor="ctr"/>
          <a:lstStyle/>
          <a:p>
            <a:pPr marL="0" indent="0" algn="l">
              <a:buNone/>
            </a:pPr>
            <a:r>
              <a:rPr lang="ko-KR" altLang="en-US" sz="1000" b="1" kern="0">
                <a:solidFill>
                  <a:srgbClr val="1E3A8A"/>
                </a:solidFill>
                <a:latin typeface="Malgun Gothic" pitchFamily="34" charset="0"/>
                <a:ea typeface="Malgun Gothic" pitchFamily="34" charset="-122"/>
                <a:cs typeface="Malgun Gothic" pitchFamily="34" charset="-120"/>
              </a:rPr>
              <a:t>3% 점유</a:t>
            </a:r>
          </a:p>
        </p:txBody>
      </p:sp>
      <p:sp>
        <p:nvSpPr>
          <p:cNvPr id="24" name="c2">
            <a:extLst>
              <a:ext uri="{C183D7F6-B498-43B3-948B-1728B52AA6E4}">
                <adec:decorative xmlns:adec="http://schemas.microsoft.com/office/drawing/2017/decorative" val="1"/>
              </a:ext>
            </a:extLst>
          </p:cNvPr>
          <p:cNvSpPr/>
          <p:nvPr/>
        </p:nvSpPr>
        <p:spPr>
          <a:xfrm>
            <a:off x="6095999" y="3270000"/>
            <a:ext cx="1439210" cy="300000"/>
          </a:xfrm>
          <a:prstGeom prst="rect">
            <a:avLst/>
          </a:prstGeom>
          <a:noFill/>
          <a:ln/>
        </p:spPr>
        <p:txBody>
          <a:bodyPr wrap="square" lIns="0" tIns="0" rIns="0" bIns="0" rtlCol="0" anchor="ctr"/>
          <a:lstStyle/>
          <a:p>
            <a:pPr marL="0" indent="0" algn="r">
              <a:buNone/>
            </a:pPr>
            <a:r>
              <a:rPr lang="ko-KR" altLang="en-US" sz="1050" b="1" kern="0">
                <a:solidFill>
                  <a:srgbClr val="1D4ED8"/>
                </a:solidFill>
                <a:latin typeface="Malgun Gothic" pitchFamily="34" charset="0"/>
                <a:ea typeface="Malgun Gothic" pitchFamily="34" charset="-122"/>
                <a:cs typeface="Malgun Gothic" pitchFamily="34" charset="-120"/>
              </a:rPr>
              <a:t>약 4,200억 원</a:t>
            </a:r>
          </a:p>
        </p:txBody>
      </p:sp>
      <p:sp>
        <p:nvSpPr>
          <p:cNvPr id="25" name="tr"/>
          <p:cNvSpPr/>
          <p:nvPr/>
        </p:nvSpPr>
        <p:spPr>
          <a:xfrm>
            <a:off x="4546789" y="3570000"/>
            <a:ext cx="3098421" cy="300000"/>
          </a:xfrm>
          <a:prstGeom prst="rect">
            <a:avLst/>
          </a:prstGeom>
          <a:solidFill>
            <a:srgbClr val="C9DCF7"/>
          </a:solidFill>
          <a:ln/>
        </p:spPr>
        <p:txBody>
          <a:bodyPr/>
          <a:lstStyle/>
          <a:p>
            <a:endParaRPr lang="ko-KR" altLang="en-US"/>
          </a:p>
        </p:txBody>
      </p:sp>
      <p:sp>
        <p:nvSpPr>
          <p:cNvPr id="43" name="hlbar"/>
          <p:cNvSpPr/>
          <p:nvPr/>
        </p:nvSpPr>
        <p:spPr>
          <a:xfrm>
            <a:off x="4546789" y="3570000"/>
            <a:ext cx="60000" cy="300000"/>
          </a:xfrm>
          <a:prstGeom prst="rect">
            <a:avLst/>
          </a:prstGeom>
          <a:solidFill>
            <a:srgbClr val="1D4ED8"/>
          </a:solidFill>
          <a:ln/>
        </p:spPr>
        <p:txBody>
          <a:bodyPr/>
          <a:lstStyle/>
          <a:p>
            <a:endParaRPr lang="ko-KR" altLang="en-US"/>
          </a:p>
        </p:txBody>
      </p:sp>
      <p:sp>
        <p:nvSpPr>
          <p:cNvPr id="26" name="c1">
            <a:extLst>
              <a:ext uri="{C183D7F6-B498-43B3-948B-1728B52AA6E4}">
                <adec:decorative xmlns:adec="http://schemas.microsoft.com/office/drawing/2017/decorative" val="1"/>
              </a:ext>
            </a:extLst>
          </p:cNvPr>
          <p:cNvSpPr/>
          <p:nvPr/>
        </p:nvSpPr>
        <p:spPr>
          <a:xfrm>
            <a:off x="4656789" y="3570000"/>
            <a:ext cx="1611178" cy="300000"/>
          </a:xfrm>
          <a:prstGeom prst="rect">
            <a:avLst/>
          </a:prstGeom>
          <a:noFill/>
          <a:ln/>
        </p:spPr>
        <p:txBody>
          <a:bodyPr wrap="square" lIns="0" tIns="0" rIns="0" bIns="0" rtlCol="0" anchor="ctr"/>
          <a:lstStyle/>
          <a:p>
            <a:pPr marL="0" indent="0" algn="l">
              <a:buNone/>
            </a:pPr>
            <a:r>
              <a:rPr lang="ko-KR" altLang="en-US" sz="1000" b="1" kern="0">
                <a:solidFill>
                  <a:srgbClr val="1E3A8A"/>
                </a:solidFill>
                <a:latin typeface="Malgun Gothic" pitchFamily="34" charset="0"/>
                <a:ea typeface="Malgun Gothic" pitchFamily="34" charset="-122"/>
                <a:cs typeface="Malgun Gothic" pitchFamily="34" charset="-120"/>
              </a:rPr>
              <a:t>5% 점유</a:t>
            </a:r>
          </a:p>
        </p:txBody>
      </p:sp>
      <p:sp>
        <p:nvSpPr>
          <p:cNvPr id="27" name="c2">
            <a:extLst>
              <a:ext uri="{C183D7F6-B498-43B3-948B-1728B52AA6E4}">
                <adec:decorative xmlns:adec="http://schemas.microsoft.com/office/drawing/2017/decorative" val="1"/>
              </a:ext>
            </a:extLst>
          </p:cNvPr>
          <p:cNvSpPr/>
          <p:nvPr/>
        </p:nvSpPr>
        <p:spPr>
          <a:xfrm>
            <a:off x="6095999" y="3570000"/>
            <a:ext cx="1439210" cy="300000"/>
          </a:xfrm>
          <a:prstGeom prst="rect">
            <a:avLst/>
          </a:prstGeom>
          <a:noFill/>
          <a:ln/>
        </p:spPr>
        <p:txBody>
          <a:bodyPr wrap="square" lIns="0" tIns="0" rIns="0" bIns="0" rtlCol="0" anchor="ctr"/>
          <a:lstStyle/>
          <a:p>
            <a:pPr marL="0" indent="0" algn="r">
              <a:buNone/>
            </a:pPr>
            <a:r>
              <a:rPr lang="ko-KR" altLang="en-US" sz="1150" b="1" kern="0">
                <a:solidFill>
                  <a:srgbClr val="1D4ED8"/>
                </a:solidFill>
                <a:latin typeface="Malgun Gothic" pitchFamily="34" charset="0"/>
                <a:ea typeface="Malgun Gothic" pitchFamily="34" charset="-122"/>
                <a:cs typeface="Malgun Gothic" pitchFamily="34" charset="-120"/>
              </a:rPr>
              <a:t>약 7,000억 원</a:t>
            </a:r>
          </a:p>
        </p:txBody>
      </p:sp>
      <p:sp>
        <p:nvSpPr>
          <p:cNvPr id="28" name="tr"/>
          <p:cNvSpPr/>
          <p:nvPr/>
        </p:nvSpPr>
        <p:spPr>
          <a:xfrm>
            <a:off x="4546789" y="3870000"/>
            <a:ext cx="3098421" cy="300000"/>
          </a:xfrm>
          <a:prstGeom prst="rect">
            <a:avLst/>
          </a:prstGeom>
          <a:solidFill>
            <a:srgbClr val="F5F8FD"/>
          </a:solidFill>
          <a:ln/>
        </p:spPr>
        <p:txBody>
          <a:bodyPr/>
          <a:lstStyle/>
          <a:p>
            <a:endParaRPr lang="ko-KR" altLang="en-US"/>
          </a:p>
        </p:txBody>
      </p:sp>
      <p:sp>
        <p:nvSpPr>
          <p:cNvPr id="29" name="c1"/>
          <p:cNvSpPr/>
          <p:nvPr/>
        </p:nvSpPr>
        <p:spPr>
          <a:xfrm>
            <a:off x="4656789" y="3870000"/>
            <a:ext cx="1611178" cy="300000"/>
          </a:xfrm>
          <a:prstGeom prst="rect">
            <a:avLst/>
          </a:prstGeom>
          <a:noFill/>
          <a:ln/>
        </p:spPr>
        <p:txBody>
          <a:bodyPr wrap="square" lIns="0" tIns="0" rIns="0" bIns="0" rtlCol="0" anchor="ctr"/>
          <a:lstStyle/>
          <a:p>
            <a:pPr marL="0" indent="0" algn="l">
              <a:buNone/>
            </a:pPr>
            <a:r>
              <a:rPr lang="ko-KR" altLang="en-US" sz="1000" b="1" kern="0">
                <a:solidFill>
                  <a:srgbClr val="1E3A8A"/>
                </a:solidFill>
                <a:latin typeface="Malgun Gothic" pitchFamily="34" charset="0"/>
                <a:ea typeface="Malgun Gothic" pitchFamily="34" charset="-122"/>
                <a:cs typeface="Malgun Gothic" pitchFamily="34" charset="-120"/>
              </a:rPr>
              <a:t>10% 점유</a:t>
            </a:r>
          </a:p>
        </p:txBody>
      </p:sp>
      <p:sp>
        <p:nvSpPr>
          <p:cNvPr id="30" name="c2"/>
          <p:cNvSpPr/>
          <p:nvPr/>
        </p:nvSpPr>
        <p:spPr>
          <a:xfrm>
            <a:off x="6095999" y="3870000"/>
            <a:ext cx="1439210" cy="300000"/>
          </a:xfrm>
          <a:prstGeom prst="rect">
            <a:avLst/>
          </a:prstGeom>
          <a:noFill/>
          <a:ln/>
        </p:spPr>
        <p:txBody>
          <a:bodyPr wrap="square" lIns="0" tIns="0" rIns="0" bIns="0" rtlCol="0" anchor="ctr"/>
          <a:lstStyle/>
          <a:p>
            <a:pPr marL="0" indent="0" algn="r">
              <a:buNone/>
            </a:pPr>
            <a:r>
              <a:rPr lang="ko-KR" altLang="en-US" sz="1050" b="1" kern="0">
                <a:solidFill>
                  <a:srgbClr val="0F766E"/>
                </a:solidFill>
                <a:latin typeface="Malgun Gothic" pitchFamily="34" charset="0"/>
                <a:ea typeface="Malgun Gothic" pitchFamily="34" charset="-122"/>
                <a:cs typeface="Malgun Gothic" pitchFamily="34" charset="-120"/>
              </a:rPr>
              <a:t>약 1.4조 원</a:t>
            </a:r>
          </a:p>
        </p:txBody>
      </p:sp>
      <p:sp>
        <p:nvSpPr>
          <p:cNvPr id="31" name="tnote"/>
          <p:cNvSpPr/>
          <p:nvPr/>
        </p:nvSpPr>
        <p:spPr>
          <a:xfrm>
            <a:off x="4546789" y="4210000"/>
            <a:ext cx="3098421" cy="330000"/>
          </a:xfrm>
          <a:prstGeom prst="rect">
            <a:avLst/>
          </a:prstGeom>
          <a:noFill/>
          <a:ln/>
        </p:spPr>
        <p:txBody>
          <a:bodyPr wrap="square" lIns="0" tIns="0" rIns="0" bIns="0" rtlCol="0" anchor="t"/>
          <a:lstStyle/>
          <a:p>
            <a:pPr marL="0" indent="0" algn="l">
              <a:lnSpc>
                <a:spcPct val="104000"/>
              </a:lnSpc>
              <a:buNone/>
            </a:pPr>
            <a:r>
              <a:rPr lang="ko-KR" altLang="en-US" sz="730" kern="0">
                <a:solidFill>
                  <a:srgbClr val="6B7C90"/>
                </a:solidFill>
                <a:latin typeface="Malgun Gothic" pitchFamily="34" charset="0"/>
                <a:ea typeface="Malgun Gothic" pitchFamily="34" charset="-122"/>
                <a:cs typeface="Malgun Gothic" pitchFamily="34" charset="-120"/>
              </a:rPr>
              <a:t>※ 글로벌 아일리아 시장 14조 원 단순 기준 민감도 분석.</a:t>
            </a:r>
          </a:p>
          <a:p>
            <a:pPr marL="0" indent="0" algn="l">
              <a:lnSpc>
                <a:spcPct val="104000"/>
              </a:lnSpc>
              <a:spcBef>
                <a:spcPts val="140"/>
              </a:spcBef>
              <a:buNone/>
            </a:pPr>
            <a:r>
              <a:rPr lang="ko-KR" altLang="en-US" sz="730" kern="0">
                <a:solidFill>
                  <a:srgbClr val="6B7C90"/>
                </a:solidFill>
                <a:latin typeface="Malgun Gothic" pitchFamily="34" charset="0"/>
                <a:ea typeface="Malgun Gothic" pitchFamily="34" charset="-122"/>
                <a:cs typeface="Malgun Gothic" pitchFamily="34" charset="-120"/>
              </a:rPr>
              <a:t>※ 실제 매출은 계약 구조·국가별 가격·수익배분·공급 조건에 따라 달라질 수 있음.</a:t>
            </a:r>
          </a:p>
        </p:txBody>
      </p:sp>
      <p:sp>
        <p:nvSpPr>
          <p:cNvPr id="32" name="card"/>
          <p:cNvSpPr/>
          <p:nvPr/>
        </p:nvSpPr>
        <p:spPr>
          <a:xfrm>
            <a:off x="8095210" y="2210000"/>
            <a:ext cx="3438421" cy="236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33" name="chd"/>
          <p:cNvSpPr/>
          <p:nvPr/>
        </p:nvSpPr>
        <p:spPr>
          <a:xfrm>
            <a:off x="8095210" y="2210000"/>
            <a:ext cx="3438421" cy="340000"/>
          </a:xfrm>
          <a:prstGeom prst="rect">
            <a:avLst/>
          </a:prstGeom>
          <a:solidFill>
            <a:srgbClr val="0F766E"/>
          </a:solidFill>
          <a:ln/>
        </p:spPr>
        <p:txBody>
          <a:bodyPr/>
          <a:lstStyle/>
          <a:p>
            <a:endParaRPr lang="ko-KR" altLang="en-US"/>
          </a:p>
        </p:txBody>
      </p:sp>
      <p:sp>
        <p:nvSpPr>
          <p:cNvPr id="34" name="cht"/>
          <p:cNvSpPr/>
          <p:nvPr/>
        </p:nvSpPr>
        <p:spPr>
          <a:xfrm>
            <a:off x="8260210" y="2210000"/>
            <a:ext cx="3108421" cy="340000"/>
          </a:xfrm>
          <a:prstGeom prst="rect">
            <a:avLst/>
          </a:prstGeom>
          <a:noFill/>
          <a:ln/>
        </p:spPr>
        <p:txBody>
          <a:bodyPr wrap="square" lIns="0" tIns="0" rIns="0" bIns="0" rtlCol="0" anchor="ctr"/>
          <a:lstStyle/>
          <a:p>
            <a:pPr marL="0" indent="0" algn="l">
              <a:buNone/>
            </a:pPr>
            <a:r>
              <a:rPr lang="ko-KR" altLang="en-US" sz="940" b="1" kern="0">
                <a:solidFill>
                  <a:srgbClr val="FFFFFF"/>
                </a:solidFill>
                <a:latin typeface="Malgun Gothic" pitchFamily="34" charset="0"/>
                <a:ea typeface="Malgun Gothic" pitchFamily="34" charset="-122"/>
                <a:cs typeface="Malgun Gothic" pitchFamily="34" charset="-120"/>
              </a:rPr>
              <a:t>현재 시총 5.6조가 요구하는 조건</a:t>
            </a:r>
          </a:p>
        </p:txBody>
      </p:sp>
      <p:sp>
        <p:nvSpPr>
          <p:cNvPr id="35" name="cbody"/>
          <p:cNvSpPr/>
          <p:nvPr/>
        </p:nvSpPr>
        <p:spPr>
          <a:xfrm>
            <a:off x="8270210" y="2645000"/>
            <a:ext cx="3103421" cy="1855000"/>
          </a:xfrm>
          <a:prstGeom prst="rect">
            <a:avLst/>
          </a:prstGeom>
          <a:noFill/>
          <a:ln/>
        </p:spPr>
        <p:txBody>
          <a:bodyPr wrap="square" lIns="0" tIns="0" rIns="0" bIns="0" rtlCol="0" anchor="t"/>
          <a:lstStyle/>
          <a:p>
            <a:pPr marL="0" indent="0" algn="l">
              <a:lnSpc>
                <a:spcPct val="104000"/>
              </a:lnSpc>
              <a:buNone/>
            </a:pPr>
            <a:r>
              <a:rPr lang="ko-KR" altLang="en-US" sz="790" kern="0">
                <a:solidFill>
                  <a:srgbClr val="33465B"/>
                </a:solidFill>
                <a:latin typeface="Malgun Gothic" pitchFamily="34" charset="0"/>
                <a:ea typeface="Malgun Gothic" pitchFamily="34" charset="-122"/>
                <a:cs typeface="Malgun Gothic" pitchFamily="34" charset="-120"/>
              </a:rPr>
              <a:t>28p 역산 기준, 5.6조를 정당화하려면 필요한 순이익:</a:t>
            </a:r>
          </a:p>
          <a:p>
            <a:pPr marL="0" indent="0" algn="l">
              <a:spcBef>
                <a:spcPts val="200"/>
              </a:spcBef>
              <a:buNone/>
            </a:pPr>
            <a:r>
              <a:rPr lang="ko-KR" altLang="en-US" sz="790" b="1" kern="0">
                <a:solidFill>
                  <a:srgbClr val="0F766E"/>
                </a:solidFill>
                <a:latin typeface="Malgun Gothic" pitchFamily="34" charset="0"/>
                <a:ea typeface="Malgun Gothic" pitchFamily="34" charset="-122"/>
                <a:cs typeface="Malgun Gothic" pitchFamily="34" charset="-120"/>
              </a:rPr>
              <a:t>▪ PER 20배 → </a:t>
            </a:r>
            <a:r>
              <a:rPr lang="ko-KR" altLang="en-US" sz="790" b="1" kern="0">
                <a:solidFill>
                  <a:srgbClr val="33465B"/>
                </a:solidFill>
                <a:latin typeface="Malgun Gothic" pitchFamily="34" charset="0"/>
                <a:ea typeface="Malgun Gothic" pitchFamily="34" charset="-122"/>
                <a:cs typeface="Malgun Gothic" pitchFamily="34" charset="-120"/>
              </a:rPr>
              <a:t>약 2,800억 원</a:t>
            </a:r>
          </a:p>
          <a:p>
            <a:pPr marL="0" indent="0" algn="l">
              <a:spcBef>
                <a:spcPts val="200"/>
              </a:spcBef>
              <a:buNone/>
            </a:pPr>
            <a:r>
              <a:rPr lang="ko-KR" altLang="en-US" sz="790" b="1" kern="0">
                <a:solidFill>
                  <a:srgbClr val="0F766E"/>
                </a:solidFill>
                <a:latin typeface="Malgun Gothic" pitchFamily="34" charset="0"/>
                <a:ea typeface="Malgun Gothic" pitchFamily="34" charset="-122"/>
                <a:cs typeface="Malgun Gothic" pitchFamily="34" charset="-120"/>
              </a:rPr>
              <a:t>▪ PER 30배 → </a:t>
            </a:r>
            <a:r>
              <a:rPr lang="ko-KR" altLang="en-US" sz="790" b="1" kern="0">
                <a:solidFill>
                  <a:srgbClr val="33465B"/>
                </a:solidFill>
                <a:latin typeface="Malgun Gothic" pitchFamily="34" charset="0"/>
                <a:ea typeface="Malgun Gothic" pitchFamily="34" charset="-122"/>
                <a:cs typeface="Malgun Gothic" pitchFamily="34" charset="-120"/>
              </a:rPr>
              <a:t>약 1,870억 원</a:t>
            </a:r>
          </a:p>
          <a:p>
            <a:pPr marL="0" indent="0" algn="l">
              <a:spcBef>
                <a:spcPts val="200"/>
              </a:spcBef>
              <a:buNone/>
            </a:pPr>
            <a:r>
              <a:rPr lang="ko-KR" altLang="en-US" sz="790" b="1" kern="0">
                <a:solidFill>
                  <a:srgbClr val="0F766E"/>
                </a:solidFill>
                <a:latin typeface="Malgun Gothic" pitchFamily="34" charset="0"/>
                <a:ea typeface="Malgun Gothic" pitchFamily="34" charset="-122"/>
                <a:cs typeface="Malgun Gothic" pitchFamily="34" charset="-120"/>
              </a:rPr>
              <a:t>▪ PER 40배 → </a:t>
            </a:r>
            <a:r>
              <a:rPr lang="ko-KR" altLang="en-US" sz="790" b="1" kern="0">
                <a:solidFill>
                  <a:srgbClr val="33465B"/>
                </a:solidFill>
                <a:latin typeface="Malgun Gothic" pitchFamily="34" charset="0"/>
                <a:ea typeface="Malgun Gothic" pitchFamily="34" charset="-122"/>
                <a:cs typeface="Malgun Gothic" pitchFamily="34" charset="-120"/>
              </a:rPr>
              <a:t>약 1,400억 원</a:t>
            </a:r>
          </a:p>
          <a:p>
            <a:pPr marL="0" indent="0" algn="l">
              <a:spcBef>
                <a:spcPts val="200"/>
              </a:spcBef>
              <a:buNone/>
            </a:pPr>
            <a:r>
              <a:rPr lang="ko-KR" altLang="en-US" sz="790" b="1" kern="0">
                <a:solidFill>
                  <a:srgbClr val="0F766E"/>
                </a:solidFill>
                <a:latin typeface="Malgun Gothic" pitchFamily="34" charset="0"/>
                <a:ea typeface="Malgun Gothic" pitchFamily="34" charset="-122"/>
                <a:cs typeface="Malgun Gothic" pitchFamily="34" charset="-120"/>
              </a:rPr>
              <a:t>▪ PER 50배 → </a:t>
            </a:r>
            <a:r>
              <a:rPr lang="ko-KR" altLang="en-US" sz="790" b="1" kern="0">
                <a:solidFill>
                  <a:srgbClr val="33465B"/>
                </a:solidFill>
                <a:latin typeface="Malgun Gothic" pitchFamily="34" charset="0"/>
                <a:ea typeface="Malgun Gothic" pitchFamily="34" charset="-122"/>
                <a:cs typeface="Malgun Gothic" pitchFamily="34" charset="-120"/>
              </a:rPr>
              <a:t>약 1,120억 원</a:t>
            </a:r>
          </a:p>
          <a:p>
            <a:pPr marL="0" indent="0" algn="l">
              <a:lnSpc>
                <a:spcPct val="104000"/>
              </a:lnSpc>
              <a:spcBef>
                <a:spcPts val="200"/>
              </a:spcBef>
              <a:buNone/>
            </a:pPr>
            <a:r>
              <a:rPr lang="ko-KR" altLang="en-US" sz="790" b="1" kern="0">
                <a:solidFill>
                  <a:srgbClr val="33465B"/>
                </a:solidFill>
                <a:latin typeface="Malgun Gothic" pitchFamily="34" charset="0"/>
                <a:ea typeface="Malgun Gothic" pitchFamily="34" charset="-122"/>
                <a:cs typeface="Malgun Gothic" pitchFamily="34" charset="-120"/>
              </a:rPr>
              <a:t>단순 매출 증가가 아니라 아래 조건이 함께 필요하다:</a:t>
            </a:r>
          </a:p>
          <a:p>
            <a:pPr marL="0" indent="0" algn="l">
              <a:lnSpc>
                <a:spcPct val="108000"/>
              </a:lnSpc>
              <a:spcBef>
                <a:spcPts val="200"/>
              </a:spcBef>
              <a:buNone/>
            </a:pPr>
            <a:r>
              <a:rPr lang="ko-KR" altLang="en-US" sz="790" kern="0">
                <a:solidFill>
                  <a:srgbClr val="1E3A8A"/>
                </a:solidFill>
                <a:latin typeface="Malgun Gothic" pitchFamily="34" charset="0"/>
                <a:ea typeface="Malgun Gothic" pitchFamily="34" charset="-122"/>
                <a:cs typeface="Malgun Gothic" pitchFamily="34" charset="-120"/>
              </a:rPr>
              <a:t>① 글로벌 점유율 확보  ② 반복 출하량 증가  ③ 실제 매출 인식  ④ Profit Sharing 규모  ⑤ 높은 영업이익률  ⑥ 미국 진입 구체화</a:t>
            </a:r>
          </a:p>
        </p:txBody>
      </p:sp>
      <p:sp>
        <p:nvSpPr>
          <p:cNvPr id="36" name="jbox"/>
          <p:cNvSpPr/>
          <p:nvPr/>
        </p:nvSpPr>
        <p:spPr>
          <a:xfrm>
            <a:off x="658368" y="4640000"/>
            <a:ext cx="10875264" cy="930000"/>
          </a:xfrm>
          <a:prstGeom prst="rect">
            <a:avLst/>
          </a:prstGeom>
          <a:solidFill>
            <a:srgbClr val="0E2036"/>
          </a:solidFill>
          <a:ln/>
          <a:effectLst>
            <a:outerShdw blurRad="88900" dist="25400" dir="5400000" algn="bl" rotWithShape="0">
              <a:srgbClr val="0E2036">
                <a:alpha val="10000"/>
              </a:srgbClr>
            </a:outerShdw>
          </a:effectLst>
        </p:spPr>
        <p:txBody>
          <a:bodyPr/>
          <a:lstStyle/>
          <a:p>
            <a:endParaRPr lang="ko-KR" altLang="en-US"/>
          </a:p>
        </p:txBody>
      </p:sp>
      <p:sp>
        <p:nvSpPr>
          <p:cNvPr id="37" name="jbar"/>
          <p:cNvSpPr/>
          <p:nvPr/>
        </p:nvSpPr>
        <p:spPr>
          <a:xfrm>
            <a:off x="658368" y="4640000"/>
            <a:ext cx="82296" cy="930000"/>
          </a:xfrm>
          <a:prstGeom prst="rect">
            <a:avLst/>
          </a:prstGeom>
          <a:solidFill>
            <a:srgbClr val="1D4ED8"/>
          </a:solidFill>
          <a:ln/>
        </p:spPr>
        <p:txBody>
          <a:bodyPr/>
          <a:lstStyle/>
          <a:p>
            <a:endParaRPr lang="ko-KR" altLang="en-US"/>
          </a:p>
        </p:txBody>
      </p:sp>
      <p:sp>
        <p:nvSpPr>
          <p:cNvPr id="38" name="jtxt"/>
          <p:cNvSpPr/>
          <p:nvPr/>
        </p:nvSpPr>
        <p:spPr>
          <a:xfrm>
            <a:off x="950000" y="4710000"/>
            <a:ext cx="10425264" cy="790000"/>
          </a:xfrm>
          <a:prstGeom prst="rect">
            <a:avLst/>
          </a:prstGeom>
          <a:noFill/>
          <a:ln/>
        </p:spPr>
        <p:txBody>
          <a:bodyPr wrap="square" lIns="0" tIns="0" rIns="0" bIns="0" rtlCol="0" anchor="ctr"/>
          <a:lstStyle/>
          <a:p>
            <a:pPr marL="0" indent="0" algn="l">
              <a:buNone/>
            </a:pPr>
            <a:r>
              <a:rPr lang="ko-KR" altLang="en-US" sz="1000" b="1" kern="0">
                <a:solidFill>
                  <a:srgbClr val="9DBBF2"/>
                </a:solidFill>
                <a:latin typeface="Malgun Gothic" pitchFamily="34" charset="0"/>
                <a:ea typeface="Malgun Gothic" pitchFamily="34" charset="-122"/>
                <a:cs typeface="Malgun Gothic" pitchFamily="34" charset="-120"/>
              </a:rPr>
              <a:t>판단   </a:t>
            </a:r>
            <a:r>
              <a:rPr lang="ko-KR" altLang="en-US" sz="1000" b="1" kern="0">
                <a:solidFill>
                  <a:srgbClr val="FFFFFF"/>
                </a:solidFill>
                <a:latin typeface="Malgun Gothic" pitchFamily="34" charset="0"/>
                <a:ea typeface="Malgun Gothic" pitchFamily="34" charset="-122"/>
                <a:cs typeface="Malgun Gothic" pitchFamily="34" charset="-120"/>
              </a:rPr>
              <a:t>SCD411의 투자포인트는 “성공 여부”가 아니라 “성공 규모”다.</a:t>
            </a:r>
          </a:p>
          <a:p>
            <a:pPr marL="0" indent="0" algn="l">
              <a:lnSpc>
                <a:spcPct val="104000"/>
              </a:lnSpc>
              <a:spcBef>
                <a:spcPts val="200"/>
              </a:spcBef>
              <a:buNone/>
            </a:pPr>
            <a:r>
              <a:rPr lang="ko-KR" altLang="en-US" sz="830" kern="0">
                <a:solidFill>
                  <a:srgbClr val="D6E4F5"/>
                </a:solidFill>
                <a:latin typeface="Malgun Gothic" pitchFamily="34" charset="0"/>
                <a:ea typeface="Malgun Gothic" pitchFamily="34" charset="-122"/>
                <a:cs typeface="Malgun Gothic" pitchFamily="34" charset="-120"/>
              </a:rPr>
              <a:t>· 제한적 점유율이면 현재 시총을 설명하기 어렵다   · 5% 이상 점유율 + 높은 이익률이면 정당화 논리 강화   · 미국 진입·PS 규모 확인 시 추가 업사이드 근거</a:t>
            </a:r>
          </a:p>
          <a:p>
            <a:pPr marL="0" indent="0" algn="l">
              <a:lnSpc>
                <a:spcPct val="104000"/>
              </a:lnSpc>
              <a:spcBef>
                <a:spcPts val="180"/>
              </a:spcBef>
              <a:buNone/>
            </a:pPr>
            <a:r>
              <a:rPr lang="ko-KR" altLang="en-US" sz="900" b="1" kern="0">
                <a:solidFill>
                  <a:srgbClr val="9DE6DA"/>
                </a:solidFill>
                <a:latin typeface="Malgun Gothic" pitchFamily="34" charset="0"/>
                <a:ea typeface="Malgun Gothic" pitchFamily="34" charset="-122"/>
                <a:cs typeface="Malgun Gothic" pitchFamily="34" charset="-120"/>
              </a:rPr>
              <a:t>→ 정당화에는 “판매 시작”이 아니라 </a:t>
            </a:r>
            <a:r>
              <a:rPr lang="ko-KR" altLang="en-US" sz="900" b="1" kern="0">
                <a:solidFill>
                  <a:srgbClr val="FFFFFF"/>
                </a:solidFill>
                <a:latin typeface="Malgun Gothic" pitchFamily="34" charset="0"/>
                <a:ea typeface="Malgun Gothic" pitchFamily="34" charset="-122"/>
                <a:cs typeface="Malgun Gothic" pitchFamily="34" charset="-120"/>
              </a:rPr>
              <a:t>순이익 1,000억 원 이상으로 연결되는 실적 규모</a:t>
            </a:r>
            <a:r>
              <a:rPr lang="ko-KR" altLang="en-US" sz="900" b="1" kern="0">
                <a:solidFill>
                  <a:srgbClr val="9DE6DA"/>
                </a:solidFill>
                <a:latin typeface="Malgun Gothic" pitchFamily="34" charset="0"/>
                <a:ea typeface="Malgun Gothic" pitchFamily="34" charset="-122"/>
                <a:cs typeface="Malgun Gothic" pitchFamily="34" charset="-120"/>
              </a:rPr>
              <a:t>가 필요하다.</a:t>
            </a:r>
          </a:p>
        </p:txBody>
      </p:sp>
      <p:sp>
        <p:nvSpPr>
          <p:cNvPr id="39" name="notes"/>
          <p:cNvSpPr/>
          <p:nvPr/>
        </p:nvSpPr>
        <p:spPr>
          <a:xfrm>
            <a:off x="676656" y="5650000"/>
            <a:ext cx="10875264" cy="600000"/>
          </a:xfrm>
          <a:prstGeom prst="rect">
            <a:avLst/>
          </a:prstGeom>
          <a:noFill/>
          <a:ln/>
        </p:spPr>
        <p:txBody>
          <a:bodyPr wrap="square" lIns="0" tIns="0" rIns="0" bIns="0" rtlCol="0" anchor="t"/>
          <a:lstStyle/>
          <a:p>
            <a:pPr marL="0" indent="0" algn="l">
              <a:buNone/>
            </a:pPr>
            <a:r>
              <a:rPr lang="ko-KR" altLang="en-US" sz="720" kern="0">
                <a:solidFill>
                  <a:srgbClr val="6B7C90"/>
                </a:solidFill>
                <a:latin typeface="Malgun Gothic" pitchFamily="34" charset="0"/>
                <a:ea typeface="Malgun Gothic" pitchFamily="34" charset="-122"/>
                <a:cs typeface="Malgun Gothic" pitchFamily="34" charset="-120"/>
              </a:rPr>
              <a:t>※ 본 페이지의 점유율·매출·이익은 정량 민감도 분석이며 확정 전망이 아니다.</a:t>
            </a:r>
          </a:p>
          <a:p>
            <a:pPr marL="0" indent="0" algn="l">
              <a:spcBef>
                <a:spcPts val="120"/>
              </a:spcBef>
              <a:buNone/>
            </a:pPr>
            <a:r>
              <a:rPr lang="ko-KR" altLang="en-US" sz="720" kern="0">
                <a:solidFill>
                  <a:srgbClr val="6B7C90"/>
                </a:solidFill>
                <a:latin typeface="Malgun Gothic" pitchFamily="34" charset="0"/>
                <a:ea typeface="Malgun Gothic" pitchFamily="34" charset="-122"/>
                <a:cs typeface="Malgun Gothic" pitchFamily="34" charset="-120"/>
              </a:rPr>
              <a:t>※ 실제 실적은 출하량·가격·수익배분 구조·매출 인식 기준·영업이익률에 따라 달라질 수 있다.</a:t>
            </a:r>
          </a:p>
          <a:p>
            <a:pPr marL="0" indent="0" algn="l">
              <a:spcBef>
                <a:spcPts val="120"/>
              </a:spcBef>
              <a:buNone/>
            </a:pPr>
            <a:r>
              <a:rPr lang="ko-KR" altLang="en-US" sz="720" kern="0">
                <a:solidFill>
                  <a:srgbClr val="6B7C90"/>
                </a:solidFill>
                <a:latin typeface="Malgun Gothic" pitchFamily="34" charset="0"/>
                <a:ea typeface="Malgun Gothic" pitchFamily="34" charset="-122"/>
                <a:cs typeface="Malgun Gothic" pitchFamily="34" charset="-120"/>
              </a:rPr>
              <a:t>※ 투자 판단은 분기 실적과 공시 확인이 필요하다.</a:t>
            </a:r>
          </a:p>
        </p:txBody>
      </p:sp>
      <p:sp>
        <p:nvSpPr>
          <p:cNvPr id="40" name="footerbar"/>
          <p:cNvSpPr/>
          <p:nvPr/>
        </p:nvSpPr>
        <p:spPr>
          <a:xfrm>
            <a:off x="0" y="6583680"/>
            <a:ext cx="12191695" cy="274320"/>
          </a:xfrm>
          <a:prstGeom prst="rect">
            <a:avLst/>
          </a:prstGeom>
          <a:solidFill>
            <a:srgbClr val="F2F6FC"/>
          </a:solidFill>
          <a:ln/>
        </p:spPr>
        <p:txBody>
          <a:bodyPr/>
          <a:lstStyle/>
          <a:p>
            <a:endParaRPr lang="ko-KR" altLang="en-US"/>
          </a:p>
        </p:txBody>
      </p:sp>
      <p:sp>
        <p:nvSpPr>
          <p:cNvPr id="41" name="ftxt"/>
          <p:cNvSpPr/>
          <p:nvPr/>
        </p:nvSpPr>
        <p:spPr>
          <a:xfrm>
            <a:off x="658368" y="6574536"/>
            <a:ext cx="6400800" cy="283464"/>
          </a:xfrm>
          <a:prstGeom prst="rect">
            <a:avLst/>
          </a:prstGeom>
          <a:noFill/>
          <a:ln/>
        </p:spPr>
        <p:txBody>
          <a:bodyPr wrap="square" lIns="0" tIns="0" rIns="0" bIns="0" rtlCol="0" anchor="ctr"/>
          <a:lstStyle/>
          <a:p>
            <a:pPr marL="0" indent="0" algn="l">
              <a:buNone/>
            </a:pPr>
            <a:r>
              <a:rPr lang="ko-KR" altLang="en-US" sz="850" kern="0">
                <a:solidFill>
                  <a:srgbClr val="6B7C90"/>
                </a:solidFill>
                <a:latin typeface="Malgun Gothic" pitchFamily="34" charset="0"/>
                <a:ea typeface="Malgun Gothic" pitchFamily="34" charset="-122"/>
                <a:cs typeface="Malgun Gothic" pitchFamily="34" charset="-120"/>
              </a:rPr>
              <a:t>삼천당제약 (000250) · 투자스터디 발표자료</a:t>
            </a:r>
          </a:p>
        </p:txBody>
      </p:sp>
      <p:sp>
        <p:nvSpPr>
          <p:cNvPr id="42" name="fpg"/>
          <p:cNvSpPr/>
          <p:nvPr/>
        </p:nvSpPr>
        <p:spPr>
          <a:xfrm>
            <a:off x="11064240" y="6574536"/>
            <a:ext cx="457200" cy="283464"/>
          </a:xfrm>
          <a:prstGeom prst="rect">
            <a:avLst/>
          </a:prstGeom>
          <a:noFill/>
          <a:ln/>
        </p:spPr>
        <p:txBody>
          <a:bodyPr wrap="square" lIns="0" tIns="0" rIns="0" bIns="0" rtlCol="0" anchor="ctr"/>
          <a:lstStyle/>
          <a:p>
            <a:pPr marL="0" indent="0" algn="r">
              <a:buNone/>
            </a:pPr>
            <a:r>
              <a:rPr lang="ko-KR" altLang="en-US" sz="850" kern="0">
                <a:solidFill>
                  <a:srgbClr val="6B7C90"/>
                </a:solidFill>
                <a:latin typeface="Malgun Gothic" pitchFamily="34" charset="0"/>
                <a:ea typeface="Malgun Gothic" pitchFamily="34" charset="-122"/>
                <a:cs typeface="Malgun Gothic" pitchFamily="34" charset="-120"/>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lgn="l">
              <a:buNone/>
            </a:pPr>
            <a:r>
              <a:rPr lang="ko-KR" altLang="en-US" sz="1100" b="1" kern="0" spc="200">
                <a:solidFill>
                  <a:srgbClr val="0D9488"/>
                </a:solidFill>
                <a:latin typeface="Malgun Gothic" pitchFamily="34" charset="0"/>
                <a:ea typeface="Malgun Gothic" pitchFamily="34" charset="-122"/>
                <a:cs typeface="Malgun Gothic" pitchFamily="34" charset="-120"/>
              </a:rPr>
              <a:t>04-3 · S-PASS 검증 프레임</a:t>
            </a:r>
          </a:p>
        </p:txBody>
      </p:sp>
      <p:sp>
        <p:nvSpPr>
          <p:cNvPr id="3" name="title"/>
          <p:cNvSpPr/>
          <p:nvPr/>
        </p:nvSpPr>
        <p:spPr>
          <a:xfrm>
            <a:off x="658368" y="566928"/>
            <a:ext cx="11430000" cy="603504"/>
          </a:xfrm>
          <a:prstGeom prst="rect">
            <a:avLst/>
          </a:prstGeom>
          <a:noFill/>
          <a:ln/>
        </p:spPr>
        <p:txBody>
          <a:bodyPr wrap="square" lIns="0" tIns="0" rIns="0" bIns="0" rtlCol="0" anchor="ctr"/>
          <a:lstStyle/>
          <a:p>
            <a:pPr marL="0" indent="0" algn="l">
              <a:buNone/>
            </a:pPr>
            <a:r>
              <a:rPr lang="ko-KR" altLang="en-US" sz="2350" b="1" kern="0">
                <a:solidFill>
                  <a:srgbClr val="0E2036"/>
                </a:solidFill>
                <a:latin typeface="Malgun Gothic" pitchFamily="34" charset="0"/>
                <a:ea typeface="Malgun Gothic" pitchFamily="34" charset="-122"/>
                <a:cs typeface="Malgun Gothic" pitchFamily="34" charset="-120"/>
              </a:rPr>
              <a:t>S-PASS 검증 프레임</a:t>
            </a:r>
          </a:p>
        </p:txBody>
      </p:sp>
      <p:sp>
        <p:nvSpPr>
          <p:cNvPr id="4" name="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p:cNvSpPr/>
          <p:nvPr/>
        </p:nvSpPr>
        <p:spPr>
          <a:xfrm>
            <a:off x="676656" y="1371600"/>
            <a:ext cx="10881360" cy="320000"/>
          </a:xfrm>
          <a:prstGeom prst="rect">
            <a:avLst/>
          </a:prstGeom>
          <a:noFill/>
          <a:ln/>
        </p:spPr>
        <p:txBody>
          <a:bodyPr wrap="square" lIns="0" tIns="0" rIns="0" bIns="0" rtlCol="0" anchor="ctr"/>
          <a:lstStyle/>
          <a:p>
            <a:pPr marL="0" indent="0" algn="l">
              <a:buNone/>
            </a:pPr>
            <a:r>
              <a:rPr lang="ko-KR" altLang="en-US" sz="1150" kern="0">
                <a:solidFill>
                  <a:srgbClr val="33465B"/>
                </a:solidFill>
                <a:latin typeface="Malgun Gothic" pitchFamily="34" charset="0"/>
                <a:ea typeface="Malgun Gothic" pitchFamily="34" charset="-122"/>
                <a:cs typeface="Malgun Gothic" pitchFamily="34" charset="-120"/>
              </a:rPr>
              <a:t>S-PASS는 아직 실적 가치가 아니라, 규제·데이터·계약·상업화로 검증되는 옵션가치다.</a:t>
            </a:r>
          </a:p>
        </p:txBody>
      </p:sp>
      <p:sp>
        <p:nvSpPr>
          <p:cNvPr id="6" name="lead"/>
          <p:cNvSpPr/>
          <p:nvPr/>
        </p:nvSpPr>
        <p:spPr>
          <a:xfrm>
            <a:off x="676656" y="1710000"/>
            <a:ext cx="10875264" cy="430000"/>
          </a:xfrm>
          <a:prstGeom prst="rect">
            <a:avLst/>
          </a:prstGeom>
          <a:noFill/>
          <a:ln/>
        </p:spPr>
        <p:txBody>
          <a:bodyPr wrap="square" lIns="0" tIns="0" rIns="0" bIns="0" rtlCol="0" anchor="t"/>
          <a:lstStyle/>
          <a:p>
            <a:pPr marL="0" indent="0" algn="l">
              <a:lnSpc>
                <a:spcPct val="106000"/>
              </a:lnSpc>
              <a:buNone/>
            </a:pPr>
            <a:r>
              <a:rPr lang="ko-KR" altLang="en-US" sz="1080" kern="0">
                <a:solidFill>
                  <a:srgbClr val="33465B"/>
                </a:solidFill>
                <a:latin typeface="Malgun Gothic" pitchFamily="34" charset="0"/>
                <a:ea typeface="Malgun Gothic" pitchFamily="34" charset="-122"/>
                <a:cs typeface="Malgun Gothic" pitchFamily="34" charset="-120"/>
              </a:rPr>
              <a:t>S-PASS는 현재 확정 실적을 만드는 사업이 아니다. 따라서 매출·순이익으로 바로 평가하기보다, </a:t>
            </a:r>
            <a:r>
              <a:rPr lang="ko-KR" altLang="en-US" sz="1080" b="1" kern="0">
                <a:solidFill>
                  <a:srgbClr val="0F766E"/>
                </a:solidFill>
                <a:latin typeface="Malgun Gothic" pitchFamily="34" charset="0"/>
                <a:ea typeface="Malgun Gothic" pitchFamily="34" charset="-122"/>
                <a:cs typeface="Malgun Gothic" pitchFamily="34" charset="-120"/>
              </a:rPr>
              <a:t>규제 진전, 데이터 검증, 계약 실체, 마일스톤 수령, 상업화가 확인될수록 옵션가치가 실제 가치로 전환</a:t>
            </a:r>
            <a:r>
              <a:rPr lang="ko-KR" altLang="en-US" sz="1080" kern="0">
                <a:solidFill>
                  <a:srgbClr val="33465B"/>
                </a:solidFill>
                <a:latin typeface="Malgun Gothic" pitchFamily="34" charset="0"/>
                <a:ea typeface="Malgun Gothic" pitchFamily="34" charset="-122"/>
                <a:cs typeface="Malgun Gothic" pitchFamily="34" charset="-120"/>
              </a:rPr>
              <a:t>되는 구조로 봐야 한다.</a:t>
            </a:r>
          </a:p>
        </p:txBody>
      </p:sp>
      <p:sp>
        <p:nvSpPr>
          <p:cNvPr id="7" name="card">
            <a:extLst>
              <a:ext uri="{C183D7F6-B498-43B3-948B-1728B52AA6E4}">
                <adec:decorative xmlns:adec="http://schemas.microsoft.com/office/drawing/2017/decorative" val="1"/>
              </a:ext>
            </a:extLst>
          </p:cNvPr>
          <p:cNvSpPr/>
          <p:nvPr/>
        </p:nvSpPr>
        <p:spPr>
          <a:xfrm>
            <a:off x="658368" y="2210000"/>
            <a:ext cx="3438421" cy="202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8" name="chd"/>
          <p:cNvSpPr/>
          <p:nvPr/>
        </p:nvSpPr>
        <p:spPr>
          <a:xfrm>
            <a:off x="658368" y="2210000"/>
            <a:ext cx="3438421" cy="340000"/>
          </a:xfrm>
          <a:prstGeom prst="rect">
            <a:avLst/>
          </a:prstGeom>
          <a:solidFill>
            <a:srgbClr val="0D9488"/>
          </a:solidFill>
          <a:ln/>
        </p:spPr>
        <p:txBody>
          <a:bodyPr/>
          <a:lstStyle/>
          <a:p>
            <a:endParaRPr lang="ko-KR" altLang="en-US"/>
          </a:p>
        </p:txBody>
      </p:sp>
      <p:sp>
        <p:nvSpPr>
          <p:cNvPr id="9" name="cht"/>
          <p:cNvSpPr/>
          <p:nvPr/>
        </p:nvSpPr>
        <p:spPr>
          <a:xfrm>
            <a:off x="823368" y="2210000"/>
            <a:ext cx="3108421" cy="340000"/>
          </a:xfrm>
          <a:prstGeom prst="rect">
            <a:avLst/>
          </a:prstGeom>
          <a:noFill/>
          <a:ln/>
        </p:spPr>
        <p:txBody>
          <a:bodyPr wrap="square" lIns="0" tIns="0" rIns="0" bIns="0" rtlCol="0" anchor="ctr"/>
          <a:lstStyle/>
          <a:p>
            <a:pPr marL="0" indent="0" algn="l">
              <a:buNone/>
            </a:pPr>
            <a:r>
              <a:rPr lang="ko-KR" altLang="en-US" sz="940" b="1" kern="0">
                <a:solidFill>
                  <a:srgbClr val="FFFFFF"/>
                </a:solidFill>
                <a:latin typeface="Malgun Gothic" pitchFamily="34" charset="0"/>
                <a:ea typeface="Malgun Gothic" pitchFamily="34" charset="-122"/>
                <a:cs typeface="Malgun Gothic" pitchFamily="34" charset="-120"/>
              </a:rPr>
              <a:t>현재 반영된 S-PASS 기대</a:t>
            </a:r>
          </a:p>
        </p:txBody>
      </p:sp>
      <p:sp>
        <p:nvSpPr>
          <p:cNvPr id="10" name="cbody"/>
          <p:cNvSpPr/>
          <p:nvPr/>
        </p:nvSpPr>
        <p:spPr>
          <a:xfrm>
            <a:off x="833368" y="2645000"/>
            <a:ext cx="3103421" cy="1560000"/>
          </a:xfrm>
          <a:prstGeom prst="rect">
            <a:avLst/>
          </a:prstGeom>
          <a:noFill/>
          <a:ln/>
        </p:spPr>
        <p:txBody>
          <a:bodyPr wrap="square" lIns="0" tIns="0" rIns="0" bIns="0" rtlCol="0" anchor="t"/>
          <a:lstStyle/>
          <a:p>
            <a:pPr marL="0" indent="0" algn="l">
              <a:buNone/>
            </a:pPr>
            <a:r>
              <a:rPr lang="ko-KR" altLang="en-US" sz="745" b="1" kern="0">
                <a:solidFill>
                  <a:srgbClr val="0D9488"/>
                </a:solidFill>
                <a:latin typeface="Malgun Gothic" pitchFamily="34" charset="0"/>
                <a:ea typeface="Malgun Gothic" pitchFamily="34" charset="-122"/>
                <a:cs typeface="Malgun Gothic" pitchFamily="34" charset="-120"/>
              </a:rPr>
              <a:t>① 경구 세마글루타이드</a:t>
            </a:r>
          </a:p>
          <a:p>
            <a:pPr marL="0" indent="0" algn="l">
              <a:lnSpc>
                <a:spcPct val="104000"/>
              </a:lnSpc>
              <a:spcBef>
                <a:spcPts val="180"/>
              </a:spcBef>
              <a:buNone/>
            </a:pPr>
            <a:r>
              <a:rPr lang="ko-KR" altLang="en-US" sz="692" kern="0">
                <a:solidFill>
                  <a:srgbClr val="33465B"/>
                </a:solidFill>
                <a:latin typeface="Malgun Gothic" pitchFamily="34" charset="0"/>
                <a:ea typeface="Malgun Gothic" pitchFamily="34" charset="-122"/>
                <a:cs typeface="Malgun Gothic" pitchFamily="34" charset="-120"/>
              </a:rPr>
              <a:t>첫 핵심 검증 자산 · Pre-ANDA 후속 절차 · 글로벌 파트너 계약 기대</a:t>
            </a:r>
          </a:p>
          <a:p>
            <a:pPr marL="0" indent="0" algn="l">
              <a:spcBef>
                <a:spcPts val="180"/>
              </a:spcBef>
              <a:buNone/>
            </a:pPr>
            <a:r>
              <a:rPr lang="ko-KR" altLang="en-US" sz="745" b="1" kern="0">
                <a:solidFill>
                  <a:srgbClr val="0D9488"/>
                </a:solidFill>
                <a:latin typeface="Malgun Gothic" pitchFamily="34" charset="0"/>
                <a:ea typeface="Malgun Gothic" pitchFamily="34" charset="-122"/>
                <a:cs typeface="Malgun Gothic" pitchFamily="34" charset="-120"/>
              </a:rPr>
              <a:t>② 경구 인슐린</a:t>
            </a:r>
          </a:p>
          <a:p>
            <a:pPr marL="0" indent="0" algn="l">
              <a:lnSpc>
                <a:spcPct val="104000"/>
              </a:lnSpc>
              <a:spcBef>
                <a:spcPts val="180"/>
              </a:spcBef>
              <a:buNone/>
            </a:pPr>
            <a:r>
              <a:rPr lang="ko-KR" altLang="en-US" sz="692" kern="0">
                <a:solidFill>
                  <a:srgbClr val="33465B"/>
                </a:solidFill>
                <a:latin typeface="Malgun Gothic" pitchFamily="34" charset="0"/>
                <a:ea typeface="Malgun Gothic" pitchFamily="34" charset="-122"/>
                <a:cs typeface="Malgun Gothic" pitchFamily="34" charset="-120"/>
              </a:rPr>
              <a:t>주사제 경구화 확장 · 임상 진입 후 데이터 확인 기대</a:t>
            </a:r>
          </a:p>
          <a:p>
            <a:pPr marL="0" indent="0" algn="l">
              <a:spcBef>
                <a:spcPts val="180"/>
              </a:spcBef>
              <a:buNone/>
            </a:pPr>
            <a:r>
              <a:rPr lang="ko-KR" altLang="en-US" sz="745" b="1" kern="0">
                <a:solidFill>
                  <a:srgbClr val="0D9488"/>
                </a:solidFill>
                <a:latin typeface="Malgun Gothic" pitchFamily="34" charset="0"/>
                <a:ea typeface="Malgun Gothic" pitchFamily="34" charset="-122"/>
                <a:cs typeface="Malgun Gothic" pitchFamily="34" charset="-120"/>
              </a:rPr>
              <a:t>③ 플랫폼 확장</a:t>
            </a:r>
          </a:p>
          <a:p>
            <a:pPr marL="0" indent="0" algn="l">
              <a:lnSpc>
                <a:spcPct val="104000"/>
              </a:lnSpc>
              <a:spcBef>
                <a:spcPts val="180"/>
              </a:spcBef>
              <a:buNone/>
            </a:pPr>
            <a:r>
              <a:rPr lang="ko-KR" altLang="en-US" sz="692" kern="0">
                <a:solidFill>
                  <a:srgbClr val="33465B"/>
                </a:solidFill>
                <a:latin typeface="Malgun Gothic" pitchFamily="34" charset="0"/>
                <a:ea typeface="Malgun Gothic" pitchFamily="34" charset="-122"/>
                <a:cs typeface="Malgun Gothic" pitchFamily="34" charset="-120"/>
              </a:rPr>
              <a:t>인슐린·터제파타이드·항체의약품 확장 · 플랫폼 기업 재평가 가능성</a:t>
            </a:r>
          </a:p>
          <a:p>
            <a:pPr marL="0" indent="0" algn="l">
              <a:spcBef>
                <a:spcPts val="180"/>
              </a:spcBef>
              <a:buNone/>
            </a:pPr>
            <a:r>
              <a:rPr lang="ko-KR" altLang="en-US" sz="745" b="1" kern="0">
                <a:solidFill>
                  <a:srgbClr val="0D9488"/>
                </a:solidFill>
                <a:latin typeface="Malgun Gothic" pitchFamily="34" charset="0"/>
                <a:ea typeface="Malgun Gothic" pitchFamily="34" charset="-122"/>
                <a:cs typeface="Malgun Gothic" pitchFamily="34" charset="-120"/>
              </a:rPr>
              <a:t>④ 계약·마일스톤</a:t>
            </a:r>
          </a:p>
          <a:p>
            <a:pPr marL="0" indent="0" algn="l">
              <a:lnSpc>
                <a:spcPct val="104000"/>
              </a:lnSpc>
              <a:spcBef>
                <a:spcPts val="180"/>
              </a:spcBef>
              <a:buNone/>
            </a:pPr>
            <a:r>
              <a:rPr lang="ko-KR" altLang="en-US" sz="692" kern="0">
                <a:solidFill>
                  <a:srgbClr val="33465B"/>
                </a:solidFill>
                <a:latin typeface="Malgun Gothic" pitchFamily="34" charset="0"/>
                <a:ea typeface="Malgun Gothic" pitchFamily="34" charset="-122"/>
                <a:cs typeface="Malgun Gothic" pitchFamily="34" charset="-120"/>
              </a:rPr>
              <a:t>파트너 계약 · 계약금 · 마일스톤 · 판매 후 수익배분 기대</a:t>
            </a:r>
          </a:p>
        </p:txBody>
      </p:sp>
      <p:sp>
        <p:nvSpPr>
          <p:cNvPr id="11" name="card">
            <a:extLst>
              <a:ext uri="{C183D7F6-B498-43B3-948B-1728B52AA6E4}">
                <adec:decorative xmlns:adec="http://schemas.microsoft.com/office/drawing/2017/decorative" val="1"/>
              </a:ext>
            </a:extLst>
          </p:cNvPr>
          <p:cNvSpPr/>
          <p:nvPr/>
        </p:nvSpPr>
        <p:spPr>
          <a:xfrm>
            <a:off x="4376789" y="2210000"/>
            <a:ext cx="3438421" cy="202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2" name="chd">
            <a:extLst>
              <a:ext uri="{C183D7F6-B498-43B3-948B-1728B52AA6E4}">
                <adec:decorative xmlns:adec="http://schemas.microsoft.com/office/drawing/2017/decorative" val="1"/>
              </a:ext>
            </a:extLst>
          </p:cNvPr>
          <p:cNvSpPr/>
          <p:nvPr/>
        </p:nvSpPr>
        <p:spPr>
          <a:xfrm>
            <a:off x="4376789" y="2210000"/>
            <a:ext cx="3438421" cy="340000"/>
          </a:xfrm>
          <a:prstGeom prst="rect">
            <a:avLst/>
          </a:prstGeom>
          <a:solidFill>
            <a:srgbClr val="0F766E"/>
          </a:solidFill>
          <a:ln/>
        </p:spPr>
        <p:txBody>
          <a:bodyPr/>
          <a:lstStyle/>
          <a:p>
            <a:endParaRPr lang="ko-KR" altLang="en-US"/>
          </a:p>
        </p:txBody>
      </p:sp>
      <p:sp>
        <p:nvSpPr>
          <p:cNvPr id="13" name="cht"/>
          <p:cNvSpPr/>
          <p:nvPr/>
        </p:nvSpPr>
        <p:spPr>
          <a:xfrm>
            <a:off x="4541789" y="2210000"/>
            <a:ext cx="3108421" cy="340000"/>
          </a:xfrm>
          <a:prstGeom prst="rect">
            <a:avLst/>
          </a:prstGeom>
          <a:noFill/>
          <a:ln/>
        </p:spPr>
        <p:txBody>
          <a:bodyPr wrap="square" lIns="0" tIns="0" rIns="0" bIns="0" rtlCol="0" anchor="ctr"/>
          <a:lstStyle/>
          <a:p>
            <a:pPr marL="0" indent="0" algn="l">
              <a:buNone/>
            </a:pPr>
            <a:r>
              <a:rPr lang="ko-KR" altLang="en-US" sz="940" b="1" kern="0">
                <a:solidFill>
                  <a:srgbClr val="FFFFFF"/>
                </a:solidFill>
                <a:latin typeface="Malgun Gothic" pitchFamily="34" charset="0"/>
                <a:ea typeface="Malgun Gothic" pitchFamily="34" charset="-122"/>
                <a:cs typeface="Malgun Gothic" pitchFamily="34" charset="-120"/>
              </a:rPr>
              <a:t>옵션가치가 실제 가치로 바뀌는 순서</a:t>
            </a:r>
          </a:p>
        </p:txBody>
      </p:sp>
      <p:sp>
        <p:nvSpPr>
          <p:cNvPr id="14" name="cbody"/>
          <p:cNvSpPr/>
          <p:nvPr/>
        </p:nvSpPr>
        <p:spPr>
          <a:xfrm>
            <a:off x="4551789" y="2645000"/>
            <a:ext cx="3103421" cy="1560000"/>
          </a:xfrm>
          <a:prstGeom prst="rect">
            <a:avLst/>
          </a:prstGeom>
          <a:noFill/>
          <a:ln/>
        </p:spPr>
        <p:txBody>
          <a:bodyPr wrap="square" lIns="0" tIns="0" rIns="0" bIns="0" rtlCol="0" anchor="t"/>
          <a:lstStyle/>
          <a:p>
            <a:pPr marL="0" indent="0" algn="l">
              <a:buNone/>
            </a:pPr>
            <a:r>
              <a:rPr lang="ko-KR" altLang="en-US" sz="730" b="1" kern="0">
                <a:solidFill>
                  <a:srgbClr val="0F766E"/>
                </a:solidFill>
                <a:latin typeface="Malgun Gothic" pitchFamily="34" charset="0"/>
                <a:ea typeface="Malgun Gothic" pitchFamily="34" charset="-122"/>
                <a:cs typeface="Malgun Gothic" pitchFamily="34" charset="-120"/>
              </a:rPr>
              <a:t>1단계 · 규제 진전</a:t>
            </a:r>
          </a:p>
          <a:p>
            <a:pPr marL="0" indent="0" algn="l">
              <a:lnSpc>
                <a:spcPct val="103000"/>
              </a:lnSpc>
              <a:spcBef>
                <a:spcPts val="150"/>
              </a:spcBef>
              <a:buNone/>
            </a:pPr>
            <a:r>
              <a:rPr lang="ko-KR" altLang="en-US" sz="678" kern="0">
                <a:solidFill>
                  <a:srgbClr val="33465B"/>
                </a:solidFill>
                <a:latin typeface="Malgun Gothic" pitchFamily="34" charset="0"/>
                <a:ea typeface="Malgun Gothic" pitchFamily="34" charset="-122"/>
                <a:cs typeface="Malgun Gothic" pitchFamily="34" charset="-120"/>
              </a:rPr>
              <a:t>Pre-ANDA 후속 · 본 ANDA 신청 · 추가 BE 요구 · 최종 허가 가능성</a:t>
            </a:r>
          </a:p>
          <a:p>
            <a:pPr marL="0" indent="0" algn="l">
              <a:spcBef>
                <a:spcPts val="150"/>
              </a:spcBef>
              <a:buNone/>
            </a:pPr>
            <a:r>
              <a:rPr lang="ko-KR" altLang="en-US" sz="730" b="1" kern="0">
                <a:solidFill>
                  <a:srgbClr val="0F766E"/>
                </a:solidFill>
                <a:latin typeface="Malgun Gothic" pitchFamily="34" charset="0"/>
                <a:ea typeface="Malgun Gothic" pitchFamily="34" charset="-122"/>
                <a:cs typeface="Malgun Gothic" pitchFamily="34" charset="-120"/>
              </a:rPr>
              <a:t>2단계 · 데이터 검증</a:t>
            </a:r>
          </a:p>
          <a:p>
            <a:pPr marL="0" indent="0" algn="l">
              <a:lnSpc>
                <a:spcPct val="103000"/>
              </a:lnSpc>
              <a:spcBef>
                <a:spcPts val="150"/>
              </a:spcBef>
              <a:buNone/>
            </a:pPr>
            <a:r>
              <a:rPr lang="ko-KR" altLang="en-US" sz="678" kern="0">
                <a:solidFill>
                  <a:srgbClr val="33465B"/>
                </a:solidFill>
                <a:latin typeface="Malgun Gothic" pitchFamily="34" charset="0"/>
                <a:ea typeface="Malgun Gothic" pitchFamily="34" charset="-122"/>
                <a:cs typeface="Malgun Gothic" pitchFamily="34" charset="-120"/>
              </a:rPr>
              <a:t>BE 질·재현성 · 경구 인슐린 임상 · 다약물 플랫폼 적용</a:t>
            </a:r>
          </a:p>
          <a:p>
            <a:pPr marL="0" indent="0" algn="l">
              <a:spcBef>
                <a:spcPts val="150"/>
              </a:spcBef>
              <a:buNone/>
            </a:pPr>
            <a:r>
              <a:rPr lang="ko-KR" altLang="en-US" sz="730" b="1" kern="0">
                <a:solidFill>
                  <a:srgbClr val="0F766E"/>
                </a:solidFill>
                <a:latin typeface="Malgun Gothic" pitchFamily="34" charset="0"/>
                <a:ea typeface="Malgun Gothic" pitchFamily="34" charset="-122"/>
                <a:cs typeface="Malgun Gothic" pitchFamily="34" charset="-120"/>
              </a:rPr>
              <a:t>3단계 · 계약 실체</a:t>
            </a:r>
          </a:p>
          <a:p>
            <a:pPr marL="0" indent="0" algn="l">
              <a:lnSpc>
                <a:spcPct val="103000"/>
              </a:lnSpc>
              <a:spcBef>
                <a:spcPts val="150"/>
              </a:spcBef>
              <a:buNone/>
            </a:pPr>
            <a:r>
              <a:rPr lang="ko-KR" altLang="en-US" sz="678" kern="0">
                <a:solidFill>
                  <a:srgbClr val="33465B"/>
                </a:solidFill>
                <a:latin typeface="Malgun Gothic" pitchFamily="34" charset="0"/>
                <a:ea typeface="Malgun Gothic" pitchFamily="34" charset="-122"/>
                <a:cs typeface="Malgun Gothic" pitchFamily="34" charset="-120"/>
              </a:rPr>
              <a:t>파트너 공개 · 조건 구체화 · 계약금·마일스톤 수령</a:t>
            </a:r>
          </a:p>
          <a:p>
            <a:pPr marL="0" indent="0" algn="l">
              <a:spcBef>
                <a:spcPts val="150"/>
              </a:spcBef>
              <a:buNone/>
            </a:pPr>
            <a:r>
              <a:rPr lang="ko-KR" altLang="en-US" sz="730" b="1" kern="0">
                <a:solidFill>
                  <a:srgbClr val="0F766E"/>
                </a:solidFill>
                <a:latin typeface="Malgun Gothic" pitchFamily="34" charset="0"/>
                <a:ea typeface="Malgun Gothic" pitchFamily="34" charset="-122"/>
                <a:cs typeface="Malgun Gothic" pitchFamily="34" charset="-120"/>
              </a:rPr>
              <a:t>4단계 · 상업화</a:t>
            </a:r>
          </a:p>
          <a:p>
            <a:pPr marL="0" indent="0" algn="l">
              <a:lnSpc>
                <a:spcPct val="103000"/>
              </a:lnSpc>
              <a:spcBef>
                <a:spcPts val="150"/>
              </a:spcBef>
              <a:buNone/>
            </a:pPr>
            <a:r>
              <a:rPr lang="ko-KR" altLang="en-US" sz="678" kern="0">
                <a:solidFill>
                  <a:srgbClr val="33465B"/>
                </a:solidFill>
                <a:latin typeface="Malgun Gothic" pitchFamily="34" charset="0"/>
                <a:ea typeface="Malgun Gothic" pitchFamily="34" charset="-122"/>
                <a:cs typeface="Malgun Gothic" pitchFamily="34" charset="-120"/>
              </a:rPr>
              <a:t>판매 개시 · 공급 매출 · 수익배분 손익 반영</a:t>
            </a:r>
          </a:p>
          <a:p>
            <a:pPr marL="0" indent="0" algn="l">
              <a:spcBef>
                <a:spcPts val="150"/>
              </a:spcBef>
              <a:buNone/>
            </a:pPr>
            <a:r>
              <a:rPr lang="ko-KR" altLang="en-US" sz="730" b="1" kern="0">
                <a:solidFill>
                  <a:srgbClr val="0F766E"/>
                </a:solidFill>
                <a:latin typeface="Malgun Gothic" pitchFamily="34" charset="0"/>
                <a:ea typeface="Malgun Gothic" pitchFamily="34" charset="-122"/>
                <a:cs typeface="Malgun Gothic" pitchFamily="34" charset="-120"/>
              </a:rPr>
              <a:t>5단계 · 플랫폼 리레이팅</a:t>
            </a:r>
          </a:p>
          <a:p>
            <a:pPr marL="0" indent="0" algn="l">
              <a:lnSpc>
                <a:spcPct val="103000"/>
              </a:lnSpc>
              <a:spcBef>
                <a:spcPts val="150"/>
              </a:spcBef>
              <a:buNone/>
            </a:pPr>
            <a:r>
              <a:rPr lang="ko-KR" altLang="en-US" sz="678" kern="0">
                <a:solidFill>
                  <a:srgbClr val="33465B"/>
                </a:solidFill>
                <a:latin typeface="Malgun Gothic" pitchFamily="34" charset="0"/>
                <a:ea typeface="Malgun Gothic" pitchFamily="34" charset="-122"/>
                <a:cs typeface="Malgun Gothic" pitchFamily="34" charset="-120"/>
              </a:rPr>
              <a:t>다수 파이프라인 검증 · 플랫폼 기업 재평가</a:t>
            </a:r>
          </a:p>
        </p:txBody>
      </p:sp>
      <p:sp>
        <p:nvSpPr>
          <p:cNvPr id="15" name="card">
            <a:extLst>
              <a:ext uri="{C183D7F6-B498-43B3-948B-1728B52AA6E4}">
                <adec:decorative xmlns:adec="http://schemas.microsoft.com/office/drawing/2017/decorative" val="1"/>
              </a:ext>
            </a:extLst>
          </p:cNvPr>
          <p:cNvSpPr/>
          <p:nvPr/>
        </p:nvSpPr>
        <p:spPr>
          <a:xfrm>
            <a:off x="8095210" y="2210000"/>
            <a:ext cx="3438421" cy="2020000"/>
          </a:xfrm>
          <a:prstGeom prst="rect">
            <a:avLst/>
          </a:prstGeom>
          <a:solidFill>
            <a:srgbClr val="FFFFFF"/>
          </a:solidFill>
          <a:ln w="12700">
            <a:solidFill>
              <a:srgbClr val="D5E0F0"/>
            </a:solidFill>
            <a:prstDash val="solid"/>
          </a:ln>
          <a:effectLst>
            <a:outerShdw blurRad="88900" dist="25400" dir="5400000" algn="bl" rotWithShape="0">
              <a:srgbClr val="0E2036">
                <a:alpha val="10000"/>
              </a:srgbClr>
            </a:outerShdw>
          </a:effectLst>
        </p:spPr>
        <p:txBody>
          <a:bodyPr/>
          <a:lstStyle/>
          <a:p>
            <a:endParaRPr lang="ko-KR" altLang="en-US"/>
          </a:p>
        </p:txBody>
      </p:sp>
      <p:sp>
        <p:nvSpPr>
          <p:cNvPr id="16" name="chd">
            <a:extLst>
              <a:ext uri="{C183D7F6-B498-43B3-948B-1728B52AA6E4}">
                <adec:decorative xmlns:adec="http://schemas.microsoft.com/office/drawing/2017/decorative" val="1"/>
              </a:ext>
            </a:extLst>
          </p:cNvPr>
          <p:cNvSpPr/>
          <p:nvPr/>
        </p:nvSpPr>
        <p:spPr>
          <a:xfrm>
            <a:off x="8095210" y="2210000"/>
            <a:ext cx="3438421" cy="340000"/>
          </a:xfrm>
          <a:prstGeom prst="rect">
            <a:avLst/>
          </a:prstGeom>
          <a:solidFill>
            <a:srgbClr val="9A3412"/>
          </a:solidFill>
          <a:ln/>
        </p:spPr>
        <p:txBody>
          <a:bodyPr/>
          <a:lstStyle/>
          <a:p>
            <a:endParaRPr lang="ko-KR" altLang="en-US"/>
          </a:p>
        </p:txBody>
      </p:sp>
      <p:sp>
        <p:nvSpPr>
          <p:cNvPr id="17" name="cht"/>
          <p:cNvSpPr/>
          <p:nvPr/>
        </p:nvSpPr>
        <p:spPr>
          <a:xfrm>
            <a:off x="8260210" y="2210000"/>
            <a:ext cx="3108421" cy="340000"/>
          </a:xfrm>
          <a:prstGeom prst="rect">
            <a:avLst/>
          </a:prstGeom>
          <a:noFill/>
          <a:ln/>
        </p:spPr>
        <p:txBody>
          <a:bodyPr wrap="square" lIns="0" tIns="0" rIns="0" bIns="0" rtlCol="0" anchor="ctr"/>
          <a:lstStyle/>
          <a:p>
            <a:pPr marL="0" indent="0" algn="l">
              <a:buNone/>
            </a:pPr>
            <a:r>
              <a:rPr lang="ko-KR" altLang="en-US" sz="940" b="1" kern="0">
                <a:solidFill>
                  <a:srgbClr val="FFFFFF"/>
                </a:solidFill>
                <a:latin typeface="Malgun Gothic" pitchFamily="34" charset="0"/>
                <a:ea typeface="Malgun Gothic" pitchFamily="34" charset="-122"/>
                <a:cs typeface="Malgun Gothic" pitchFamily="34" charset="-120"/>
              </a:rPr>
              <a:t>왜 아직 정량 밸류에이션이 어려운가</a:t>
            </a:r>
          </a:p>
        </p:txBody>
      </p:sp>
      <p:sp>
        <p:nvSpPr>
          <p:cNvPr id="18" name="cbody"/>
          <p:cNvSpPr/>
          <p:nvPr/>
        </p:nvSpPr>
        <p:spPr>
          <a:xfrm>
            <a:off x="8270210" y="2645000"/>
            <a:ext cx="3103421" cy="1560000"/>
          </a:xfrm>
          <a:prstGeom prst="rect">
            <a:avLst/>
          </a:prstGeom>
          <a:noFill/>
          <a:ln/>
        </p:spPr>
        <p:txBody>
          <a:bodyPr wrap="square" lIns="0" tIns="0" rIns="0" bIns="0" rtlCol="0" anchor="t"/>
          <a:lstStyle/>
          <a:p>
            <a:pPr marL="0" indent="0" algn="l">
              <a:buNone/>
            </a:pPr>
            <a:r>
              <a:rPr lang="ko-KR" altLang="en-US" sz="712" b="1" kern="0">
                <a:solidFill>
                  <a:srgbClr val="9A3412"/>
                </a:solidFill>
                <a:latin typeface="Malgun Gothic" pitchFamily="34" charset="0"/>
                <a:ea typeface="Malgun Gothic" pitchFamily="34" charset="-122"/>
                <a:cs typeface="Malgun Gothic" pitchFamily="34" charset="-120"/>
              </a:rPr>
              <a:t>▪ </a:t>
            </a:r>
            <a:r>
              <a:rPr lang="ko-KR" altLang="en-US" sz="712" kern="0">
                <a:solidFill>
                  <a:srgbClr val="33465B"/>
                </a:solidFill>
                <a:latin typeface="Malgun Gothic" pitchFamily="34" charset="0"/>
                <a:ea typeface="Malgun Gothic" pitchFamily="34" charset="-122"/>
                <a:cs typeface="Malgun Gothic" pitchFamily="34" charset="-120"/>
              </a:rPr>
              <a:t>FDA 최종 허가 미확인</a:t>
            </a:r>
          </a:p>
          <a:p>
            <a:pPr marL="0" indent="0" algn="l">
              <a:spcBef>
                <a:spcPts val="170"/>
              </a:spcBef>
              <a:buNone/>
            </a:pPr>
            <a:r>
              <a:rPr lang="ko-KR" altLang="en-US" sz="712" b="1" kern="0">
                <a:solidFill>
                  <a:srgbClr val="9A3412"/>
                </a:solidFill>
                <a:latin typeface="Malgun Gothic" pitchFamily="34" charset="0"/>
                <a:ea typeface="Malgun Gothic" pitchFamily="34" charset="-122"/>
                <a:cs typeface="Malgun Gothic" pitchFamily="34" charset="-120"/>
              </a:rPr>
              <a:t>▪ </a:t>
            </a:r>
            <a:r>
              <a:rPr lang="ko-KR" altLang="en-US" sz="712" kern="0">
                <a:solidFill>
                  <a:srgbClr val="33465B"/>
                </a:solidFill>
                <a:latin typeface="Malgun Gothic" pitchFamily="34" charset="0"/>
                <a:ea typeface="Malgun Gothic" pitchFamily="34" charset="-122"/>
                <a:cs typeface="Malgun Gothic" pitchFamily="34" charset="-120"/>
              </a:rPr>
              <a:t>실제 판매 개시 미확인</a:t>
            </a:r>
          </a:p>
          <a:p>
            <a:pPr marL="0" indent="0" algn="l">
              <a:spcBef>
                <a:spcPts val="170"/>
              </a:spcBef>
              <a:buNone/>
            </a:pPr>
            <a:r>
              <a:rPr lang="ko-KR" altLang="en-US" sz="712" b="1" kern="0">
                <a:solidFill>
                  <a:srgbClr val="9A3412"/>
                </a:solidFill>
                <a:latin typeface="Malgun Gothic" pitchFamily="34" charset="0"/>
                <a:ea typeface="Malgun Gothic" pitchFamily="34" charset="-122"/>
                <a:cs typeface="Malgun Gothic" pitchFamily="34" charset="-120"/>
              </a:rPr>
              <a:t>▪ </a:t>
            </a:r>
            <a:r>
              <a:rPr lang="ko-KR" altLang="en-US" sz="712" kern="0">
                <a:solidFill>
                  <a:srgbClr val="33465B"/>
                </a:solidFill>
                <a:latin typeface="Malgun Gothic" pitchFamily="34" charset="0"/>
                <a:ea typeface="Malgun Gothic" pitchFamily="34" charset="-122"/>
                <a:cs typeface="Malgun Gothic" pitchFamily="34" charset="-120"/>
              </a:rPr>
              <a:t>마일스톤 실제 수령 미확인</a:t>
            </a:r>
          </a:p>
          <a:p>
            <a:pPr marL="0" indent="0" algn="l">
              <a:spcBef>
                <a:spcPts val="170"/>
              </a:spcBef>
              <a:buNone/>
            </a:pPr>
            <a:r>
              <a:rPr lang="ko-KR" altLang="en-US" sz="712" b="1" kern="0">
                <a:solidFill>
                  <a:srgbClr val="9A3412"/>
                </a:solidFill>
                <a:latin typeface="Malgun Gothic" pitchFamily="34" charset="0"/>
                <a:ea typeface="Malgun Gothic" pitchFamily="34" charset="-122"/>
                <a:cs typeface="Malgun Gothic" pitchFamily="34" charset="-120"/>
              </a:rPr>
              <a:t>▪ </a:t>
            </a:r>
            <a:r>
              <a:rPr lang="ko-KR" altLang="en-US" sz="712" kern="0">
                <a:solidFill>
                  <a:srgbClr val="33465B"/>
                </a:solidFill>
                <a:latin typeface="Malgun Gothic" pitchFamily="34" charset="0"/>
                <a:ea typeface="Malgun Gothic" pitchFamily="34" charset="-122"/>
                <a:cs typeface="Malgun Gothic" pitchFamily="34" charset="-120"/>
              </a:rPr>
              <a:t>후속 파이프라인 검증 미확인 (인슐린·터제파타이드·항체의약품 포함)</a:t>
            </a:r>
          </a:p>
          <a:p>
            <a:pPr marL="0" indent="0" algn="l">
              <a:spcBef>
                <a:spcPts val="170"/>
              </a:spcBef>
              <a:buNone/>
            </a:pPr>
            <a:r>
              <a:rPr lang="ko-KR" altLang="en-US" sz="712" b="1" kern="0">
                <a:solidFill>
                  <a:srgbClr val="9A3412"/>
                </a:solidFill>
                <a:latin typeface="Malgun Gothic" pitchFamily="34" charset="0"/>
                <a:ea typeface="Malgun Gothic" pitchFamily="34" charset="-122"/>
                <a:cs typeface="Malgun Gothic" pitchFamily="34" charset="-120"/>
              </a:rPr>
              <a:t>▪ </a:t>
            </a:r>
            <a:r>
              <a:rPr lang="ko-KR" altLang="en-US" sz="712" kern="0">
                <a:solidFill>
                  <a:srgbClr val="33465B"/>
                </a:solidFill>
                <a:latin typeface="Malgun Gothic" pitchFamily="34" charset="0"/>
                <a:ea typeface="Malgun Gothic" pitchFamily="34" charset="-122"/>
                <a:cs typeface="Malgun Gothic" pitchFamily="34" charset="-120"/>
              </a:rPr>
              <a:t>계약 상대방 및 조건 제한 공개</a:t>
            </a:r>
          </a:p>
        </p:txBody>
      </p:sp>
      <p:sp>
        <p:nvSpPr>
          <p:cNvPr id="19" name="emp"/>
          <p:cNvSpPr/>
          <p:nvPr/>
        </p:nvSpPr>
        <p:spPr>
          <a:xfrm>
            <a:off x="8245210" y="3720000"/>
            <a:ext cx="3138421" cy="410000"/>
          </a:xfrm>
          <a:prstGeom prst="rect">
            <a:avLst/>
          </a:prstGeom>
          <a:solidFill>
            <a:srgbClr val="FBEEE2"/>
          </a:solidFill>
          <a:ln/>
        </p:spPr>
        <p:txBody>
          <a:bodyPr/>
          <a:lstStyle/>
          <a:p>
            <a:endParaRPr lang="ko-KR" altLang="en-US"/>
          </a:p>
        </p:txBody>
      </p:sp>
      <p:sp>
        <p:nvSpPr>
          <p:cNvPr id="20" name="emptxt"/>
          <p:cNvSpPr/>
          <p:nvPr/>
        </p:nvSpPr>
        <p:spPr>
          <a:xfrm>
            <a:off x="8375210" y="3720000"/>
            <a:ext cx="2878421" cy="410000"/>
          </a:xfrm>
          <a:prstGeom prst="rect">
            <a:avLst/>
          </a:prstGeom>
          <a:noFill/>
          <a:ln/>
        </p:spPr>
        <p:txBody>
          <a:bodyPr wrap="square" lIns="0" tIns="0" rIns="0" bIns="0" rtlCol="0" anchor="ctr"/>
          <a:lstStyle/>
          <a:p>
            <a:pPr marL="0" indent="0" algn="l">
              <a:lnSpc>
                <a:spcPct val="104000"/>
              </a:lnSpc>
              <a:buNone/>
            </a:pPr>
            <a:r>
              <a:rPr lang="ko-KR" altLang="en-US" sz="712" b="1" kern="0">
                <a:solidFill>
                  <a:srgbClr val="9A3412"/>
                </a:solidFill>
                <a:latin typeface="Malgun Gothic" pitchFamily="34" charset="0"/>
                <a:ea typeface="Malgun Gothic" pitchFamily="34" charset="-122"/>
                <a:cs typeface="Malgun Gothic" pitchFamily="34" charset="-120"/>
              </a:rPr>
              <a:t>S-PASS는 아직 “계산 가능한 실적 가치”가 아니라 “검증 단계의 옵션가치”다.</a:t>
            </a:r>
          </a:p>
        </p:txBody>
      </p:sp>
      <p:sp>
        <p:nvSpPr>
          <p:cNvPr id="21" name="jbox">
            <a:extLst>
              <a:ext uri="{C183D7F6-B498-43B3-948B-1728B52AA6E4}">
                <adec:decorative xmlns:adec="http://schemas.microsoft.com/office/drawing/2017/decorative" val="1"/>
              </a:ext>
            </a:extLst>
          </p:cNvPr>
          <p:cNvSpPr/>
          <p:nvPr/>
        </p:nvSpPr>
        <p:spPr>
          <a:xfrm>
            <a:off x="658368" y="4310000"/>
            <a:ext cx="10875264" cy="1010000"/>
          </a:xfrm>
          <a:prstGeom prst="rect">
            <a:avLst/>
          </a:prstGeom>
          <a:solidFill>
            <a:srgbClr val="0E2036"/>
          </a:solidFill>
          <a:ln/>
          <a:effectLst>
            <a:outerShdw blurRad="88900" dist="25400" dir="5400000" algn="bl" rotWithShape="0">
              <a:srgbClr val="0E2036">
                <a:alpha val="10000"/>
              </a:srgbClr>
            </a:outerShdw>
          </a:effectLst>
        </p:spPr>
        <p:txBody>
          <a:bodyPr/>
          <a:lstStyle/>
          <a:p>
            <a:endParaRPr lang="ko-KR" altLang="en-US"/>
          </a:p>
        </p:txBody>
      </p:sp>
      <p:sp>
        <p:nvSpPr>
          <p:cNvPr id="22" name="jbar">
            <a:extLst>
              <a:ext uri="{C183D7F6-B498-43B3-948B-1728B52AA6E4}">
                <adec:decorative xmlns:adec="http://schemas.microsoft.com/office/drawing/2017/decorative" val="1"/>
              </a:ext>
            </a:extLst>
          </p:cNvPr>
          <p:cNvSpPr/>
          <p:nvPr/>
        </p:nvSpPr>
        <p:spPr>
          <a:xfrm>
            <a:off x="658368" y="4310000"/>
            <a:ext cx="82296" cy="1010000"/>
          </a:xfrm>
          <a:prstGeom prst="rect">
            <a:avLst/>
          </a:prstGeom>
          <a:solidFill>
            <a:srgbClr val="0D9488"/>
          </a:solidFill>
          <a:ln/>
        </p:spPr>
        <p:txBody>
          <a:bodyPr/>
          <a:lstStyle/>
          <a:p>
            <a:endParaRPr lang="ko-KR" altLang="en-US"/>
          </a:p>
        </p:txBody>
      </p:sp>
      <p:sp>
        <p:nvSpPr>
          <p:cNvPr id="23" name="jt1"/>
          <p:cNvSpPr/>
          <p:nvPr/>
        </p:nvSpPr>
        <p:spPr>
          <a:xfrm>
            <a:off x="950000" y="4370000"/>
            <a:ext cx="10425264" cy="300000"/>
          </a:xfrm>
          <a:prstGeom prst="rect">
            <a:avLst/>
          </a:prstGeom>
          <a:noFill/>
          <a:ln/>
        </p:spPr>
        <p:txBody>
          <a:bodyPr wrap="square" lIns="0" tIns="0" rIns="0" bIns="0" rtlCol="0" anchor="t"/>
          <a:lstStyle/>
          <a:p>
            <a:pPr marL="0" indent="0" algn="l">
              <a:buNone/>
            </a:pPr>
            <a:r>
              <a:rPr lang="ko-KR" altLang="en-US" sz="960" b="1" kern="0">
                <a:solidFill>
                  <a:srgbClr val="7DE3D4"/>
                </a:solidFill>
                <a:latin typeface="Malgun Gothic" pitchFamily="34" charset="0"/>
                <a:ea typeface="Malgun Gothic" pitchFamily="34" charset="-122"/>
                <a:cs typeface="Malgun Gothic" pitchFamily="34" charset="-120"/>
              </a:rPr>
              <a:t>판단   </a:t>
            </a:r>
            <a:r>
              <a:rPr lang="ko-KR" altLang="en-US" sz="960" b="1" kern="0">
                <a:solidFill>
                  <a:srgbClr val="FFFFFF"/>
                </a:solidFill>
                <a:latin typeface="Malgun Gothic" pitchFamily="34" charset="0"/>
                <a:ea typeface="Malgun Gothic" pitchFamily="34" charset="-122"/>
                <a:cs typeface="Malgun Gothic" pitchFamily="34" charset="-120"/>
              </a:rPr>
              <a:t>S-PASS의 투자 매력은 </a:t>
            </a:r>
            <a:r>
              <a:rPr lang="ko-KR" altLang="en-US" sz="960" b="1" kern="0">
                <a:solidFill>
                  <a:srgbClr val="FDBA74"/>
                </a:solidFill>
                <a:latin typeface="Malgun Gothic" pitchFamily="34" charset="0"/>
                <a:ea typeface="Malgun Gothic" pitchFamily="34" charset="-122"/>
                <a:cs typeface="Malgun Gothic" pitchFamily="34" charset="-120"/>
              </a:rPr>
              <a:t>시장 규모 자체가 아니라</a:t>
            </a:r>
            <a:r>
              <a:rPr lang="ko-KR" altLang="en-US" sz="960" b="1" kern="0">
                <a:solidFill>
                  <a:srgbClr val="FFFFFF"/>
                </a:solidFill>
                <a:latin typeface="Malgun Gothic" pitchFamily="34" charset="0"/>
                <a:ea typeface="Malgun Gothic" pitchFamily="34" charset="-122"/>
                <a:cs typeface="Malgun Gothic" pitchFamily="34" charset="-120"/>
              </a:rPr>
              <a:t>, 옵션가치가 실제 가치로 전환되는 증거가 나오는지에 달려 있다.</a:t>
            </a:r>
          </a:p>
        </p:txBody>
      </p:sp>
      <p:sp>
        <p:nvSpPr>
          <p:cNvPr id="24" name="jpos"/>
          <p:cNvSpPr/>
          <p:nvPr/>
        </p:nvSpPr>
        <p:spPr>
          <a:xfrm>
            <a:off x="950000" y="4690000"/>
            <a:ext cx="5172632" cy="420000"/>
          </a:xfrm>
          <a:prstGeom prst="rect">
            <a:avLst/>
          </a:prstGeom>
          <a:noFill/>
          <a:ln/>
        </p:spPr>
        <p:txBody>
          <a:bodyPr wrap="square" lIns="0" tIns="0" rIns="0" bIns="0" rtlCol="0" anchor="t"/>
          <a:lstStyle/>
          <a:p>
            <a:pPr marL="0" indent="0" algn="l">
              <a:buNone/>
            </a:pPr>
            <a:r>
              <a:rPr lang="ko-KR" altLang="en-US" sz="820" b="1" kern="0">
                <a:solidFill>
                  <a:srgbClr val="6EE7B7"/>
                </a:solidFill>
                <a:latin typeface="Malgun Gothic" pitchFamily="34" charset="0"/>
                <a:ea typeface="Malgun Gothic" pitchFamily="34" charset="-122"/>
                <a:cs typeface="Malgun Gothic" pitchFamily="34" charset="-120"/>
              </a:rPr>
              <a:t>긍정 신호  </a:t>
            </a:r>
          </a:p>
          <a:p>
            <a:pPr marL="0" indent="0" algn="l">
              <a:lnSpc>
                <a:spcPct val="104000"/>
              </a:lnSpc>
              <a:spcBef>
                <a:spcPts val="120"/>
              </a:spcBef>
              <a:buNone/>
            </a:pPr>
            <a:r>
              <a:rPr lang="ko-KR" altLang="en-US" sz="760" kern="0">
                <a:solidFill>
                  <a:srgbClr val="D6F0E6"/>
                </a:solidFill>
                <a:latin typeface="Malgun Gothic" pitchFamily="34" charset="0"/>
                <a:ea typeface="Malgun Gothic" pitchFamily="34" charset="-122"/>
                <a:cs typeface="Malgun Gothic" pitchFamily="34" charset="-120"/>
              </a:rPr>
              <a:t>FDA 후속 구체화 · 추가 BE 제한 · 데이터 공개 · 계약 구체화 · 계약금·마일스톤 수령 · 판매 개시</a:t>
            </a:r>
          </a:p>
        </p:txBody>
      </p:sp>
      <p:sp>
        <p:nvSpPr>
          <p:cNvPr id="25" name="jneg"/>
          <p:cNvSpPr/>
          <p:nvPr/>
        </p:nvSpPr>
        <p:spPr>
          <a:xfrm>
            <a:off x="6162632" y="4690000"/>
            <a:ext cx="5172632" cy="420000"/>
          </a:xfrm>
          <a:prstGeom prst="rect">
            <a:avLst/>
          </a:prstGeom>
          <a:noFill/>
          <a:ln/>
        </p:spPr>
        <p:txBody>
          <a:bodyPr wrap="square" lIns="0" tIns="0" rIns="0" bIns="0" rtlCol="0" anchor="t"/>
          <a:lstStyle/>
          <a:p>
            <a:pPr marL="0" indent="0" algn="l">
              <a:buNone/>
            </a:pPr>
            <a:r>
              <a:rPr lang="ko-KR" altLang="en-US" sz="820" b="1" kern="0">
                <a:solidFill>
                  <a:srgbClr val="FCA5A5"/>
                </a:solidFill>
                <a:latin typeface="Malgun Gothic" pitchFamily="34" charset="0"/>
                <a:ea typeface="Malgun Gothic" pitchFamily="34" charset="-122"/>
                <a:cs typeface="Malgun Gothic" pitchFamily="34" charset="-120"/>
              </a:rPr>
              <a:t>부정 신호  </a:t>
            </a:r>
          </a:p>
          <a:p>
            <a:pPr marL="0" indent="0" algn="l">
              <a:lnSpc>
                <a:spcPct val="104000"/>
              </a:lnSpc>
              <a:spcBef>
                <a:spcPts val="120"/>
              </a:spcBef>
              <a:buNone/>
            </a:pPr>
            <a:r>
              <a:rPr lang="ko-KR" altLang="en-US" sz="760" kern="0">
                <a:solidFill>
                  <a:srgbClr val="F3D9D9"/>
                </a:solidFill>
                <a:latin typeface="Malgun Gothic" pitchFamily="34" charset="0"/>
                <a:ea typeface="Malgun Gothic" pitchFamily="34" charset="-122"/>
                <a:cs typeface="Malgun Gothic" pitchFamily="34" charset="-120"/>
              </a:rPr>
              <a:t>추가 BE로 일정 장기화 · FDA 지연 · 데이터 부족 · 계약 미공개 지속 · 마일스톤 지연 · 임상 부진</a:t>
            </a:r>
          </a:p>
        </p:txBody>
      </p:sp>
      <p:sp>
        <p:nvSpPr>
          <p:cNvPr id="26" name="jform"/>
          <p:cNvSpPr/>
          <p:nvPr/>
        </p:nvSpPr>
        <p:spPr>
          <a:xfrm>
            <a:off x="950000" y="5110000"/>
            <a:ext cx="10425264" cy="210000"/>
          </a:xfrm>
          <a:prstGeom prst="rect">
            <a:avLst/>
          </a:prstGeom>
          <a:noFill/>
          <a:ln/>
        </p:spPr>
        <p:txBody>
          <a:bodyPr wrap="square" lIns="0" tIns="0" rIns="0" bIns="0" rtlCol="0" anchor="ctr"/>
          <a:lstStyle/>
          <a:p>
            <a:pPr marL="0" indent="0" algn="l">
              <a:buNone/>
            </a:pPr>
            <a:r>
              <a:rPr lang="ko-KR" altLang="en-US" sz="880" b="1" kern="0">
                <a:solidFill>
                  <a:srgbClr val="7DE3D4"/>
                </a:solidFill>
                <a:latin typeface="Malgun Gothic" pitchFamily="34" charset="0"/>
                <a:ea typeface="Malgun Gothic" pitchFamily="34" charset="-122"/>
                <a:cs typeface="Malgun Gothic" pitchFamily="34" charset="-120"/>
              </a:rPr>
              <a:t>→ 추가 업사이드 = </a:t>
            </a:r>
            <a:r>
              <a:rPr lang="ko-KR" altLang="en-US" sz="880" b="1" kern="0">
                <a:solidFill>
                  <a:srgbClr val="FFFFFF"/>
                </a:solidFill>
                <a:latin typeface="Malgun Gothic" pitchFamily="34" charset="0"/>
                <a:ea typeface="Malgun Gothic" pitchFamily="34" charset="-122"/>
                <a:cs typeface="Malgun Gothic" pitchFamily="34" charset="-120"/>
              </a:rPr>
              <a:t>규제 진전 × 데이터 검증 × 계약 실체 × 마일스톤 수령 × 상업화</a:t>
            </a:r>
            <a:r>
              <a:rPr lang="ko-KR" altLang="en-US" sz="880" b="1" kern="0">
                <a:solidFill>
                  <a:srgbClr val="7DE3D4"/>
                </a:solidFill>
                <a:latin typeface="Malgun Gothic" pitchFamily="34" charset="0"/>
                <a:ea typeface="Malgun Gothic" pitchFamily="34" charset="-122"/>
                <a:cs typeface="Malgun Gothic" pitchFamily="34" charset="-120"/>
              </a:rPr>
              <a:t> 순서로 확인된다.</a:t>
            </a:r>
          </a:p>
        </p:txBody>
      </p:sp>
      <p:sp>
        <p:nvSpPr>
          <p:cNvPr id="27" name="notes"/>
          <p:cNvSpPr/>
          <p:nvPr/>
        </p:nvSpPr>
        <p:spPr>
          <a:xfrm>
            <a:off x="676656" y="6250000"/>
            <a:ext cx="10875264" cy="320000"/>
          </a:xfrm>
          <a:prstGeom prst="rect">
            <a:avLst/>
          </a:prstGeom>
          <a:noFill/>
          <a:ln/>
        </p:spPr>
        <p:txBody>
          <a:bodyPr wrap="square" lIns="0" tIns="0" rIns="0" bIns="0" rtlCol="0" anchor="t"/>
          <a:lstStyle/>
          <a:p>
            <a:pPr marL="0" indent="0" algn="l">
              <a:buNone/>
            </a:pPr>
            <a:r>
              <a:rPr lang="ko-KR" altLang="en-US" sz="620" kern="0">
                <a:solidFill>
                  <a:srgbClr val="6B7C90"/>
                </a:solidFill>
                <a:latin typeface="Malgun Gothic" pitchFamily="34" charset="0"/>
                <a:ea typeface="Malgun Gothic" pitchFamily="34" charset="-122"/>
                <a:cs typeface="Malgun Gothic" pitchFamily="34" charset="-120"/>
              </a:rPr>
              <a:t>※ 투자자는 시장 규모보다 FDA 후속 절차, 추가 BE 여부, 데이터 재현성, 계약 조건, 마일스톤 수령, 실제 판매 개시를 확인해야 한다.</a:t>
            </a:r>
          </a:p>
          <a:p>
            <a:pPr marL="0" indent="0" algn="l">
              <a:spcBef>
                <a:spcPts val="120"/>
              </a:spcBef>
              <a:buNone/>
            </a:pPr>
            <a:r>
              <a:rPr lang="ko-KR" altLang="en-US" sz="620" kern="0">
                <a:solidFill>
                  <a:srgbClr val="6B7C90"/>
                </a:solidFill>
                <a:latin typeface="Malgun Gothic" pitchFamily="34" charset="0"/>
                <a:ea typeface="Malgun Gothic" pitchFamily="34" charset="-122"/>
                <a:cs typeface="Malgun Gothic" pitchFamily="34" charset="-120"/>
              </a:rPr>
              <a:t>※ 본 페이지는 확정 실적 전망이 아니라 투자 판단을 위한 검증 프레임이다.</a:t>
            </a:r>
          </a:p>
        </p:txBody>
      </p:sp>
      <p:sp>
        <p:nvSpPr>
          <p:cNvPr id="40" name="progbox">
            <a:extLst>
              <a:ext uri="{C183D7F6-B498-43B3-948B-1728B52AA6E4}">
                <adec:decorative xmlns:adec="http://schemas.microsoft.com/office/drawing/2017/decorative" val="1"/>
              </a:ext>
            </a:extLst>
          </p:cNvPr>
          <p:cNvSpPr/>
          <p:nvPr/>
        </p:nvSpPr>
        <p:spPr>
          <a:xfrm>
            <a:off x="658368" y="5370000"/>
            <a:ext cx="10875264" cy="830000"/>
          </a:xfrm>
          <a:prstGeom prst="rect">
            <a:avLst/>
          </a:prstGeom>
          <a:solidFill>
            <a:srgbClr val="E8F5F3"/>
          </a:solidFill>
          <a:ln w="12700">
            <a:solidFill>
              <a:srgbClr val="B7E0D8"/>
            </a:solidFill>
          </a:ln>
        </p:spPr>
        <p:txBody>
          <a:bodyPr/>
          <a:lstStyle/>
          <a:p>
            <a:endParaRPr lang="ko-KR" altLang="en-US"/>
          </a:p>
        </p:txBody>
      </p:sp>
      <p:sp>
        <p:nvSpPr>
          <p:cNvPr id="41" name="progbar">
            <a:extLst>
              <a:ext uri="{C183D7F6-B498-43B3-948B-1728B52AA6E4}">
                <adec:decorative xmlns:adec="http://schemas.microsoft.com/office/drawing/2017/decorative" val="1"/>
              </a:ext>
            </a:extLst>
          </p:cNvPr>
          <p:cNvSpPr/>
          <p:nvPr/>
        </p:nvSpPr>
        <p:spPr>
          <a:xfrm>
            <a:off x="658368" y="5370000"/>
            <a:ext cx="82296" cy="830000"/>
          </a:xfrm>
          <a:prstGeom prst="rect">
            <a:avLst/>
          </a:prstGeom>
          <a:solidFill>
            <a:srgbClr val="0D9488"/>
          </a:solidFill>
          <a:ln/>
        </p:spPr>
        <p:txBody>
          <a:bodyPr/>
          <a:lstStyle/>
          <a:p>
            <a:endParaRPr lang="ko-KR" altLang="en-US"/>
          </a:p>
        </p:txBody>
      </p:sp>
      <p:sp>
        <p:nvSpPr>
          <p:cNvPr id="42" name="proghdr"/>
          <p:cNvSpPr/>
          <p:nvPr/>
        </p:nvSpPr>
        <p:spPr>
          <a:xfrm>
            <a:off x="850000" y="5395000"/>
            <a:ext cx="10400000" cy="180000"/>
          </a:xfrm>
          <a:prstGeom prst="rect">
            <a:avLst/>
          </a:prstGeom>
          <a:noFill/>
          <a:ln/>
        </p:spPr>
        <p:txBody>
          <a:bodyPr wrap="square" lIns="0" tIns="0" rIns="0" bIns="0" rtlCol="0" anchor="ctr"/>
          <a:lstStyle/>
          <a:p>
            <a:pPr marL="0" indent="0" algn="l">
              <a:buNone/>
            </a:pPr>
            <a:r>
              <a:rPr lang="ko-KR" altLang="en-US" sz="800" b="1" kern="0">
                <a:solidFill>
                  <a:srgbClr val="0F766E"/>
                </a:solidFill>
                <a:latin typeface="Malgun Gothic" pitchFamily="34" charset="0"/>
                <a:ea typeface="Malgun Gothic" pitchFamily="34" charset="-122"/>
                <a:cs typeface="Malgun Gothic" pitchFamily="34" charset="-120"/>
              </a:rPr>
              <a:t>최근 확인된 진전 · FDA Pre-ANDA · 일본 파트너십</a:t>
            </a:r>
          </a:p>
        </p:txBody>
      </p:sp>
      <p:sp>
        <p:nvSpPr>
          <p:cNvPr id="43" name="progflow"/>
          <p:cNvSpPr/>
          <p:nvPr/>
        </p:nvSpPr>
        <p:spPr>
          <a:xfrm>
            <a:off x="850000" y="5575000"/>
            <a:ext cx="10500000" cy="195000"/>
          </a:xfrm>
          <a:prstGeom prst="rect">
            <a:avLst/>
          </a:prstGeom>
          <a:noFill/>
          <a:ln/>
        </p:spPr>
        <p:txBody>
          <a:bodyPr wrap="square" lIns="0" tIns="0" rIns="0" bIns="0" rtlCol="0" anchor="ctr"/>
          <a:lstStyle/>
          <a:p>
            <a:pPr marL="0" indent="0" algn="l">
              <a:buNone/>
            </a:pPr>
            <a:r>
              <a:rPr lang="ko-KR" altLang="en-US" sz="700" kern="0">
                <a:solidFill>
                  <a:srgbClr val="33465B"/>
                </a:solidFill>
                <a:latin typeface="Malgun Gothic" pitchFamily="34" charset="0"/>
                <a:ea typeface="Malgun Gothic" pitchFamily="34" charset="-122"/>
                <a:cs typeface="Malgun Gothic" pitchFamily="34" charset="-120"/>
              </a:rPr>
              <a:t>2026.7 FDA Pre-ANDA 답변 수령  </a:t>
            </a:r>
            <a:r>
              <a:rPr lang="ko-KR" altLang="en-US" sz="700" b="1" kern="0">
                <a:solidFill>
                  <a:srgbClr val="0D9488"/>
                </a:solidFill>
                <a:latin typeface="Malgun Gothic" pitchFamily="34" charset="0"/>
                <a:ea typeface="Malgun Gothic" pitchFamily="34" charset="-122"/>
                <a:cs typeface="Malgun Gothic" pitchFamily="34" charset="-120"/>
              </a:rPr>
              <a:t>→</a:t>
            </a:r>
            <a:r>
              <a:rPr lang="ko-KR" altLang="en-US" sz="700" kern="0">
                <a:solidFill>
                  <a:srgbClr val="33465B"/>
                </a:solidFill>
                <a:latin typeface="Malgun Gothic" pitchFamily="34" charset="0"/>
                <a:ea typeface="Malgun Gothic" pitchFamily="34" charset="-122"/>
                <a:cs typeface="Malgun Gothic" pitchFamily="34" charset="-120"/>
              </a:rPr>
              <a:t>  리벨서스(Rybelsus) RLD 명시  </a:t>
            </a:r>
            <a:r>
              <a:rPr lang="ko-KR" altLang="en-US" sz="700" b="1" kern="0">
                <a:solidFill>
                  <a:srgbClr val="0D9488"/>
                </a:solidFill>
                <a:latin typeface="Malgun Gothic" pitchFamily="34" charset="0"/>
                <a:ea typeface="Malgun Gothic" pitchFamily="34" charset="-122"/>
                <a:cs typeface="Malgun Gothic" pitchFamily="34" charset="-120"/>
              </a:rPr>
              <a:t>→</a:t>
            </a:r>
            <a:r>
              <a:rPr lang="ko-KR" altLang="en-US" sz="700" kern="0">
                <a:solidFill>
                  <a:srgbClr val="33465B"/>
                </a:solidFill>
                <a:latin typeface="Malgun Gothic" pitchFamily="34" charset="0"/>
                <a:ea typeface="Malgun Gothic" pitchFamily="34" charset="-122"/>
                <a:cs typeface="Malgun Gothic" pitchFamily="34" charset="-120"/>
              </a:rPr>
              <a:t>  BE 시험만으로 ANDA 가능 판단  </a:t>
            </a:r>
            <a:r>
              <a:rPr lang="ko-KR" altLang="en-US" sz="700" b="1" kern="0">
                <a:solidFill>
                  <a:srgbClr val="0D9488"/>
                </a:solidFill>
                <a:latin typeface="Malgun Gothic" pitchFamily="34" charset="0"/>
                <a:ea typeface="Malgun Gothic" pitchFamily="34" charset="-122"/>
                <a:cs typeface="Malgun Gothic" pitchFamily="34" charset="-120"/>
              </a:rPr>
              <a:t>→</a:t>
            </a:r>
            <a:r>
              <a:rPr lang="ko-KR" altLang="en-US" sz="700" kern="0">
                <a:solidFill>
                  <a:srgbClr val="33465B"/>
                </a:solidFill>
                <a:latin typeface="Malgun Gothic" pitchFamily="34" charset="0"/>
                <a:ea typeface="Malgun Gothic" pitchFamily="34" charset="-122"/>
                <a:cs typeface="Malgun Gothic" pitchFamily="34" charset="-120"/>
              </a:rPr>
              <a:t>  다이이찌산쿄 에스파와 계약 조건 구체화 착수</a:t>
            </a:r>
          </a:p>
        </p:txBody>
      </p:sp>
      <p:sp>
        <p:nvSpPr>
          <p:cNvPr id="44" name="progchk"/>
          <p:cNvSpPr/>
          <p:nvPr/>
        </p:nvSpPr>
        <p:spPr>
          <a:xfrm>
            <a:off x="850000" y="5770000"/>
            <a:ext cx="10500000" cy="195000"/>
          </a:xfrm>
          <a:prstGeom prst="rect">
            <a:avLst/>
          </a:prstGeom>
          <a:noFill/>
          <a:ln/>
        </p:spPr>
        <p:txBody>
          <a:bodyPr wrap="square" lIns="0" tIns="0" rIns="0" bIns="0" rtlCol="0" anchor="ctr"/>
          <a:lstStyle/>
          <a:p>
            <a:pPr marL="0" indent="0" algn="l">
              <a:buNone/>
            </a:pPr>
            <a:r>
              <a:rPr lang="ko-KR" altLang="en-US" sz="680" b="1" kern="0">
                <a:solidFill>
                  <a:srgbClr val="9A3412"/>
                </a:solidFill>
                <a:latin typeface="Malgun Gothic" pitchFamily="34" charset="0"/>
                <a:ea typeface="Malgun Gothic" pitchFamily="34" charset="-122"/>
                <a:cs typeface="Malgun Gothic" pitchFamily="34" charset="-120"/>
              </a:rPr>
              <a:t>규제 진전이 파트너십 실행 단계로 이어지는 긍정적 신호. 다만 미확인 항목 잔존   </a:t>
            </a:r>
            <a:r>
              <a:rPr lang="ko-KR" altLang="en-US" sz="680" kern="0">
                <a:solidFill>
                  <a:srgbClr val="5A6B7E"/>
                </a:solidFill>
                <a:latin typeface="Malgun Gothic" pitchFamily="34" charset="0"/>
                <a:ea typeface="Malgun Gothic" pitchFamily="34" charset="-122"/>
                <a:cs typeface="Malgun Gothic" pitchFamily="34" charset="-120"/>
              </a:rPr>
              <a:t>□ ANDA 제출   □ 최종 허가   □ 업프론트 수령   □ 마일스톤 수령   □ 실제 판매   □ 매출 인식</a:t>
            </a:r>
          </a:p>
        </p:txBody>
      </p:sp>
      <p:sp>
        <p:nvSpPr>
          <p:cNvPr id="45" name="progemp"/>
          <p:cNvSpPr/>
          <p:nvPr/>
        </p:nvSpPr>
        <p:spPr>
          <a:xfrm>
            <a:off x="850000" y="5970000"/>
            <a:ext cx="10500000" cy="200000"/>
          </a:xfrm>
          <a:prstGeom prst="rect">
            <a:avLst/>
          </a:prstGeom>
          <a:noFill/>
          <a:ln/>
        </p:spPr>
        <p:txBody>
          <a:bodyPr wrap="square" lIns="0" tIns="0" rIns="0" bIns="0" rtlCol="0" anchor="ctr"/>
          <a:lstStyle/>
          <a:p>
            <a:pPr marL="0" indent="0" algn="l">
              <a:buNone/>
            </a:pPr>
            <a:r>
              <a:rPr lang="ko-KR" altLang="en-US" sz="740" b="1" kern="0">
                <a:solidFill>
                  <a:srgbClr val="0E2036"/>
                </a:solidFill>
                <a:latin typeface="Malgun Gothic" pitchFamily="34" charset="0"/>
                <a:ea typeface="Malgun Gothic" pitchFamily="34" charset="-122"/>
                <a:cs typeface="Malgun Gothic" pitchFamily="34" charset="-120"/>
              </a:rPr>
              <a:t>S-PASS는 “허가 가능성”의 문제가 아니라 “현금흐름으로 이어지는가”를 확인하는 단계다.</a:t>
            </a:r>
          </a:p>
        </p:txBody>
      </p:sp>
      <p:sp>
        <p:nvSpPr>
          <p:cNvPr id="28" name="footerbar"/>
          <p:cNvSpPr/>
          <p:nvPr/>
        </p:nvSpPr>
        <p:spPr>
          <a:xfrm>
            <a:off x="0" y="6583680"/>
            <a:ext cx="12191695" cy="274320"/>
          </a:xfrm>
          <a:prstGeom prst="rect">
            <a:avLst/>
          </a:prstGeom>
          <a:solidFill>
            <a:srgbClr val="F2F6FC"/>
          </a:solidFill>
          <a:ln/>
        </p:spPr>
        <p:txBody>
          <a:bodyPr/>
          <a:lstStyle/>
          <a:p>
            <a:endParaRPr lang="ko-KR" altLang="en-US"/>
          </a:p>
        </p:txBody>
      </p:sp>
      <p:sp>
        <p:nvSpPr>
          <p:cNvPr id="29" name="ftxt"/>
          <p:cNvSpPr/>
          <p:nvPr/>
        </p:nvSpPr>
        <p:spPr>
          <a:xfrm>
            <a:off x="658368" y="6574536"/>
            <a:ext cx="6400800" cy="283464"/>
          </a:xfrm>
          <a:prstGeom prst="rect">
            <a:avLst/>
          </a:prstGeom>
          <a:noFill/>
          <a:ln/>
        </p:spPr>
        <p:txBody>
          <a:bodyPr wrap="square" lIns="0" tIns="0" rIns="0" bIns="0" rtlCol="0" anchor="ctr"/>
          <a:lstStyle/>
          <a:p>
            <a:pPr marL="0" indent="0" algn="l">
              <a:buNone/>
            </a:pPr>
            <a:r>
              <a:rPr lang="ko-KR" altLang="en-US" sz="850" kern="0">
                <a:solidFill>
                  <a:srgbClr val="6B7C90"/>
                </a:solidFill>
                <a:latin typeface="Malgun Gothic" pitchFamily="34" charset="0"/>
                <a:ea typeface="Malgun Gothic" pitchFamily="34" charset="-122"/>
                <a:cs typeface="Malgun Gothic" pitchFamily="34" charset="-120"/>
              </a:rPr>
              <a:t>삼천당제약 (000250) · 투자스터디 발표자료</a:t>
            </a:r>
          </a:p>
        </p:txBody>
      </p:sp>
      <p:sp>
        <p:nvSpPr>
          <p:cNvPr id="30" name="fpg"/>
          <p:cNvSpPr/>
          <p:nvPr/>
        </p:nvSpPr>
        <p:spPr>
          <a:xfrm>
            <a:off x="11064240" y="6574536"/>
            <a:ext cx="457200" cy="283464"/>
          </a:xfrm>
          <a:prstGeom prst="rect">
            <a:avLst/>
          </a:prstGeom>
          <a:noFill/>
          <a:ln/>
        </p:spPr>
        <p:txBody>
          <a:bodyPr wrap="square" lIns="0" tIns="0" rIns="0" bIns="0" rtlCol="0" anchor="ctr"/>
          <a:lstStyle/>
          <a:p>
            <a:pPr marL="0" indent="0" algn="r">
              <a:buNone/>
            </a:pPr>
            <a:r>
              <a:rPr lang="ko-KR" altLang="en-US" sz="850" kern="0">
                <a:solidFill>
                  <a:srgbClr val="6B7C90"/>
                </a:solidFill>
                <a:latin typeface="Malgun Gothic" pitchFamily="34" charset="0"/>
                <a:ea typeface="Malgun Gothic" pitchFamily="34" charset="-122"/>
                <a:cs typeface="Malgun Gothic" pitchFamily="34" charset="-120"/>
              </a:rPr>
              <a:t>30</a:t>
            </a:r>
          </a:p>
        </p:txBody>
      </p:sp>
    </p:spTree>
    <p:extLst>
      <p:ext uri="{BB962C8B-B14F-4D97-AF65-F5344CB8AC3E}">
        <p14:creationId xmlns:p14="http://schemas.microsoft.com/office/powerpoint/2010/main" val="4100635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40000"/>
            <a:ext cx="10972800" cy="220000"/>
          </a:xfrm>
          <a:prstGeom prst="rect">
            <a:avLst/>
          </a:prstGeom>
          <a:noFill/>
          <a:ln/>
        </p:spPr>
        <p:txBody>
          <a:bodyPr wrap="square" lIns="0" tIns="0" rIns="0" bIns="0" rtlCol="0" anchor="ctr"/>
          <a:lstStyle/>
          <a:p>
            <a:pPr marL="0" indent="0" algn="l">
              <a:buNone/>
            </a:pPr>
            <a:r>
              <a:rPr lang="ko-KR" altLang="en-US" sz="1050" b="1" kern="0" spc="200">
                <a:solidFill>
                  <a:srgbClr val="0D9488"/>
                </a:solidFill>
                <a:latin typeface="Malgun Gothic" pitchFamily="34" charset="0"/>
                <a:ea typeface="Malgun Gothic" pitchFamily="34" charset="-122"/>
                <a:cs typeface="Malgun Gothic" pitchFamily="34" charset="-120"/>
              </a:rPr>
              <a:t>04-4 · 투자 시나리오별 밸류에이션 및 투자 판단</a:t>
            </a:r>
          </a:p>
        </p:txBody>
      </p:sp>
      <p:sp>
        <p:nvSpPr>
          <p:cNvPr id="3" name="title"/>
          <p:cNvSpPr/>
          <p:nvPr/>
        </p:nvSpPr>
        <p:spPr>
          <a:xfrm>
            <a:off x="658368" y="460000"/>
            <a:ext cx="11430000" cy="520000"/>
          </a:xfrm>
          <a:prstGeom prst="rect">
            <a:avLst/>
          </a:prstGeom>
          <a:noFill/>
          <a:ln/>
        </p:spPr>
        <p:txBody>
          <a:bodyPr wrap="square" lIns="0" tIns="0" rIns="0" bIns="0" rtlCol="0" anchor="ctr"/>
          <a:lstStyle/>
          <a:p>
            <a:pPr marL="0" indent="0" algn="l">
              <a:buNone/>
            </a:pPr>
            <a:r>
              <a:rPr lang="ko-KR" altLang="en-US" sz="1850" b="1" kern="0">
                <a:solidFill>
                  <a:srgbClr val="0E2036"/>
                </a:solidFill>
                <a:latin typeface="Malgun Gothic" pitchFamily="34" charset="0"/>
                <a:ea typeface="Malgun Gothic" pitchFamily="34" charset="-122"/>
                <a:cs typeface="Malgun Gothic" pitchFamily="34" charset="-120"/>
              </a:rPr>
              <a:t>투자 시나리오별 밸류에이션 및 투자 판단</a:t>
            </a:r>
          </a:p>
        </p:txBody>
      </p:sp>
      <p:sp>
        <p:nvSpPr>
          <p:cNvPr id="4" name="tick">
            <a:extLst>
              <a:ext uri="{C183D7F6-B498-43B3-948B-1728B52AA6E4}">
                <adec:decorative xmlns:adec="http://schemas.microsoft.com/office/drawing/2017/decorative" val="1"/>
              </a:ext>
            </a:extLst>
          </p:cNvPr>
          <p:cNvSpPr/>
          <p:nvPr/>
        </p:nvSpPr>
        <p:spPr>
          <a:xfrm>
            <a:off x="694944" y="1035000"/>
            <a:ext cx="502920" cy="50000"/>
          </a:xfrm>
          <a:prstGeom prst="rect">
            <a:avLst/>
          </a:prstGeom>
          <a:solidFill>
            <a:srgbClr val="0D9488"/>
          </a:solidFill>
        </p:spPr>
        <p:txBody>
          <a:bodyPr/>
          <a:lstStyle/>
          <a:p>
            <a:endParaRPr lang="ko-KR" altLang="en-US"/>
          </a:p>
        </p:txBody>
      </p:sp>
      <p:sp>
        <p:nvSpPr>
          <p:cNvPr id="5" name="subtitle"/>
          <p:cNvSpPr/>
          <p:nvPr/>
        </p:nvSpPr>
        <p:spPr>
          <a:xfrm>
            <a:off x="676656" y="1140000"/>
            <a:ext cx="10881360" cy="260000"/>
          </a:xfrm>
          <a:prstGeom prst="rect">
            <a:avLst/>
          </a:prstGeom>
          <a:noFill/>
          <a:ln/>
        </p:spPr>
        <p:txBody>
          <a:bodyPr wrap="square" lIns="0" tIns="0" rIns="0" bIns="0" rtlCol="0" anchor="ctr"/>
          <a:lstStyle/>
          <a:p>
            <a:pPr marL="0" indent="0" algn="l">
              <a:buNone/>
            </a:pPr>
            <a:r>
              <a:rPr lang="ko-KR" altLang="en-US" sz="1050" kern="0">
                <a:solidFill>
                  <a:srgbClr val="33465B"/>
                </a:solidFill>
                <a:latin typeface="Malgun Gothic" pitchFamily="34" charset="0"/>
                <a:ea typeface="Malgun Gothic" pitchFamily="34" charset="-122"/>
                <a:cs typeface="Malgun Gothic" pitchFamily="34" charset="-120"/>
              </a:rPr>
              <a:t>현재 시총은 어느 정도 성공을 반영하고 있는가</a:t>
            </a:r>
          </a:p>
        </p:txBody>
      </p:sp>
      <p:sp>
        <p:nvSpPr>
          <p:cNvPr id="6" name="lead"/>
          <p:cNvSpPr/>
          <p:nvPr/>
        </p:nvSpPr>
        <p:spPr>
          <a:xfrm>
            <a:off x="676656" y="1400000"/>
            <a:ext cx="10875264" cy="500000"/>
          </a:xfrm>
          <a:prstGeom prst="rect">
            <a:avLst/>
          </a:prstGeom>
          <a:noFill/>
          <a:ln/>
        </p:spPr>
        <p:txBody>
          <a:bodyPr wrap="square" lIns="0" tIns="0" rIns="0" bIns="0" rtlCol="0" anchor="t"/>
          <a:lstStyle/>
          <a:p>
            <a:pPr marL="0" indent="0" algn="l">
              <a:lnSpc>
                <a:spcPct val="110000"/>
              </a:lnSpc>
              <a:buNone/>
            </a:pPr>
            <a:r>
              <a:rPr lang="ko-KR" altLang="en-US" sz="850" kern="0">
                <a:solidFill>
                  <a:srgbClr val="33465B"/>
                </a:solidFill>
                <a:latin typeface="Malgun Gothic" pitchFamily="34" charset="0"/>
                <a:ea typeface="Malgun Gothic" pitchFamily="34" charset="-122"/>
                <a:cs typeface="Malgun Gothic" pitchFamily="34" charset="-120"/>
              </a:rPr>
              <a:t>현재 시총 약 5.6조 원은 기존 안과 사업의 현재 실적만으로 설명하기 어렵다. 28p에서 확인했듯 현재 시총을 정당화하려면 정상화 PER 기준 약 1,100억~2,800억 원 수준의 순이익이 필요하다.</a:t>
            </a:r>
          </a:p>
          <a:p>
            <a:pPr marL="0" indent="0" algn="l">
              <a:lnSpc>
                <a:spcPct val="110000"/>
              </a:lnSpc>
              <a:spcBef>
                <a:spcPts val="200"/>
              </a:spcBef>
              <a:buNone/>
            </a:pPr>
            <a:r>
              <a:rPr lang="ko-KR" altLang="en-US" sz="850" kern="0">
                <a:solidFill>
                  <a:srgbClr val="33465B"/>
                </a:solidFill>
                <a:latin typeface="Malgun Gothic" pitchFamily="34" charset="0"/>
                <a:ea typeface="Malgun Gothic" pitchFamily="34" charset="-122"/>
                <a:cs typeface="Malgun Gothic" pitchFamily="34" charset="-120"/>
              </a:rPr>
              <a:t>따라서 기업가치 평가는 </a:t>
            </a:r>
            <a:r>
              <a:rPr lang="ko-KR" altLang="en-US" sz="850" b="1" kern="0">
                <a:solidFill>
                  <a:srgbClr val="1D4ED8"/>
                </a:solidFill>
                <a:latin typeface="Malgun Gothic" pitchFamily="34" charset="0"/>
                <a:ea typeface="Malgun Gothic" pitchFamily="34" charset="-122"/>
                <a:cs typeface="Malgun Gothic" pitchFamily="34" charset="-120"/>
              </a:rPr>
              <a:t>① SCD411이 실제로 얼마의 이익을 창출할 수 있는지</a:t>
            </a:r>
            <a:r>
              <a:rPr lang="ko-KR" altLang="en-US" sz="850" kern="0">
                <a:solidFill>
                  <a:srgbClr val="33465B"/>
                </a:solidFill>
                <a:latin typeface="Malgun Gothic" pitchFamily="34" charset="0"/>
                <a:ea typeface="Malgun Gothic" pitchFamily="34" charset="-122"/>
                <a:cs typeface="Malgun Gothic" pitchFamily="34" charset="-120"/>
              </a:rPr>
              <a:t>, </a:t>
            </a:r>
            <a:r>
              <a:rPr lang="ko-KR" altLang="en-US" sz="850" b="1" kern="0">
                <a:solidFill>
                  <a:srgbClr val="0F766E"/>
                </a:solidFill>
                <a:latin typeface="Malgun Gothic" pitchFamily="34" charset="0"/>
                <a:ea typeface="Malgun Gothic" pitchFamily="34" charset="-122"/>
                <a:cs typeface="Malgun Gothic" pitchFamily="34" charset="-120"/>
              </a:rPr>
              <a:t>② S-PASS가 옵션가치에서 실제 사업가치로 전환되는지</a:t>
            </a:r>
            <a:r>
              <a:rPr lang="ko-KR" altLang="en-US" sz="850" kern="0">
                <a:solidFill>
                  <a:srgbClr val="33465B"/>
                </a:solidFill>
                <a:latin typeface="Malgun Gothic" pitchFamily="34" charset="0"/>
                <a:ea typeface="Malgun Gothic" pitchFamily="34" charset="-122"/>
                <a:cs typeface="Malgun Gothic" pitchFamily="34" charset="-120"/>
              </a:rPr>
              <a:t>를 기준으로 판단한다.</a:t>
            </a:r>
          </a:p>
        </p:txBody>
      </p:sp>
      <p:sp>
        <p:nvSpPr>
          <p:cNvPr id="7" name="tlabel"/>
          <p:cNvSpPr/>
          <p:nvPr/>
        </p:nvSpPr>
        <p:spPr>
          <a:xfrm>
            <a:off x="658368" y="1900000"/>
            <a:ext cx="7000000" cy="190000"/>
          </a:xfrm>
          <a:prstGeom prst="rect">
            <a:avLst/>
          </a:prstGeom>
          <a:noFill/>
          <a:ln/>
        </p:spPr>
        <p:txBody>
          <a:bodyPr wrap="square" lIns="0" tIns="0" rIns="0" bIns="0" rtlCol="0" anchor="t"/>
          <a:lstStyle/>
          <a:p>
            <a:pPr marL="0" indent="0" algn="l">
              <a:buNone/>
            </a:pPr>
            <a:r>
              <a:rPr lang="ko-KR" altLang="en-US" sz="920" b="1" kern="0">
                <a:solidFill>
                  <a:srgbClr val="0E2036"/>
                </a:solidFill>
                <a:latin typeface="Malgun Gothic" pitchFamily="34" charset="0"/>
                <a:ea typeface="Malgun Gothic" pitchFamily="34" charset="-122"/>
                <a:cs typeface="Malgun Gothic" pitchFamily="34" charset="-120"/>
              </a:rPr>
              <a:t>시나리오별 기업가치 범위</a:t>
            </a:r>
          </a:p>
        </p:txBody>
      </p:sp>
      <p:graphicFrame>
        <p:nvGraphicFramePr>
          <p:cNvPr id="40" name="scenario table" descr="시나리오별 기업가치 범위 표: Bear 순이익 500~1,000억원 PER 20~30배 시총 2~3조원, Base 1,200~2,000억원 PER 30~40배 5~7조원, Bull 2,500억원 이상 PER 40~50배 10조원 이상"/>
          <p:cNvGraphicFramePr>
            <a:graphicFrameLocks noGrp="1"/>
          </p:cNvGraphicFramePr>
          <p:nvPr>
            <p:extLst>
              <p:ext uri="{D42A27DB-BD31-4B8C-83A1-F6EECF244321}">
                <p14:modId xmlns:p14="http://schemas.microsoft.com/office/powerpoint/2010/main" val="1429085307"/>
              </p:ext>
            </p:extLst>
          </p:nvPr>
        </p:nvGraphicFramePr>
        <p:xfrm>
          <a:off x="658368" y="2150000"/>
          <a:ext cx="10875264" cy="1390000"/>
        </p:xfrm>
        <a:graphic>
          <a:graphicData uri="http://schemas.openxmlformats.org/drawingml/2006/table">
            <a:tbl>
              <a:tblPr firstRow="1"/>
              <a:tblGrid>
                <a:gridCol w="1250000">
                  <a:extLst>
                    <a:ext uri="{9D8B030D-6E8A-4147-A177-3AD203B41FA5}">
                      <a16:colId xmlns:a16="http://schemas.microsoft.com/office/drawing/2014/main" val="20000"/>
                    </a:ext>
                  </a:extLst>
                </a:gridCol>
                <a:gridCol w="3950264">
                  <a:extLst>
                    <a:ext uri="{9D8B030D-6E8A-4147-A177-3AD203B41FA5}">
                      <a16:colId xmlns:a16="http://schemas.microsoft.com/office/drawing/2014/main" val="20001"/>
                    </a:ext>
                  </a:extLst>
                </a:gridCol>
                <a:gridCol w="1750000">
                  <a:extLst>
                    <a:ext uri="{9D8B030D-6E8A-4147-A177-3AD203B41FA5}">
                      <a16:colId xmlns:a16="http://schemas.microsoft.com/office/drawing/2014/main" val="20002"/>
                    </a:ext>
                  </a:extLst>
                </a:gridCol>
                <a:gridCol w="1300000">
                  <a:extLst>
                    <a:ext uri="{9D8B030D-6E8A-4147-A177-3AD203B41FA5}">
                      <a16:colId xmlns:a16="http://schemas.microsoft.com/office/drawing/2014/main" val="20003"/>
                    </a:ext>
                  </a:extLst>
                </a:gridCol>
                <a:gridCol w="2625000">
                  <a:extLst>
                    <a:ext uri="{9D8B030D-6E8A-4147-A177-3AD203B41FA5}">
                      <a16:colId xmlns:a16="http://schemas.microsoft.com/office/drawing/2014/main" val="20004"/>
                    </a:ext>
                  </a:extLst>
                </a:gridCol>
              </a:tblGrid>
              <a:tr h="230000">
                <a:tc>
                  <a:txBody>
                    <a:bodyPr/>
                    <a:lstStyle/>
                    <a:p>
                      <a:pPr marL="0" indent="0" algn="l">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구분</a:t>
                      </a:r>
                    </a:p>
                  </a:txBody>
                  <a:tcPr marL="64008" marR="64008" marT="14000" marB="14000" anchor="ctr">
                    <a:lnB w="6350" cap="flat" cmpd="sng" algn="ctr">
                      <a:solidFill>
                        <a:srgbClr val="E3E9F2"/>
                      </a:solidFill>
                    </a:lnB>
                    <a:solidFill>
                      <a:srgbClr val="0E2036"/>
                    </a:solidFill>
                  </a:tcPr>
                </a:tc>
                <a:tc>
                  <a:txBody>
                    <a:bodyPr/>
                    <a:lstStyle/>
                    <a:p>
                      <a:pPr marL="0" indent="0" algn="l">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핵심 전제</a:t>
                      </a:r>
                    </a:p>
                  </a:txBody>
                  <a:tcPr marL="64008" marR="64008" marT="14000" marB="14000" anchor="ctr">
                    <a:lnB w="6350" cap="flat" cmpd="sng" algn="ctr">
                      <a:solidFill>
                        <a:srgbClr val="E3E9F2"/>
                      </a:solidFill>
                    </a:lnB>
                    <a:solidFill>
                      <a:srgbClr val="0E2036"/>
                    </a:solidFill>
                  </a:tcPr>
                </a:tc>
                <a:tc>
                  <a:txBody>
                    <a:bodyPr/>
                    <a:lstStyle/>
                    <a:p>
                      <a:pPr marL="0" indent="0" algn="ctr">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순이익 가정</a:t>
                      </a:r>
                    </a:p>
                  </a:txBody>
                  <a:tcPr marL="64008" marR="64008" marT="14000" marB="14000" anchor="ctr">
                    <a:lnB w="6350" cap="flat" cmpd="sng" algn="ctr">
                      <a:solidFill>
                        <a:srgbClr val="E3E9F2"/>
                      </a:solidFill>
                    </a:lnB>
                    <a:solidFill>
                      <a:srgbClr val="0E2036"/>
                    </a:solidFill>
                  </a:tcPr>
                </a:tc>
                <a:tc>
                  <a:txBody>
                    <a:bodyPr/>
                    <a:lstStyle/>
                    <a:p>
                      <a:pPr marL="0" indent="0" algn="ctr">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적용 PER</a:t>
                      </a:r>
                    </a:p>
                  </a:txBody>
                  <a:tcPr marL="64008" marR="64008" marT="14000" marB="14000" anchor="ctr">
                    <a:lnB w="6350" cap="flat" cmpd="sng" algn="ctr">
                      <a:solidFill>
                        <a:srgbClr val="E3E9F2"/>
                      </a:solidFill>
                    </a:lnB>
                    <a:solidFill>
                      <a:srgbClr val="0E2036"/>
                    </a:solidFill>
                  </a:tcPr>
                </a:tc>
                <a:tc>
                  <a:txBody>
                    <a:bodyPr/>
                    <a:lstStyle/>
                    <a:p>
                      <a:pPr marL="0" indent="0" algn="ctr">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시총 범위</a:t>
                      </a:r>
                    </a:p>
                  </a:txBody>
                  <a:tcPr marL="64008" marR="64008" marT="14000" marB="14000" anchor="ctr">
                    <a:lnB w="6350" cap="flat" cmpd="sng" algn="ctr">
                      <a:solidFill>
                        <a:srgbClr val="E3E9F2"/>
                      </a:solidFill>
                    </a:lnB>
                    <a:solidFill>
                      <a:srgbClr val="0E2036"/>
                    </a:solidFill>
                  </a:tcPr>
                </a:tc>
                <a:extLst>
                  <a:ext uri="{0D108BD9-81ED-4DB2-BD59-A6C34878D82A}">
                    <a16:rowId xmlns:a16="http://schemas.microsoft.com/office/drawing/2014/main" val="10000"/>
                  </a:ext>
                </a:extLst>
              </a:tr>
              <a:tr h="380000">
                <a:tc>
                  <a:txBody>
                    <a:bodyPr/>
                    <a:lstStyle/>
                    <a:p>
                      <a:pPr marL="0" indent="0" algn="l">
                        <a:lnSpc>
                          <a:spcPct val="104000"/>
                        </a:lnSpc>
                        <a:buNone/>
                      </a:pPr>
                      <a:r>
                        <a:rPr lang="ko-KR" altLang="en-US" sz="850" b="1" kern="0">
                          <a:solidFill>
                            <a:srgbClr val="9A3412"/>
                          </a:solidFill>
                          <a:latin typeface="Malgun Gothic" pitchFamily="34" charset="0"/>
                          <a:ea typeface="Malgun Gothic" pitchFamily="34" charset="-122"/>
                          <a:cs typeface="Malgun Gothic" pitchFamily="34" charset="-120"/>
                        </a:rPr>
                        <a:t>Bear Case</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BEEE2"/>
                    </a:solidFill>
                  </a:tcPr>
                </a:tc>
                <a:tc>
                  <a:txBody>
                    <a:bodyPr/>
                    <a:lstStyle/>
                    <a:p>
                      <a:pPr marL="0" indent="0" algn="l">
                        <a:lnSpc>
                          <a:spcPct val="104000"/>
                        </a:lnSpc>
                        <a:buNone/>
                      </a:pPr>
                      <a:r>
                        <a:rPr lang="ko-KR" altLang="en-US" sz="700" kern="0">
                          <a:solidFill>
                            <a:srgbClr val="33465B"/>
                          </a:solidFill>
                          <a:latin typeface="Malgun Gothic" pitchFamily="34" charset="0"/>
                          <a:ea typeface="Malgun Gothic" pitchFamily="34" charset="-122"/>
                          <a:cs typeface="Malgun Gothic" pitchFamily="34" charset="-120"/>
                        </a:rPr>
                        <a:t>SCD411 성장 제한 · 캐나다 외 확대 지연 · Profit Sharing 기대 이하 · S-PASS 검증 지연</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ctr">
                        <a:lnSpc>
                          <a:spcPct val="104000"/>
                        </a:lnSpc>
                        <a:buNone/>
                      </a:pPr>
                      <a:r>
                        <a:rPr lang="ko-KR" altLang="en-US" sz="780" b="1" kern="0">
                          <a:solidFill>
                            <a:srgbClr val="1D4ED8"/>
                          </a:solidFill>
                          <a:latin typeface="Malgun Gothic" pitchFamily="34" charset="0"/>
                          <a:ea typeface="Malgun Gothic" pitchFamily="34" charset="-122"/>
                          <a:cs typeface="Malgun Gothic" pitchFamily="34" charset="-120"/>
                        </a:rPr>
                        <a:t>500~1,000억 원</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ctr">
                        <a:lnSpc>
                          <a:spcPct val="104000"/>
                        </a:lnSpc>
                        <a:buNone/>
                      </a:pPr>
                      <a:r>
                        <a:rPr lang="ko-KR" altLang="en-US" sz="780" b="1" kern="0">
                          <a:solidFill>
                            <a:srgbClr val="33465B"/>
                          </a:solidFill>
                          <a:latin typeface="Malgun Gothic" pitchFamily="34" charset="0"/>
                          <a:ea typeface="Malgun Gothic" pitchFamily="34" charset="-122"/>
                          <a:cs typeface="Malgun Gothic" pitchFamily="34" charset="-120"/>
                        </a:rPr>
                        <a:t>20~30배</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ctr">
                        <a:lnSpc>
                          <a:spcPct val="104000"/>
                        </a:lnSpc>
                        <a:buNone/>
                      </a:pPr>
                      <a:r>
                        <a:rPr lang="ko-KR" altLang="en-US" sz="900" b="1" kern="0">
                          <a:solidFill>
                            <a:srgbClr val="9A3412"/>
                          </a:solidFill>
                          <a:latin typeface="Malgun Gothic" pitchFamily="34" charset="0"/>
                          <a:ea typeface="Malgun Gothic" pitchFamily="34" charset="-122"/>
                          <a:cs typeface="Malgun Gothic" pitchFamily="34" charset="-120"/>
                        </a:rPr>
                        <a:t>2~3조 원</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extLst>
                  <a:ext uri="{0D108BD9-81ED-4DB2-BD59-A6C34878D82A}">
                    <a16:rowId xmlns:a16="http://schemas.microsoft.com/office/drawing/2014/main" val="10001"/>
                  </a:ext>
                </a:extLst>
              </a:tr>
              <a:tr h="380000">
                <a:tc>
                  <a:txBody>
                    <a:bodyPr/>
                    <a:lstStyle/>
                    <a:p>
                      <a:pPr marL="0" indent="0" algn="l">
                        <a:lnSpc>
                          <a:spcPct val="104000"/>
                        </a:lnSpc>
                        <a:buNone/>
                      </a:pPr>
                      <a:r>
                        <a:rPr lang="ko-KR" altLang="en-US" sz="850" b="1" kern="0">
                          <a:solidFill>
                            <a:srgbClr val="0E2036"/>
                          </a:solidFill>
                          <a:latin typeface="Malgun Gothic" pitchFamily="34" charset="0"/>
                          <a:ea typeface="Malgun Gothic" pitchFamily="34" charset="-122"/>
                          <a:cs typeface="Malgun Gothic" pitchFamily="34" charset="-120"/>
                        </a:rPr>
                        <a:t>Base Case</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EF3C7"/>
                    </a:solidFill>
                  </a:tcPr>
                </a:tc>
                <a:tc>
                  <a:txBody>
                    <a:bodyPr/>
                    <a:lstStyle/>
                    <a:p>
                      <a:pPr marL="0" indent="0" algn="l">
                        <a:lnSpc>
                          <a:spcPct val="104000"/>
                        </a:lnSpc>
                        <a:buNone/>
                      </a:pPr>
                      <a:r>
                        <a:rPr lang="ko-KR" altLang="en-US" sz="700" kern="0">
                          <a:solidFill>
                            <a:srgbClr val="33465B"/>
                          </a:solidFill>
                          <a:latin typeface="Malgun Gothic" pitchFamily="34" charset="0"/>
                          <a:ea typeface="Malgun Gothic" pitchFamily="34" charset="-122"/>
                          <a:cs typeface="Malgun Gothic" pitchFamily="34" charset="-120"/>
                        </a:rPr>
                        <a:t>SCD411 글로벌 판매 확대 · 반복 출하 및 매출 인식 확인 · Profit Sharing 일부 검증 · S-PASS 검증 진행</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EFBEF"/>
                    </a:solidFill>
                  </a:tcPr>
                </a:tc>
                <a:tc>
                  <a:txBody>
                    <a:bodyPr/>
                    <a:lstStyle/>
                    <a:p>
                      <a:pPr marL="0" indent="0" algn="ctr">
                        <a:lnSpc>
                          <a:spcPct val="104000"/>
                        </a:lnSpc>
                        <a:buNone/>
                      </a:pPr>
                      <a:r>
                        <a:rPr lang="ko-KR" altLang="en-US" sz="780" b="1" kern="0">
                          <a:solidFill>
                            <a:srgbClr val="1D4ED8"/>
                          </a:solidFill>
                          <a:latin typeface="Malgun Gothic" pitchFamily="34" charset="0"/>
                          <a:ea typeface="Malgun Gothic" pitchFamily="34" charset="-122"/>
                          <a:cs typeface="Malgun Gothic" pitchFamily="34" charset="-120"/>
                        </a:rPr>
                        <a:t>1,200~2,000억 원</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EFBEF"/>
                    </a:solidFill>
                  </a:tcPr>
                </a:tc>
                <a:tc>
                  <a:txBody>
                    <a:bodyPr/>
                    <a:lstStyle/>
                    <a:p>
                      <a:pPr marL="0" indent="0" algn="ctr">
                        <a:lnSpc>
                          <a:spcPct val="104000"/>
                        </a:lnSpc>
                        <a:buNone/>
                      </a:pPr>
                      <a:r>
                        <a:rPr lang="ko-KR" altLang="en-US" sz="780" b="1" kern="0">
                          <a:solidFill>
                            <a:srgbClr val="33465B"/>
                          </a:solidFill>
                          <a:latin typeface="Malgun Gothic" pitchFamily="34" charset="0"/>
                          <a:ea typeface="Malgun Gothic" pitchFamily="34" charset="-122"/>
                          <a:cs typeface="Malgun Gothic" pitchFamily="34" charset="-120"/>
                        </a:rPr>
                        <a:t>30~40배</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EFBEF"/>
                    </a:solidFill>
                  </a:tcPr>
                </a:tc>
                <a:tc>
                  <a:txBody>
                    <a:bodyPr/>
                    <a:lstStyle/>
                    <a:p>
                      <a:pPr marL="0" indent="0" algn="ctr">
                        <a:lnSpc>
                          <a:spcPct val="104000"/>
                        </a:lnSpc>
                        <a:buNone/>
                      </a:pPr>
                      <a:r>
                        <a:rPr lang="ko-KR" altLang="en-US" sz="900" b="1" kern="0">
                          <a:solidFill>
                            <a:srgbClr val="1D4ED8"/>
                          </a:solidFill>
                          <a:latin typeface="Malgun Gothic" pitchFamily="34" charset="0"/>
                          <a:ea typeface="Malgun Gothic" pitchFamily="34" charset="-122"/>
                          <a:cs typeface="Malgun Gothic" pitchFamily="34" charset="-120"/>
                        </a:rPr>
                        <a:t>5~7조 원</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EFBEF"/>
                    </a:solidFill>
                  </a:tcPr>
                </a:tc>
                <a:extLst>
                  <a:ext uri="{0D108BD9-81ED-4DB2-BD59-A6C34878D82A}">
                    <a16:rowId xmlns:a16="http://schemas.microsoft.com/office/drawing/2014/main" val="10002"/>
                  </a:ext>
                </a:extLst>
              </a:tr>
              <a:tr h="400000">
                <a:tc>
                  <a:txBody>
                    <a:bodyPr/>
                    <a:lstStyle/>
                    <a:p>
                      <a:pPr marL="0" indent="0" algn="l">
                        <a:lnSpc>
                          <a:spcPct val="104000"/>
                        </a:lnSpc>
                        <a:buNone/>
                      </a:pPr>
                      <a:r>
                        <a:rPr lang="ko-KR" altLang="en-US" sz="850" b="1" kern="0">
                          <a:solidFill>
                            <a:srgbClr val="1D4ED8"/>
                          </a:solidFill>
                          <a:latin typeface="Malgun Gothic" pitchFamily="34" charset="0"/>
                          <a:ea typeface="Malgun Gothic" pitchFamily="34" charset="-122"/>
                          <a:cs typeface="Malgun Gothic" pitchFamily="34" charset="-120"/>
                        </a:rPr>
                        <a:t>Bull Case</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700" kern="0">
                          <a:solidFill>
                            <a:srgbClr val="33465B"/>
                          </a:solidFill>
                          <a:latin typeface="Malgun Gothic" pitchFamily="34" charset="0"/>
                          <a:ea typeface="Malgun Gothic" pitchFamily="34" charset="-122"/>
                          <a:cs typeface="Malgun Gothic" pitchFamily="34" charset="-120"/>
                        </a:rPr>
                        <a:t>미국 시장 진입 성공 · SCD411 대형 품목화 · Profit Sharing 검증 · S-PASS 상업화 및 플랫폼 리레이팅</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ctr">
                        <a:lnSpc>
                          <a:spcPct val="104000"/>
                        </a:lnSpc>
                        <a:buNone/>
                      </a:pPr>
                      <a:r>
                        <a:rPr lang="ko-KR" altLang="en-US" sz="780" b="1" kern="0">
                          <a:solidFill>
                            <a:srgbClr val="1D4ED8"/>
                          </a:solidFill>
                          <a:latin typeface="Malgun Gothic" pitchFamily="34" charset="0"/>
                          <a:ea typeface="Malgun Gothic" pitchFamily="34" charset="-122"/>
                          <a:cs typeface="Malgun Gothic" pitchFamily="34" charset="-120"/>
                        </a:rPr>
                        <a:t>2,500억 원 이상</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ctr">
                        <a:lnSpc>
                          <a:spcPct val="104000"/>
                        </a:lnSpc>
                        <a:buNone/>
                      </a:pPr>
                      <a:r>
                        <a:rPr lang="ko-KR" altLang="en-US" sz="780" b="1" kern="0">
                          <a:solidFill>
                            <a:srgbClr val="33465B"/>
                          </a:solidFill>
                          <a:latin typeface="Malgun Gothic" pitchFamily="34" charset="0"/>
                          <a:ea typeface="Malgun Gothic" pitchFamily="34" charset="-122"/>
                          <a:cs typeface="Malgun Gothic" pitchFamily="34" charset="-120"/>
                        </a:rPr>
                        <a:t>40~50배+</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ctr">
                        <a:lnSpc>
                          <a:spcPct val="104000"/>
                        </a:lnSpc>
                        <a:buNone/>
                      </a:pPr>
                      <a:r>
                        <a:rPr lang="ko-KR" altLang="en-US" sz="900" b="1" kern="0">
                          <a:solidFill>
                            <a:srgbClr val="0F766E"/>
                          </a:solidFill>
                          <a:latin typeface="Malgun Gothic" pitchFamily="34" charset="0"/>
                          <a:ea typeface="Malgun Gothic" pitchFamily="34" charset="-122"/>
                          <a:cs typeface="Malgun Gothic" pitchFamily="34" charset="-120"/>
                        </a:rPr>
                        <a:t>10조 원 이상</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extLst>
                  <a:ext uri="{0D108BD9-81ED-4DB2-BD59-A6C34878D82A}">
                    <a16:rowId xmlns:a16="http://schemas.microsoft.com/office/drawing/2014/main" val="10003"/>
                  </a:ext>
                </a:extLst>
              </a:tr>
            </a:tbl>
          </a:graphicData>
        </a:graphic>
      </p:graphicFrame>
      <p:sp>
        <p:nvSpPr>
          <p:cNvPr id="8" name="fn"/>
          <p:cNvSpPr/>
          <p:nvPr/>
        </p:nvSpPr>
        <p:spPr>
          <a:xfrm>
            <a:off x="658368" y="3530000"/>
            <a:ext cx="10875264" cy="300000"/>
          </a:xfrm>
          <a:prstGeom prst="rect">
            <a:avLst/>
          </a:prstGeom>
          <a:noFill/>
          <a:ln/>
        </p:spPr>
        <p:txBody>
          <a:bodyPr wrap="square" lIns="0" tIns="0" rIns="0" bIns="0" rtlCol="0" anchor="t"/>
          <a:lstStyle/>
          <a:p>
            <a:pPr marL="0" indent="0" algn="l">
              <a:lnSpc>
                <a:spcPct val="116000"/>
              </a:lnSpc>
              <a:buNone/>
            </a:pPr>
            <a:r>
              <a:rPr lang="ko-KR" altLang="en-US" sz="620" kern="0">
                <a:solidFill>
                  <a:srgbClr val="6B7C90"/>
                </a:solidFill>
                <a:latin typeface="Malgun Gothic" pitchFamily="34" charset="0"/>
                <a:ea typeface="Malgun Gothic" pitchFamily="34" charset="-122"/>
                <a:cs typeface="Malgun Gothic" pitchFamily="34" charset="-120"/>
              </a:rPr>
              <a:t>※ 순이익은 확정 전망이 아닌 시나리오 가정이다.   ※ 적용 PER은 28p 정상화 PER 가정(20~50배) 기준.   ※ Base Case 순이익 하단은 28p 필요 순이익 역산(1,100~2,800억) 및 29p SCD411 정량 시나리오와 정합.   ※ 실제 기업가치는 매출 인식 구조·Profit Sharing 규모·영업이익률·미국 진입·S-PASS 상업화 성과에 따라 달라질 수 있다.</a:t>
            </a:r>
          </a:p>
        </p:txBody>
      </p:sp>
      <p:sp>
        <p:nvSpPr>
          <p:cNvPr id="50" name="pbox">
            <a:extLst>
              <a:ext uri="{C183D7F6-B498-43B3-948B-1728B52AA6E4}">
                <adec:decorative xmlns:adec="http://schemas.microsoft.com/office/drawing/2017/decorative" val="1"/>
              </a:ext>
            </a:extLst>
          </p:cNvPr>
          <p:cNvSpPr/>
          <p:nvPr/>
        </p:nvSpPr>
        <p:spPr>
          <a:xfrm>
            <a:off x="658368" y="3855000"/>
            <a:ext cx="10875264" cy="620000"/>
          </a:xfrm>
          <a:prstGeom prst="rect">
            <a:avLst/>
          </a:prstGeom>
          <a:solidFill>
            <a:srgbClr val="0E2036"/>
          </a:solidFill>
          <a:effectLst>
            <a:outerShdw blurRad="88900" dist="25400" dir="5400000" algn="bl" rotWithShape="0">
              <a:srgbClr val="0E2036">
                <a:alpha val="10000"/>
              </a:srgbClr>
            </a:outerShdw>
          </a:effectLst>
        </p:spPr>
        <p:txBody>
          <a:bodyPr/>
          <a:lstStyle/>
          <a:p>
            <a:endParaRPr lang="ko-KR" altLang="en-US"/>
          </a:p>
        </p:txBody>
      </p:sp>
      <p:sp>
        <p:nvSpPr>
          <p:cNvPr id="51" name="pbar">
            <a:extLst>
              <a:ext uri="{C183D7F6-B498-43B3-948B-1728B52AA6E4}">
                <adec:decorative xmlns:adec="http://schemas.microsoft.com/office/drawing/2017/decorative" val="1"/>
              </a:ext>
            </a:extLst>
          </p:cNvPr>
          <p:cNvSpPr/>
          <p:nvPr/>
        </p:nvSpPr>
        <p:spPr>
          <a:xfrm>
            <a:off x="658368" y="3855000"/>
            <a:ext cx="82296" cy="620000"/>
          </a:xfrm>
          <a:prstGeom prst="rect">
            <a:avLst/>
          </a:prstGeom>
          <a:solidFill>
            <a:srgbClr val="0D9488"/>
          </a:solidFill>
        </p:spPr>
        <p:txBody>
          <a:bodyPr/>
          <a:lstStyle/>
          <a:p>
            <a:endParaRPr lang="ko-KR" altLang="en-US"/>
          </a:p>
        </p:txBody>
      </p:sp>
      <p:sp>
        <p:nvSpPr>
          <p:cNvPr id="52" name="ptxt"/>
          <p:cNvSpPr/>
          <p:nvPr/>
        </p:nvSpPr>
        <p:spPr>
          <a:xfrm>
            <a:off x="900000" y="3875000"/>
            <a:ext cx="10475264" cy="580000"/>
          </a:xfrm>
          <a:prstGeom prst="rect">
            <a:avLst/>
          </a:prstGeom>
          <a:noFill/>
          <a:ln/>
        </p:spPr>
        <p:txBody>
          <a:bodyPr wrap="square" lIns="0" tIns="0" rIns="0" bIns="0" rtlCol="0" anchor="ctr"/>
          <a:lstStyle/>
          <a:p>
            <a:pPr marL="0" indent="0" algn="l">
              <a:lnSpc>
                <a:spcPct val="108000"/>
              </a:lnSpc>
              <a:buNone/>
            </a:pPr>
            <a:r>
              <a:rPr lang="ko-KR" altLang="en-US" sz="750" b="1" kern="0">
                <a:solidFill>
                  <a:srgbClr val="7DE3D4"/>
                </a:solidFill>
                <a:latin typeface="Malgun Gothic" pitchFamily="34" charset="0"/>
                <a:ea typeface="Malgun Gothic" pitchFamily="34" charset="-122"/>
                <a:cs typeface="Malgun Gothic" pitchFamily="34" charset="-120"/>
              </a:rPr>
              <a:t>현재 가격 해석   </a:t>
            </a:r>
            <a:r>
              <a:rPr lang="ko-KR" altLang="en-US" sz="720" kern="0">
                <a:solidFill>
                  <a:srgbClr val="FFFFFF"/>
                </a:solidFill>
                <a:latin typeface="Malgun Gothic" pitchFamily="34" charset="0"/>
                <a:ea typeface="Malgun Gothic" pitchFamily="34" charset="-122"/>
                <a:cs typeface="Malgun Gothic" pitchFamily="34" charset="-120"/>
              </a:rPr>
              <a:t>현재 시가총액 약 5.6조 원은 순이익 1,000억~2,000억 원 수준 실적과 S-PASS의 제한적 가치 반영을 전제로 하는 </a:t>
            </a:r>
            <a:r>
              <a:rPr lang="ko-KR" altLang="en-US" sz="720" b="1" kern="0">
                <a:solidFill>
                  <a:srgbClr val="FCD34D"/>
                </a:solidFill>
                <a:latin typeface="Malgun Gothic" pitchFamily="34" charset="0"/>
                <a:ea typeface="Malgun Gothic" pitchFamily="34" charset="-122"/>
                <a:cs typeface="Malgun Gothic" pitchFamily="34" charset="-120"/>
              </a:rPr>
              <a:t>Base Case 일부 선반영 가격</a:t>
            </a:r>
            <a:r>
              <a:rPr lang="ko-KR" altLang="en-US" sz="720" kern="0">
                <a:solidFill>
                  <a:srgbClr val="FFFFFF"/>
                </a:solidFill>
                <a:latin typeface="Malgun Gothic" pitchFamily="34" charset="0"/>
                <a:ea typeface="Malgun Gothic" pitchFamily="34" charset="-122"/>
                <a:cs typeface="Malgun Gothic" pitchFamily="34" charset="-120"/>
              </a:rPr>
              <a:t>으로 판단한다.</a:t>
            </a:r>
          </a:p>
          <a:p>
            <a:pPr marL="0" indent="0" algn="l">
              <a:lnSpc>
                <a:spcPct val="108000"/>
              </a:lnSpc>
              <a:spcBef>
                <a:spcPts val="200"/>
              </a:spcBef>
              <a:buNone/>
            </a:pPr>
            <a:r>
              <a:rPr lang="ko-KR" altLang="en-US" sz="720" b="1" kern="0">
                <a:solidFill>
                  <a:srgbClr val="7DE3D4"/>
                </a:solidFill>
                <a:latin typeface="Malgun Gothic" pitchFamily="34" charset="0"/>
                <a:ea typeface="Malgun Gothic" pitchFamily="34" charset="-122"/>
                <a:cs typeface="Malgun Gothic" pitchFamily="34" charset="-120"/>
              </a:rPr>
              <a:t>최근 FDA Pre-ANDA 답변 및 일본 계약 구체화 논의</a:t>
            </a:r>
            <a:r>
              <a:rPr lang="ko-KR" altLang="en-US" sz="720" kern="0">
                <a:solidFill>
                  <a:srgbClr val="E6EDF5"/>
                </a:solidFill>
                <a:latin typeface="Malgun Gothic" pitchFamily="34" charset="0"/>
                <a:ea typeface="Malgun Gothic" pitchFamily="34" charset="-122"/>
                <a:cs typeface="Malgun Gothic" pitchFamily="34" charset="-120"/>
              </a:rPr>
              <a:t>는 Base Case의 ‘S-PASS 검증 진행’ 가정을 뒷받침하는 긍정적 신호로 판단한다.</a:t>
            </a:r>
          </a:p>
        </p:txBody>
      </p:sp>
      <p:sp>
        <p:nvSpPr>
          <p:cNvPr id="70" name="rlabel"/>
          <p:cNvSpPr/>
          <p:nvPr/>
        </p:nvSpPr>
        <p:spPr>
          <a:xfrm>
            <a:off x="658368" y="4510000"/>
            <a:ext cx="10875264" cy="170000"/>
          </a:xfrm>
          <a:prstGeom prst="rect">
            <a:avLst/>
          </a:prstGeom>
          <a:noFill/>
          <a:ln/>
        </p:spPr>
        <p:txBody>
          <a:bodyPr wrap="square" lIns="0" tIns="0" rIns="0" bIns="0" rtlCol="0" anchor="t"/>
          <a:lstStyle/>
          <a:p>
            <a:pPr marL="0" indent="0" algn="l">
              <a:buNone/>
            </a:pPr>
            <a:r>
              <a:rPr lang="ko-KR" altLang="en-US" sz="950" b="1" kern="0">
                <a:solidFill>
                  <a:srgbClr val="0E2036"/>
                </a:solidFill>
                <a:latin typeface="Malgun Gothic" pitchFamily="34" charset="0"/>
                <a:ea typeface="Malgun Gothic" pitchFamily="34" charset="-122"/>
                <a:cs typeface="Malgun Gothic" pitchFamily="34" charset="-120"/>
              </a:rPr>
              <a:t>향후 시점별 검증 로드맵   </a:t>
            </a:r>
            <a:r>
              <a:rPr lang="ko-KR" altLang="en-US" sz="820" kern="0">
                <a:solidFill>
                  <a:srgbClr val="33465B"/>
                </a:solidFill>
                <a:latin typeface="Malgun Gothic" pitchFamily="34" charset="0"/>
                <a:ea typeface="Malgun Gothic" pitchFamily="34" charset="-122"/>
                <a:cs typeface="Malgun Gothic" pitchFamily="34" charset="-120"/>
              </a:rPr>
              <a:t>투자 판단은 이벤트가 실제로 검증되는 순서에 따라 업데이트한다</a:t>
            </a:r>
          </a:p>
        </p:txBody>
      </p:sp>
      <p:graphicFrame>
        <p:nvGraphicFramePr>
          <p:cNvPr id="80" name="roadmap table" descr="향후 시점별 검증 로드맵 표: 단기 3~6개월 Base Case 진입 여부 1차 검증, 중기 6~12개월 시총 5.6조 정당화 여부 핵심 구간, 장기 1~3년 Bull Case 진입 여부 판단 구간"/>
          <p:cNvGraphicFramePr>
            <a:graphicFrameLocks noGrp="1"/>
          </p:cNvGraphicFramePr>
          <p:nvPr>
            <p:extLst>
              <p:ext uri="{D42A27DB-BD31-4B8C-83A1-F6EECF244321}">
                <p14:modId xmlns:p14="http://schemas.microsoft.com/office/powerpoint/2010/main" val="2422159557"/>
              </p:ext>
            </p:extLst>
          </p:nvPr>
        </p:nvGraphicFramePr>
        <p:xfrm>
          <a:off x="658368" y="4700000"/>
          <a:ext cx="10875264" cy="1320000"/>
        </p:xfrm>
        <a:graphic>
          <a:graphicData uri="http://schemas.openxmlformats.org/drawingml/2006/table">
            <a:tbl>
              <a:tblPr firstRow="1"/>
              <a:tblGrid>
                <a:gridCol w="1300000">
                  <a:extLst>
                    <a:ext uri="{9D8B030D-6E8A-4147-A177-3AD203B41FA5}">
                      <a16:colId xmlns:a16="http://schemas.microsoft.com/office/drawing/2014/main" val="20000"/>
                    </a:ext>
                  </a:extLst>
                </a:gridCol>
                <a:gridCol w="35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gridCol w="2575264">
                  <a:extLst>
                    <a:ext uri="{9D8B030D-6E8A-4147-A177-3AD203B41FA5}">
                      <a16:colId xmlns:a16="http://schemas.microsoft.com/office/drawing/2014/main" val="20003"/>
                    </a:ext>
                  </a:extLst>
                </a:gridCol>
              </a:tblGrid>
              <a:tr h="180000">
                <a:tc>
                  <a:txBody>
                    <a:bodyPr/>
                    <a:lstStyle/>
                    <a:p>
                      <a:pPr marL="0" indent="0" algn="l">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시점</a:t>
                      </a:r>
                    </a:p>
                  </a:txBody>
                  <a:tcPr marL="64008" marR="64008" marT="14000" marB="14000" anchor="ctr">
                    <a:lnB w="6350" cap="flat" cmpd="sng" algn="ctr">
                      <a:solidFill>
                        <a:srgbClr val="E3E9F2"/>
                      </a:solidFill>
                    </a:lnB>
                    <a:solidFill>
                      <a:srgbClr val="0E2036"/>
                    </a:solidFill>
                  </a:tcPr>
                </a:tc>
                <a:tc>
                  <a:txBody>
                    <a:bodyPr/>
                    <a:lstStyle/>
                    <a:p>
                      <a:pPr marL="0" indent="0" algn="l">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SCD411 확인 포인트</a:t>
                      </a:r>
                    </a:p>
                  </a:txBody>
                  <a:tcPr marL="64008" marR="64008" marT="14000" marB="14000" anchor="ctr">
                    <a:lnB w="6350" cap="flat" cmpd="sng" algn="ctr">
                      <a:solidFill>
                        <a:srgbClr val="E3E9F2"/>
                      </a:solidFill>
                    </a:lnB>
                    <a:solidFill>
                      <a:srgbClr val="0E2036"/>
                    </a:solidFill>
                  </a:tcPr>
                </a:tc>
                <a:tc>
                  <a:txBody>
                    <a:bodyPr/>
                    <a:lstStyle/>
                    <a:p>
                      <a:pPr marL="0" indent="0" algn="l">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S-PASS 확인 포인트</a:t>
                      </a:r>
                    </a:p>
                  </a:txBody>
                  <a:tcPr marL="64008" marR="64008" marT="14000" marB="14000" anchor="ctr">
                    <a:lnB w="6350" cap="flat" cmpd="sng" algn="ctr">
                      <a:solidFill>
                        <a:srgbClr val="E3E9F2"/>
                      </a:solidFill>
                    </a:lnB>
                    <a:solidFill>
                      <a:srgbClr val="0E2036"/>
                    </a:solidFill>
                  </a:tcPr>
                </a:tc>
                <a:tc>
                  <a:txBody>
                    <a:bodyPr/>
                    <a:lstStyle/>
                    <a:p>
                      <a:pPr marL="0" indent="0" algn="l">
                        <a:lnSpc>
                          <a:spcPct val="104000"/>
                        </a:lnSpc>
                        <a:buNone/>
                      </a:pPr>
                      <a:r>
                        <a:rPr lang="ko-KR" altLang="en-US" sz="760" b="1" kern="0">
                          <a:solidFill>
                            <a:srgbClr val="FFFFFF"/>
                          </a:solidFill>
                          <a:latin typeface="Malgun Gothic" pitchFamily="34" charset="0"/>
                          <a:ea typeface="Malgun Gothic" pitchFamily="34" charset="-122"/>
                          <a:cs typeface="Malgun Gothic" pitchFamily="34" charset="-120"/>
                        </a:rPr>
                        <a:t>투자 의미</a:t>
                      </a:r>
                    </a:p>
                  </a:txBody>
                  <a:tcPr marL="64008" marR="64008" marT="14000" marB="14000" anchor="ctr">
                    <a:lnB w="6350" cap="flat" cmpd="sng" algn="ctr">
                      <a:solidFill>
                        <a:srgbClr val="E3E9F2"/>
                      </a:solidFill>
                    </a:lnB>
                    <a:solidFill>
                      <a:srgbClr val="0E2036"/>
                    </a:solidFill>
                  </a:tcPr>
                </a:tc>
                <a:extLst>
                  <a:ext uri="{0D108BD9-81ED-4DB2-BD59-A6C34878D82A}">
                    <a16:rowId xmlns:a16="http://schemas.microsoft.com/office/drawing/2014/main" val="10000"/>
                  </a:ext>
                </a:extLst>
              </a:tr>
              <a:tr h="370000">
                <a:tc>
                  <a:txBody>
                    <a:bodyPr/>
                    <a:lstStyle/>
                    <a:p>
                      <a:pPr marL="0" indent="0" algn="l">
                        <a:buNone/>
                      </a:pPr>
                      <a:r>
                        <a:rPr lang="ko-KR" altLang="en-US" sz="780" b="1" kern="0">
                          <a:solidFill>
                            <a:srgbClr val="9A3412"/>
                          </a:solidFill>
                          <a:latin typeface="Malgun Gothic" pitchFamily="34" charset="0"/>
                          <a:ea typeface="Malgun Gothic" pitchFamily="34" charset="-122"/>
                          <a:cs typeface="Malgun Gothic" pitchFamily="34" charset="-120"/>
                        </a:rPr>
                        <a:t>단기</a:t>
                      </a:r>
                    </a:p>
                    <a:p>
                      <a:pPr marL="0" indent="0" algn="l">
                        <a:spcBef>
                          <a:spcPts val="200"/>
                        </a:spcBef>
                        <a:buNone/>
                      </a:pPr>
                      <a:r>
                        <a:rPr lang="ko-KR" altLang="en-US" sz="640" kern="0">
                          <a:solidFill>
                            <a:srgbClr val="6B7C90"/>
                          </a:solidFill>
                          <a:latin typeface="Malgun Gothic" pitchFamily="34" charset="0"/>
                          <a:ea typeface="Malgun Gothic" pitchFamily="34" charset="-122"/>
                          <a:cs typeface="Malgun Gothic" pitchFamily="34" charset="-120"/>
                        </a:rPr>
                        <a:t>3~6개월</a:t>
                      </a:r>
                    </a:p>
                  </a:txBody>
                  <a:tcPr marL="64008" marR="48000"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BEEE2"/>
                    </a:solidFill>
                  </a:tcPr>
                </a:tc>
                <a:tc>
                  <a:txBody>
                    <a:bodyPr/>
                    <a:lstStyle/>
                    <a:p>
                      <a:pPr marL="0" indent="0" algn="l">
                        <a:lnSpc>
                          <a:spcPct val="104000"/>
                        </a:lnSpc>
                        <a:buNone/>
                      </a:pPr>
                      <a:r>
                        <a:rPr lang="ko-KR" altLang="en-US" sz="660" kern="0">
                          <a:solidFill>
                            <a:srgbClr val="1D4ED8"/>
                          </a:solidFill>
                          <a:latin typeface="Malgun Gothic" pitchFamily="34" charset="0"/>
                          <a:ea typeface="Malgun Gothic" pitchFamily="34" charset="-122"/>
                          <a:cs typeface="Malgun Gothic" pitchFamily="34" charset="-120"/>
                        </a:rPr>
                        <a:t>Apotex 재주문 · 캐나다 반복 출하 · 분기 매출·점유율</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660" kern="0">
                          <a:solidFill>
                            <a:srgbClr val="0F766E"/>
                          </a:solidFill>
                          <a:latin typeface="Malgun Gothic" pitchFamily="34" charset="0"/>
                          <a:ea typeface="Malgun Gothic" pitchFamily="34" charset="-122"/>
                          <a:cs typeface="Malgun Gothic" pitchFamily="34" charset="-120"/>
                        </a:rPr>
                        <a:t>FDA Pre-ANDA 후속 · 추가 BE 요구 여부 · 경구 세마 규제 진행</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680" b="1" kern="0">
                          <a:solidFill>
                            <a:srgbClr val="0E2036"/>
                          </a:solidFill>
                          <a:latin typeface="Malgun Gothic" pitchFamily="34" charset="0"/>
                          <a:ea typeface="Malgun Gothic" pitchFamily="34" charset="-122"/>
                          <a:cs typeface="Malgun Gothic" pitchFamily="34" charset="-120"/>
                        </a:rPr>
                        <a:t>Base Case 진입 여부 1차 검증 구간</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extLst>
                  <a:ext uri="{0D108BD9-81ED-4DB2-BD59-A6C34878D82A}">
                    <a16:rowId xmlns:a16="http://schemas.microsoft.com/office/drawing/2014/main" val="10001"/>
                  </a:ext>
                </a:extLst>
              </a:tr>
              <a:tr h="370000">
                <a:tc>
                  <a:txBody>
                    <a:bodyPr/>
                    <a:lstStyle/>
                    <a:p>
                      <a:pPr marL="0" indent="0" algn="l">
                        <a:buNone/>
                      </a:pPr>
                      <a:r>
                        <a:rPr lang="ko-KR" altLang="en-US" sz="780" b="1" kern="0">
                          <a:solidFill>
                            <a:srgbClr val="1D4ED8"/>
                          </a:solidFill>
                          <a:latin typeface="Malgun Gothic" pitchFamily="34" charset="0"/>
                          <a:ea typeface="Malgun Gothic" pitchFamily="34" charset="-122"/>
                          <a:cs typeface="Malgun Gothic" pitchFamily="34" charset="-120"/>
                        </a:rPr>
                        <a:t>중기</a:t>
                      </a:r>
                    </a:p>
                    <a:p>
                      <a:pPr marL="0" indent="0" algn="l">
                        <a:spcBef>
                          <a:spcPts val="200"/>
                        </a:spcBef>
                        <a:buNone/>
                      </a:pPr>
                      <a:r>
                        <a:rPr lang="ko-KR" altLang="en-US" sz="640" kern="0">
                          <a:solidFill>
                            <a:srgbClr val="6B7C90"/>
                          </a:solidFill>
                          <a:latin typeface="Malgun Gothic" pitchFamily="34" charset="0"/>
                          <a:ea typeface="Malgun Gothic" pitchFamily="34" charset="-122"/>
                          <a:cs typeface="Malgun Gothic" pitchFamily="34" charset="-120"/>
                        </a:rPr>
                        <a:t>6~12개월</a:t>
                      </a:r>
                    </a:p>
                  </a:txBody>
                  <a:tcPr marL="64008" marR="48000"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660" kern="0">
                          <a:solidFill>
                            <a:srgbClr val="1D4ED8"/>
                          </a:solidFill>
                          <a:latin typeface="Malgun Gothic" pitchFamily="34" charset="0"/>
                          <a:ea typeface="Malgun Gothic" pitchFamily="34" charset="-122"/>
                          <a:cs typeface="Malgun Gothic" pitchFamily="34" charset="-120"/>
                        </a:rPr>
                        <a:t>유럽 매출 인식 · 캐나다 외 확대 · Profit Sharing 일부 확인</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AFF"/>
                    </a:solidFill>
                  </a:tcPr>
                </a:tc>
                <a:tc>
                  <a:txBody>
                    <a:bodyPr/>
                    <a:lstStyle/>
                    <a:p>
                      <a:pPr marL="0" indent="0" algn="l">
                        <a:lnSpc>
                          <a:spcPct val="104000"/>
                        </a:lnSpc>
                        <a:buNone/>
                      </a:pPr>
                      <a:r>
                        <a:rPr lang="ko-KR" altLang="en-US" sz="660" kern="0">
                          <a:solidFill>
                            <a:srgbClr val="0F766E"/>
                          </a:solidFill>
                          <a:latin typeface="Malgun Gothic" pitchFamily="34" charset="0"/>
                          <a:ea typeface="Malgun Gothic" pitchFamily="34" charset="-122"/>
                          <a:cs typeface="Malgun Gothic" pitchFamily="34" charset="-120"/>
                        </a:rPr>
                        <a:t>계약 조건 구체화 · 마일스톤 수령 · 경구 인슐린 임상</a:t>
                      </a:r>
                    </a:p>
                    <a:p>
                      <a:pPr marL="0" indent="0" algn="l">
                        <a:lnSpc>
                          <a:spcPct val="104000"/>
                        </a:lnSpc>
                        <a:spcBef>
                          <a:spcPts val="150"/>
                        </a:spcBef>
                        <a:buNone/>
                      </a:pPr>
                      <a:r>
                        <a:rPr lang="ko-KR" altLang="en-US" sz="620" kern="0">
                          <a:solidFill>
                            <a:srgbClr val="9A3412"/>
                          </a:solidFill>
                          <a:latin typeface="Malgun Gothic" pitchFamily="34" charset="0"/>
                          <a:ea typeface="Malgun Gothic" pitchFamily="34" charset="-122"/>
                          <a:cs typeface="Malgun Gothic" pitchFamily="34" charset="-120"/>
                        </a:rPr>
                        <a:t>다이이찌산쿄 계약 확정 · 업프론트 구조 공개 · 마일스톤 조건 확인 · PMDA 허가 전략</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AFF"/>
                    </a:solidFill>
                  </a:tcPr>
                </a:tc>
                <a:tc>
                  <a:txBody>
                    <a:bodyPr/>
                    <a:lstStyle/>
                    <a:p>
                      <a:pPr marL="0" indent="0" algn="l">
                        <a:lnSpc>
                          <a:spcPct val="104000"/>
                        </a:lnSpc>
                        <a:buNone/>
                      </a:pPr>
                      <a:r>
                        <a:rPr lang="ko-KR" altLang="en-US" sz="680" b="1" kern="0">
                          <a:solidFill>
                            <a:srgbClr val="0E2036"/>
                          </a:solidFill>
                          <a:latin typeface="Malgun Gothic" pitchFamily="34" charset="0"/>
                          <a:ea typeface="Malgun Gothic" pitchFamily="34" charset="-122"/>
                          <a:cs typeface="Malgun Gothic" pitchFamily="34" charset="-120"/>
                        </a:rPr>
                        <a:t>시총 5.6조 정당화 여부 핵심 구간</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AFF"/>
                    </a:solidFill>
                  </a:tcPr>
                </a:tc>
                <a:extLst>
                  <a:ext uri="{0D108BD9-81ED-4DB2-BD59-A6C34878D82A}">
                    <a16:rowId xmlns:a16="http://schemas.microsoft.com/office/drawing/2014/main" val="10002"/>
                  </a:ext>
                </a:extLst>
              </a:tr>
              <a:tr h="400000">
                <a:tc>
                  <a:txBody>
                    <a:bodyPr/>
                    <a:lstStyle/>
                    <a:p>
                      <a:pPr marL="0" indent="0" algn="l">
                        <a:buNone/>
                      </a:pPr>
                      <a:r>
                        <a:rPr lang="ko-KR" altLang="en-US" sz="780" b="1" kern="0">
                          <a:solidFill>
                            <a:srgbClr val="0F766E"/>
                          </a:solidFill>
                          <a:latin typeface="Malgun Gothic" pitchFamily="34" charset="0"/>
                          <a:ea typeface="Malgun Gothic" pitchFamily="34" charset="-122"/>
                          <a:cs typeface="Malgun Gothic" pitchFamily="34" charset="-120"/>
                        </a:rPr>
                        <a:t>장기</a:t>
                      </a:r>
                    </a:p>
                    <a:p>
                      <a:pPr marL="0" indent="0" algn="l">
                        <a:spcBef>
                          <a:spcPts val="200"/>
                        </a:spcBef>
                        <a:buNone/>
                      </a:pPr>
                      <a:r>
                        <a:rPr lang="ko-KR" altLang="en-US" sz="640" kern="0">
                          <a:solidFill>
                            <a:srgbClr val="6B7C90"/>
                          </a:solidFill>
                          <a:latin typeface="Malgun Gothic" pitchFamily="34" charset="0"/>
                          <a:ea typeface="Malgun Gothic" pitchFamily="34" charset="-122"/>
                          <a:cs typeface="Malgun Gothic" pitchFamily="34" charset="-120"/>
                        </a:rPr>
                        <a:t>1~3년</a:t>
                      </a:r>
                    </a:p>
                  </a:txBody>
                  <a:tcPr marL="64008" marR="48000"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1F1EE"/>
                    </a:solidFill>
                  </a:tcPr>
                </a:tc>
                <a:tc>
                  <a:txBody>
                    <a:bodyPr/>
                    <a:lstStyle/>
                    <a:p>
                      <a:pPr marL="0" indent="0" algn="l">
                        <a:lnSpc>
                          <a:spcPct val="104000"/>
                        </a:lnSpc>
                        <a:buNone/>
                      </a:pPr>
                      <a:r>
                        <a:rPr lang="ko-KR" altLang="en-US" sz="660" kern="0">
                          <a:solidFill>
                            <a:srgbClr val="1D4ED8"/>
                          </a:solidFill>
                          <a:latin typeface="Malgun Gothic" pitchFamily="34" charset="0"/>
                          <a:ea typeface="Malgun Gothic" pitchFamily="34" charset="-122"/>
                          <a:cs typeface="Malgun Gothic" pitchFamily="34" charset="-120"/>
                        </a:rPr>
                        <a:t>미국 시장 진입 · 대형 품목화 · 이익률 유지</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660" kern="0">
                          <a:solidFill>
                            <a:srgbClr val="0F766E"/>
                          </a:solidFill>
                          <a:latin typeface="Malgun Gothic" pitchFamily="34" charset="0"/>
                          <a:ea typeface="Malgun Gothic" pitchFamily="34" charset="-122"/>
                          <a:cs typeface="Malgun Gothic" pitchFamily="34" charset="-120"/>
                        </a:rPr>
                        <a:t>경구 세마 상업화 · 경구 인슐린 후속 · 플랫폼 리레이팅</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680" b="1" kern="0">
                          <a:solidFill>
                            <a:srgbClr val="0E2036"/>
                          </a:solidFill>
                          <a:latin typeface="Malgun Gothic" pitchFamily="34" charset="0"/>
                          <a:ea typeface="Malgun Gothic" pitchFamily="34" charset="-122"/>
                          <a:cs typeface="Malgun Gothic" pitchFamily="34" charset="-120"/>
                        </a:rPr>
                        <a:t>Bull Case 진입 여부 판단 구간</a:t>
                      </a:r>
                    </a:p>
                  </a:txBody>
                  <a:tcPr marL="64008" marR="64008" marT="14000" marB="14000"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extLst>
                  <a:ext uri="{0D108BD9-81ED-4DB2-BD59-A6C34878D82A}">
                    <a16:rowId xmlns:a16="http://schemas.microsoft.com/office/drawing/2014/main" val="10003"/>
                  </a:ext>
                </a:extLst>
              </a:tr>
            </a:tbl>
          </a:graphicData>
        </a:graphic>
      </p:graphicFrame>
      <p:sp>
        <p:nvSpPr>
          <p:cNvPr id="61" name="jbox">
            <a:extLst>
              <a:ext uri="{C183D7F6-B498-43B3-948B-1728B52AA6E4}">
                <adec:decorative xmlns:adec="http://schemas.microsoft.com/office/drawing/2017/decorative" val="1"/>
              </a:ext>
            </a:extLst>
          </p:cNvPr>
          <p:cNvSpPr/>
          <p:nvPr/>
        </p:nvSpPr>
        <p:spPr>
          <a:xfrm>
            <a:off x="658368" y="6045000"/>
            <a:ext cx="10875264" cy="525000"/>
          </a:xfrm>
          <a:prstGeom prst="rect">
            <a:avLst/>
          </a:prstGeom>
          <a:solidFill>
            <a:srgbClr val="0E2036"/>
          </a:solidFill>
          <a:effectLst>
            <a:outerShdw blurRad="88900" dist="25400" dir="5400000" algn="bl" rotWithShape="0">
              <a:srgbClr val="0E2036">
                <a:alpha val="10000"/>
              </a:srgbClr>
            </a:outerShdw>
          </a:effectLst>
        </p:spPr>
        <p:txBody>
          <a:bodyPr/>
          <a:lstStyle/>
          <a:p>
            <a:endParaRPr lang="ko-KR" altLang="en-US"/>
          </a:p>
        </p:txBody>
      </p:sp>
      <p:sp>
        <p:nvSpPr>
          <p:cNvPr id="62" name="jbar">
            <a:extLst>
              <a:ext uri="{C183D7F6-B498-43B3-948B-1728B52AA6E4}">
                <adec:decorative xmlns:adec="http://schemas.microsoft.com/office/drawing/2017/decorative" val="1"/>
              </a:ext>
            </a:extLst>
          </p:cNvPr>
          <p:cNvSpPr/>
          <p:nvPr/>
        </p:nvSpPr>
        <p:spPr>
          <a:xfrm>
            <a:off x="658368" y="6045000"/>
            <a:ext cx="82296" cy="525000"/>
          </a:xfrm>
          <a:prstGeom prst="rect">
            <a:avLst/>
          </a:prstGeom>
          <a:solidFill>
            <a:srgbClr val="0D9488"/>
          </a:solidFill>
        </p:spPr>
        <p:txBody>
          <a:bodyPr/>
          <a:lstStyle/>
          <a:p>
            <a:endParaRPr lang="ko-KR" altLang="en-US"/>
          </a:p>
        </p:txBody>
      </p:sp>
      <p:sp>
        <p:nvSpPr>
          <p:cNvPr id="63" name="jtxt"/>
          <p:cNvSpPr/>
          <p:nvPr/>
        </p:nvSpPr>
        <p:spPr>
          <a:xfrm>
            <a:off x="900000" y="6080000"/>
            <a:ext cx="10475264" cy="470000"/>
          </a:xfrm>
          <a:prstGeom prst="rect">
            <a:avLst/>
          </a:prstGeom>
          <a:noFill/>
          <a:ln/>
        </p:spPr>
        <p:txBody>
          <a:bodyPr wrap="square" lIns="0" tIns="0" rIns="0" bIns="0" rtlCol="0" anchor="ctr"/>
          <a:lstStyle/>
          <a:p>
            <a:pPr marL="0" indent="0" algn="l">
              <a:lnSpc>
                <a:spcPct val="106000"/>
              </a:lnSpc>
              <a:buNone/>
            </a:pPr>
            <a:r>
              <a:rPr lang="ko-KR" altLang="en-US" sz="830" b="1" kern="0">
                <a:solidFill>
                  <a:srgbClr val="7DE3D4"/>
                </a:solidFill>
                <a:latin typeface="Malgun Gothic" pitchFamily="34" charset="0"/>
                <a:ea typeface="Malgun Gothic" pitchFamily="34" charset="-122"/>
                <a:cs typeface="Malgun Gothic" pitchFamily="34" charset="-120"/>
              </a:rPr>
              <a:t>나의 투자 판단   </a:t>
            </a:r>
            <a:r>
              <a:rPr lang="ko-KR" altLang="en-US" sz="760" kern="0">
                <a:solidFill>
                  <a:srgbClr val="FFFFFF"/>
                </a:solidFill>
                <a:latin typeface="Malgun Gothic" pitchFamily="34" charset="0"/>
                <a:ea typeface="Malgun Gothic" pitchFamily="34" charset="-122"/>
                <a:cs typeface="Malgun Gothic" pitchFamily="34" charset="-120"/>
              </a:rPr>
              <a:t>좋은 회사라는 점은 인정한다. 특히 최근 </a:t>
            </a:r>
            <a:r>
              <a:rPr lang="ko-KR" altLang="en-US" sz="740" b="1" kern="0">
                <a:solidFill>
                  <a:srgbClr val="7DE3D4"/>
                </a:solidFill>
                <a:latin typeface="Malgun Gothic" pitchFamily="34" charset="0"/>
                <a:ea typeface="Malgun Gothic" pitchFamily="34" charset="-122"/>
                <a:cs typeface="Malgun Gothic" pitchFamily="34" charset="-120"/>
              </a:rPr>
              <a:t>FDA 규제 진전과 일본 파트너십 구체화</a:t>
            </a:r>
            <a:r>
              <a:rPr lang="ko-KR" altLang="en-US" sz="740" kern="0">
                <a:solidFill>
                  <a:srgbClr val="FFFFFF"/>
                </a:solidFill>
                <a:latin typeface="Malgun Gothic" pitchFamily="34" charset="0"/>
                <a:ea typeface="Malgun Gothic" pitchFamily="34" charset="-122"/>
                <a:cs typeface="Malgun Gothic" pitchFamily="34" charset="-120"/>
              </a:rPr>
              <a:t>는 S-PASS 검증 과정에서 긍정적인 신호로 볼 수 있다. 다만 현재 가격은 이미 SCD411의 실적화와 S-PASS 검증 성공 가능성을 일정 부분 반영하고 있다. 따라서 현재 투자포인트는 </a:t>
            </a:r>
            <a:r>
              <a:rPr lang="ko-KR" altLang="en-US" sz="740" b="1" kern="0">
                <a:solidFill>
                  <a:srgbClr val="FCD34D"/>
                </a:solidFill>
                <a:latin typeface="Malgun Gothic" pitchFamily="34" charset="0"/>
                <a:ea typeface="Malgun Gothic" pitchFamily="34" charset="-122"/>
                <a:cs typeface="Malgun Gothic" pitchFamily="34" charset="-120"/>
              </a:rPr>
              <a:t>‘추가 기대감’보다 ‘SCD411이 실제로 얼마를 벌 수 있는가’ 그리고 ‘S-PASS가 규제 진전에서 실제 계약·현금흐름 단계로 이어질 수 있는가’</a:t>
            </a:r>
            <a:r>
              <a:rPr lang="ko-KR" altLang="en-US" sz="740" kern="0">
                <a:solidFill>
                  <a:srgbClr val="FFFFFF"/>
                </a:solidFill>
                <a:latin typeface="Malgun Gothic" pitchFamily="34" charset="0"/>
                <a:ea typeface="Malgun Gothic" pitchFamily="34" charset="-122"/>
                <a:cs typeface="Malgun Gothic" pitchFamily="34" charset="-120"/>
              </a:rPr>
              <a:t>를 확인하는 데 있다.</a:t>
            </a:r>
          </a:p>
        </p:txBody>
      </p:sp>
      <p:sp>
        <p:nvSpPr>
          <p:cNvPr id="28" name="footerbar">
            <a:extLst>
              <a:ext uri="{C183D7F6-B498-43B3-948B-1728B52AA6E4}">
                <adec:decorative xmlns:adec="http://schemas.microsoft.com/office/drawing/2017/decorative" val="1"/>
              </a:ext>
            </a:extLst>
          </p:cNvPr>
          <p:cNvSpPr/>
          <p:nvPr/>
        </p:nvSpPr>
        <p:spPr>
          <a:xfrm>
            <a:off x="0" y="6583680"/>
            <a:ext cx="12191695" cy="274320"/>
          </a:xfrm>
          <a:prstGeom prst="rect">
            <a:avLst/>
          </a:prstGeom>
          <a:solidFill>
            <a:srgbClr val="F2F6FC"/>
          </a:solidFill>
        </p:spPr>
        <p:txBody>
          <a:bodyPr/>
          <a:lstStyle/>
          <a:p>
            <a:endParaRPr lang="ko-KR" altLang="en-US"/>
          </a:p>
        </p:txBody>
      </p:sp>
      <p:sp>
        <p:nvSpPr>
          <p:cNvPr id="29" name="ftxt"/>
          <p:cNvSpPr/>
          <p:nvPr/>
        </p:nvSpPr>
        <p:spPr>
          <a:xfrm>
            <a:off x="658368" y="6574536"/>
            <a:ext cx="6400800" cy="283464"/>
          </a:xfrm>
          <a:prstGeom prst="rect">
            <a:avLst/>
          </a:prstGeom>
          <a:noFill/>
          <a:ln/>
        </p:spPr>
        <p:txBody>
          <a:bodyPr wrap="square" lIns="0" tIns="0" rIns="0" bIns="0" rtlCol="0" anchor="ctr"/>
          <a:lstStyle/>
          <a:p>
            <a:pPr marL="0" indent="0" algn="l">
              <a:buNone/>
            </a:pPr>
            <a:r>
              <a:rPr lang="ko-KR" altLang="en-US" sz="850" kern="0">
                <a:solidFill>
                  <a:srgbClr val="6B7C90"/>
                </a:solidFill>
                <a:latin typeface="Malgun Gothic" pitchFamily="34" charset="0"/>
                <a:ea typeface="Malgun Gothic" pitchFamily="34" charset="-122"/>
                <a:cs typeface="Malgun Gothic" pitchFamily="34" charset="-120"/>
              </a:rPr>
              <a:t>삼천당제약 (000250) · 투자스터디 발표자료</a:t>
            </a:r>
          </a:p>
        </p:txBody>
      </p:sp>
      <p:sp>
        <p:nvSpPr>
          <p:cNvPr id="30" name="fpg"/>
          <p:cNvSpPr/>
          <p:nvPr/>
        </p:nvSpPr>
        <p:spPr>
          <a:xfrm>
            <a:off x="11064240" y="6574536"/>
            <a:ext cx="457200" cy="283464"/>
          </a:xfrm>
          <a:prstGeom prst="rect">
            <a:avLst/>
          </a:prstGeom>
          <a:noFill/>
          <a:ln/>
        </p:spPr>
        <p:txBody>
          <a:bodyPr wrap="square" lIns="0" tIns="0" rIns="0" bIns="0" rtlCol="0" anchor="ctr"/>
          <a:lstStyle/>
          <a:p>
            <a:pPr marL="0" indent="0" algn="r">
              <a:buNone/>
            </a:pPr>
            <a:r>
              <a:rPr lang="ko-KR" altLang="en-US" sz="850" kern="0">
                <a:solidFill>
                  <a:srgbClr val="6B7C90"/>
                </a:solidFill>
                <a:latin typeface="Malgun Gothic" pitchFamily="34" charset="0"/>
                <a:ea typeface="Malgun Gothic" pitchFamily="34" charset="-122"/>
                <a:cs typeface="Malgun Gothic" pitchFamily="34" charset="-120"/>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EADD5-D785-2898-6E58-0B5F34356F55}"/>
            </a:ext>
          </a:extLst>
        </p:cNvPr>
        <p:cNvGrpSpPr/>
        <p:nvPr/>
      </p:nvGrpSpPr>
      <p:grpSpPr>
        <a:xfrm>
          <a:off x="0" y="0"/>
          <a:ext cx="0" cy="0"/>
          <a:chOff x="0" y="0"/>
          <a:chExt cx="0" cy="0"/>
        </a:xfrm>
      </p:grpSpPr>
      <p:sp>
        <p:nvSpPr>
          <p:cNvPr id="2" name="bg">
            <a:extLst>
              <a:ext uri="{FF2B5EF4-FFF2-40B4-BE49-F238E27FC236}">
                <a16:creationId xmlns:a16="http://schemas.microsoft.com/office/drawing/2014/main" id="{9BE6AE10-41FD-D9BA-683A-831B07CB341F}"/>
              </a:ex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080B12"/>
          </a:solidFill>
          <a:ln/>
        </p:spPr>
        <p:txBody>
          <a:bodyPr/>
          <a:lstStyle/>
          <a:p>
            <a:endParaRPr lang="ko-KR" altLang="en-US"/>
          </a:p>
        </p:txBody>
      </p:sp>
      <p:sp>
        <p:nvSpPr>
          <p:cNvPr id="3" name="top rule">
            <a:extLst>
              <a:ext uri="{FF2B5EF4-FFF2-40B4-BE49-F238E27FC236}">
                <a16:creationId xmlns:a16="http://schemas.microsoft.com/office/drawing/2014/main" id="{B021D452-9969-9A12-4352-EF6B7C77AF39}"/>
              </a:ext>
              <a:ext uri="{C183D7F6-B498-43B3-948B-1728B52AA6E4}">
                <adec:decorative xmlns:adec="http://schemas.microsoft.com/office/drawing/2017/decorative" val="1"/>
              </a:ext>
            </a:extLst>
          </p:cNvPr>
          <p:cNvSpPr/>
          <p:nvPr/>
        </p:nvSpPr>
        <p:spPr>
          <a:xfrm>
            <a:off x="0" y="0"/>
            <a:ext cx="12191695" cy="109728"/>
          </a:xfrm>
          <a:prstGeom prst="rect">
            <a:avLst/>
          </a:prstGeom>
          <a:solidFill>
            <a:srgbClr val="1D4ED8"/>
          </a:solidFill>
          <a:ln/>
        </p:spPr>
        <p:txBody>
          <a:bodyPr/>
          <a:lstStyle/>
          <a:p>
            <a:endParaRPr lang="ko-KR" altLang="en-US"/>
          </a:p>
        </p:txBody>
      </p:sp>
      <p:sp>
        <p:nvSpPr>
          <p:cNvPr id="4" name="bottom rule">
            <a:extLst>
              <a:ext uri="{FF2B5EF4-FFF2-40B4-BE49-F238E27FC236}">
                <a16:creationId xmlns:a16="http://schemas.microsoft.com/office/drawing/2014/main" id="{5FB27986-2D4D-EA7B-3E26-D17C672B03F2}"/>
              </a:ext>
              <a:ext uri="{C183D7F6-B498-43B3-948B-1728B52AA6E4}">
                <adec:decorative xmlns:adec="http://schemas.microsoft.com/office/drawing/2017/decorative" val="1"/>
              </a:ext>
            </a:extLst>
          </p:cNvPr>
          <p:cNvSpPr/>
          <p:nvPr/>
        </p:nvSpPr>
        <p:spPr>
          <a:xfrm>
            <a:off x="0" y="6784848"/>
            <a:ext cx="12191695" cy="73152"/>
          </a:xfrm>
          <a:prstGeom prst="rect">
            <a:avLst/>
          </a:prstGeom>
          <a:solidFill>
            <a:srgbClr val="1E3A8A"/>
          </a:solidFill>
          <a:ln/>
        </p:spPr>
        <p:txBody>
          <a:bodyPr/>
          <a:lstStyle/>
          <a:p>
            <a:endParaRPr lang="ko-KR" altLang="en-US"/>
          </a:p>
        </p:txBody>
      </p:sp>
      <p:sp>
        <p:nvSpPr>
          <p:cNvPr id="5" name="Text 3">
            <a:extLst>
              <a:ext uri="{FF2B5EF4-FFF2-40B4-BE49-F238E27FC236}">
                <a16:creationId xmlns:a16="http://schemas.microsoft.com/office/drawing/2014/main" id="{4ED1FC3A-7C3B-8E87-4FD3-A57863C7C332}"/>
              </a:ext>
              <a:ext uri="{C183D7F6-B498-43B3-948B-1728B52AA6E4}">
                <adec:decorative xmlns:adec="http://schemas.microsoft.com/office/drawing/2017/decorative" val="1"/>
              </a:ext>
            </a:extLst>
          </p:cNvPr>
          <p:cNvSpPr/>
          <p:nvPr/>
        </p:nvSpPr>
        <p:spPr>
          <a:xfrm>
            <a:off x="841248" y="713232"/>
            <a:ext cx="5486400" cy="365760"/>
          </a:xfrm>
          <a:prstGeom prst="rect">
            <a:avLst/>
          </a:prstGeom>
          <a:noFill/>
          <a:ln/>
        </p:spPr>
        <p:txBody>
          <a:bodyPr wrap="square" lIns="0" tIns="0" rIns="0" bIns="0" rtlCol="0" anchor="ctr"/>
          <a:lstStyle/>
          <a:p>
            <a:pPr marL="0" indent="0">
              <a:buNone/>
            </a:pPr>
            <a:r>
              <a:rPr lang="en-US" sz="1400" b="1" kern="0" spc="600" dirty="0">
                <a:solidFill>
                  <a:srgbClr val="60A5FA"/>
                </a:solidFill>
                <a:latin typeface="Malgun Gothic" pitchFamily="34" charset="0"/>
                <a:ea typeface="Malgun Gothic" pitchFamily="34" charset="-122"/>
                <a:cs typeface="Malgun Gothic" pitchFamily="34" charset="-120"/>
              </a:rPr>
              <a:t>SECTION</a:t>
            </a:r>
            <a:endParaRPr lang="en-US" sz="1400" dirty="0"/>
          </a:p>
        </p:txBody>
      </p:sp>
      <p:sp>
        <p:nvSpPr>
          <p:cNvPr id="6" name="Text 4">
            <a:extLst>
              <a:ext uri="{FF2B5EF4-FFF2-40B4-BE49-F238E27FC236}">
                <a16:creationId xmlns:a16="http://schemas.microsoft.com/office/drawing/2014/main" id="{5B08A92C-45B6-320B-945D-9B1E34DCC271}"/>
              </a:ext>
              <a:ext uri="{C183D7F6-B498-43B3-948B-1728B52AA6E4}">
                <adec:decorative xmlns:adec="http://schemas.microsoft.com/office/drawing/2017/decorative" val="1"/>
              </a:ext>
            </a:extLst>
          </p:cNvPr>
          <p:cNvSpPr/>
          <p:nvPr/>
        </p:nvSpPr>
        <p:spPr>
          <a:xfrm>
            <a:off x="566928" y="2651760"/>
            <a:ext cx="5852160" cy="3840480"/>
          </a:xfrm>
          <a:prstGeom prst="rect">
            <a:avLst/>
          </a:prstGeom>
          <a:noFill/>
          <a:ln/>
        </p:spPr>
        <p:txBody>
          <a:bodyPr wrap="square" lIns="0" tIns="0" rIns="0" bIns="0" rtlCol="0" anchor="b"/>
          <a:lstStyle/>
          <a:p>
            <a:pPr marL="0" indent="0" algn="l">
              <a:buNone/>
            </a:pPr>
            <a:r>
              <a:rPr lang="en-US" sz="25000" b="1" dirty="0">
                <a:solidFill>
                  <a:srgbClr val="3B82F6"/>
                </a:solidFill>
                <a:latin typeface="Malgun Gothic" pitchFamily="34" charset="0"/>
                <a:ea typeface="Malgun Gothic" pitchFamily="34" charset="-122"/>
                <a:cs typeface="Malgun Gothic" pitchFamily="34" charset="-120"/>
              </a:rPr>
              <a:t>05</a:t>
            </a:r>
            <a:endParaRPr lang="en-US" sz="25000" dirty="0"/>
          </a:p>
        </p:txBody>
      </p:sp>
      <p:sp>
        <p:nvSpPr>
          <p:cNvPr id="7" name="sep">
            <a:extLst>
              <a:ext uri="{FF2B5EF4-FFF2-40B4-BE49-F238E27FC236}">
                <a16:creationId xmlns:a16="http://schemas.microsoft.com/office/drawing/2014/main" id="{DD828C67-F52C-B28D-3F1F-73C22099E99E}"/>
              </a:ext>
              <a:ext uri="{C183D7F6-B498-43B3-948B-1728B52AA6E4}">
                <adec:decorative xmlns:adec="http://schemas.microsoft.com/office/drawing/2017/decorative" val="1"/>
              </a:ext>
            </a:extLst>
          </p:cNvPr>
          <p:cNvSpPr/>
          <p:nvPr/>
        </p:nvSpPr>
        <p:spPr>
          <a:xfrm>
            <a:off x="6720840" y="2148840"/>
            <a:ext cx="25603" cy="2560320"/>
          </a:xfrm>
          <a:prstGeom prst="rect">
            <a:avLst/>
          </a:prstGeom>
          <a:solidFill>
            <a:srgbClr val="24344F"/>
          </a:solidFill>
          <a:ln/>
        </p:spPr>
        <p:txBody>
          <a:bodyPr/>
          <a:lstStyle/>
          <a:p>
            <a:endParaRPr lang="ko-KR" altLang="en-US"/>
          </a:p>
        </p:txBody>
      </p:sp>
      <p:sp>
        <p:nvSpPr>
          <p:cNvPr id="8" name="accent">
            <a:extLst>
              <a:ext uri="{FF2B5EF4-FFF2-40B4-BE49-F238E27FC236}">
                <a16:creationId xmlns:a16="http://schemas.microsoft.com/office/drawing/2014/main" id="{A7A16FB3-02AA-5028-46BE-BD46D27C790F}"/>
              </a:ext>
              <a:ext uri="{C183D7F6-B498-43B3-948B-1728B52AA6E4}">
                <adec:decorative xmlns:adec="http://schemas.microsoft.com/office/drawing/2017/decorative" val="1"/>
              </a:ext>
            </a:extLst>
          </p:cNvPr>
          <p:cNvSpPr/>
          <p:nvPr/>
        </p:nvSpPr>
        <p:spPr>
          <a:xfrm>
            <a:off x="7178040" y="2724912"/>
            <a:ext cx="731520" cy="73152"/>
          </a:xfrm>
          <a:prstGeom prst="rect">
            <a:avLst/>
          </a:prstGeom>
          <a:solidFill>
            <a:srgbClr val="1D4ED8"/>
          </a:solidFill>
          <a:ln/>
        </p:spPr>
        <p:txBody>
          <a:bodyPr/>
          <a:lstStyle/>
          <a:p>
            <a:endParaRPr lang="ko-KR" altLang="en-US"/>
          </a:p>
        </p:txBody>
      </p:sp>
      <p:sp>
        <p:nvSpPr>
          <p:cNvPr id="9" name="Text 7">
            <a:extLst>
              <a:ext uri="{FF2B5EF4-FFF2-40B4-BE49-F238E27FC236}">
                <a16:creationId xmlns:a16="http://schemas.microsoft.com/office/drawing/2014/main" id="{B52C7E00-EE96-602B-2F7B-0511678E3407}"/>
              </a:ext>
              <a:ext uri="{C183D7F6-B498-43B3-948B-1728B52AA6E4}">
                <adec:decorative xmlns:adec="http://schemas.microsoft.com/office/drawing/2017/decorative" val="1"/>
              </a:ext>
            </a:extLst>
          </p:cNvPr>
          <p:cNvSpPr/>
          <p:nvPr/>
        </p:nvSpPr>
        <p:spPr>
          <a:xfrm>
            <a:off x="7132320" y="2944368"/>
            <a:ext cx="4663440" cy="1188720"/>
          </a:xfrm>
          <a:prstGeom prst="rect">
            <a:avLst/>
          </a:prstGeom>
          <a:noFill/>
          <a:ln/>
        </p:spPr>
        <p:txBody>
          <a:bodyPr wrap="square" lIns="0" tIns="0" rIns="0" bIns="0" rtlCol="0" anchor="t"/>
          <a:lstStyle/>
          <a:p>
            <a:pPr marL="0" indent="0" algn="l">
              <a:lnSpc>
                <a:spcPct val="105000"/>
              </a:lnSpc>
              <a:buNone/>
            </a:pPr>
            <a:r>
              <a:rPr lang="ko-KR" altLang="en-US" sz="3300" b="1" dirty="0" err="1">
                <a:solidFill>
                  <a:srgbClr val="FFFFFF"/>
                </a:solidFill>
                <a:latin typeface="Malgun Gothic" pitchFamily="34" charset="0"/>
                <a:ea typeface="Malgun Gothic" pitchFamily="34" charset="-122"/>
                <a:cs typeface="Malgun Gothic" pitchFamily="34" charset="-120"/>
              </a:rPr>
              <a:t>주담</a:t>
            </a:r>
            <a:r>
              <a:rPr lang="ko-KR" altLang="en-US" sz="3300" b="1" dirty="0">
                <a:solidFill>
                  <a:srgbClr val="FFFFFF"/>
                </a:solidFill>
                <a:latin typeface="Malgun Gothic" pitchFamily="34" charset="0"/>
                <a:ea typeface="Malgun Gothic" pitchFamily="34" charset="-122"/>
                <a:cs typeface="Malgun Gothic" pitchFamily="34" charset="-120"/>
              </a:rPr>
              <a:t> 통화 내용</a:t>
            </a:r>
            <a:endParaRPr lang="en-US" sz="3300" dirty="0"/>
          </a:p>
        </p:txBody>
      </p:sp>
    </p:spTree>
    <p:extLst>
      <p:ext uri="{BB962C8B-B14F-4D97-AF65-F5344CB8AC3E}">
        <p14:creationId xmlns:p14="http://schemas.microsoft.com/office/powerpoint/2010/main" val="719569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lgn="l">
              <a:buNone/>
            </a:pPr>
            <a:r>
              <a:rPr lang="ko-KR" altLang="en-US" sz="1100" b="1" kern="0" spc="200" dirty="0">
                <a:solidFill>
                  <a:srgbClr val="0D9488"/>
                </a:solidFill>
                <a:latin typeface="Malgun Gothic" pitchFamily="34" charset="0"/>
                <a:ea typeface="Malgun Gothic" pitchFamily="34" charset="-122"/>
                <a:cs typeface="Malgun Gothic" pitchFamily="34" charset="-120"/>
              </a:rPr>
              <a:t>05 · </a:t>
            </a:r>
            <a:r>
              <a:rPr lang="ko-KR" altLang="en-US" sz="1100" b="1" kern="0" spc="200" dirty="0" err="1">
                <a:solidFill>
                  <a:srgbClr val="0D9488"/>
                </a:solidFill>
                <a:latin typeface="Malgun Gothic" pitchFamily="34" charset="0"/>
                <a:ea typeface="Malgun Gothic" pitchFamily="34" charset="-122"/>
                <a:cs typeface="Malgun Gothic" pitchFamily="34" charset="-120"/>
              </a:rPr>
              <a:t>주담</a:t>
            </a:r>
            <a:r>
              <a:rPr lang="ko-KR" altLang="en-US" sz="1100" b="1" kern="0" spc="200" dirty="0">
                <a:solidFill>
                  <a:srgbClr val="0D9488"/>
                </a:solidFill>
                <a:latin typeface="Malgun Gothic" pitchFamily="34" charset="0"/>
                <a:ea typeface="Malgun Gothic" pitchFamily="34" charset="-122"/>
                <a:cs typeface="Malgun Gothic" pitchFamily="34" charset="-120"/>
              </a:rPr>
              <a:t> 통화 내용</a:t>
            </a:r>
          </a:p>
        </p:txBody>
      </p:sp>
      <p:sp>
        <p:nvSpPr>
          <p:cNvPr id="3" name="title"/>
          <p:cNvSpPr/>
          <p:nvPr/>
        </p:nvSpPr>
        <p:spPr>
          <a:xfrm>
            <a:off x="658368" y="566928"/>
            <a:ext cx="11430000" cy="603504"/>
          </a:xfrm>
          <a:prstGeom prst="rect">
            <a:avLst/>
          </a:prstGeom>
          <a:noFill/>
          <a:ln/>
        </p:spPr>
        <p:txBody>
          <a:bodyPr wrap="square" lIns="0" tIns="0" rIns="0" bIns="0" rtlCol="0" anchor="ctr"/>
          <a:lstStyle/>
          <a:p>
            <a:pPr marL="0" indent="0" algn="l">
              <a:buNone/>
            </a:pPr>
            <a:r>
              <a:rPr lang="ko-KR" altLang="en-US" sz="2100" b="1" kern="0">
                <a:solidFill>
                  <a:srgbClr val="0E2036"/>
                </a:solidFill>
                <a:latin typeface="Malgun Gothic" pitchFamily="34" charset="0"/>
                <a:ea typeface="Malgun Gothic" pitchFamily="34" charset="-122"/>
                <a:cs typeface="Malgun Gothic" pitchFamily="34" charset="-120"/>
              </a:rPr>
              <a:t>주담 통화 질문 체크리스트 ① SCD411</a:t>
            </a:r>
          </a:p>
        </p:txBody>
      </p:sp>
      <p:sp>
        <p:nvSpPr>
          <p:cNvPr id="4" name="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p:cNvSpPr/>
          <p:nvPr/>
        </p:nvSpPr>
        <p:spPr>
          <a:xfrm>
            <a:off x="676656" y="1371600"/>
            <a:ext cx="10881360" cy="320000"/>
          </a:xfrm>
          <a:prstGeom prst="rect">
            <a:avLst/>
          </a:prstGeom>
          <a:noFill/>
          <a:ln/>
        </p:spPr>
        <p:txBody>
          <a:bodyPr wrap="square" lIns="0" tIns="0" rIns="0" bIns="0" rtlCol="0" anchor="ctr"/>
          <a:lstStyle/>
          <a:p>
            <a:pPr marL="0" indent="0" algn="l">
              <a:buNone/>
            </a:pPr>
            <a:r>
              <a:rPr lang="ko-KR" altLang="en-US" sz="1150" kern="0">
                <a:solidFill>
                  <a:srgbClr val="33465B"/>
                </a:solidFill>
                <a:latin typeface="Malgun Gothic" pitchFamily="34" charset="0"/>
                <a:ea typeface="Malgun Gothic" pitchFamily="34" charset="-122"/>
                <a:cs typeface="Malgun Gothic" pitchFamily="34" charset="-120"/>
              </a:rPr>
              <a:t>공개자료로 확인하기 어려운 부분을 통화로 검증하기 위한 질문</a:t>
            </a:r>
          </a:p>
        </p:txBody>
      </p:sp>
      <p:graphicFrame>
        <p:nvGraphicFramePr>
          <p:cNvPr id="40" name="qtable"/>
          <p:cNvGraphicFramePr>
            <a:graphicFrameLocks noGrp="1"/>
          </p:cNvGraphicFramePr>
          <p:nvPr>
            <p:extLst>
              <p:ext uri="{D42A27DB-BD31-4B8C-83A1-F6EECF244321}">
                <p14:modId xmlns:p14="http://schemas.microsoft.com/office/powerpoint/2010/main" val="1151848804"/>
              </p:ext>
            </p:extLst>
          </p:nvPr>
        </p:nvGraphicFramePr>
        <p:xfrm>
          <a:off x="658368" y="1830000"/>
          <a:ext cx="10875264" cy="3390000"/>
        </p:xfrm>
        <a:graphic>
          <a:graphicData uri="http://schemas.openxmlformats.org/drawingml/2006/table">
            <a:tbl>
              <a:tblPr firstRow="1"/>
              <a:tblGrid>
                <a:gridCol w="17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2900000">
                  <a:extLst>
                    <a:ext uri="{9D8B030D-6E8A-4147-A177-3AD203B41FA5}">
                      <a16:colId xmlns:a16="http://schemas.microsoft.com/office/drawing/2014/main" val="20002"/>
                    </a:ext>
                  </a:extLst>
                </a:gridCol>
                <a:gridCol w="2775264">
                  <a:extLst>
                    <a:ext uri="{9D8B030D-6E8A-4147-A177-3AD203B41FA5}">
                      <a16:colId xmlns:a16="http://schemas.microsoft.com/office/drawing/2014/main" val="20003"/>
                    </a:ext>
                  </a:extLst>
                </a:gridCol>
              </a:tblGrid>
              <a:tr h="330000">
                <a:tc>
                  <a:txBody>
                    <a:bodyPr/>
                    <a:lstStyle/>
                    <a:p>
                      <a:pPr marL="0" indent="0" algn="l">
                        <a:lnSpc>
                          <a:spcPct val="104000"/>
                        </a:lnSpc>
                        <a:buNone/>
                      </a:pPr>
                      <a:r>
                        <a:rPr lang="ko-KR" altLang="en-US" sz="900" b="1" kern="0">
                          <a:solidFill>
                            <a:srgbClr val="FFFFFF"/>
                          </a:solidFill>
                          <a:latin typeface="Malgun Gothic" pitchFamily="34" charset="0"/>
                          <a:ea typeface="Malgun Gothic" pitchFamily="34" charset="-122"/>
                          <a:cs typeface="Malgun Gothic" pitchFamily="34" charset="-120"/>
                        </a:rPr>
                        <a:t>카테고리</a:t>
                      </a:r>
                    </a:p>
                  </a:txBody>
                  <a:tcPr marL="82296" marR="82296" marT="27432" marB="27432" anchor="ctr">
                    <a:lnB w="6350" cap="flat" cmpd="sng" algn="ctr">
                      <a:solidFill>
                        <a:srgbClr val="0E2036"/>
                      </a:solidFill>
                    </a:lnB>
                    <a:solidFill>
                      <a:srgbClr val="0E2036"/>
                    </a:solidFill>
                  </a:tcPr>
                </a:tc>
                <a:tc>
                  <a:txBody>
                    <a:bodyPr/>
                    <a:lstStyle/>
                    <a:p>
                      <a:pPr marL="0" indent="0" algn="l">
                        <a:lnSpc>
                          <a:spcPct val="104000"/>
                        </a:lnSpc>
                        <a:buNone/>
                      </a:pPr>
                      <a:r>
                        <a:rPr lang="ko-KR" altLang="en-US" sz="900" b="1" kern="0">
                          <a:solidFill>
                            <a:srgbClr val="FFFFFF"/>
                          </a:solidFill>
                          <a:latin typeface="Malgun Gothic" pitchFamily="34" charset="0"/>
                          <a:ea typeface="Malgun Gothic" pitchFamily="34" charset="-122"/>
                          <a:cs typeface="Malgun Gothic" pitchFamily="34" charset="-120"/>
                        </a:rPr>
                        <a:t>질문내용</a:t>
                      </a:r>
                    </a:p>
                  </a:txBody>
                  <a:tcPr marL="82296" marR="82296" marT="27432" marB="27432" anchor="ctr">
                    <a:lnB w="6350" cap="flat" cmpd="sng" algn="ctr">
                      <a:solidFill>
                        <a:srgbClr val="0E2036"/>
                      </a:solidFill>
                    </a:lnB>
                    <a:solidFill>
                      <a:srgbClr val="0E2036"/>
                    </a:solidFill>
                  </a:tcPr>
                </a:tc>
                <a:tc>
                  <a:txBody>
                    <a:bodyPr/>
                    <a:lstStyle/>
                    <a:p>
                      <a:pPr marL="0" indent="0" algn="l">
                        <a:lnSpc>
                          <a:spcPct val="104000"/>
                        </a:lnSpc>
                        <a:buNone/>
                      </a:pPr>
                      <a:r>
                        <a:rPr lang="ko-KR" altLang="en-US" sz="900" b="1" kern="0">
                          <a:solidFill>
                            <a:srgbClr val="FFFFFF"/>
                          </a:solidFill>
                          <a:latin typeface="Malgun Gothic" pitchFamily="34" charset="0"/>
                          <a:ea typeface="Malgun Gothic" pitchFamily="34" charset="-122"/>
                          <a:cs typeface="Malgun Gothic" pitchFamily="34" charset="-120"/>
                        </a:rPr>
                        <a:t>질문목적</a:t>
                      </a:r>
                    </a:p>
                  </a:txBody>
                  <a:tcPr marL="82296" marR="82296" marT="27432" marB="27432" anchor="ctr">
                    <a:lnB w="6350" cap="flat" cmpd="sng" algn="ctr">
                      <a:solidFill>
                        <a:srgbClr val="0E2036"/>
                      </a:solidFill>
                    </a:lnB>
                    <a:solidFill>
                      <a:srgbClr val="0E2036"/>
                    </a:solidFill>
                  </a:tcPr>
                </a:tc>
                <a:tc>
                  <a:txBody>
                    <a:bodyPr/>
                    <a:lstStyle/>
                    <a:p>
                      <a:pPr marL="0" indent="0" algn="l">
                        <a:lnSpc>
                          <a:spcPct val="104000"/>
                        </a:lnSpc>
                        <a:buNone/>
                      </a:pPr>
                      <a:r>
                        <a:rPr lang="ko-KR" altLang="en-US" sz="900" b="1" kern="0">
                          <a:solidFill>
                            <a:srgbClr val="FFFFFF"/>
                          </a:solidFill>
                          <a:latin typeface="Malgun Gothic" pitchFamily="34" charset="0"/>
                          <a:ea typeface="Malgun Gothic" pitchFamily="34" charset="-122"/>
                          <a:cs typeface="Malgun Gothic" pitchFamily="34" charset="-120"/>
                        </a:rPr>
                        <a:t>통화내용</a:t>
                      </a:r>
                    </a:p>
                  </a:txBody>
                  <a:tcPr marL="82296" marR="82296" marT="27432" marB="27432" anchor="ctr">
                    <a:lnB w="6350" cap="flat" cmpd="sng" algn="ctr">
                      <a:solidFill>
                        <a:srgbClr val="0E2036"/>
                      </a:solidFill>
                    </a:lnB>
                    <a:solidFill>
                      <a:srgbClr val="0E2036"/>
                    </a:solidFill>
                  </a:tcPr>
                </a:tc>
                <a:extLst>
                  <a:ext uri="{0D108BD9-81ED-4DB2-BD59-A6C34878D82A}">
                    <a16:rowId xmlns:a16="http://schemas.microsoft.com/office/drawing/2014/main" val="10000"/>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01  </a:t>
                      </a:r>
                      <a:r>
                        <a:rPr lang="ko-KR" altLang="en-US" sz="800" b="1" kern="0">
                          <a:solidFill>
                            <a:srgbClr val="1D4ED8"/>
                          </a:solidFill>
                          <a:latin typeface="Malgun Gothic" pitchFamily="34" charset="0"/>
                          <a:ea typeface="Malgun Gothic" pitchFamily="34" charset="-122"/>
                          <a:cs typeface="Malgun Gothic" pitchFamily="34" charset="-120"/>
                        </a:rPr>
                        <a:t>SCD411 · 매출의 질</a:t>
                      </a:r>
                    </a:p>
                  </a:txBody>
                  <a:tcPr marL="82296" marR="82296" marT="27432" marB="27432" anchor="ctr">
                    <a:lnT w="6350" cap="flat" cmpd="sng" algn="ctr">
                      <a:solidFill>
                        <a:srgbClr val="0E2036"/>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b="1" kern="0">
                          <a:solidFill>
                            <a:srgbClr val="0E2036"/>
                          </a:solidFill>
                          <a:latin typeface="Malgun Gothic" pitchFamily="34" charset="0"/>
                          <a:ea typeface="Malgun Gothic" pitchFamily="34" charset="-122"/>
                          <a:cs typeface="Malgun Gothic" pitchFamily="34" charset="-120"/>
                        </a:rPr>
                        <a:t>캐나다 매출은 출하 기준인가요, 처방 기준인가요?</a:t>
                      </a:r>
                    </a:p>
                  </a:txBody>
                  <a:tcPr marL="82296" marR="82296" marT="27432" marB="27432" anchor="ctr">
                    <a:lnT w="6350" cap="flat" cmpd="sng" algn="ctr">
                      <a:solidFill>
                        <a:srgbClr val="0E2036"/>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초도 공급 매출인지 실제 수요 기반 매출인지 확인</a:t>
                      </a:r>
                    </a:p>
                  </a:txBody>
                  <a:tcPr marL="82296" marR="82296" marT="27432" marB="27432" anchor="ctr">
                    <a:lnT w="6350" cap="flat" cmpd="sng" algn="ctr">
                      <a:solidFill>
                        <a:srgbClr val="0E2036"/>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0E2036"/>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1"/>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02  </a:t>
                      </a:r>
                      <a:r>
                        <a:rPr lang="ko-KR" altLang="en-US" sz="800" b="1" kern="0">
                          <a:solidFill>
                            <a:srgbClr val="1D4ED8"/>
                          </a:solidFill>
                          <a:latin typeface="Malgun Gothic" pitchFamily="34" charset="0"/>
                          <a:ea typeface="Malgun Gothic" pitchFamily="34" charset="-122"/>
                          <a:cs typeface="Malgun Gothic" pitchFamily="34" charset="-120"/>
                        </a:rPr>
                        <a:t>SCD411 · 반복 수요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Apotex 재주문은 꾸준하게 이어지고 있나요?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일회성 공급인지 반복 매출인지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2"/>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03  </a:t>
                      </a:r>
                      <a:r>
                        <a:rPr lang="ko-KR" altLang="en-US" sz="800" b="1" kern="0">
                          <a:solidFill>
                            <a:srgbClr val="1D4ED8"/>
                          </a:solidFill>
                          <a:latin typeface="Malgun Gothic" pitchFamily="34" charset="0"/>
                          <a:ea typeface="Malgun Gothic" pitchFamily="34" charset="-122"/>
                          <a:cs typeface="Malgun Gothic" pitchFamily="34" charset="-120"/>
                        </a:rPr>
                        <a:t>SCD411 · 핵심 KPI</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캐나다에서 가장 중요한 KPI는 무엇인가요?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회사가 보는 핵심 지표가 처방액·점유율·재주문 중 무엇인지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3"/>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04  </a:t>
                      </a:r>
                      <a:r>
                        <a:rPr lang="ko-KR" altLang="en-US" sz="800" b="1" kern="0">
                          <a:solidFill>
                            <a:srgbClr val="1D4ED8"/>
                          </a:solidFill>
                          <a:latin typeface="Malgun Gothic" pitchFamily="34" charset="0"/>
                          <a:ea typeface="Malgun Gothic" pitchFamily="34" charset="-122"/>
                          <a:cs typeface="Malgun Gothic" pitchFamily="34" charset="-120"/>
                        </a:rPr>
                        <a:t>SCD411 · 글로벌 매출</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캐나다 외 실제 매출이 발생하는 국가는 어디까지인가요?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허가·계약 단계와 실제 매출 단계를 구분</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4"/>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05  </a:t>
                      </a:r>
                      <a:r>
                        <a:rPr lang="ko-KR" altLang="en-US" sz="800" b="1" kern="0">
                          <a:solidFill>
                            <a:srgbClr val="1D4ED8"/>
                          </a:solidFill>
                          <a:latin typeface="Malgun Gothic" pitchFamily="34" charset="0"/>
                          <a:ea typeface="Malgun Gothic" pitchFamily="34" charset="-122"/>
                          <a:cs typeface="Malgun Gothic" pitchFamily="34" charset="-120"/>
                        </a:rPr>
                        <a:t>SCD411 · 유럽</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유럽은 허가 이후 실제 판매 준비가 어느 단계까지 왔나요?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유럽 모멘텀이 계약 뉴스인지 실적 전환 단계인지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5"/>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06  </a:t>
                      </a:r>
                      <a:r>
                        <a:rPr lang="ko-KR" altLang="en-US" sz="800" b="1" kern="0">
                          <a:solidFill>
                            <a:srgbClr val="1D4ED8"/>
                          </a:solidFill>
                          <a:latin typeface="Malgun Gothic" pitchFamily="34" charset="0"/>
                          <a:ea typeface="Malgun Gothic" pitchFamily="34" charset="-122"/>
                          <a:cs typeface="Malgun Gothic" pitchFamily="34" charset="-120"/>
                        </a:rPr>
                        <a:t>SCD411 · 1Q26 실적</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2026년 1Q 매출 정체는 공급 때문인가요, 수요 때문인가요?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일시적 공급 이슈인지 상업화 속도 문제인지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6"/>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07  </a:t>
                      </a:r>
                      <a:r>
                        <a:rPr lang="ko-KR" altLang="en-US" sz="800" b="1" kern="0">
                          <a:solidFill>
                            <a:srgbClr val="1D4ED8"/>
                          </a:solidFill>
                          <a:latin typeface="Malgun Gothic" pitchFamily="34" charset="0"/>
                          <a:ea typeface="Malgun Gothic" pitchFamily="34" charset="-122"/>
                          <a:cs typeface="Malgun Gothic" pitchFamily="34" charset="-120"/>
                        </a:rPr>
                        <a:t>SCD411 · 수익성</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b="1" kern="0">
                          <a:solidFill>
                            <a:srgbClr val="0E2036"/>
                          </a:solidFill>
                          <a:latin typeface="Malgun Gothic" pitchFamily="34" charset="0"/>
                          <a:ea typeface="Malgun Gothic" pitchFamily="34" charset="-122"/>
                          <a:cs typeface="Malgun Gothic" pitchFamily="34" charset="-120"/>
                        </a:rPr>
                        <a:t>SCD411 성장 시 삼천당에 귀속되는 수익 구조는 어떻게 되나요?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시장 규모가 아니라 실제 주주 귀속 이익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7"/>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08  </a:t>
                      </a:r>
                      <a:r>
                        <a:rPr lang="ko-KR" altLang="en-US" sz="800" b="1" kern="0">
                          <a:solidFill>
                            <a:srgbClr val="1D4ED8"/>
                          </a:solidFill>
                          <a:latin typeface="Malgun Gothic" pitchFamily="34" charset="0"/>
                          <a:ea typeface="Malgun Gothic" pitchFamily="34" charset="-122"/>
                          <a:cs typeface="Malgun Gothic" pitchFamily="34" charset="-120"/>
                        </a:rPr>
                        <a:t>SCD411 · 공급능력</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현재 CAPA 기준으로 공급 확대에 병목은 없나요?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수요 증가 시 생산·출하가 따라갈 수 있는지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8"/>
                  </a:ext>
                </a:extLst>
              </a:tr>
              <a:tr h="340000">
                <a:tc>
                  <a:txBody>
                    <a:bodyPr/>
                    <a:lstStyle/>
                    <a:p>
                      <a:pPr marL="0" indent="0" algn="l">
                        <a:lnSpc>
                          <a:spcPct val="104000"/>
                        </a:lnSpc>
                        <a:buNone/>
                      </a:pPr>
                      <a:r>
                        <a:rPr lang="ko-KR" altLang="en-US" sz="750" b="1" kern="0">
                          <a:solidFill>
                            <a:srgbClr val="1D4ED8"/>
                          </a:solidFill>
                          <a:latin typeface="Malgun Gothic" pitchFamily="34" charset="0"/>
                          <a:ea typeface="Malgun Gothic" pitchFamily="34" charset="-122"/>
                          <a:cs typeface="Malgun Gothic" pitchFamily="34" charset="-120"/>
                        </a:rPr>
                        <a:t>09  </a:t>
                      </a:r>
                      <a:r>
                        <a:rPr lang="ko-KR" altLang="en-US" sz="800" b="1" kern="0">
                          <a:solidFill>
                            <a:srgbClr val="1D4ED8"/>
                          </a:solidFill>
                          <a:latin typeface="Malgun Gothic" pitchFamily="34" charset="0"/>
                          <a:ea typeface="Malgun Gothic" pitchFamily="34" charset="-122"/>
                          <a:cs typeface="Malgun Gothic" pitchFamily="34" charset="-120"/>
                        </a:rPr>
                        <a:t>SCD411 · 경쟁우위</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AF1FE"/>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SCD411의 가장 큰 경쟁우위는 무엇인가요?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PFS·가격·파트너·공급 중 실제 차별점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9"/>
                  </a:ext>
                </a:extLst>
              </a:tr>
            </a:tbl>
          </a:graphicData>
        </a:graphic>
      </p:graphicFrame>
      <p:sp>
        <p:nvSpPr>
          <p:cNvPr id="12" name="jbox"/>
          <p:cNvSpPr/>
          <p:nvPr/>
        </p:nvSpPr>
        <p:spPr>
          <a:xfrm>
            <a:off x="658368" y="5540000"/>
            <a:ext cx="10875264" cy="740000"/>
          </a:xfrm>
          <a:prstGeom prst="rect">
            <a:avLst/>
          </a:prstGeom>
          <a:solidFill>
            <a:srgbClr val="0E2036"/>
          </a:solidFill>
          <a:ln/>
          <a:effectLst>
            <a:outerShdw blurRad="88900" dist="25400" dir="5400000" algn="bl" rotWithShape="0">
              <a:srgbClr val="0E2036">
                <a:alpha val="10000"/>
              </a:srgbClr>
            </a:outerShdw>
          </a:effectLst>
        </p:spPr>
        <p:txBody>
          <a:bodyPr/>
          <a:lstStyle/>
          <a:p>
            <a:endParaRPr lang="ko-KR" altLang="en-US"/>
          </a:p>
        </p:txBody>
      </p:sp>
      <p:sp>
        <p:nvSpPr>
          <p:cNvPr id="13" name="jbar"/>
          <p:cNvSpPr/>
          <p:nvPr/>
        </p:nvSpPr>
        <p:spPr>
          <a:xfrm>
            <a:off x="658368" y="5540000"/>
            <a:ext cx="82296" cy="740000"/>
          </a:xfrm>
          <a:prstGeom prst="rect">
            <a:avLst/>
          </a:prstGeom>
          <a:solidFill>
            <a:srgbClr val="0D9488"/>
          </a:solidFill>
          <a:ln/>
        </p:spPr>
        <p:txBody>
          <a:bodyPr/>
          <a:lstStyle/>
          <a:p>
            <a:endParaRPr lang="ko-KR" altLang="en-US"/>
          </a:p>
        </p:txBody>
      </p:sp>
      <p:sp>
        <p:nvSpPr>
          <p:cNvPr id="14" name="jtxt"/>
          <p:cNvSpPr/>
          <p:nvPr/>
        </p:nvSpPr>
        <p:spPr>
          <a:xfrm>
            <a:off x="950000" y="5605000"/>
            <a:ext cx="10425264" cy="610000"/>
          </a:xfrm>
          <a:prstGeom prst="rect">
            <a:avLst/>
          </a:prstGeom>
          <a:noFill/>
          <a:ln/>
        </p:spPr>
        <p:txBody>
          <a:bodyPr wrap="square" lIns="0" tIns="0" rIns="0" bIns="0" rtlCol="0" anchor="ctr"/>
          <a:lstStyle/>
          <a:p>
            <a:pPr marL="0" indent="0" algn="l">
              <a:lnSpc>
                <a:spcPct val="112000"/>
              </a:lnSpc>
              <a:buNone/>
            </a:pPr>
            <a:r>
              <a:rPr lang="ko-KR" altLang="en-US" sz="1000" b="1" kern="0">
                <a:solidFill>
                  <a:srgbClr val="FFFFFF"/>
                </a:solidFill>
                <a:latin typeface="Malgun Gothic" pitchFamily="34" charset="0"/>
                <a:ea typeface="Malgun Gothic" pitchFamily="34" charset="-122"/>
                <a:cs typeface="Malgun Gothic" pitchFamily="34" charset="-120"/>
              </a:rPr>
              <a:t>통화의 목적은 주가 전망을 묻는 것이 아니라, </a:t>
            </a:r>
            <a:r>
              <a:rPr lang="ko-KR" altLang="en-US" sz="1000" b="1" kern="0">
                <a:solidFill>
                  <a:srgbClr val="7DE3D4"/>
                </a:solidFill>
                <a:latin typeface="Malgun Gothic" pitchFamily="34" charset="0"/>
                <a:ea typeface="Malgun Gothic" pitchFamily="34" charset="-122"/>
                <a:cs typeface="Malgun Gothic" pitchFamily="34" charset="-120"/>
              </a:rPr>
              <a:t>SCD411의 실제 실적화와 S-PASS 옵션가치가 얼마나 검증되고 있는지</a:t>
            </a:r>
            <a:r>
              <a:rPr lang="ko-KR" altLang="en-US" sz="1000" b="1" kern="0">
                <a:solidFill>
                  <a:srgbClr val="FFFFFF"/>
                </a:solidFill>
                <a:latin typeface="Malgun Gothic" pitchFamily="34" charset="0"/>
                <a:ea typeface="Malgun Gothic" pitchFamily="34" charset="-122"/>
                <a:cs typeface="Malgun Gothic" pitchFamily="34" charset="-120"/>
              </a:rPr>
              <a:t> 확인하는 것이다.</a:t>
            </a:r>
          </a:p>
        </p:txBody>
      </p:sp>
      <p:sp>
        <p:nvSpPr>
          <p:cNvPr id="28" name="footerbar"/>
          <p:cNvSpPr/>
          <p:nvPr/>
        </p:nvSpPr>
        <p:spPr>
          <a:xfrm>
            <a:off x="0" y="6583680"/>
            <a:ext cx="12191695" cy="274320"/>
          </a:xfrm>
          <a:prstGeom prst="rect">
            <a:avLst/>
          </a:prstGeom>
          <a:solidFill>
            <a:srgbClr val="F2F6FC"/>
          </a:solidFill>
          <a:ln/>
        </p:spPr>
        <p:txBody>
          <a:bodyPr/>
          <a:lstStyle/>
          <a:p>
            <a:endParaRPr lang="ko-KR" altLang="en-US"/>
          </a:p>
        </p:txBody>
      </p:sp>
      <p:sp>
        <p:nvSpPr>
          <p:cNvPr id="29" name="ftxt"/>
          <p:cNvSpPr/>
          <p:nvPr/>
        </p:nvSpPr>
        <p:spPr>
          <a:xfrm>
            <a:off x="658368" y="6574536"/>
            <a:ext cx="6400800" cy="283464"/>
          </a:xfrm>
          <a:prstGeom prst="rect">
            <a:avLst/>
          </a:prstGeom>
          <a:noFill/>
          <a:ln/>
        </p:spPr>
        <p:txBody>
          <a:bodyPr wrap="square" lIns="0" tIns="0" rIns="0" bIns="0" rtlCol="0" anchor="ctr"/>
          <a:lstStyle/>
          <a:p>
            <a:pPr marL="0" indent="0" algn="l">
              <a:buNone/>
            </a:pPr>
            <a:r>
              <a:rPr lang="ko-KR" altLang="en-US" sz="850" kern="0">
                <a:solidFill>
                  <a:srgbClr val="6B7C90"/>
                </a:solidFill>
                <a:latin typeface="Malgun Gothic" pitchFamily="34" charset="0"/>
                <a:ea typeface="Malgun Gothic" pitchFamily="34" charset="-122"/>
                <a:cs typeface="Malgun Gothic" pitchFamily="34" charset="-120"/>
              </a:rPr>
              <a:t>삼천당제약 (000250) · 투자스터디 발표자료</a:t>
            </a:r>
          </a:p>
        </p:txBody>
      </p:sp>
      <p:sp>
        <p:nvSpPr>
          <p:cNvPr id="30" name="fpg"/>
          <p:cNvSpPr/>
          <p:nvPr/>
        </p:nvSpPr>
        <p:spPr>
          <a:xfrm>
            <a:off x="11064240" y="6574536"/>
            <a:ext cx="457200" cy="283464"/>
          </a:xfrm>
          <a:prstGeom prst="rect">
            <a:avLst/>
          </a:prstGeom>
          <a:noFill/>
          <a:ln/>
        </p:spPr>
        <p:txBody>
          <a:bodyPr wrap="square" lIns="0" tIns="0" rIns="0" bIns="0" rtlCol="0" anchor="ctr"/>
          <a:lstStyle/>
          <a:p>
            <a:pPr marL="0" indent="0" algn="r">
              <a:buNone/>
            </a:pPr>
            <a:r>
              <a:rPr lang="ko-KR" altLang="en-US" sz="850" kern="0">
                <a:solidFill>
                  <a:srgbClr val="6B7C90"/>
                </a:solidFill>
                <a:latin typeface="Malgun Gothic" pitchFamily="34" charset="0"/>
                <a:ea typeface="Malgun Gothic" pitchFamily="34" charset="-122"/>
                <a:cs typeface="Malgun Gothic" pitchFamily="34" charset="-120"/>
              </a:rPr>
              <a:t>32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p:nvPr/>
        </p:nvSpPr>
        <p:spPr>
          <a:xfrm>
            <a:off x="676656" y="274320"/>
            <a:ext cx="10972800" cy="237744"/>
          </a:xfrm>
          <a:prstGeom prst="rect">
            <a:avLst/>
          </a:prstGeom>
          <a:noFill/>
          <a:ln/>
        </p:spPr>
        <p:txBody>
          <a:bodyPr wrap="square" lIns="0" tIns="0" rIns="0" bIns="0" rtlCol="0" anchor="ctr"/>
          <a:lstStyle/>
          <a:p>
            <a:pPr marL="0" indent="0" algn="l">
              <a:buNone/>
            </a:pPr>
            <a:r>
              <a:rPr lang="ko-KR" altLang="en-US" sz="1100" b="1" kern="0" spc="200">
                <a:solidFill>
                  <a:srgbClr val="0D9488"/>
                </a:solidFill>
                <a:latin typeface="Malgun Gothic" pitchFamily="34" charset="0"/>
                <a:ea typeface="Malgun Gothic" pitchFamily="34" charset="-122"/>
                <a:cs typeface="Malgun Gothic" pitchFamily="34" charset="-120"/>
              </a:rPr>
              <a:t>05 · 주담 통화 체크리스트</a:t>
            </a:r>
          </a:p>
        </p:txBody>
      </p:sp>
      <p:sp>
        <p:nvSpPr>
          <p:cNvPr id="3" name="title"/>
          <p:cNvSpPr/>
          <p:nvPr/>
        </p:nvSpPr>
        <p:spPr>
          <a:xfrm>
            <a:off x="658368" y="566928"/>
            <a:ext cx="11430000" cy="603504"/>
          </a:xfrm>
          <a:prstGeom prst="rect">
            <a:avLst/>
          </a:prstGeom>
          <a:noFill/>
          <a:ln/>
        </p:spPr>
        <p:txBody>
          <a:bodyPr wrap="square" lIns="0" tIns="0" rIns="0" bIns="0" rtlCol="0" anchor="ctr"/>
          <a:lstStyle/>
          <a:p>
            <a:pPr marL="0" indent="0" algn="l">
              <a:buNone/>
            </a:pPr>
            <a:r>
              <a:rPr lang="ko-KR" altLang="en-US" sz="2100" b="1" kern="0">
                <a:solidFill>
                  <a:srgbClr val="0E2036"/>
                </a:solidFill>
                <a:latin typeface="Malgun Gothic" pitchFamily="34" charset="0"/>
                <a:ea typeface="Malgun Gothic" pitchFamily="34" charset="-122"/>
                <a:cs typeface="Malgun Gothic" pitchFamily="34" charset="-120"/>
              </a:rPr>
              <a:t>주담 통화 질문 체크리스트 ② S-PASS · 기업가치</a:t>
            </a:r>
          </a:p>
        </p:txBody>
      </p:sp>
      <p:sp>
        <p:nvSpPr>
          <p:cNvPr id="4" name="tick">
            <a:extLst>
              <a:ext uri="{C183D7F6-B498-43B3-948B-1728B52AA6E4}">
                <adec:decorative xmlns:adec="http://schemas.microsoft.com/office/drawing/2017/decorative" val="1"/>
              </a:ext>
            </a:extLst>
          </p:cNvPr>
          <p:cNvSpPr/>
          <p:nvPr/>
        </p:nvSpPr>
        <p:spPr>
          <a:xfrm>
            <a:off x="694944" y="1225296"/>
            <a:ext cx="502920" cy="54864"/>
          </a:xfrm>
          <a:prstGeom prst="rect">
            <a:avLst/>
          </a:prstGeom>
          <a:solidFill>
            <a:srgbClr val="0D9488"/>
          </a:solidFill>
          <a:ln/>
        </p:spPr>
        <p:txBody>
          <a:bodyPr/>
          <a:lstStyle/>
          <a:p>
            <a:endParaRPr lang="ko-KR" altLang="en-US"/>
          </a:p>
        </p:txBody>
      </p:sp>
      <p:sp>
        <p:nvSpPr>
          <p:cNvPr id="5" name="subtitle"/>
          <p:cNvSpPr/>
          <p:nvPr/>
        </p:nvSpPr>
        <p:spPr>
          <a:xfrm>
            <a:off x="676656" y="1371600"/>
            <a:ext cx="10881360" cy="320000"/>
          </a:xfrm>
          <a:prstGeom prst="rect">
            <a:avLst/>
          </a:prstGeom>
          <a:noFill/>
          <a:ln/>
        </p:spPr>
        <p:txBody>
          <a:bodyPr wrap="square" lIns="0" tIns="0" rIns="0" bIns="0" rtlCol="0" anchor="ctr"/>
          <a:lstStyle/>
          <a:p>
            <a:pPr marL="0" indent="0" algn="l">
              <a:buNone/>
            </a:pPr>
            <a:r>
              <a:rPr lang="ko-KR" altLang="en-US" sz="1150" kern="0">
                <a:solidFill>
                  <a:srgbClr val="33465B"/>
                </a:solidFill>
                <a:latin typeface="Malgun Gothic" pitchFamily="34" charset="0"/>
                <a:ea typeface="Malgun Gothic" pitchFamily="34" charset="-122"/>
                <a:cs typeface="Malgun Gothic" pitchFamily="34" charset="-120"/>
              </a:rPr>
              <a:t>공개자료로 확인하기 어려운 부분을 통화로 검증하기 위한 질문</a:t>
            </a:r>
          </a:p>
        </p:txBody>
      </p:sp>
      <p:graphicFrame>
        <p:nvGraphicFramePr>
          <p:cNvPr id="40" name="qtable"/>
          <p:cNvGraphicFramePr>
            <a:graphicFrameLocks noGrp="1"/>
          </p:cNvGraphicFramePr>
          <p:nvPr>
            <p:extLst>
              <p:ext uri="{D42A27DB-BD31-4B8C-83A1-F6EECF244321}">
                <p14:modId xmlns:p14="http://schemas.microsoft.com/office/powerpoint/2010/main" val="484766461"/>
              </p:ext>
            </p:extLst>
          </p:nvPr>
        </p:nvGraphicFramePr>
        <p:xfrm>
          <a:off x="658368" y="1830000"/>
          <a:ext cx="10875264" cy="3990000"/>
        </p:xfrm>
        <a:graphic>
          <a:graphicData uri="http://schemas.openxmlformats.org/drawingml/2006/table">
            <a:tbl>
              <a:tblPr firstRow="1"/>
              <a:tblGrid>
                <a:gridCol w="17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2900000">
                  <a:extLst>
                    <a:ext uri="{9D8B030D-6E8A-4147-A177-3AD203B41FA5}">
                      <a16:colId xmlns:a16="http://schemas.microsoft.com/office/drawing/2014/main" val="20002"/>
                    </a:ext>
                  </a:extLst>
                </a:gridCol>
                <a:gridCol w="2775264">
                  <a:extLst>
                    <a:ext uri="{9D8B030D-6E8A-4147-A177-3AD203B41FA5}">
                      <a16:colId xmlns:a16="http://schemas.microsoft.com/office/drawing/2014/main" val="20003"/>
                    </a:ext>
                  </a:extLst>
                </a:gridCol>
              </a:tblGrid>
              <a:tr h="300000">
                <a:tc>
                  <a:txBody>
                    <a:bodyPr/>
                    <a:lstStyle/>
                    <a:p>
                      <a:pPr marL="0" indent="0" algn="l">
                        <a:lnSpc>
                          <a:spcPct val="104000"/>
                        </a:lnSpc>
                        <a:buNone/>
                      </a:pPr>
                      <a:r>
                        <a:rPr lang="ko-KR" altLang="en-US" sz="900" b="1" kern="0">
                          <a:solidFill>
                            <a:srgbClr val="FFFFFF"/>
                          </a:solidFill>
                          <a:latin typeface="Malgun Gothic" pitchFamily="34" charset="0"/>
                          <a:ea typeface="Malgun Gothic" pitchFamily="34" charset="-122"/>
                          <a:cs typeface="Malgun Gothic" pitchFamily="34" charset="-120"/>
                        </a:rPr>
                        <a:t>카테고리</a:t>
                      </a:r>
                    </a:p>
                  </a:txBody>
                  <a:tcPr marL="82296" marR="82296" marT="27432" marB="27432" anchor="ctr">
                    <a:lnB w="6350" cap="flat" cmpd="sng" algn="ctr">
                      <a:solidFill>
                        <a:srgbClr val="0E2036"/>
                      </a:solidFill>
                    </a:lnB>
                    <a:solidFill>
                      <a:srgbClr val="0E2036"/>
                    </a:solidFill>
                  </a:tcPr>
                </a:tc>
                <a:tc>
                  <a:txBody>
                    <a:bodyPr/>
                    <a:lstStyle/>
                    <a:p>
                      <a:pPr marL="0" indent="0" algn="l">
                        <a:lnSpc>
                          <a:spcPct val="104000"/>
                        </a:lnSpc>
                        <a:buNone/>
                      </a:pPr>
                      <a:r>
                        <a:rPr lang="ko-KR" altLang="en-US" sz="900" b="1" kern="0">
                          <a:solidFill>
                            <a:srgbClr val="FFFFFF"/>
                          </a:solidFill>
                          <a:latin typeface="Malgun Gothic" pitchFamily="34" charset="0"/>
                          <a:ea typeface="Malgun Gothic" pitchFamily="34" charset="-122"/>
                          <a:cs typeface="Malgun Gothic" pitchFamily="34" charset="-120"/>
                        </a:rPr>
                        <a:t>질문내용</a:t>
                      </a:r>
                    </a:p>
                  </a:txBody>
                  <a:tcPr marL="82296" marR="82296" marT="27432" marB="27432" anchor="ctr">
                    <a:lnB w="6350" cap="flat" cmpd="sng" algn="ctr">
                      <a:solidFill>
                        <a:srgbClr val="0E2036"/>
                      </a:solidFill>
                    </a:lnB>
                    <a:solidFill>
                      <a:srgbClr val="0E2036"/>
                    </a:solidFill>
                  </a:tcPr>
                </a:tc>
                <a:tc>
                  <a:txBody>
                    <a:bodyPr/>
                    <a:lstStyle/>
                    <a:p>
                      <a:pPr marL="0" indent="0" algn="l">
                        <a:lnSpc>
                          <a:spcPct val="104000"/>
                        </a:lnSpc>
                        <a:buNone/>
                      </a:pPr>
                      <a:r>
                        <a:rPr lang="ko-KR" altLang="en-US" sz="900" b="1" kern="0">
                          <a:solidFill>
                            <a:srgbClr val="FFFFFF"/>
                          </a:solidFill>
                          <a:latin typeface="Malgun Gothic" pitchFamily="34" charset="0"/>
                          <a:ea typeface="Malgun Gothic" pitchFamily="34" charset="-122"/>
                          <a:cs typeface="Malgun Gothic" pitchFamily="34" charset="-120"/>
                        </a:rPr>
                        <a:t>질문목적</a:t>
                      </a:r>
                    </a:p>
                  </a:txBody>
                  <a:tcPr marL="82296" marR="82296" marT="27432" marB="27432" anchor="ctr">
                    <a:lnB w="6350" cap="flat" cmpd="sng" algn="ctr">
                      <a:solidFill>
                        <a:srgbClr val="0E2036"/>
                      </a:solidFill>
                    </a:lnB>
                    <a:solidFill>
                      <a:srgbClr val="0E2036"/>
                    </a:solidFill>
                  </a:tcPr>
                </a:tc>
                <a:tc>
                  <a:txBody>
                    <a:bodyPr/>
                    <a:lstStyle/>
                    <a:p>
                      <a:pPr marL="0" indent="0" algn="l">
                        <a:lnSpc>
                          <a:spcPct val="104000"/>
                        </a:lnSpc>
                        <a:buNone/>
                      </a:pPr>
                      <a:r>
                        <a:rPr lang="ko-KR" altLang="en-US" sz="900" b="1" kern="0">
                          <a:solidFill>
                            <a:srgbClr val="FFFFFF"/>
                          </a:solidFill>
                          <a:latin typeface="Malgun Gothic" pitchFamily="34" charset="0"/>
                          <a:ea typeface="Malgun Gothic" pitchFamily="34" charset="-122"/>
                          <a:cs typeface="Malgun Gothic" pitchFamily="34" charset="-120"/>
                        </a:rPr>
                        <a:t>통화내용</a:t>
                      </a:r>
                    </a:p>
                  </a:txBody>
                  <a:tcPr marL="82296" marR="82296" marT="27432" marB="27432" anchor="ctr">
                    <a:lnB w="6350" cap="flat" cmpd="sng" algn="ctr">
                      <a:solidFill>
                        <a:srgbClr val="0E2036"/>
                      </a:solidFill>
                    </a:lnB>
                    <a:solidFill>
                      <a:srgbClr val="0E2036"/>
                    </a:solidFill>
                  </a:tcPr>
                </a:tc>
                <a:extLst>
                  <a:ext uri="{0D108BD9-81ED-4DB2-BD59-A6C34878D82A}">
                    <a16:rowId xmlns:a16="http://schemas.microsoft.com/office/drawing/2014/main" val="10000"/>
                  </a:ext>
                </a:extLst>
              </a:tr>
              <a:tr h="400000">
                <a:tc>
                  <a:txBody>
                    <a:bodyPr/>
                    <a:lstStyle/>
                    <a:p>
                      <a:pPr marL="0" indent="0" algn="l">
                        <a:lnSpc>
                          <a:spcPct val="104000"/>
                        </a:lnSpc>
                        <a:buNone/>
                      </a:pPr>
                      <a:r>
                        <a:rPr lang="ko-KR" altLang="en-US" sz="750" b="1" kern="0">
                          <a:solidFill>
                            <a:srgbClr val="0F766E"/>
                          </a:solidFill>
                          <a:latin typeface="Malgun Gothic" pitchFamily="34" charset="0"/>
                          <a:ea typeface="Malgun Gothic" pitchFamily="34" charset="-122"/>
                          <a:cs typeface="Malgun Gothic" pitchFamily="34" charset="-120"/>
                        </a:rPr>
                        <a:t>10  </a:t>
                      </a:r>
                      <a:r>
                        <a:rPr lang="ko-KR" altLang="en-US" sz="800" b="1" kern="0">
                          <a:solidFill>
                            <a:srgbClr val="0F766E"/>
                          </a:solidFill>
                          <a:latin typeface="Malgun Gothic" pitchFamily="34" charset="0"/>
                          <a:ea typeface="Malgun Gothic" pitchFamily="34" charset="-122"/>
                          <a:cs typeface="Malgun Gothic" pitchFamily="34" charset="-120"/>
                        </a:rPr>
                        <a:t>S-PASS · 본질</a:t>
                      </a:r>
                    </a:p>
                  </a:txBody>
                  <a:tcPr marL="82296" marR="82296" marT="27432" marB="27432" anchor="ctr">
                    <a:lnT w="6350" cap="flat" cmpd="sng" algn="ctr">
                      <a:solidFill>
                        <a:srgbClr val="0E2036"/>
                      </a:solidFill>
                      <a:prstDash val="solid"/>
                      <a:round/>
                      <a:headEnd type="none" w="med" len="med"/>
                      <a:tailEnd type="none" w="med" len="med"/>
                    </a:lnT>
                    <a:lnB w="6350" cap="flat" cmpd="sng" algn="ctr">
                      <a:solidFill>
                        <a:srgbClr val="E3E9F2"/>
                      </a:solidFill>
                    </a:lnB>
                    <a:solidFill>
                      <a:srgbClr val="E6F7F4"/>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경구 세마글루타이드는 단일 제품 가치인가요, S-PASS 플랫폼 검증 사례인가요?</a:t>
                      </a:r>
                    </a:p>
                  </a:txBody>
                  <a:tcPr marL="82296" marR="82296" marT="27432" marB="27432" anchor="ctr">
                    <a:lnT w="6350" cap="flat" cmpd="sng" algn="ctr">
                      <a:solidFill>
                        <a:srgbClr val="0E2036"/>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S-PASS 가치가 제품 하나인지 플랫폼 가치인지 확인</a:t>
                      </a:r>
                    </a:p>
                  </a:txBody>
                  <a:tcPr marL="82296" marR="82296" marT="27432" marB="27432" anchor="ctr">
                    <a:lnT w="6350" cap="flat" cmpd="sng" algn="ctr">
                      <a:solidFill>
                        <a:srgbClr val="0E2036"/>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0E2036"/>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1"/>
                  </a:ext>
                </a:extLst>
              </a:tr>
              <a:tr h="400000">
                <a:tc>
                  <a:txBody>
                    <a:bodyPr/>
                    <a:lstStyle/>
                    <a:p>
                      <a:pPr marL="0" indent="0" algn="l">
                        <a:lnSpc>
                          <a:spcPct val="104000"/>
                        </a:lnSpc>
                        <a:buNone/>
                      </a:pPr>
                      <a:r>
                        <a:rPr lang="ko-KR" altLang="en-US" sz="750" b="1" kern="0">
                          <a:solidFill>
                            <a:srgbClr val="0F766E"/>
                          </a:solidFill>
                          <a:latin typeface="Malgun Gothic" pitchFamily="34" charset="0"/>
                          <a:ea typeface="Malgun Gothic" pitchFamily="34" charset="-122"/>
                          <a:cs typeface="Malgun Gothic" pitchFamily="34" charset="-120"/>
                        </a:rPr>
                        <a:t>11  </a:t>
                      </a:r>
                      <a:r>
                        <a:rPr lang="ko-KR" altLang="en-US" sz="800" b="1" kern="0">
                          <a:solidFill>
                            <a:srgbClr val="0F766E"/>
                          </a:solidFill>
                          <a:latin typeface="Malgun Gothic" pitchFamily="34" charset="0"/>
                          <a:ea typeface="Malgun Gothic" pitchFamily="34" charset="-122"/>
                          <a:cs typeface="Malgun Gothic" pitchFamily="34" charset="-120"/>
                        </a:rPr>
                        <a:t>S-PASS · SNAC-Free</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6F7F4"/>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SNAC-Free는 특허 회피 전략인가요, 기술적 우위인가요?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S-PASS의 핵심 가치가 특허 우회인지 흡수 기술인지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2"/>
                  </a:ext>
                </a:extLst>
              </a:tr>
              <a:tr h="400000">
                <a:tc>
                  <a:txBody>
                    <a:bodyPr/>
                    <a:lstStyle/>
                    <a:p>
                      <a:pPr marL="0" indent="0" algn="l">
                        <a:lnSpc>
                          <a:spcPct val="104000"/>
                        </a:lnSpc>
                        <a:buNone/>
                      </a:pPr>
                      <a:r>
                        <a:rPr lang="ko-KR" altLang="en-US" sz="750" b="1" kern="0">
                          <a:solidFill>
                            <a:srgbClr val="0F766E"/>
                          </a:solidFill>
                          <a:latin typeface="Malgun Gothic" pitchFamily="34" charset="0"/>
                          <a:ea typeface="Malgun Gothic" pitchFamily="34" charset="-122"/>
                          <a:cs typeface="Malgun Gothic" pitchFamily="34" charset="-120"/>
                        </a:rPr>
                        <a:t>12  </a:t>
                      </a:r>
                      <a:r>
                        <a:rPr lang="ko-KR" altLang="en-US" sz="800" b="1" kern="0">
                          <a:solidFill>
                            <a:srgbClr val="0F766E"/>
                          </a:solidFill>
                          <a:latin typeface="Malgun Gothic" pitchFamily="34" charset="0"/>
                          <a:ea typeface="Malgun Gothic" pitchFamily="34" charset="-122"/>
                          <a:cs typeface="Malgun Gothic" pitchFamily="34" charset="-120"/>
                        </a:rPr>
                        <a:t>S-PASS · 개발 리스크</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6F7F4"/>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S-PASS의 가장 큰 개발 리스크는 무엇인가요?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흡수율·변동성·제조 재현성·규제 리스크 중 핵심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3"/>
                  </a:ext>
                </a:extLst>
              </a:tr>
              <a:tr h="400000">
                <a:tc>
                  <a:txBody>
                    <a:bodyPr/>
                    <a:lstStyle/>
                    <a:p>
                      <a:pPr marL="0" indent="0" algn="l">
                        <a:lnSpc>
                          <a:spcPct val="104000"/>
                        </a:lnSpc>
                        <a:buNone/>
                      </a:pPr>
                      <a:r>
                        <a:rPr lang="ko-KR" altLang="en-US" sz="750" b="1" kern="0">
                          <a:solidFill>
                            <a:srgbClr val="0F766E"/>
                          </a:solidFill>
                          <a:latin typeface="Malgun Gothic" pitchFamily="34" charset="0"/>
                          <a:ea typeface="Malgun Gothic" pitchFamily="34" charset="-122"/>
                          <a:cs typeface="Malgun Gothic" pitchFamily="34" charset="-120"/>
                        </a:rPr>
                        <a:t>13  </a:t>
                      </a:r>
                      <a:r>
                        <a:rPr lang="ko-KR" altLang="en-US" sz="800" b="1" kern="0">
                          <a:solidFill>
                            <a:srgbClr val="0F766E"/>
                          </a:solidFill>
                          <a:latin typeface="Malgun Gothic" pitchFamily="34" charset="0"/>
                          <a:ea typeface="Malgun Gothic" pitchFamily="34" charset="-122"/>
                          <a:cs typeface="Malgun Gothic" pitchFamily="34" charset="-120"/>
                        </a:rPr>
                        <a:t>S-PASS · 확장성</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6F7F4"/>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경구 세마 데이터가 다른 펩타이드·인슐린으로 확장 가능하다는 근거가 되나요?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S-PASS가 진짜 플랫폼인지 개별 제품 기술인지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4"/>
                  </a:ext>
                </a:extLst>
              </a:tr>
              <a:tr h="400000">
                <a:tc>
                  <a:txBody>
                    <a:bodyPr/>
                    <a:lstStyle/>
                    <a:p>
                      <a:pPr marL="0" indent="0" algn="l">
                        <a:lnSpc>
                          <a:spcPct val="104000"/>
                        </a:lnSpc>
                        <a:buNone/>
                      </a:pPr>
                      <a:r>
                        <a:rPr lang="ko-KR" altLang="en-US" sz="750" b="1" kern="0">
                          <a:solidFill>
                            <a:srgbClr val="0F766E"/>
                          </a:solidFill>
                          <a:latin typeface="Malgun Gothic" pitchFamily="34" charset="0"/>
                          <a:ea typeface="Malgun Gothic" pitchFamily="34" charset="-122"/>
                          <a:cs typeface="Malgun Gothic" pitchFamily="34" charset="-120"/>
                        </a:rPr>
                        <a:t>14  </a:t>
                      </a:r>
                      <a:r>
                        <a:rPr lang="ko-KR" altLang="en-US" sz="800" b="1" kern="0">
                          <a:solidFill>
                            <a:srgbClr val="0F766E"/>
                          </a:solidFill>
                          <a:latin typeface="Malgun Gothic" pitchFamily="34" charset="0"/>
                          <a:ea typeface="Malgun Gothic" pitchFamily="34" charset="-122"/>
                          <a:cs typeface="Malgun Gothic" pitchFamily="34" charset="-120"/>
                        </a:rPr>
                        <a:t>S-PASS · 계약 구조</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6F7F4"/>
                    </a:solidFill>
                  </a:tcPr>
                </a:tc>
                <a:tc>
                  <a:txBody>
                    <a:bodyPr/>
                    <a:lstStyle/>
                    <a:p>
                      <a:pPr marL="0" indent="0" algn="l">
                        <a:lnSpc>
                          <a:spcPct val="104000"/>
                        </a:lnSpc>
                        <a:buNone/>
                      </a:pPr>
                      <a:r>
                        <a:rPr lang="ko-KR" altLang="en-US" sz="850" kern="0">
                          <a:solidFill>
                            <a:srgbClr val="33465B"/>
                          </a:solidFill>
                          <a:latin typeface="Malgun Gothic" pitchFamily="34" charset="0"/>
                          <a:ea typeface="Malgun Gothic" pitchFamily="34" charset="-122"/>
                          <a:cs typeface="Malgun Gothic" pitchFamily="34" charset="-120"/>
                        </a:rPr>
                        <a:t>경구 세마 계약은 출시 후 어떤 방식으로 실제 수익이 발생하나요?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계약 뉴스가 현금흐름으로 전환되는 구조인지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5"/>
                  </a:ext>
                </a:extLst>
              </a:tr>
              <a:tr h="400000">
                <a:tc>
                  <a:txBody>
                    <a:bodyPr/>
                    <a:lstStyle/>
                    <a:p>
                      <a:pPr marL="0" indent="0" algn="l">
                        <a:lnSpc>
                          <a:spcPct val="104000"/>
                        </a:lnSpc>
                        <a:buNone/>
                      </a:pPr>
                      <a:r>
                        <a:rPr lang="ko-KR" altLang="en-US" sz="750" b="1" kern="0">
                          <a:solidFill>
                            <a:srgbClr val="0E2036"/>
                          </a:solidFill>
                          <a:latin typeface="Malgun Gothic" pitchFamily="34" charset="0"/>
                          <a:ea typeface="Malgun Gothic" pitchFamily="34" charset="-122"/>
                          <a:cs typeface="Malgun Gothic" pitchFamily="34" charset="-120"/>
                        </a:rPr>
                        <a:t>15  </a:t>
                      </a:r>
                      <a:r>
                        <a:rPr lang="ko-KR" altLang="en-US" sz="800" b="1" kern="0">
                          <a:solidFill>
                            <a:srgbClr val="0E2036"/>
                          </a:solidFill>
                          <a:latin typeface="Malgun Gothic" pitchFamily="34" charset="0"/>
                          <a:ea typeface="Malgun Gothic" pitchFamily="34" charset="-122"/>
                          <a:cs typeface="Malgun Gothic" pitchFamily="34" charset="-120"/>
                        </a:rPr>
                        <a:t>기업가치 · 핵심 이벤트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7ECF3"/>
                    </a:solidFill>
                  </a:tcPr>
                </a:tc>
                <a:tc>
                  <a:txBody>
                    <a:bodyPr/>
                    <a:lstStyle/>
                    <a:p>
                      <a:pPr marL="0" indent="0" algn="l">
                        <a:lnSpc>
                          <a:spcPct val="104000"/>
                        </a:lnSpc>
                        <a:buNone/>
                      </a:pPr>
                      <a:r>
                        <a:rPr lang="ko-KR" altLang="en-US" sz="850" b="1" kern="0">
                          <a:solidFill>
                            <a:srgbClr val="0E2036"/>
                          </a:solidFill>
                          <a:latin typeface="Malgun Gothic" pitchFamily="34" charset="0"/>
                          <a:ea typeface="Malgun Gothic" pitchFamily="34" charset="-122"/>
                          <a:cs typeface="Malgun Gothic" pitchFamily="34" charset="-120"/>
                        </a:rPr>
                        <a:t>향후 2~3년 회사 가치에 가장 큰 영향을 줄 이벤트는 무엇인가요?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6B7C90"/>
                          </a:solidFill>
                          <a:latin typeface="Malgun Gothic" pitchFamily="34" charset="0"/>
                          <a:ea typeface="Malgun Gothic" pitchFamily="34" charset="-122"/>
                          <a:cs typeface="Malgun Gothic" pitchFamily="34" charset="-120"/>
                        </a:rPr>
                        <a:t>회사가 보는 핵심 성장축이 SCD411인지 S-PASS인지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8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6"/>
                  </a:ext>
                </a:extLst>
              </a:tr>
              <a:tr h="430000">
                <a:tc>
                  <a:txBody>
                    <a:bodyPr/>
                    <a:lstStyle/>
                    <a:p>
                      <a:pPr marL="0" indent="0" algn="l">
                        <a:lnSpc>
                          <a:spcPct val="104000"/>
                        </a:lnSpc>
                        <a:buNone/>
                      </a:pPr>
                      <a:r>
                        <a:rPr lang="ko-KR" altLang="en-US" sz="750" b="1" kern="0">
                          <a:solidFill>
                            <a:srgbClr val="0F766E"/>
                          </a:solidFill>
                          <a:latin typeface="Malgun Gothic" pitchFamily="34" charset="0"/>
                          <a:ea typeface="Malgun Gothic" pitchFamily="34" charset="-122"/>
                          <a:cs typeface="Malgun Gothic" pitchFamily="34" charset="-120"/>
                        </a:rPr>
                        <a:t>16  </a:t>
                      </a:r>
                      <a:r>
                        <a:rPr lang="ko-KR" altLang="en-US" sz="800" b="1" kern="0">
                          <a:solidFill>
                            <a:srgbClr val="0F766E"/>
                          </a:solidFill>
                          <a:latin typeface="Malgun Gothic" pitchFamily="34" charset="0"/>
                          <a:ea typeface="Malgun Gothic" pitchFamily="34" charset="-122"/>
                          <a:cs typeface="Malgun Gothic" pitchFamily="34" charset="-120"/>
                        </a:rPr>
                        <a:t>일본 계약 · 조건</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6F7F4"/>
                    </a:solidFill>
                  </a:tcPr>
                </a:tc>
                <a:tc>
                  <a:txBody>
                    <a:bodyPr/>
                    <a:lstStyle/>
                    <a:p>
                      <a:pPr marL="0" indent="0" algn="l">
                        <a:lnSpc>
                          <a:spcPct val="104000"/>
                        </a:lnSpc>
                        <a:buNone/>
                      </a:pPr>
                      <a:r>
                        <a:rPr lang="ko-KR" altLang="en-US" sz="780" kern="0">
                          <a:solidFill>
                            <a:srgbClr val="33465B"/>
                          </a:solidFill>
                          <a:latin typeface="Malgun Gothic" pitchFamily="34" charset="0"/>
                          <a:ea typeface="Malgun Gothic" pitchFamily="34" charset="-122"/>
                          <a:cs typeface="Malgun Gothic" pitchFamily="34" charset="-120"/>
                        </a:rPr>
                        <a:t>최근 IR 채널에서 언급된 다이이찌산쿄 에스파와의 업프론트·마일스톤·공급가 협의는 기존 계약의 세부조건 확정 단계인지, 아니면 신규 경제조건 협상 단계인지 설명 가능한가요?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20" kern="0">
                          <a:solidFill>
                            <a:srgbClr val="6B7C90"/>
                          </a:solidFill>
                          <a:latin typeface="Malgun Gothic" pitchFamily="34" charset="0"/>
                          <a:ea typeface="Malgun Gothic" pitchFamily="34" charset="-122"/>
                          <a:cs typeface="Malgun Gothic" pitchFamily="34" charset="-120"/>
                        </a:rPr>
                        <a:t>계약 구체화가 조건 확정인지 신규 협상인지 구분</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6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7"/>
                  </a:ext>
                </a:extLst>
              </a:tr>
              <a:tr h="430000">
                <a:tc>
                  <a:txBody>
                    <a:bodyPr/>
                    <a:lstStyle/>
                    <a:p>
                      <a:pPr marL="0" indent="0" algn="l">
                        <a:lnSpc>
                          <a:spcPct val="104000"/>
                        </a:lnSpc>
                        <a:buNone/>
                      </a:pPr>
                      <a:r>
                        <a:rPr lang="ko-KR" altLang="en-US" sz="750" b="1" kern="0">
                          <a:solidFill>
                            <a:srgbClr val="0F766E"/>
                          </a:solidFill>
                          <a:latin typeface="Malgun Gothic" pitchFamily="34" charset="0"/>
                          <a:ea typeface="Malgun Gothic" pitchFamily="34" charset="-122"/>
                          <a:cs typeface="Malgun Gothic" pitchFamily="34" charset="-120"/>
                        </a:rPr>
                        <a:t>17  </a:t>
                      </a:r>
                      <a:r>
                        <a:rPr lang="ko-KR" altLang="en-US" sz="800" b="1" kern="0">
                          <a:solidFill>
                            <a:srgbClr val="0F766E"/>
                          </a:solidFill>
                          <a:latin typeface="Malgun Gothic" pitchFamily="34" charset="0"/>
                          <a:ea typeface="Malgun Gothic" pitchFamily="34" charset="-122"/>
                          <a:cs typeface="Malgun Gothic" pitchFamily="34" charset="-120"/>
                        </a:rPr>
                        <a:t>FDA · 우선순위</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6F7F4"/>
                    </a:solidFill>
                  </a:tcPr>
                </a:tc>
                <a:tc>
                  <a:txBody>
                    <a:bodyPr/>
                    <a:lstStyle/>
                    <a:p>
                      <a:pPr marL="0" indent="0" algn="l">
                        <a:lnSpc>
                          <a:spcPct val="104000"/>
                        </a:lnSpc>
                        <a:buNone/>
                      </a:pPr>
                      <a:r>
                        <a:rPr lang="ko-KR" altLang="en-US" sz="780" kern="0">
                          <a:solidFill>
                            <a:srgbClr val="33465B"/>
                          </a:solidFill>
                          <a:latin typeface="Malgun Gothic" pitchFamily="34" charset="0"/>
                          <a:ea typeface="Malgun Gothic" pitchFamily="34" charset="-122"/>
                          <a:cs typeface="Malgun Gothic" pitchFamily="34" charset="-120"/>
                        </a:rPr>
                        <a:t>FDA Pre-ANDA 답변 이후 회사가 생각하는 가장 중요한 다음 이벤트는 무엇인가요? ① ANDA 제출 ② 일본 허가 전략 확정 ③ 업프론트 수령 ④ 추가 글로벌 계약</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20" kern="0">
                          <a:solidFill>
                            <a:srgbClr val="6B7C90"/>
                          </a:solidFill>
                          <a:latin typeface="Malgun Gothic" pitchFamily="34" charset="0"/>
                          <a:ea typeface="Malgun Gothic" pitchFamily="34" charset="-122"/>
                          <a:cs typeface="Malgun Gothic" pitchFamily="34" charset="-120"/>
                        </a:rPr>
                        <a:t>규제 진전 이후 회사의 핵심 우선순위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6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8"/>
                  </a:ext>
                </a:extLst>
              </a:tr>
              <a:tr h="430000">
                <a:tc>
                  <a:txBody>
                    <a:bodyPr/>
                    <a:lstStyle/>
                    <a:p>
                      <a:pPr marL="0" indent="0" algn="l">
                        <a:lnSpc>
                          <a:spcPct val="104000"/>
                        </a:lnSpc>
                        <a:buNone/>
                      </a:pPr>
                      <a:r>
                        <a:rPr lang="ko-KR" altLang="en-US" sz="750" b="1" kern="0">
                          <a:solidFill>
                            <a:srgbClr val="0F766E"/>
                          </a:solidFill>
                          <a:latin typeface="Malgun Gothic" pitchFamily="34" charset="0"/>
                          <a:ea typeface="Malgun Gothic" pitchFamily="34" charset="-122"/>
                          <a:cs typeface="Malgun Gothic" pitchFamily="34" charset="-120"/>
                        </a:rPr>
                        <a:t>18  </a:t>
                      </a:r>
                      <a:r>
                        <a:rPr lang="ko-KR" altLang="en-US" sz="800" b="1" kern="0">
                          <a:solidFill>
                            <a:srgbClr val="0F766E"/>
                          </a:solidFill>
                          <a:latin typeface="Malgun Gothic" pitchFamily="34" charset="0"/>
                          <a:ea typeface="Malgun Gothic" pitchFamily="34" charset="-122"/>
                          <a:cs typeface="Malgun Gothic" pitchFamily="34" charset="-120"/>
                        </a:rPr>
                        <a:t>현금흐름 · 회계</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E6F7F4"/>
                    </a:solidFill>
                  </a:tcPr>
                </a:tc>
                <a:tc>
                  <a:txBody>
                    <a:bodyPr/>
                    <a:lstStyle/>
                    <a:p>
                      <a:pPr marL="0" indent="0" algn="l">
                        <a:lnSpc>
                          <a:spcPct val="104000"/>
                        </a:lnSpc>
                        <a:buNone/>
                      </a:pPr>
                      <a:r>
                        <a:rPr lang="ko-KR" altLang="en-US" sz="780" kern="0">
                          <a:solidFill>
                            <a:srgbClr val="33465B"/>
                          </a:solidFill>
                          <a:latin typeface="Malgun Gothic" pitchFamily="34" charset="0"/>
                          <a:ea typeface="Malgun Gothic" pitchFamily="34" charset="-122"/>
                          <a:cs typeface="Malgun Gothic" pitchFamily="34" charset="-120"/>
                        </a:rPr>
                        <a:t>경구 세마글루타이드 계약의 경우 업프론트와 마일스톤은 실제 현금 수령 시점과 회계상 매출 인식 시점이 어떻게 달라질 수 있나요?</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20" kern="0">
                          <a:solidFill>
                            <a:srgbClr val="6B7C90"/>
                          </a:solidFill>
                          <a:latin typeface="Malgun Gothic" pitchFamily="34" charset="0"/>
                          <a:ea typeface="Malgun Gothic" pitchFamily="34" charset="-122"/>
                          <a:cs typeface="Malgun Gothic" pitchFamily="34" charset="-120"/>
                        </a:rPr>
                        <a:t>현금 수령과 매출 인식 시점 차이 확인</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FFFFF"/>
                    </a:solidFill>
                  </a:tcPr>
                </a:tc>
                <a:tc>
                  <a:txBody>
                    <a:bodyPr/>
                    <a:lstStyle/>
                    <a:p>
                      <a:pPr marL="0" indent="0" algn="l">
                        <a:lnSpc>
                          <a:spcPct val="104000"/>
                        </a:lnSpc>
                        <a:buNone/>
                      </a:pPr>
                      <a:r>
                        <a:rPr lang="ko-KR" altLang="en-US" sz="760" kern="0">
                          <a:solidFill>
                            <a:srgbClr val="AEB9C7"/>
                          </a:solidFill>
                          <a:latin typeface="Malgun Gothic" pitchFamily="34" charset="0"/>
                          <a:ea typeface="Malgun Gothic" pitchFamily="34" charset="-122"/>
                          <a:cs typeface="Malgun Gothic" pitchFamily="34" charset="-120"/>
                        </a:rPr>
                        <a:t>메모</a:t>
                      </a:r>
                    </a:p>
                  </a:txBody>
                  <a:tcPr marL="82296" marR="82296" marT="27432" marB="27432" anchor="ctr">
                    <a:lnT w="6350" cap="flat" cmpd="sng" algn="ctr">
                      <a:solidFill>
                        <a:srgbClr val="E3E9F2"/>
                      </a:solidFill>
                      <a:prstDash val="solid"/>
                      <a:round/>
                      <a:headEnd type="none" w="med" len="med"/>
                      <a:tailEnd type="none" w="med" len="med"/>
                    </a:lnT>
                    <a:lnB w="6350" cap="flat" cmpd="sng" algn="ctr">
                      <a:solidFill>
                        <a:srgbClr val="E3E9F2"/>
                      </a:solidFill>
                    </a:lnB>
                    <a:solidFill>
                      <a:srgbClr val="F7F9FC"/>
                    </a:solidFill>
                  </a:tcPr>
                </a:tc>
                <a:extLst>
                  <a:ext uri="{0D108BD9-81ED-4DB2-BD59-A6C34878D82A}">
                    <a16:rowId xmlns:a16="http://schemas.microsoft.com/office/drawing/2014/main" val="10009"/>
                  </a:ext>
                </a:extLst>
              </a:tr>
            </a:tbl>
          </a:graphicData>
        </a:graphic>
      </p:graphicFrame>
      <p:sp>
        <p:nvSpPr>
          <p:cNvPr id="12" name="jbox"/>
          <p:cNvSpPr/>
          <p:nvPr/>
        </p:nvSpPr>
        <p:spPr>
          <a:xfrm>
            <a:off x="658368" y="5860000"/>
            <a:ext cx="10875264" cy="560000"/>
          </a:xfrm>
          <a:prstGeom prst="rect">
            <a:avLst/>
          </a:prstGeom>
          <a:solidFill>
            <a:srgbClr val="0E2036"/>
          </a:solidFill>
          <a:ln/>
          <a:effectLst>
            <a:outerShdw blurRad="88900" dist="25400" dir="5400000" algn="bl" rotWithShape="0">
              <a:srgbClr val="0E2036">
                <a:alpha val="10000"/>
              </a:srgbClr>
            </a:outerShdw>
          </a:effectLst>
        </p:spPr>
        <p:txBody>
          <a:bodyPr/>
          <a:lstStyle/>
          <a:p>
            <a:endParaRPr lang="ko-KR" altLang="en-US"/>
          </a:p>
        </p:txBody>
      </p:sp>
      <p:sp>
        <p:nvSpPr>
          <p:cNvPr id="13" name="jbar"/>
          <p:cNvSpPr/>
          <p:nvPr/>
        </p:nvSpPr>
        <p:spPr>
          <a:xfrm>
            <a:off x="658368" y="5860000"/>
            <a:ext cx="82296" cy="560000"/>
          </a:xfrm>
          <a:prstGeom prst="rect">
            <a:avLst/>
          </a:prstGeom>
          <a:solidFill>
            <a:srgbClr val="0D9488"/>
          </a:solidFill>
          <a:ln/>
        </p:spPr>
        <p:txBody>
          <a:bodyPr/>
          <a:lstStyle/>
          <a:p>
            <a:endParaRPr lang="ko-KR" altLang="en-US"/>
          </a:p>
        </p:txBody>
      </p:sp>
      <p:sp>
        <p:nvSpPr>
          <p:cNvPr id="14" name="jtxt"/>
          <p:cNvSpPr/>
          <p:nvPr/>
        </p:nvSpPr>
        <p:spPr>
          <a:xfrm>
            <a:off x="950000" y="5920000"/>
            <a:ext cx="10425264" cy="470000"/>
          </a:xfrm>
          <a:prstGeom prst="rect">
            <a:avLst/>
          </a:prstGeom>
          <a:noFill/>
          <a:ln/>
        </p:spPr>
        <p:txBody>
          <a:bodyPr wrap="square" lIns="0" tIns="0" rIns="0" bIns="0" rtlCol="0" anchor="ctr"/>
          <a:lstStyle/>
          <a:p>
            <a:pPr marL="0" indent="0" algn="l">
              <a:lnSpc>
                <a:spcPct val="112000"/>
              </a:lnSpc>
              <a:buNone/>
            </a:pPr>
            <a:r>
              <a:rPr lang="ko-KR" altLang="en-US" sz="900" b="1" kern="0">
                <a:solidFill>
                  <a:srgbClr val="FFFFFF"/>
                </a:solidFill>
                <a:latin typeface="Malgun Gothic" pitchFamily="34" charset="0"/>
                <a:ea typeface="Malgun Gothic" pitchFamily="34" charset="-122"/>
                <a:cs typeface="Malgun Gothic" pitchFamily="34" charset="-120"/>
              </a:rPr>
              <a:t>통화의 목적은 주가 전망을 묻는 것이 아니라, </a:t>
            </a:r>
            <a:r>
              <a:rPr lang="ko-KR" altLang="en-US" sz="900" b="1" kern="0">
                <a:solidFill>
                  <a:srgbClr val="7DE3D4"/>
                </a:solidFill>
                <a:latin typeface="Malgun Gothic" pitchFamily="34" charset="0"/>
                <a:ea typeface="Malgun Gothic" pitchFamily="34" charset="-122"/>
                <a:cs typeface="Malgun Gothic" pitchFamily="34" charset="-120"/>
              </a:rPr>
              <a:t>SCD411의 실제 실적화와 S-PASS 옵션가치가 얼마나 검증되고 있는지</a:t>
            </a:r>
            <a:r>
              <a:rPr lang="ko-KR" altLang="en-US" sz="900" b="1" kern="0">
                <a:solidFill>
                  <a:srgbClr val="FFFFFF"/>
                </a:solidFill>
                <a:latin typeface="Malgun Gothic" pitchFamily="34" charset="0"/>
                <a:ea typeface="Malgun Gothic" pitchFamily="34" charset="-122"/>
                <a:cs typeface="Malgun Gothic" pitchFamily="34" charset="-120"/>
              </a:rPr>
              <a:t> 확인하는 것이다.</a:t>
            </a:r>
          </a:p>
        </p:txBody>
      </p:sp>
      <p:sp>
        <p:nvSpPr>
          <p:cNvPr id="28" name="footerbar"/>
          <p:cNvSpPr/>
          <p:nvPr/>
        </p:nvSpPr>
        <p:spPr>
          <a:xfrm>
            <a:off x="0" y="6583680"/>
            <a:ext cx="12191695" cy="274320"/>
          </a:xfrm>
          <a:prstGeom prst="rect">
            <a:avLst/>
          </a:prstGeom>
          <a:solidFill>
            <a:srgbClr val="F2F6FC"/>
          </a:solidFill>
          <a:ln/>
        </p:spPr>
        <p:txBody>
          <a:bodyPr/>
          <a:lstStyle/>
          <a:p>
            <a:endParaRPr lang="ko-KR" altLang="en-US"/>
          </a:p>
        </p:txBody>
      </p:sp>
      <p:sp>
        <p:nvSpPr>
          <p:cNvPr id="29" name="ftxt"/>
          <p:cNvSpPr/>
          <p:nvPr/>
        </p:nvSpPr>
        <p:spPr>
          <a:xfrm>
            <a:off x="658368" y="6574536"/>
            <a:ext cx="6400800" cy="283464"/>
          </a:xfrm>
          <a:prstGeom prst="rect">
            <a:avLst/>
          </a:prstGeom>
          <a:noFill/>
          <a:ln/>
        </p:spPr>
        <p:txBody>
          <a:bodyPr wrap="square" lIns="0" tIns="0" rIns="0" bIns="0" rtlCol="0" anchor="ctr"/>
          <a:lstStyle/>
          <a:p>
            <a:pPr marL="0" indent="0" algn="l">
              <a:buNone/>
            </a:pPr>
            <a:r>
              <a:rPr lang="ko-KR" altLang="en-US" sz="850" kern="0">
                <a:solidFill>
                  <a:srgbClr val="6B7C90"/>
                </a:solidFill>
                <a:latin typeface="Malgun Gothic" pitchFamily="34" charset="0"/>
                <a:ea typeface="Malgun Gothic" pitchFamily="34" charset="-122"/>
                <a:cs typeface="Malgun Gothic" pitchFamily="34" charset="-120"/>
              </a:rPr>
              <a:t>삼천당제약 (000250) · 투자스터디 발표자료</a:t>
            </a:r>
          </a:p>
        </p:txBody>
      </p:sp>
      <p:sp>
        <p:nvSpPr>
          <p:cNvPr id="30" name="fpg"/>
          <p:cNvSpPr/>
          <p:nvPr/>
        </p:nvSpPr>
        <p:spPr>
          <a:xfrm>
            <a:off x="11064240" y="6574536"/>
            <a:ext cx="457200" cy="283464"/>
          </a:xfrm>
          <a:prstGeom prst="rect">
            <a:avLst/>
          </a:prstGeom>
          <a:noFill/>
          <a:ln/>
        </p:spPr>
        <p:txBody>
          <a:bodyPr wrap="square" lIns="0" tIns="0" rIns="0" bIns="0" rtlCol="0" anchor="ctr"/>
          <a:lstStyle/>
          <a:p>
            <a:pPr marL="0" indent="0" algn="r">
              <a:buNone/>
            </a:pPr>
            <a:r>
              <a:rPr lang="ko-KR" altLang="en-US" sz="850" kern="0">
                <a:solidFill>
                  <a:srgbClr val="6B7C90"/>
                </a:solidFill>
                <a:latin typeface="Malgun Gothic" pitchFamily="34" charset="0"/>
                <a:ea typeface="Malgun Gothic" pitchFamily="34" charset="-122"/>
                <a:cs typeface="Malgun Gothic" pitchFamily="34" charset="-120"/>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1558</TotalTime>
  <Words>10922</Words>
  <Application>Microsoft Office PowerPoint</Application>
  <PresentationFormat>와이드스크린</PresentationFormat>
  <Paragraphs>1505</Paragraphs>
  <Slides>34</Slides>
  <Notes>34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34</vt:i4>
      </vt:variant>
    </vt:vector>
  </HeadingPairs>
  <TitlesOfParts>
    <vt:vector size="38" baseType="lpstr">
      <vt:lpstr>Malgun Gothic</vt:lpstr>
      <vt:lpstr>Arial</vt:lpstr>
      <vt:lpstr>Calibri</vt:lpstr>
      <vt:lpstr>Office Theme</vt:lpstr>
      <vt:lpstr>삼천당제약</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creator>
  <cp:lastModifiedBy>?? ?</cp:lastModifiedBy>
  <cp:revision>2</cp:revision>
  <dcterms:created xsi:type="dcterms:W3CDTF">2026-07-20T02:58:26Z</dcterms:created>
  <dcterms:modified xsi:type="dcterms:W3CDTF">2026-07-26T04:23:54Z</dcterms:modified>
</cp:coreProperties>
</file>