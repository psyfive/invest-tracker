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502920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Oval 2"/>
          <p:cNvSpPr/>
          <p:nvPr/>
        </p:nvSpPr>
        <p:spPr>
          <a:xfrm>
            <a:off x="10259568" y="502920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Oval 3"/>
          <p:cNvSpPr/>
          <p:nvPr/>
        </p:nvSpPr>
        <p:spPr>
          <a:xfrm>
            <a:off x="10552176" y="502920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10844784" y="502920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9966960" y="795528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10259568" y="795528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Oval 7"/>
          <p:cNvSpPr/>
          <p:nvPr/>
        </p:nvSpPr>
        <p:spPr>
          <a:xfrm>
            <a:off x="10552176" y="795528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10844784" y="795528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9966960" y="1088136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10259568" y="1088136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10552176" y="1088136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0844784" y="1088136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9966960" y="1380744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Oval 14"/>
          <p:cNvSpPr/>
          <p:nvPr/>
        </p:nvSpPr>
        <p:spPr>
          <a:xfrm>
            <a:off x="10259568" y="1380744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>
            <a:off x="10552176" y="1380744"/>
            <a:ext cx="82296" cy="82296"/>
          </a:xfrm>
          <a:prstGeom prst="ellipse">
            <a:avLst/>
          </a:prstGeom>
          <a:solidFill>
            <a:srgbClr val="335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>
            <a:off x="10844784" y="1380744"/>
            <a:ext cx="82296" cy="82296"/>
          </a:xfrm>
          <a:prstGeom prst="ellipse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b8923f"/>
                </a:solidFill>
                <a:latin typeface="Calibri"/>
              </a:rPr>
              <a:t>FINANCIAL STATEMENTS DEEP-DIVE</a:t>
            </a:r>
            <a:endParaRPr sz="1400" b="1" i="0">
              <a:solidFill>
                <a:srgbClr val="b8923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2331720"/>
            <a:ext cx="10515600" cy="630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ffffff"/>
                </a:solidFill>
                <a:latin typeface="Cambria"/>
              </a:rPr>
              <a:t>사피엔반도체 재무제표 분석</a:t>
            </a:r>
            <a:endParaRPr sz="4200" b="1" i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c7d2e3"/>
                </a:solidFill>
                <a:latin typeface="Calibri"/>
              </a:rPr>
              <a:t>재무상태표 · 포괄손익계산서 · 자본변동표 · 현금흐름표 + 주석 핵심 분석</a:t>
            </a:r>
            <a:endParaRPr sz="1500" b="0" i="0">
              <a:solidFill>
                <a:srgbClr val="c7d2e3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3246120" cy="105156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23f"/>
                </a:solidFill>
                <a:latin typeface="Cambria"/>
              </a:rPr>
              <a:t>제10기 1분기</a:t>
            </a:r>
            <a:endParaRPr sz="1800" b="1" i="0">
              <a:solidFill>
                <a:srgbClr val="b8923f"/>
              </a:solidFill>
              <a:latin typeface="Cambri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9facc4"/>
                </a:solidFill>
                <a:latin typeface="Calibri"/>
              </a:rPr>
              <a:t>2026.01 ~ 2026.03</a:t>
            </a:r>
            <a:endParaRPr sz="1100" b="0" i="0">
              <a:solidFill>
                <a:srgbClr val="9facc4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60520" y="4206240"/>
            <a:ext cx="3246120" cy="105156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389120" y="432511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23f"/>
                </a:solidFill>
                <a:latin typeface="Cambria"/>
              </a:rPr>
              <a:t>매출 +332.8%</a:t>
            </a:r>
            <a:endParaRPr sz="1800" b="1" i="0">
              <a:solidFill>
                <a:srgbClr val="b8923f"/>
              </a:solidFill>
              <a:latin typeface="Cambri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89120" y="480060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9facc4"/>
                </a:solidFill>
                <a:latin typeface="Calibri"/>
              </a:rPr>
              <a:t>전년동기 대비</a:t>
            </a:r>
            <a:endParaRPr sz="1100" b="0" i="0">
              <a:solidFill>
                <a:srgbClr val="9facc4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80959" y="4206240"/>
            <a:ext cx="3246120" cy="105156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909559" y="432511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23f"/>
                </a:solidFill>
                <a:latin typeface="Cambria"/>
              </a:rPr>
              <a:t>흑자전환</a:t>
            </a:r>
            <a:endParaRPr sz="1800" b="1" i="0">
              <a:solidFill>
                <a:srgbClr val="b8923f"/>
              </a:solidFill>
              <a:latin typeface="Cambri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09559" y="480060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9facc4"/>
                </a:solidFill>
                <a:latin typeface="Calibri"/>
              </a:rPr>
              <a:t>영업이익 · 순이익 동시</a:t>
            </a:r>
            <a:endParaRPr sz="1100" b="0" i="0">
              <a:solidFill>
                <a:srgbClr val="9facc4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7e8ca8"/>
                </a:solidFill>
                <a:latin typeface="Calibri"/>
              </a:rPr>
              <a:t>KOSDAQ 452430  |  주식투자 모임 발표자료  |  DART 전자공시 분기보고서 기반</a:t>
            </a:r>
            <a:endParaRPr sz="1100" b="0" i="0">
              <a:solidFill>
                <a:srgbClr val="7e8ca8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F3D"/>
                </a:solidFill>
                <a:latin typeface="Cambria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4650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013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재무상태표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305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Statement of Financial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자산 · 부채 · 자본 구조와 핵심 변동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4650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8013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포괄손익계산서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305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Statement of Comprehensive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877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매출 · 비용 구조와 흑자전환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9242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47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자본변동표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764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Statement of Changes in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336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자본 증가의 질적 변화 — 이익 vs 외부조달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9242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447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현금흐름표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764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Statement of Cash 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336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순이익과 현금흐름의 괴리 원인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9204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3834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93207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재무제표 주석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4223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Notes to Financial Statements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7959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회계기준 변경 · 계약자산 · 고객집중도 등 10개 핵심 주석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89204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3834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3F"/>
                </a:solidFill>
                <a:latin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093207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3D"/>
                </a:solidFill>
                <a:latin typeface="Cambria"/>
              </a:rPr>
              <a:t>종합 분석 요약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4223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5A8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87959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투자자 관점 핵심 시사점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1. 재무상태표 —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자산 구조: 무엇을 보유하고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원  |  제10기 1분기말(2026.03.31) vs 제9기말(2025.12.31)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8181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91640"/>
                <a:gridCol w="1645920"/>
                <a:gridCol w="1645920"/>
              </a:tblGrid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제10기 1분기말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제9기말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증감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현금및현금성자산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10,792,349,540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10,994,837,046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△202,487,506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매출채권 및 기타채권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2,182,014,890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1,918,608,468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+263,406,422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 유동자산(재고·계약자산 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2,377,713,477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1,798,608,607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+579,104,870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유동자산 합계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15,352,077,907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14,712,054,121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+640,023,786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유형자산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14,715,997,681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14,711,330,565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+4,667,116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무형자산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847,590,000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886,403,000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△38,813,000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 비유동자산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1,263,789,886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1,302,469,530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△38,679,644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비유동자산 합계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16,827,377,567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16,900,203,095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△72,825,528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자산총계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32,179,455,474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31,612,257,216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+567,198,258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1691640"/>
            <a:ext cx="3063240" cy="4434840"/>
          </a:xfrm>
          <a:prstGeom prst="rect">
            <a:avLst/>
          </a:prstGeom>
          <a:solidFill>
            <a:srgbClr val="0F1F3D"/>
          </a:solidFill>
          <a:ln>
            <a:noFill/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892808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순현금 상태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368296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2E3"/>
                </a:solidFill>
                <a:latin typeface="Calibri"/>
              </a:rPr>
              <a:t>차입금 9,266,510천원 &lt; 현금성자산 10,792,350천원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2E3"/>
                </a:solidFill>
                <a:latin typeface="Calibri"/>
              </a:rPr>
              <a:t>→ 순현금 약 15.3억원 보유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3383280"/>
            <a:ext cx="2551175" cy="0"/>
          </a:xfrm>
          <a:prstGeom prst="line">
            <a:avLst/>
          </a:prstGeom>
          <a:ln w="12700">
            <a:solidFill>
              <a:srgbClr val="2A4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51392" y="3538728"/>
            <a:ext cx="2551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8923F"/>
                </a:solidFill>
                <a:latin typeface="Calibri"/>
              </a:rPr>
              <a:t>계약부채 급증 +17.9억원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3886200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7D2E3"/>
                </a:solidFill>
                <a:latin typeface="Calibri"/>
              </a:rPr>
              <a:t>고객 선수령 NRE 계약금 증가. 향후 매출로 인식될 “예약된 매출” 축적 — 성장의 선행지표.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51392" y="4727448"/>
            <a:ext cx="2551175" cy="0"/>
          </a:xfrm>
          <a:prstGeom prst="line">
            <a:avLst/>
          </a:prstGeom>
          <a:ln w="12700">
            <a:solidFill>
              <a:srgbClr val="2A4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51392" y="4873752"/>
            <a:ext cx="2551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매입채무 △15.2억원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5221224"/>
            <a:ext cx="2551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7D2E3"/>
                </a:solidFill>
                <a:latin typeface="Calibri"/>
              </a:rPr>
              <a:t>전분기 양산 준비 관련 매입채무가 결제·정산되며 감소.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1. 재무상태표 — 부채 · 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부채 · 자본 구조: 무엇을 빌리고, 무엇이 진짜 내 몫인가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원  |  제10기 1분기말(2026.03.31) vs 제9기말(2025.12.31)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818120" cy="4087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91640"/>
                <a:gridCol w="1645920"/>
                <a:gridCol w="1645920"/>
              </a:tblGrid>
              <a:tr h="272491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제10기 1분기말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제9기말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증감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매입채무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3,240,142,000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4,758,444,000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△1,518,302,000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유동성차입금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7,166,560,000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7,166,560,000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계약부채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4,343,923,000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2,558,486,000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+1,785,437,000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 유동부채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1,473,699,780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1,733,104,839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△259,405,059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유동부채 합계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16,224,324,780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16,216,594,839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+7,729,941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비유동 차입금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2,099,950,000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2,141,590,000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△41,640,000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 비유동부채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399,122,768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386,750,208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+12,372,560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비유동부채 합계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2,499,072,768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2,528,340,208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△29,267,440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부채총계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18,723,397,548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18,744,935,047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△21,537,499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자본금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821,804,600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821,804,600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자본잉여금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58,104,283,056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58,104,283,056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기타자본구성요소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1,229,755,418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1,004,717,079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+225,038,339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이익잉여금(결손금)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(46,699,785,148)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(47,063,482,566)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+363,697,418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249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자본총계</a:t>
                      </a:r>
                    </a:p>
                  </a:txBody>
                  <a:tcPr marL="54864" marR="54864" marT="18288" marB="18288" anchor="ctr">
                    <a:solidFill>
                      <a:srgbClr val="1A4D3E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13,456,057,926</a:t>
                      </a:r>
                    </a:p>
                  </a:txBody>
                  <a:tcPr marL="54864" marR="54864" marT="18288" marB="18288" anchor="ctr">
                    <a:solidFill>
                      <a:srgbClr val="1A4D3E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12,867,322,169</a:t>
                      </a:r>
                    </a:p>
                  </a:txBody>
                  <a:tcPr marL="54864" marR="54864" marT="18288" marB="18288" anchor="ctr">
                    <a:solidFill>
                      <a:srgbClr val="1A4D3E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+588,735,757</a:t>
                      </a:r>
                    </a:p>
                  </a:txBody>
                  <a:tcPr marL="54864" marR="54864" marT="18288" marB="18288" anchor="ctr">
                    <a:solidFill>
                      <a:srgbClr val="1A4D3E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1691640"/>
            <a:ext cx="30632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892808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Cambria"/>
              </a:rPr>
              <a:t>자본총계 +5.9억원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368296"/>
            <a:ext cx="25511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>
                <a:solidFill>
                  <a:srgbClr val="5B6478"/>
                </a:solidFill>
                <a:latin typeface="Calibri"/>
              </a:rPr>
              <a:t>당기순이익(+3.6억) + 주식보상비용 인식(+2.3억) 효과. 유상증자 없이 자체 이익으로 자본이 쌓이는 구조로 전환 중.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3483864"/>
            <a:ext cx="2551175" cy="0"/>
          </a:xfrm>
          <a:prstGeom prst="line">
            <a:avLst/>
          </a:prstGeom>
          <a:ln w="12700">
            <a:solidFill>
              <a:srgbClr val="E2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51392" y="3630168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B23A2E"/>
                </a:solidFill>
                <a:latin typeface="Calibri"/>
              </a:rPr>
              <a:t>이익잉여금(결손금) 여전히 △467억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4087368"/>
            <a:ext cx="25511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478"/>
                </a:solidFill>
                <a:latin typeface="Calibri"/>
              </a:rPr>
              <a:t>과거 누적 적자가 크지만 1분기 흑자로 결손금이 소폭 축소(△470.6억→△467.0억). 완전 해소까지는 다년간 흑자 지속 필요.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51392" y="5148072"/>
            <a:ext cx="2551175" cy="0"/>
          </a:xfrm>
          <a:prstGeom prst="line">
            <a:avLst/>
          </a:prstGeom>
          <a:ln w="12700">
            <a:solidFill>
              <a:srgbClr val="E2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51392" y="5294376"/>
            <a:ext cx="25511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F3D"/>
                </a:solidFill>
                <a:latin typeface="Calibri"/>
              </a:rPr>
              <a:t>부채비율(부채÷자본)  139.1%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2. 포괄손익계산서 — 손익구조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흑자전환: 1년 만에 무엇이 달라졌나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원  |  제10기 1분기(2026.01~03) vs 제9기 1분기(2025.01~03)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818120" cy="347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91640"/>
                <a:gridCol w="1645920"/>
                <a:gridCol w="1645920"/>
              </a:tblGrid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제10기 1분기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제9기 1분기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증감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수익(매출액)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7,133,778,231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1,648,109,584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+332.8%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매출원가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5,706,377,716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1,373,646,227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+4,332,731,489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매출총이익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1,427,400,515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274,463,357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+1,152,937,158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판매비와관리비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1,325,859,405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1,877,683,777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△551,824,372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영업이익(손실)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101,541,110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(1,603,220,420)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흑자전환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금융수익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704,737,340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117,274,063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+587,463,277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금융원가(비용)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443,583,124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224,389,909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+219,193,215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기타수익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1,002,000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11,616,000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△10,614,000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당기순이익(손실)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363,697,418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(1,698,719,909)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흑자전환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기본주당이익(손실)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44원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(209원)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+253원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1691640"/>
            <a:ext cx="3063240" cy="4434840"/>
          </a:xfrm>
          <a:prstGeom prst="rect">
            <a:avLst/>
          </a:prstGeom>
          <a:solidFill>
            <a:srgbClr val="1A4D3E"/>
          </a:solidFill>
          <a:ln>
            <a:noFill/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892808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매출총이익률 20.0%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350008"/>
            <a:ext cx="255117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60" b="0" i="0">
                <a:solidFill>
                  <a:srgbClr val="E3EFE9"/>
                </a:solidFill>
                <a:latin typeface="Calibri"/>
              </a:rPr>
              <a:t>전년 동기 16.7% → 20.0%로 개선. 다만 발표자료 “2025E 30.9%” 목표 대비로는 아직 부족 — 용역(NRE)매출 비중 99%로 원가율이 높은 구조.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3611880"/>
            <a:ext cx="2551175" cy="0"/>
          </a:xfrm>
          <a:prstGeom prst="line">
            <a:avLst/>
          </a:prstGeom>
          <a:ln w="12700">
            <a:solidFill>
              <a:srgbClr val="3A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51392" y="3758183"/>
            <a:ext cx="2551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B8923F"/>
                </a:solidFill>
                <a:latin typeface="Calibri"/>
              </a:rPr>
              <a:t>영업외이익이 순이익을 견인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4105656"/>
            <a:ext cx="25511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E3EFE9"/>
                </a:solidFill>
                <a:latin typeface="Calibri"/>
              </a:rPr>
              <a:t>영업이익(1.0억) &lt; 순이익(3.6억)인 이유: 금융수익(환차익 7.0억) &gt; 금융비용(4.4억). 환율 변동성에 분기 순이익이 출렁일 수 있는 구조.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2. 포괄손익계산서 — 비용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판관비 · 금융손익 세부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천원  |  당분기(2026 1Q) vs 전분기(2025 1Q)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6309360" cy="3198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280160"/>
              </a:tblGrid>
              <a:tr h="290779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판매비와관리비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당분기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전분기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증감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임직원급여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384,429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431,311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△46,882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퇴직급여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51,613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39,279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+12,334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복리후생비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113,301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104,510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+8,791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경상연구개발비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105,545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522,410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△416,865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감가상각비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175,232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118,991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+56,241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주식보상비용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225,038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395,040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△170,002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지급수수료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109,834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106,175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+3,659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광고선전비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22,154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4,652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+17,502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기타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138,714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155,316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△16,602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0779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1,325,860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1,877,684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△551,824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95160" y="1691640"/>
          <a:ext cx="4663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3716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금융수익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당분기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전분기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이자수익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1,188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1,988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외환차익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323,493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29,461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외화환산이익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380,056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85,826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704,737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117,275</a:t>
                      </a:r>
                    </a:p>
                  </a:txBody>
                  <a:tcPr marL="54864" marR="54864" marT="18288" marB="18288" anchor="ctr">
                    <a:solidFill>
                      <a:srgbClr val="E8F1E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95160" y="3337560"/>
          <a:ext cx="4663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3716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금융비용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당분기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전분기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이자비용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89,272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98,838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외환차손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322,920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123,560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외화환산손실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31,391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1,993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443,583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224,391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95160" y="5029200"/>
            <a:ext cx="4663440" cy="1097280"/>
          </a:xfrm>
          <a:prstGeom prst="rect">
            <a:avLst/>
          </a:prstGeom>
          <a:solidFill>
            <a:srgbClr val="F7EFDD"/>
          </a:solidFill>
          <a:ln w="9525">
            <a:solidFill>
              <a:srgbClr val="B89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5166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6B23"/>
                </a:solidFill>
                <a:latin typeface="Calibri"/>
              </a:rPr>
              <a:t>환율 민감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548640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4A1E"/>
                </a:solidFill>
                <a:latin typeface="Calibri"/>
              </a:rPr>
              <a:t>금융수익·비용 대부분이 외환 관련. 달러 결제 비중 큰 해외고객 영향으로 영업외손익이 환율에 좌우됨.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29200"/>
            <a:ext cx="6309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경상연구개발비 △416,865천원 감소의 진짜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486400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8"/>
                </a:solidFill>
                <a:latin typeface="Calibri"/>
              </a:rPr>
              <a:t>R&amp;D 지출이 줄어든 게 아니라, 양산 비중 확대로 R&amp;D 비용 일부가 판관비에서 제조원가로 분류 전환됨 (분기보고서 본문 R&amp;D 합계는 오히려 1,468백만원으로 증가).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3. 자본변동표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자본이 늘어난 “내용”이 달라졌다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천원  |  제10기 1분기(당분기) vs 제9기 1분기(전년동기)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제10기 1분기 (2026.01.01 ~ 2026.03.31)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10512"/>
          <a:ext cx="11201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691640"/>
                <a:gridCol w="1965960"/>
                <a:gridCol w="2240280"/>
                <a:gridCol w="196596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자본금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자본잉여금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기타자본구성요소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이익잉여금(결손금)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자본합계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2026.01.01 기초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821,805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58,104,283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1,004,717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(47,063,483)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12,867,322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당기순이익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363,697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363,697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주식보상비용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225,038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225,038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2026.03.31 기말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821,805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58,104,283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1,229,755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(46,699,785)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13,456,058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4290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478"/>
                </a:solidFill>
                <a:latin typeface="Calibri"/>
              </a:rPr>
              <a:t>제9기 1분기 (2025.01.01 ~ 2025.03.31) —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703320"/>
          <a:ext cx="11201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691640"/>
                <a:gridCol w="1965960"/>
                <a:gridCol w="2240280"/>
                <a:gridCol w="196596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자본금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자본잉여금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기타자본구성요소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이익잉여금(결손금)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자본합계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2025.01.01 기초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809,645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56,816,355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1,096,130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(42,275,434)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16,446,697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당기순손실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(1,698,720)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23A2E"/>
                          </a:solidFill>
                          <a:latin typeface="Calibri"/>
                        </a:rPr>
                        <a:t>(1,698,720)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주식보상비용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395,040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395,040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주식선택권 행사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4,997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377,577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(254,655)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127,919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주식선택권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413,252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(413,252)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2025.03.31 기말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814,642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57,607,183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823,264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(43,974,154)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15,270,935</a:t>
                      </a:r>
                    </a:p>
                  </a:txBody>
                  <a:tcPr marL="54864" marR="54864" marT="18288" marB="18288" anchor="ctr">
                    <a:solidFill>
                      <a:srgbClr val="5B6478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779008"/>
            <a:ext cx="11201400" cy="804672"/>
          </a:xfrm>
          <a:prstGeom prst="rect">
            <a:avLst/>
          </a:prstGeom>
          <a:solidFill>
            <a:srgbClr val="E8F1ED"/>
          </a:solidFill>
          <a:ln w="9525">
            <a:solidFill>
              <a:srgbClr val="1A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88736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4D3E"/>
                </a:solidFill>
                <a:latin typeface="Calibri"/>
              </a:rPr>
              <a:t xml:space="preserve">핵심 변화:  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 xml:space="preserve">전년동기는 순손실(△17.0억)을 외부자금(주식선택권 행사 +1.3억)으로 일부 상쇄하며 자본이 감소(△7.2%)했으나, 당분기는 순이익(+3.6억)이 자본 증가를 이끌며 자본이 +4.6% 증가 — </a:t>
            </a:r>
            <a:r>
              <a:rPr sz="1100" b="1" i="0">
                <a:solidFill>
                  <a:srgbClr val="1A4D3E"/>
                </a:solidFill>
                <a:latin typeface="Calibri"/>
              </a:rPr>
              <a:t>외부자금조달이 아닌 영업 성과로 자본이 쌓이는 구조로 전환.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4. 현금흐름표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순이익은 흑자인데, 영업현금흐름은 왜 적자일까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단위: 원  |  제10기 1분기(2026 1Q) vs 제9기 1분기(2025 1Q)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7040880" cy="315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920240"/>
                <a:gridCol w="1920240"/>
              </a:tblGrid>
              <a:tr h="24231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제10기 1분기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제9기 1분기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영업활동현금흐름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(157,190,591)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1,933,454,726</a:t>
                      </a:r>
                    </a:p>
                  </a:txBody>
                  <a:tcPr marL="54864" marR="54864" marT="18288" marB="18288" anchor="ctr">
                    <a:solidFill>
                      <a:srgbClr val="FBEAE7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영업에서 창출된 현금흐름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(62,808,872)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2,036,368,249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이자수취·지급, 법인세납부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(94,381,719)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(102,913,523)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투자활동현금흐름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(321,707,945)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(50,334,524)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유형자산의 취득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(279,920,000)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(20,360,000)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장기선급금의 감소(증가) 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(41,787,945)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(29,974,524)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재무활동현금흐름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(31,056,598)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A4D3E"/>
                          </a:solidFill>
                          <a:latin typeface="Calibri"/>
                        </a:rPr>
                        <a:t>99,190,339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차입금상환·리스지급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(49,858,800)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(39,848,800)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 xml:space="preserve">  정부보조금·주식선택권행사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18,802,202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139,039,139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현금의 순증가(감소)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(202,487,506)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2,065,159,181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기초현금및현금성자산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10,994,837,046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8,036,114,597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기말현금및현금성자산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10,792,349,540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10,101,273,778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600200"/>
            <a:ext cx="3977639" cy="4800600"/>
          </a:xfrm>
          <a:prstGeom prst="rect">
            <a:avLst/>
          </a:prstGeom>
          <a:solidFill>
            <a:srgbClr val="0F1F3D"/>
          </a:solidFill>
          <a:ln>
            <a:noFill/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1" y="1801368"/>
            <a:ext cx="3465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순이익 vs 영업현금흐름  괴리 +5.2억원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1" y="244144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7D2E3"/>
                </a:solidFill>
                <a:latin typeface="Calibri"/>
              </a:rPr>
              <a:t>당기순이익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441448"/>
            <a:ext cx="1325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A4D3E"/>
                </a:solidFill>
                <a:latin typeface="Calibri"/>
              </a:rPr>
              <a:t>+363,697천원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82711" y="2770632"/>
            <a:ext cx="3465576" cy="0"/>
          </a:xfrm>
          <a:prstGeom prst="line">
            <a:avLst/>
          </a:prstGeom>
          <a:ln w="12700">
            <a:solidFill>
              <a:srgbClr val="263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82711" y="280720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7D2E3"/>
                </a:solidFill>
                <a:latin typeface="Calibri"/>
              </a:rPr>
              <a:t>계약자산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807208"/>
            <a:ext cx="1325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B23A2E"/>
                </a:solidFill>
                <a:latin typeface="Calibri"/>
              </a:rPr>
              <a:t>△418,715천원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82711" y="3136391"/>
            <a:ext cx="3465576" cy="0"/>
          </a:xfrm>
          <a:prstGeom prst="line">
            <a:avLst/>
          </a:prstGeom>
          <a:ln w="12700">
            <a:solidFill>
              <a:srgbClr val="263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82711" y="317296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7D2E3"/>
                </a:solidFill>
                <a:latin typeface="Calibri"/>
              </a:rPr>
              <a:t>계약부채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172968"/>
            <a:ext cx="1325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1A4D3E"/>
                </a:solidFill>
                <a:latin typeface="Calibri"/>
              </a:rPr>
              <a:t>+1,785,438천원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82711" y="3502151"/>
            <a:ext cx="3465576" cy="0"/>
          </a:xfrm>
          <a:prstGeom prst="line">
            <a:avLst/>
          </a:prstGeom>
          <a:ln w="12700">
            <a:solidFill>
              <a:srgbClr val="263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82711" y="3538727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7D2E3"/>
                </a:solidFill>
                <a:latin typeface="Calibri"/>
              </a:rPr>
              <a:t>매입채무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38727"/>
            <a:ext cx="1325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B23A2E"/>
                </a:solidFill>
                <a:latin typeface="Calibri"/>
              </a:rPr>
              <a:t>△1,549,693천원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82711" y="3867911"/>
            <a:ext cx="3465576" cy="0"/>
          </a:xfrm>
          <a:prstGeom prst="line">
            <a:avLst/>
          </a:prstGeom>
          <a:ln w="12700">
            <a:solidFill>
              <a:srgbClr val="263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82711" y="3904487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7D2E3"/>
                </a:solidFill>
                <a:latin typeface="Calibri"/>
              </a:rPr>
              <a:t>영업에서 창출된 현금흐름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904487"/>
            <a:ext cx="1325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B8923F"/>
                </a:solidFill>
                <a:latin typeface="Calibri"/>
              </a:rPr>
              <a:t>△62,810천원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82711" y="4315968"/>
            <a:ext cx="3465576" cy="0"/>
          </a:xfrm>
          <a:prstGeom prst="line">
            <a:avLst/>
          </a:prstGeom>
          <a:ln w="12700">
            <a:solidFill>
              <a:srgbClr val="2A4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82711" y="4471416"/>
            <a:ext cx="34655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60" b="0" i="0">
                <a:solidFill>
                  <a:srgbClr val="C7D2E3"/>
                </a:solidFill>
                <a:latin typeface="Calibri"/>
              </a:rPr>
              <a:t>매출은 급증했지만, 그에 따른 현금 회수는 아직 후행 — 용역(NRE) 청구·수취 시차가 핵심 원인. 계약부채(선수금)가 계약자산보다 더 크게 늘어 자금 측면 구조는 건전.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19472"/>
            <a:ext cx="70408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5663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0F1F3D"/>
                </a:solidFill>
                <a:latin typeface="Calibri"/>
              </a:rPr>
              <a:t>CAPEX 약 13.7배 급증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6752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0" b="0" i="0">
                <a:solidFill>
                  <a:srgbClr val="5B6478"/>
                </a:solidFill>
                <a:latin typeface="Calibri"/>
              </a:rPr>
              <a:t>유형자산 취득 2,040만원 → 2억 7,990만원. 양산 대응 설비·장비 투자 본격화 신호.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5779008"/>
            <a:ext cx="6629399" cy="0"/>
          </a:xfrm>
          <a:prstGeom prst="line">
            <a:avLst/>
          </a:prstGeom>
          <a:ln w="12700">
            <a:solidFill>
              <a:srgbClr val="E2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58704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0" b="0" i="0">
                <a:solidFill>
                  <a:srgbClr val="5B6478"/>
                </a:solidFill>
                <a:latin typeface="Calibri"/>
              </a:rPr>
              <a:t>기말현금 10,792백만원 · 순현금 유지 — 환율변동효과(+3.1억)가 현금 감소(△2.0억)를 상당 부분 상쇄.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5. 재무제표 주석 분석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표 너머의 이야기 — 회계기준 변경 · 계약 구조 · 자산건전성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주석 2 · 4 · 7 · 20 핵심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58444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874520"/>
            <a:ext cx="420624" cy="420624"/>
          </a:xfrm>
          <a:prstGeom prst="ellipse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8562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 i="0">
                <a:solidFill>
                  <a:srgbClr val="0F1F3D"/>
                </a:solidFill>
                <a:latin typeface="Calibri"/>
              </a:rPr>
              <a:t>회계기준 변경 예고 (주석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321868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5B6478"/>
                </a:solidFill>
                <a:latin typeface="Calibri"/>
              </a:rPr>
              <a:t>2027년 3월부터 신기준서(K-IFRS 1118) 적용 예정. 현재 영업외손익으로 분류된 유형자산 처분손익 등이 영업손익으로 재분류될 수 있음. 이자수취·지급도 영업→투자/재무활동으로 이동 예정.
시사점: 현재 영업이익(1.0억)은 신기준서 적용 시 분류가 달라질 수 있으나, 당기순이익 자체는 영향받지 않음.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691640"/>
            <a:ext cx="358444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874520"/>
            <a:ext cx="420624" cy="420624"/>
          </a:xfrm>
          <a:prstGeom prst="ellipse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8562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 i="0">
                <a:solidFill>
                  <a:srgbClr val="0F1F3D"/>
                </a:solidFill>
                <a:latin typeface="Calibri"/>
              </a:rPr>
              <a:t>금융상품 공정가치 (주석 4~5)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50008"/>
            <a:ext cx="321868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5B6478"/>
                </a:solidFill>
                <a:latin typeface="Calibri"/>
              </a:rPr>
              <a:t>금융자산 14,001,180천원 중 비상장 지분증권 999,900천원(약 10억원)을 보유 — 공정가치 서열체계 수준3, 취득원가로 평가.
전략적 투자 목적의 지분투자로 추정되며, 시장성이 없어 향후 가치 변동 시 손익 영향이 제한적이거나 평가 불확실성이 존재.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1691640"/>
            <a:ext cx="358444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1874520"/>
            <a:ext cx="420624" cy="420624"/>
          </a:xfrm>
          <a:prstGeom prst="ellipse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8562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 i="0">
                <a:solidFill>
                  <a:srgbClr val="0F1F3D"/>
                </a:solidFill>
                <a:latin typeface="Calibri"/>
              </a:rPr>
              <a:t>매출채권 · 계약자산 품질 (주석 7,20)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50008"/>
            <a:ext cx="321868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5B6478"/>
                </a:solidFill>
                <a:latin typeface="Calibri"/>
              </a:rPr>
              <a:t>손실충당금 267,178천원, 1분기 중 변동 없음 — 대손 발생·추가 적립 없이 안정적 유지.
계약부채(43.4억)가 계약자산(5.6억)의 약 7.8배 — 받은 선수금이 아직 받지 못한 청구권보다 훨씬 큼. 자금 측면에서 유리한 선수금형 NRE 계약 구조 시사.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1119225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3A2E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B23A2E"/>
                </a:solidFill>
                <a:latin typeface="Calibri"/>
              </a:rPr>
              <a:t>주의 신호 — 계약별 누적 손익 현황 (주석 20-3)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4873752"/>
          <a:ext cx="8430768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  <a:gridCol w="1188720"/>
                <a:gridCol w="2121408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계약명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계약일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종료일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진행률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계약 누적손익(천원)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MA-202408-004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2024-08-25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2026-06-23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88.23%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A4D3E"/>
                          </a:solidFill>
                          <a:latin typeface="Calibri"/>
                        </a:rPr>
                        <a:t>+416,915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GA-202512-004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2025-12-24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2026-11-23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78.18%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B8923F"/>
                          </a:solidFill>
                          <a:latin typeface="Calibri"/>
                        </a:rPr>
                        <a:t>(636,422)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SA-202510-003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2025-10-21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2026-11-20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31.17%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(3,579,331)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C2433"/>
                          </a:solidFill>
                          <a:latin typeface="Calibri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B23A2E"/>
                          </a:solidFill>
                          <a:latin typeface="Calibri"/>
                        </a:rPr>
                        <a:t>(3,798,838)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B23A2E"/>
                </a:solidFill>
                <a:latin typeface="Calibri"/>
              </a:rPr>
              <a:t>진행률 31%에 큰 적자(△35.8억) — 수익성 낮거나 비용 초과 우려가 있는 계약. 반면 진행률 88%인 계약은 흑자(+4.2억) — 계약 건전성 편차가 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5. 재무제표 주석 분석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F1F3D"/>
                </a:solidFill>
                <a:latin typeface="Cambria"/>
              </a:rPr>
              <a:t>자금 조달 구조와 고객 집중도 리스크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Calibri"/>
              </a:rPr>
              <a:t>주석 10 · 15 · 19 · 28 핵심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5A8"/>
                </a:solidFill>
                <a:latin typeface="Calibri"/>
              </a:rPr>
              <a:t>사피엔반도체 (452430) · 2026년 1분기 재무제표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5A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Calibri"/>
              </a:rPr>
              <a:t>차입금 구조 — 정책자금 중심 (주석 15)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47672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822960"/>
                <a:gridCol w="12801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차입처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금리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당분기말(천원)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중소벤처기업진흥공단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2027-06-28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2.66%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83,250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중소벤처기업진흥공단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2028-01-26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2.80%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183,260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중소벤처기업진흥공단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2033-04-27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2.49%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2,000,000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하나은행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2027-04-28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4.30%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>7,000,000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C24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19" b="1" i="0">
                          <a:solidFill>
                            <a:srgbClr val="FFFFFF"/>
                          </a:solidFill>
                          <a:latin typeface="Calibri"/>
                        </a:rPr>
                        <a:t>9,266,510</a:t>
                      </a:r>
                    </a:p>
                  </a:txBody>
                  <a:tcPr marL="54864" marR="54864" marT="18288" marB="18288" anchor="ctr">
                    <a:solidFill>
                      <a:srgbClr val="0F1F3D"/>
                    </a:solidFill>
                    <a:lnL w="6350" cap="flat">
                      <a:solidFill>
                        <a:srgbClr val="E2E6ED"/>
                      </a:solidFill>
                    </a:lnL>
                    <a:lnR w="6350" cap="flat">
                      <a:solidFill>
                        <a:srgbClr val="E2E6ED"/>
                      </a:solidFill>
                    </a:lnR>
                    <a:lnT w="6350" cap="flat">
                      <a:solidFill>
                        <a:srgbClr val="E2E6ED"/>
                      </a:solidFill>
                    </a:lnT>
                    <a:lnB w="6350" cap="flat">
                      <a:solidFill>
                        <a:srgbClr val="E2E6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22191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8"/>
                </a:solidFill>
                <a:latin typeface="Calibri"/>
              </a:rPr>
              <a:t xml:space="preserve">차입금의 약 23.7%(22.7억원)가 </a:t>
            </a:r>
            <a:r>
              <a:rPr sz="1000" b="1" i="0">
                <a:solidFill>
                  <a:srgbClr val="1A4D3E"/>
                </a:solidFill>
                <a:latin typeface="Calibri"/>
              </a:rPr>
              <a:t>정책자금(중진공, 평균금리 2.6%대)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으로 매우 낮은 비용. 나머지 76%(70억원)는 하나은행 4.30% 담보대출. 가중평균 조달비용 약 3.7% 추정 — 시중 일반대출 대비 양호.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Calibri"/>
              </a:rPr>
              <a:t>주식기준보상 — 잠재 희석 리스크 (주석 19)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937760"/>
            <a:ext cx="5943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0840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B6478"/>
                </a:solidFill>
                <a:latin typeface="Calibri"/>
              </a:rPr>
              <a:t>주식선택권 수량(기말)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0840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F3D"/>
                </a:solidFill>
                <a:latin typeface="Calibri"/>
              </a:rPr>
              <a:t>246,225주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084064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1">
                <a:solidFill>
                  <a:srgbClr val="8B95A8"/>
                </a:solidFill>
                <a:latin typeface="Calibri"/>
              </a:rPr>
              <a:t>발행주식 대비 약 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412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B6478"/>
                </a:solidFill>
                <a:latin typeface="Calibri"/>
              </a:rPr>
              <a:t>가중평균 행사가격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5412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F3D"/>
                </a:solidFill>
                <a:latin typeface="Calibri"/>
              </a:rPr>
              <a:t>15,986원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541264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1">
                <a:solidFill>
                  <a:srgbClr val="8B95A8"/>
                </a:solidFill>
                <a:latin typeface="Calibri"/>
              </a:rPr>
              <a:t>현재주가(₩38,800) 대비 낮음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9984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B6478"/>
                </a:solidFill>
                <a:latin typeface="Calibri"/>
              </a:rPr>
              <a:t>행사가능 주식선택권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9984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F3D"/>
                </a:solidFill>
                <a:latin typeface="Calibri"/>
              </a:rPr>
              <a:t>60,325주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998464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1">
                <a:solidFill>
                  <a:srgbClr val="8B95A8"/>
                </a:solidFill>
                <a:latin typeface="Calibri"/>
              </a:rPr>
              <a:t>전기말 31,367주 대비 증가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627632"/>
            <a:ext cx="4892040" cy="4864608"/>
          </a:xfrm>
          <a:prstGeom prst="rect">
            <a:avLst/>
          </a:prstGeom>
          <a:solidFill>
            <a:srgbClr val="0F1F3D"/>
          </a:solidFill>
          <a:ln>
            <a:noFill/>
          </a:ln>
          <a:effectLst>
            <a:outerShdw blurRad="90000" dist="25000" dir="5400000" rotWithShape="0">
              <a:srgbClr val="0F1F3D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1792224"/>
            <a:ext cx="4379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고객 · 지역 집중도 리스크 (주석 28)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3317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C7D2E3"/>
                </a:solidFill>
                <a:latin typeface="Calibri"/>
              </a:rPr>
              <a:t>고객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368296"/>
            <a:ext cx="2606039" cy="201168"/>
          </a:xfrm>
          <a:prstGeom prst="rect">
            <a:avLst/>
          </a:prstGeom>
          <a:solidFill>
            <a:srgbClr val="1B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2368296"/>
            <a:ext cx="1454170" cy="201168"/>
          </a:xfrm>
          <a:prstGeom prst="rect">
            <a:avLst/>
          </a:prstGeom>
          <a:solidFill>
            <a:srgbClr val="B89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74552" y="2313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55.8%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75234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C7D2E3"/>
                </a:solidFill>
                <a:latin typeface="Calibri"/>
              </a:rPr>
              <a:t>고객 4 (북아메리카)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788920"/>
            <a:ext cx="2606039" cy="201168"/>
          </a:xfrm>
          <a:prstGeom prst="rect">
            <a:avLst/>
          </a:prstGeom>
          <a:solidFill>
            <a:srgbClr val="1B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2788920"/>
            <a:ext cx="695812" cy="2011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74552" y="27340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17296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C7D2E3"/>
                </a:solidFill>
                <a:latin typeface="Calibri"/>
              </a:rPr>
              <a:t>고객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3209544"/>
            <a:ext cx="2606039" cy="201168"/>
          </a:xfrm>
          <a:prstGeom prst="rect">
            <a:avLst/>
          </a:prstGeom>
          <a:solidFill>
            <a:srgbClr val="1B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3209544"/>
            <a:ext cx="338785" cy="201168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74552" y="31546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13.0%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593591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C7D2E3"/>
                </a:solidFill>
                <a:latin typeface="Calibri"/>
              </a:rPr>
              <a:t>고객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3630168"/>
            <a:ext cx="2606039" cy="201168"/>
          </a:xfrm>
          <a:prstGeom prst="rect">
            <a:avLst/>
          </a:prstGeom>
          <a:solidFill>
            <a:srgbClr val="1B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74552" y="357530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22592" y="4105655"/>
            <a:ext cx="4379975" cy="0"/>
          </a:xfrm>
          <a:prstGeom prst="line">
            <a:avLst/>
          </a:prstGeom>
          <a:ln w="12700">
            <a:solidFill>
              <a:srgbClr val="2A4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22592" y="4270248"/>
            <a:ext cx="43799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0" b="0" i="0">
                <a:solidFill>
                  <a:srgbClr val="C7D2E3"/>
                </a:solidFill>
                <a:latin typeface="Calibri"/>
              </a:rPr>
              <a:t>상위 3개 고객이 매출의 95.5% 차지, 단일 고객(고객2)이 55.8% 점유. 전년동기 “고객1”(13.1%)은 당분기 거래 0 — 고객 포트폴리오가 매 분기 크게 변동.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22592" y="5221224"/>
            <a:ext cx="4379975" cy="0"/>
          </a:xfrm>
          <a:prstGeom prst="line">
            <a:avLst/>
          </a:prstGeom>
          <a:ln w="12700">
            <a:solidFill>
              <a:srgbClr val="2A4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22592" y="5367527"/>
            <a:ext cx="43799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3F"/>
                </a:solidFill>
                <a:latin typeface="Calibri"/>
              </a:rPr>
              <a:t>지역별 매출: 아시아 73.3% · 북아메리카 26.7% · 유럽 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705856"/>
            <a:ext cx="43799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1">
                <a:solidFill>
                  <a:srgbClr val="C7D2E3"/>
                </a:solidFill>
                <a:latin typeface="Calibri"/>
              </a:rPr>
              <a:t>발표자료의 “북미·중국·일본·유럽 4개권 다변화” 스토리와 달리, 현재는 아시아 매출 의존도가 높은 단계.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923F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종합 분석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697480" cy="114300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9FACC4"/>
                </a:solidFill>
                <a:latin typeface="Calibri"/>
              </a:rPr>
              <a:t>매출액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013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16.5억 → 71.3억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A4D3E"/>
                </a:solidFill>
                <a:latin typeface="Calibri"/>
              </a:rPr>
              <a:t>+332.8%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417320"/>
            <a:ext cx="2697480" cy="114300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5270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9FACC4"/>
                </a:solidFill>
                <a:latin typeface="Calibri"/>
              </a:rPr>
              <a:t>영업이익(손실)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013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△16.0억 → +1.0억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194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A4D3E"/>
                </a:solidFill>
                <a:latin typeface="Calibri"/>
              </a:rPr>
              <a:t>흑자전환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417320"/>
            <a:ext cx="2697480" cy="114300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9FACC4"/>
                </a:solidFill>
                <a:latin typeface="Calibri"/>
              </a:rPr>
              <a:t>당기순이익(손실)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8013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△17.0억 → +3.6억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194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A4D3E"/>
                </a:solidFill>
                <a:latin typeface="Calibri"/>
              </a:rPr>
              <a:t>흑자전환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417320"/>
            <a:ext cx="2697480" cy="114300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5270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9FACC4"/>
                </a:solidFill>
                <a:latin typeface="Calibri"/>
              </a:rPr>
              <a:t>영업활동현금흐름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18013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+19.3억 → △1.6억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194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B23A2E"/>
                </a:solidFill>
                <a:latin typeface="Calibri"/>
              </a:rPr>
              <a:t>적자전환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3630168" cy="324612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90088"/>
            <a:ext cx="31729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B8923F"/>
                </a:solidFill>
                <a:latin typeface="Cambria"/>
              </a:rPr>
              <a:t>긍정적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31729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매출 4.3배 성장 + 영업이익·순이익 동시 흑자전환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신규 자금조달 없이 흑자전환과 CAPEX 확대 동시 달성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계약부채(선수금)가 계약자산보다 더 크게 증가 — 건전한 자금구조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매출채권 손실충당금 변동 없이 안정적 유지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차입금의 23.7%가 저비용 정책자금, 순현금 상태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2788920"/>
            <a:ext cx="3630168" cy="324612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990088"/>
            <a:ext cx="31729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B8923F"/>
                </a:solidFill>
                <a:latin typeface="Cambria"/>
              </a:rPr>
              <a:t>모니터링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566160"/>
            <a:ext cx="31729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영업활동현금흐름 일시 적자 — 계약자산(미청구) 증가 추이 추적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SA-202510-003 계약 누적손익 △35.8억원 — 진행률 31%로 수익성 점검 필요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단일고객 “고객2” 매출 비중 55.8% — 고객 집중 리스크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매출의 73.3%가 아시아 지역 — 지역 다변화는 아직 진행형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2788920"/>
            <a:ext cx="3630168" cy="3246120"/>
          </a:xfrm>
          <a:prstGeom prst="rect">
            <a:avLst/>
          </a:prstGeom>
          <a:solidFill>
            <a:srgbClr val="16294A"/>
          </a:solidFill>
          <a:ln w="9525">
            <a:solidFill>
              <a:srgbClr val="2A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2990088"/>
            <a:ext cx="31729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B8923F"/>
                </a:solidFill>
                <a:latin typeface="Cambria"/>
              </a:rPr>
              <a:t>구조적 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566160"/>
            <a:ext cx="31729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2027년 신회계기준(K-IFRS 1118) 적용 — 영업이익 분류기준 변경 예고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R&amp;D 비용 일부가 판관비→제조원가로 재분류 (양산 비중 확대 반영)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이익잉여금(결손금) 누적 △467억 — 다년간 흑자 지속 필요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C7D2E3"/>
                </a:solidFill>
                <a:latin typeface="Calibri"/>
              </a:rPr>
              <a:t>•  주식선택권 잠재 희석 약 3.0% — 관리 가능한 수준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E8CA8"/>
                </a:solidFill>
                <a:latin typeface="Calibri"/>
              </a:rPr>
              <a:t>본 분석은 사피엔반도체 2026년 1분기 분기보고서(DART 전자공시) 재무제표 및 주석을 기반으로 작성되었습니다. 투자 판단의 책임은 투자자 본인에게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1444</ep:Words>
  <ep:PresentationFormat>On-screen Show (4:3)</ep:PresentationFormat>
  <ep:Paragraphs>180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미미앤쥬쥬</cp:lastModifiedBy>
  <dcterms:modified xsi:type="dcterms:W3CDTF">2026-06-24T03:51:29.503</dcterms:modified>
  <cp:revision>2</cp:revision>
  <cp:version/>
</cp:coreProperties>
</file>