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image" Target="../media/image4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image" Target="../media/image6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image" Target="../media/image8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9.png"  /><Relationship Id="rId2" Type="http://schemas.openxmlformats.org/officeDocument/2006/relationships/image" Target="../media/image10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11.png"  /><Relationship Id="rId2" Type="http://schemas.openxmlformats.org/officeDocument/2006/relationships/image" Target="../media/image12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16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02920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3" name="Shape 1"/>
          <p:cNvSpPr/>
          <p:nvPr/>
        </p:nvSpPr>
        <p:spPr>
          <a:xfrm>
            <a:off x="10168128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4" name="Shape 2"/>
          <p:cNvSpPr/>
          <p:nvPr/>
        </p:nvSpPr>
        <p:spPr>
          <a:xfrm>
            <a:off x="10552176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5" name="Shape 3"/>
          <p:cNvSpPr/>
          <p:nvPr/>
        </p:nvSpPr>
        <p:spPr>
          <a:xfrm>
            <a:off x="10936224" y="502920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6" name="Shape 4"/>
          <p:cNvSpPr/>
          <p:nvPr/>
        </p:nvSpPr>
        <p:spPr>
          <a:xfrm>
            <a:off x="11320272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8128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9" name="Shape 7"/>
          <p:cNvSpPr/>
          <p:nvPr/>
        </p:nvSpPr>
        <p:spPr>
          <a:xfrm>
            <a:off x="10552176" y="886968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936224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1320272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8128" y="1271016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52176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36224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20272" y="1271016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1655064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8128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52176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36224" y="1655064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8128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52176" y="2039112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20272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</p:sp>
      <p:pic>
        <p:nvPicPr>
          <p:cNvPr id="27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822960"/>
            <a:ext cx="2743200" cy="80745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6928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디스플레이 70년의 진화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66928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디스플레이의 과거 · 현재 · 미래</a:t>
            </a:r>
            <a:endParaRPr lang="en-US" sz="4800" dirty="0"/>
          </a:p>
        </p:txBody>
      </p:sp>
      <p:sp>
        <p:nvSpPr>
          <p:cNvPr id="30" name="Text 27"/>
          <p:cNvSpPr/>
          <p:nvPr/>
        </p:nvSpPr>
        <p:spPr>
          <a:xfrm>
            <a:off x="566928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CRT에서 LEDoS까지 — 구동 방식으로 보는 디스플레이 기술의 큰 그림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66928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4233F"/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CRT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167128" y="502920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313432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4233F"/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13432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PDP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913632" y="502920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059936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4233F"/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59936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LCD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660136" y="502920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806440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4233F"/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06440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406640" y="502920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552944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C56B8"/>
          </a:solidFill>
          <a:ln w="12700">
            <a:solidFill>
              <a:srgbClr val="00B2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52944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Micro-LED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153144" y="502920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299448" y="50292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1C56B8"/>
          </a:solidFill>
          <a:ln w="12700">
            <a:solidFill>
              <a:srgbClr val="00B2D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99448" y="5029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LEDoS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97B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빛을 빌려 쓰다(백라이트) → 스스로 빛내고(자발광) → 더 밝고 튼튼하게(무기물 LED)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한눈에 보는 디스플레이 진화의 흐름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발광 방식의 진화 — 비자발광에서 자발광으로, 유기물에서 무기물로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E0A03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1900s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전자빔 주사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형광체 발광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159965" y="29260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52573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17165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7A5BD0"/>
          </a:solidFill>
          <a:ln/>
        </p:spPr>
      </p:sp>
      <p:sp>
        <p:nvSpPr>
          <p:cNvPr id="15" name="Text 12"/>
          <p:cNvSpPr/>
          <p:nvPr/>
        </p:nvSpPr>
        <p:spPr>
          <a:xfrm>
            <a:off x="2617165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PDP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452573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1990s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44013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가스 플라즈마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44013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자체 발광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045610" y="29260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38218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02810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1C56B8"/>
          </a:solidFill>
          <a:ln/>
        </p:spPr>
      </p:sp>
      <p:sp>
        <p:nvSpPr>
          <p:cNvPr id="22" name="Text 19"/>
          <p:cNvSpPr/>
          <p:nvPr/>
        </p:nvSpPr>
        <p:spPr>
          <a:xfrm>
            <a:off x="4502810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LCD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338218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2000s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29658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백라이트+액정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29658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비자발광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31256" y="29260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23864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88456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</p:spPr>
      </p:sp>
      <p:sp>
        <p:nvSpPr>
          <p:cNvPr id="29" name="Text 26"/>
          <p:cNvSpPr/>
          <p:nvPr/>
        </p:nvSpPr>
        <p:spPr>
          <a:xfrm>
            <a:off x="6388456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223864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2010s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15304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유기물 화소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315304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자체 발광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16901" y="29260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09509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274101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1F9E5A"/>
          </a:solidFill>
          <a:ln/>
        </p:spPr>
      </p:sp>
      <p:sp>
        <p:nvSpPr>
          <p:cNvPr id="36" name="Text 33"/>
          <p:cNvSpPr/>
          <p:nvPr/>
        </p:nvSpPr>
        <p:spPr>
          <a:xfrm>
            <a:off x="8274101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Micro-LED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109509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2020s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00949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무기물 LED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00949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자체 발광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702546" y="29260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995154" y="2057400"/>
            <a:ext cx="1629613" cy="2103120"/>
          </a:xfrm>
          <a:prstGeom prst="roundRect">
            <a:avLst>
              <a:gd name="adj" fmla="val 5611"/>
            </a:avLst>
          </a:prstGeom>
          <a:solidFill>
            <a:srgbClr val="0B1830"/>
          </a:solidFill>
          <a:ln w="25400">
            <a:solidFill>
              <a:srgbClr val="00B2D6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10159746" y="2240280"/>
            <a:ext cx="1300429" cy="457200"/>
          </a:xfrm>
          <a:prstGeom prst="roundRect">
            <a:avLst>
              <a:gd name="adj" fmla="val 14000"/>
            </a:avLst>
          </a:prstGeom>
          <a:solidFill>
            <a:srgbClr val="00B2D6"/>
          </a:solidFill>
          <a:ln/>
        </p:spPr>
      </p:sp>
      <p:sp>
        <p:nvSpPr>
          <p:cNvPr id="43" name="Text 40"/>
          <p:cNvSpPr/>
          <p:nvPr/>
        </p:nvSpPr>
        <p:spPr>
          <a:xfrm>
            <a:off x="10159746" y="2240280"/>
            <a:ext cx="1300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LEDoS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9995154" y="278892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미래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086594" y="3136392"/>
            <a:ext cx="1446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실리콘 위 μLED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10086594" y="3630168"/>
            <a:ext cx="14467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 ★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66928" y="4453128"/>
            <a:ext cx="11057839" cy="1947672"/>
          </a:xfrm>
          <a:prstGeom prst="roundRect">
            <a:avLst>
              <a:gd name="adj" fmla="val 3756"/>
            </a:avLst>
          </a:prstGeom>
          <a:solidFill>
            <a:srgbClr val="EAF1FB"/>
          </a:solidFill>
          <a:ln w="12700">
            <a:solidFill>
              <a:srgbClr val="CBDD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1248" y="4453128"/>
            <a:ext cx="10509199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진화의 방향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화면은 점점 더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얇고, 밝고, 작고, 선명하게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발전해 왔습니다. 그 끝에서 TV → 스마트폰 → 워치를 지나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글래스(LEDoS)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 다음 무대로 떠오르고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1세대 · 과거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CRT · 브라운관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전자총이 전자빔을 쏴 형광체를 때리는 최초의 디스플레이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pic>
        <p:nvPicPr>
          <p:cNvPr id="11" name="Image 1" descr="dg_c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98664" y="213055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구동 방식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98664" y="2496312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전자총이 전자빔을 발사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편향코일이 빔의 방향을 조절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빔이 화면 형광물질을 때려 발광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좌→우, 위→아래로 훑으며(주사) 그림 완성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7920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2551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장점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응답속도가 매우 빠름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제조 단가가 저렴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색 재현·명암 우수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9342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3973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한계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5802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전자 이동 공간 필요 → 부피·무게 큼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화면이 커질수록 깊이도 증가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대형화가 사실상 불가능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2세대 · 과거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PDP · 플라즈마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가스를 플라즈마로 만들어 빛을 내는 첫 평판 디스플레이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pic>
        <p:nvPicPr>
          <p:cNvPr id="11" name="Image 1" descr="dg_pd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98664" y="213055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구동 방식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98664" y="2496312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미세 셀 안에 가스(네온·제논) 봉입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전압을 걸면 가스가 플라즈마 상태로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플라즈마가 자외선 방출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자외선이 형광체를 때려 발광 (형광등 원리)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7920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2551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장점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명암비·응답속도 우수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대형 평판 구현 가능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넓은 시야각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9342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3973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한계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5802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전력 소모가 큼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발열·무게 많음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결국 LCD에 밀려 시장 퇴장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3세대 · 현재 주류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LCD · 액정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스스로 빛을 못 내 백라이트 빛을 셔터처럼 조절하는 방식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pic>
        <p:nvPicPr>
          <p:cNvPr id="11" name="Image 1" descr="dg_l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98664" y="213055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구동 방식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98664" y="2496312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뒤의 백라이트(BLU)가 항상 빛 공급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액정이 전압에 따라 빛을 차단·통과 (셔터)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DDIC 구동칩이 화소별 전압 제어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컬러필터로 R·G·B 색을 입힘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7920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2551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장점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얇고 가벼움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저렴·대량생산 용이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현재 가장 널리 쓰임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9342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3973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한계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5802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빛을 완전히 못 막아 검정이 뿌연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백라이트 상시 ON → 명암비 한계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FALD·Mini-LED로 보완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4세대 · 프리미엄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 · 유기발광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백라이트를 없애고 화소가 스스로 빛을 내는 자발광 디스플레이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pic>
        <p:nvPicPr>
          <p:cNvPr id="11" name="Image 1" descr="dg_o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98664" y="213055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구동 방식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98664" y="2496312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백라이트 제거 — 화소가 스스로 발광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유기물 소자에 전류를 흘려 빛 생성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TFT 회로가 화소별 전류를 제어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검정 표현 시 해당 화소를 완전히 OFF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7920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2551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장점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완벽한 검정 · 무한대 명암비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매우 얇고 휘어짐(플렉서블)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빠른 응답속도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9342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3973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한계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5802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번인(잔상) 발생 우려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야외 밝기(휘도)에 한계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대형 패널은 고가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5세대 · 대형의 미래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Micro-LED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유기물의 약점을 무기물 LED로 해결한 차세대 자발광 기술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pic>
        <p:nvPicPr>
          <p:cNvPr id="11" name="Image 1" descr="dg_micro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98664" y="213055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구동 방식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98664" y="2496312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화소 하나하나가 초소형 무기물 LED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OLED처럼 자체 발광 (백라이트 불필요)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수백만 개 μLED를 기판에 전사(Transfer)</a:t>
            </a:r>
            <a:endParaRPr lang="en-US" sz="1100" dirty="0"/>
          </a:p>
          <a:p>
            <a:pPr marL="165100" indent="-1651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화소별 독립 구동으로 영상 구현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7920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2551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장점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초고휘도 · 야외에서도 선명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번인 없음 · 긴 수명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완벽한 검정 유지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93428" y="4059936"/>
            <a:ext cx="2031340" cy="2340864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83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39732" y="4187952"/>
            <a:ext cx="1757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한계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58020" y="4517136"/>
            <a:ext cx="17204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전사 공정 난도·원가 매우 높음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현재 초대형·초고가 위주</a:t>
            </a:r>
            <a:endParaRPr lang="en-US" sz="1000" dirty="0"/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대량 양산 수율이 과제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694944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미래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미래 · 초소형 디스플레이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마이크로 디스플레이 · OLEDoS vs LEDoS</a:t>
            </a:r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손톱만 한 화면에 초고해상도를 담는 실리콘 기반 디스플레이 — AR·VR의 미래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디스플레이의 진화 — CRT에서 LEDoS까지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6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1984248"/>
            <a:ext cx="653796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1" name="Image 1" descr="dg_microdisplay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808" y="2148840"/>
            <a:ext cx="6172200" cy="4087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79208" y="1984248"/>
            <a:ext cx="4245559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580376" y="2112264"/>
            <a:ext cx="3879799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OLEDoS — 실리콘 위 OLED</a:t>
            </a:r>
            <a:endParaRPr lang="en-US" sz="1300"/>
          </a:p>
        </p:txBody>
      </p:sp>
      <p:sp>
        <p:nvSpPr>
          <p:cNvPr id="14" name="Text 10"/>
          <p:cNvSpPr/>
          <p:nvPr/>
        </p:nvSpPr>
        <p:spPr>
          <a:xfrm>
            <a:off x="7580376" y="2441448"/>
            <a:ext cx="3861511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검증된 인프라로 이미 양산 중</a:t>
            </a:r>
            <a:endParaRPr lang="en-US" sz="1050">
              <a:solidFill>
                <a:srgbClr val="141c2c"/>
              </a:solidFill>
              <a:latin typeface="굴림"/>
              <a:ea typeface="굴림"/>
              <a:cs typeface="굴림"/>
            </a:endParaRPr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주로 VR 헤드셋에 사용 (애플 비전프로)</a:t>
            </a:r>
            <a:endParaRPr lang="en-US" sz="1050">
              <a:solidFill>
                <a:srgbClr val="141c2c"/>
              </a:solidFill>
              <a:latin typeface="굴림"/>
              <a:ea typeface="굴림"/>
              <a:cs typeface="굴림"/>
            </a:endParaRPr>
          </a:p>
          <a:p>
            <a:pPr marL="152400" indent="-152400">
              <a:lnSpc>
                <a:spcPct val="10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밝기·번인에 한계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7379208" y="3538728"/>
            <a:ext cx="4245559" cy="2862072"/>
          </a:xfrm>
          <a:prstGeom prst="roundRect">
            <a:avLst>
              <a:gd name="adj" fmla="val 2556"/>
            </a:avLst>
          </a:prstGeom>
          <a:solidFill>
            <a:srgbClr val="0b1830"/>
          </a:solidFill>
          <a:ln/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7580376" y="3685032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LEDoS — 실리콘 위 Micro-LED ★</a:t>
            </a:r>
            <a:endParaRPr lang="en-US" sz="1350"/>
          </a:p>
        </p:txBody>
      </p:sp>
      <p:sp>
        <p:nvSpPr>
          <p:cNvPr id="17" name="Text 13"/>
          <p:cNvSpPr/>
          <p:nvPr/>
        </p:nvSpPr>
        <p:spPr>
          <a:xfrm>
            <a:off x="7580376" y="4050792"/>
            <a:ext cx="3861511" cy="22585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e6edf8"/>
                </a:solidFill>
                <a:latin typeface="굴림"/>
                <a:ea typeface="굴림"/>
                <a:cs typeface="굴림"/>
              </a:rPr>
              <a:t>AR 글래스의 미래 표준 후보 (메타 오라이언)</a:t>
            </a:r>
            <a:endParaRPr lang="en-US" sz="1050">
              <a:solidFill>
                <a:srgbClr val="e6edf8"/>
              </a:solidFill>
              <a:latin typeface="굴림"/>
              <a:ea typeface="굴림"/>
              <a:cs typeface="굴림"/>
            </a:endParaRPr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e6edf8"/>
                </a:solidFill>
                <a:latin typeface="굴림"/>
                <a:ea typeface="굴림"/>
                <a:cs typeface="굴림"/>
              </a:rPr>
              <a:t>밝고 튼튼 → 야외에서도 선명, 저전력·장수명</a:t>
            </a:r>
            <a:endParaRPr lang="en-US" sz="1050">
              <a:solidFill>
                <a:srgbClr val="e6edf8"/>
              </a:solidFill>
              <a:latin typeface="굴림"/>
              <a:ea typeface="굴림"/>
              <a:cs typeface="굴림"/>
            </a:endParaRPr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e6edf8"/>
                </a:solidFill>
                <a:latin typeface="굴림"/>
                <a:ea typeface="굴림"/>
                <a:cs typeface="굴림"/>
              </a:rPr>
              <a:t>화소 독립 구동 → 구동칩 수요 최대 3,000배</a:t>
            </a:r>
            <a:endParaRPr lang="en-US" sz="1050">
              <a:solidFill>
                <a:srgbClr val="e6edf8"/>
              </a:solidFill>
              <a:latin typeface="굴림"/>
              <a:ea typeface="굴림"/>
              <a:cs typeface="굴림"/>
            </a:endParaRPr>
          </a:p>
          <a:p>
            <a:pPr marL="152400" indent="-1524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사피엔반도체가 이 LEDoS의 구동칩(CMOS 백플레인) 설계</a:t>
            </a:r>
            <a:endParaRPr lang="en-US" sz="1050"/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848" y="5291922"/>
            <a:ext cx="6449324" cy="1200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694944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정리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정리</a:t>
            </a:r>
            <a:endParaRPr lang="en-US" sz="1200" dirty="0"/>
          </a:p>
        </p:txBody>
      </p:sp>
      <p:pic>
        <p:nvPicPr>
          <p:cNvPr id="5" name="Image 0" descr="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디스플레이 기술 한눈에 비교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세대별 발광 방식·구동 원리·장단점·주요 용도 총정리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디스플레이의 진화 — CRT에서 LEDoS까지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84248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1143000"/>
                <a:gridCol w="2788920"/>
                <a:gridCol w="1828800"/>
                <a:gridCol w="155448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세대/기술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시기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발광 방식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핵심 구동 원리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장점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한계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주요 용도</a:t>
                      </a:r>
                      <a:endParaRPr lang="en-US" sz="100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CRT 브라운관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1900s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형광체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전자빔이 형광체를 때리며 주사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빠른 응답·저렴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부피·무게 큼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구형 TV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PDP 플라즈마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1990s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가스 플라즈마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가스→플라즈마→자외선→형광체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명암비 우수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전력·발열 큼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대형 평판 TV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LCD 액정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2000s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64550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비자발광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백라이트 빛을 액정이 셔터처럼 조절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얇음·저렴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검정 뿌연·명암 한계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TV·폰 (주류)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Mini-LED/QLED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2020s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비자발광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백라이트 분할(FALD)+퀀텀닷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명암·색 개선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백라이트 필요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프리미엄 TV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OLED 유기발광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2010s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9E5A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자발광(유기물)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유기물 화소가 직접 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완벽한 검정·플렉서블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번인·밝기 한계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프리미엄 TV·폰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Micro-LED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2020s~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9E5A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자발광(무기물)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초소형 LED 자발광·전사 공정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초고휘도·번인 없음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전사 난도·고가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초대형 TV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OLEDoS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현재~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자발광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실리콘 위 OLED 집적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검증·고해상도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밝기·번인 한계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VR 헤드셋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LEDoS ★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미래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자발광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실리콘 위 μLED+CMOS 백플레인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초고휘도·저전력·장수명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전사 수율 과제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AR 글래스 (사피엔)</a:t>
                      </a:r>
                      <a:endParaRPr lang="en-US" sz="9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6016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진화의 큰 흐름:  빛을 빌려 쓰다(CRT·LCD) → 스스로 빛을 내고(OLED) → 더 밝고 튼튼한 무기물로(Micro-LED·LEDoS)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57200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3" name="Shape 1"/>
          <p:cNvSpPr/>
          <p:nvPr/>
        </p:nvSpPr>
        <p:spPr>
          <a:xfrm>
            <a:off x="10899648" y="457200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4" name="Shape 2"/>
          <p:cNvSpPr/>
          <p:nvPr/>
        </p:nvSpPr>
        <p:spPr>
          <a:xfrm>
            <a:off x="11283696" y="457200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5" name="Shape 3"/>
          <p:cNvSpPr/>
          <p:nvPr/>
        </p:nvSpPr>
        <p:spPr>
          <a:xfrm>
            <a:off x="11667744" y="457200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7" name="Shape 5"/>
          <p:cNvSpPr/>
          <p:nvPr/>
        </p:nvSpPr>
        <p:spPr>
          <a:xfrm>
            <a:off x="10899648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8" name="Shape 6"/>
          <p:cNvSpPr/>
          <p:nvPr/>
        </p:nvSpPr>
        <p:spPr>
          <a:xfrm>
            <a:off x="11283696" y="841248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9" name="Shape 7"/>
          <p:cNvSpPr/>
          <p:nvPr/>
        </p:nvSpPr>
        <p:spPr>
          <a:xfrm>
            <a:off x="11667744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0899648" y="1225296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83696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67744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1609344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99648" y="1609344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83696" y="1609344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67744" y="1609344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큰 그림에서 사피엔의 위치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F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디스플레이 70년의 진화는 결국 한 방향으로 흘러왔습니다.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210312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10312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C0D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빛을 빌려 쓰다  </a:t>
            </a:r>
            <a:pPr indent="0" marL="0">
              <a:buNone/>
            </a:pPr>
            <a:r>
              <a:rPr lang="en-US" sz="1500" b="1" dirty="0">
                <a:solidFill>
                  <a:srgbClr val="E6EDF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 스스로 빛을 내고  </a:t>
            </a:r>
            <a:pPr indent="0" marL="0">
              <a:buNone/>
            </a:pPr>
            <a:r>
              <a:rPr lang="en-US" sz="15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 더 밝고 튼튼한 무기물로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 가장 작고 선명한 LEDoS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32461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3465576"/>
            <a:ext cx="566928" cy="566928"/>
          </a:xfrm>
          <a:prstGeom prst="ellipse">
            <a:avLst/>
          </a:prstGeom>
          <a:solidFill>
            <a:srgbClr val="00B2D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81328" y="3483864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진화의 종착지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" y="4206240"/>
            <a:ext cx="2991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F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화면이 작아지고 선명해지는 흐름의 끝, 가장 미래에 LEDoS가 있습니다.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4314" y="32461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2058" y="3465576"/>
            <a:ext cx="566928" cy="566928"/>
          </a:xfrm>
          <a:prstGeom prst="ellipse">
            <a:avLst/>
          </a:prstGeom>
          <a:solidFill>
            <a:srgbClr val="1C56B8"/>
          </a:solidFill>
          <a:ln/>
        </p:spPr>
      </p:sp>
      <p:sp>
        <p:nvSpPr>
          <p:cNvPr id="30" name="Text 28"/>
          <p:cNvSpPr/>
          <p:nvPr/>
        </p:nvSpPr>
        <p:spPr>
          <a:xfrm>
            <a:off x="4582058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58714" y="3483864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사피엔의 역할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18634" y="4206240"/>
            <a:ext cx="2991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F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사피엔은 LEDoS 디스플레이를 작동시키는 두뇌, 구동칩(CMOS 백플레인)을 설계합니다.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1701" y="32461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9445" y="3465576"/>
            <a:ext cx="566928" cy="566928"/>
          </a:xfrm>
          <a:prstGeom prst="ellipse">
            <a:avLst/>
          </a:prstGeom>
          <a:solidFill>
            <a:srgbClr val="1F9E5A"/>
          </a:solidFill>
          <a:ln/>
        </p:spPr>
      </p:sp>
      <p:sp>
        <p:nvSpPr>
          <p:cNvPr id="35" name="Text 33"/>
          <p:cNvSpPr/>
          <p:nvPr/>
        </p:nvSpPr>
        <p:spPr>
          <a:xfrm>
            <a:off x="8359445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036101" y="3483864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투자의 의미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96021" y="4206240"/>
            <a:ext cx="2991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F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사피엔 투자는 디스플레이 70년의 진화가 LEDoS로 향한다는 큰 흐름에 베팅하는 것입니다.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008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497B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다만 그 미래가 ‘언제 도착하느냐(양산 시점)’와 ‘OLEDoS의 견제’가 핵심 변수입니다.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741</ep:Words>
  <ep:PresentationFormat>On-screen Show (16:9)</ep:PresentationFormat>
  <ep:Paragraphs>179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2026-06-15T10:50:45.000</dcterms:created>
  <dc:creator>Display Technology Evolution</dc:creator>
  <cp:lastModifiedBy>미미앤쥬쥬</cp:lastModifiedBy>
  <dcterms:modified xsi:type="dcterms:W3CDTF">2026-06-21T17:02:23.088</dcterms:modified>
  <cp:revision>3</cp:revision>
  <dc:subject>PptxGenJS Presentation</dc:subject>
  <dc:title>디스플레이의 진화</dc:title>
  <cp:version/>
</cp:coreProperties>
</file>