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4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55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84" y="144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C56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2B3-410E-85A4-E79136CE0621}"/>
              </c:ext>
            </c:extLst>
          </c:dPt>
          <c:dPt>
            <c:idx val="1"/>
            <c:bubble3D val="0"/>
            <c:spPr>
              <a:solidFill>
                <a:srgbClr val="00B2D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2B3-410E-85A4-E79136CE0621}"/>
              </c:ext>
            </c:extLst>
          </c:dPt>
          <c:cat>
            <c:strRef>
              <c:f>Sheet1!$A$2:$A$3</c:f>
              <c:strCache>
                <c:ptCount val="2"/>
                <c:pt idx="0">
                  <c:v>AR/MR 스마트글래스</c:v>
                </c:pt>
                <c:pt idx="1">
                  <c:v>대형 LED 사이니지·TV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95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2B3-410E-85A4-E79136CE06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 w="9525">
      <a:noFill/>
    </a:ln>
    <a:effectLst/>
  </c:spPr>
  <c:externalData r:id="rId1">
    <c:autoUpdate val="0"/>
  </c:externalData>
  <c:extLst>
    <c:ext uri="CC8EB2C9-7E31-499d-B8F2-F6CE61031016">
      <ho:hncChartStyle xmlns:ho="http://schemas.haansoft.com/office/8.0" layoutIndex="-1" colorIndex="-1" styleIndex="-1"/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</c:v>
                </c:pt>
              </c:strCache>
            </c:strRef>
          </c:tx>
          <c:spPr>
            <a:solidFill>
              <a:srgbClr val="1C56B8"/>
            </a:solidFill>
            <a:effectLst/>
          </c:spPr>
          <c:invertIfNegative val="0"/>
          <c:dLbls>
            <c:dLbl>
              <c:idx val="3"/>
              <c:layout>
                <c:manualLayout>
                  <c:x val="0"/>
                  <c:y val="1.0852799750864506E-2"/>
                </c:manualLayout>
              </c:layout>
              <c:numFmt formatCode="#,##0" sourceLinked="0"/>
              <c:spPr/>
              <c:txPr>
                <a:bodyPr rot="0" vert="horz" wrap="none" lIns="0" tIns="0" rIns="0" bIns="0" anchor="ctr" anchorCtr="1"/>
                <a:lstStyle/>
                <a:p>
                  <a:pPr algn="l">
                    <a:defRPr sz="1200" b="1" i="0" u="none">
                      <a:solidFill>
                        <a:srgbClr val="141C2C"/>
                      </a:solidFill>
                      <a:latin typeface="Arial"/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F11-4790-9133-EF8B4A6A2E64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vert="horz" wrap="none" lIns="0" tIns="0" rIns="0" bIns="0" anchor="ctr" anchorCtr="1"/>
              <a:lstStyle/>
              <a:p>
                <a:pPr algn="l">
                  <a:defRPr sz="1200" b="1" i="0" u="none">
                    <a:solidFill>
                      <a:srgbClr val="141C2C"/>
                    </a:solidFill>
                    <a:latin typeface="Arial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2024A</c:v>
                </c:pt>
                <c:pt idx="1">
                  <c:v>2025A</c:v>
                </c:pt>
                <c:pt idx="2">
                  <c:v>2026E</c:v>
                </c:pt>
                <c:pt idx="3">
                  <c:v>2027E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</c:v>
                </c:pt>
                <c:pt idx="1">
                  <c:v>173</c:v>
                </c:pt>
                <c:pt idx="2">
                  <c:v>352</c:v>
                </c:pt>
                <c:pt idx="3">
                  <c:v>957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F11-4790-9133-EF8B4A6A2E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 wrap="none" lIns="0" tIns="0" rIns="0" bIns="0" anchor="ctr" anchorCtr="1"/>
          <a:lstStyle/>
          <a:p>
            <a:pPr algn="l">
              <a:defRPr sz="1100" b="0" i="0" u="none">
                <a:solidFill>
                  <a:srgbClr val="5A6373"/>
                </a:solidFill>
                <a:latin typeface="Arial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tickMarkSkip val="1"/>
        <c:noMultiLvlLbl val="1"/>
      </c:catAx>
      <c:valAx>
        <c:axId val="2094734552"/>
        <c:scaling>
          <c:orientation val="minMax"/>
          <c:max val="100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 w="9525">
      <a:noFill/>
    </a:ln>
    <a:effectLst/>
  </c:spPr>
  <c:externalData r:id="rId1">
    <c:autoUpdate val="0"/>
  </c:externalData>
  <c:extLst>
    <c:ext uri="CC8EB2C9-7E31-499d-B8F2-F6CE61031016">
      <ho:hncChartStyle xmlns:ho="http://schemas.haansoft.com/office/8.0" layoutIndex="-1" colorIndex="-1" styleIndex="-1"/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Micro-LED 디스플레이($억)</c:v>
                </c:pt>
              </c:strCache>
            </c:strRef>
          </c:tx>
          <c:spPr>
            <a:ln w="38100" cap="flat" cmpd="sng">
              <a:solidFill>
                <a:srgbClr val="1C56B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C56B8"/>
              </a:solidFill>
              <a:ln w="9525" cap="flat" cmpd="sng">
                <a:solidFill>
                  <a:srgbClr val="1C56B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0.6</c:v>
                </c:pt>
                <c:pt idx="1">
                  <c:v>1.5</c:v>
                </c:pt>
                <c:pt idx="2">
                  <c:v>3.5</c:v>
                </c:pt>
                <c:pt idx="3">
                  <c:v>7</c:v>
                </c:pt>
                <c:pt idx="4">
                  <c:v>12</c:v>
                </c:pt>
                <c:pt idx="5">
                  <c:v>20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639-4677-B190-303A57B2DE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 wrap="none" lIns="0" tIns="0" rIns="0" bIns="0" anchor="ctr" anchorCtr="1"/>
          <a:lstStyle/>
          <a:p>
            <a:pPr algn="l">
              <a:defRPr sz="1000" b="0" i="0" u="none">
                <a:solidFill>
                  <a:srgbClr val="5A6373"/>
                </a:solidFill>
                <a:latin typeface="Arial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tickMarkSkip val="1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 wrap="none" lIns="0" tIns="0" rIns="0" bIns="0" anchor="ctr" anchorCtr="1"/>
          <a:lstStyle/>
          <a:p>
            <a:pPr algn="l">
              <a:defRPr sz="900" b="0" i="0" u="none">
                <a:solidFill>
                  <a:srgbClr val="5A6373"/>
                </a:solidFill>
                <a:latin typeface="Arial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 rot="0" vert="horz" wrap="none" lIns="0" tIns="0" rIns="0" bIns="0" anchor="ctr" anchorCtr="1"/>
        <a:lstStyle/>
        <a:p>
          <a:pPr algn="l">
            <a:defRPr sz="900" b="0" i="0" u="none"/>
          </a:pPr>
          <a:endParaRPr lang="ko-KR"/>
        </a:p>
      </c:txPr>
    </c:legend>
    <c:plotVisOnly val="1"/>
    <c:dispBlanksAs val="gap"/>
    <c:showDLblsOverMax val="1"/>
  </c:chart>
  <c:spPr>
    <a:noFill/>
    <a:ln w="9525">
      <a:noFill/>
    </a:ln>
    <a:effectLst/>
  </c:spPr>
  <c:externalData r:id="rId1">
    <c:autoUpdate val="0"/>
  </c:externalData>
  <c:extLst>
    <c:ext uri="CC8EB2C9-7E31-499d-B8F2-F6CE61031016">
      <ho:hncChartStyle xmlns:ho="http://schemas.haansoft.com/office/8.0" layoutIndex="-1" colorIndex="-1" styleIndex="-1"/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20168493688106537"/>
          <c:w val="0.98289257287979126"/>
          <c:h val="0.6180400848388671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EPS(원)</c:v>
                </c:pt>
              </c:strCache>
            </c:strRef>
          </c:tx>
          <c:spPr>
            <a:ln w="38100" cap="flat" cmpd="sng">
              <a:solidFill>
                <a:srgbClr val="1C56B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C56B8"/>
              </a:solidFill>
              <a:ln w="9525" cap="flat" cmpd="sng">
                <a:solidFill>
                  <a:srgbClr val="1C56B8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layout>
                <c:manualLayout>
                  <c:x val="1.7216275446116924E-3"/>
                  <c:y val="-8.922641724348068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F98-4EBE-B0C2-AA377356D1DC}"/>
                </c:ext>
              </c:extLst>
            </c:dLbl>
            <c:dLbl>
              <c:idx val="1"/>
              <c:layout>
                <c:manualLayout>
                  <c:x val="1.7216275446116924E-3"/>
                  <c:y val="-8.922641724348068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F98-4EBE-B0C2-AA377356D1DC}"/>
                </c:ext>
              </c:extLst>
            </c:dLbl>
            <c:dLbl>
              <c:idx val="2"/>
              <c:layout>
                <c:manualLayout>
                  <c:x val="1.7216275446116924E-3"/>
                  <c:y val="-8.922641724348068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F98-4EBE-B0C2-AA377356D1DC}"/>
                </c:ext>
              </c:extLst>
            </c:dLbl>
            <c:dLbl>
              <c:idx val="3"/>
              <c:layout>
                <c:manualLayout>
                  <c:x val="1.7215823754668236E-3"/>
                  <c:y val="-8.922641724348068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F98-4EBE-B0C2-AA377356D1DC}"/>
                </c:ext>
              </c:extLst>
            </c:dLbl>
            <c:numFmt formatCode="#,##0" sourceLinked="0"/>
            <c:txPr>
              <a:bodyPr rot="0" vert="horz" wrap="none" lIns="0" tIns="0" rIns="0" bIns="0" anchor="ctr" anchorCtr="1"/>
              <a:lstStyle/>
              <a:p>
                <a:pPr algn="l">
                  <a:defRPr sz="1100" b="1" i="0" u="none">
                    <a:solidFill>
                      <a:srgbClr val="1C56B8"/>
                    </a:solidFill>
                    <a:latin typeface="Arial"/>
                  </a:defRPr>
                </a:pPr>
                <a:endParaRPr lang="ko-KR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2024A</c:v>
                </c:pt>
                <c:pt idx="1">
                  <c:v>2025A</c:v>
                </c:pt>
                <c:pt idx="2">
                  <c:v>2026E</c:v>
                </c:pt>
                <c:pt idx="3">
                  <c:v>2027E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-2146</c:v>
                </c:pt>
                <c:pt idx="1">
                  <c:v>-585</c:v>
                </c:pt>
                <c:pt idx="2">
                  <c:v>419</c:v>
                </c:pt>
                <c:pt idx="3">
                  <c:v>1938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EF98-4EBE-B0C2-AA377356D1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 wrap="none" lIns="0" tIns="0" rIns="0" bIns="0" anchor="ctr" anchorCtr="1"/>
          <a:lstStyle/>
          <a:p>
            <a:pPr algn="l">
              <a:defRPr sz="1000" b="0" i="0" u="none">
                <a:solidFill>
                  <a:srgbClr val="5A6373"/>
                </a:solidFill>
                <a:latin typeface="Arial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tickMarkSkip val="1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</c:plotArea>
    <c:legend>
      <c:legendPos val="b"/>
      <c:overlay val="0"/>
      <c:txPr>
        <a:bodyPr rot="0" vert="horz" wrap="none" lIns="0" tIns="0" rIns="0" bIns="0" anchor="ctr" anchorCtr="1"/>
        <a:lstStyle/>
        <a:p>
          <a:pPr algn="l">
            <a:defRPr sz="900" b="0" i="0" u="none"/>
          </a:pPr>
          <a:endParaRPr lang="ko-KR"/>
        </a:p>
      </c:txPr>
    </c:legend>
    <c:plotVisOnly val="1"/>
    <c:dispBlanksAs val="gap"/>
    <c:showDLblsOverMax val="1"/>
  </c:chart>
  <c:spPr>
    <a:noFill/>
    <a:ln w="9525">
      <a:solidFill>
        <a:schemeClr val="lt1"/>
      </a:solidFill>
    </a:ln>
    <a:effectLst/>
  </c:spPr>
  <c:externalData r:id="rId1">
    <c:autoUpdate val="0"/>
  </c:externalData>
  <c:extLst>
    <c:ext uri="CC8EB2C9-7E31-499d-B8F2-F6CE61031016">
      <ho:hncChartStyle xmlns:ho="http://schemas.haansoft.com/office/8.0" layoutIndex="-1" colorIndex="-1" styleIndex="-1"/>
    </c:ext>
  </c:extLs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5282F153-3F37-0F45-9E97-73ACFA13230C}" type="datetime1">
              <a:rPr lang="en-US"/>
              <a:pPr lvl="0">
                <a:defRPr/>
              </a:pPr>
              <a:t>6/28/2026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CE5E9CC1-C706-0F49-92D6-E571CC5EEA8F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chart" Target="../charts/char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chart" Target="../charts/chart4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502920"/>
            <a:ext cx="146304" cy="146304"/>
          </a:xfrm>
          <a:prstGeom prst="ellipse">
            <a:avLst/>
          </a:prstGeom>
          <a:solidFill>
            <a:srgbClr val="00B2D6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168128" y="502920"/>
            <a:ext cx="146304" cy="146304"/>
          </a:xfrm>
          <a:prstGeom prst="ellipse">
            <a:avLst/>
          </a:prstGeom>
          <a:solidFill>
            <a:srgbClr val="1E3A66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552176" y="502920"/>
            <a:ext cx="146304" cy="146304"/>
          </a:xfrm>
          <a:prstGeom prst="ellipse">
            <a:avLst/>
          </a:prstGeom>
          <a:solidFill>
            <a:srgbClr val="1E3A66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936224" y="502920"/>
            <a:ext cx="146304" cy="146304"/>
          </a:xfrm>
          <a:prstGeom prst="ellipse">
            <a:avLst/>
          </a:prstGeom>
          <a:solidFill>
            <a:srgbClr val="00B2D6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1320272" y="502920"/>
            <a:ext cx="146304" cy="146304"/>
          </a:xfrm>
          <a:prstGeom prst="ellipse">
            <a:avLst/>
          </a:prstGeom>
          <a:solidFill>
            <a:srgbClr val="1E3A66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784080" y="886968"/>
            <a:ext cx="146304" cy="146304"/>
          </a:xfrm>
          <a:prstGeom prst="ellipse">
            <a:avLst/>
          </a:prstGeom>
          <a:solidFill>
            <a:srgbClr val="1E3A66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0168128" y="886968"/>
            <a:ext cx="146304" cy="146304"/>
          </a:xfrm>
          <a:prstGeom prst="ellipse">
            <a:avLst/>
          </a:prstGeom>
          <a:solidFill>
            <a:srgbClr val="1E3A66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0552176" y="886968"/>
            <a:ext cx="146304" cy="146304"/>
          </a:xfrm>
          <a:prstGeom prst="ellipse">
            <a:avLst/>
          </a:prstGeom>
          <a:solidFill>
            <a:srgbClr val="00B2D6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0936224" y="886968"/>
            <a:ext cx="146304" cy="146304"/>
          </a:xfrm>
          <a:prstGeom prst="ellipse">
            <a:avLst/>
          </a:prstGeom>
          <a:solidFill>
            <a:srgbClr val="1E3A66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1320272" y="886968"/>
            <a:ext cx="146304" cy="146304"/>
          </a:xfrm>
          <a:prstGeom prst="ellipse">
            <a:avLst/>
          </a:prstGeom>
          <a:solidFill>
            <a:srgbClr val="1E3A66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784080" y="1271016"/>
            <a:ext cx="146304" cy="146304"/>
          </a:xfrm>
          <a:prstGeom prst="ellipse">
            <a:avLst/>
          </a:prstGeom>
          <a:solidFill>
            <a:srgbClr val="1E3A66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168128" y="1271016"/>
            <a:ext cx="146304" cy="146304"/>
          </a:xfrm>
          <a:prstGeom prst="ellipse">
            <a:avLst/>
          </a:prstGeom>
          <a:solidFill>
            <a:srgbClr val="00B2D6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552176" y="1271016"/>
            <a:ext cx="146304" cy="146304"/>
          </a:xfrm>
          <a:prstGeom prst="ellipse">
            <a:avLst/>
          </a:prstGeom>
          <a:solidFill>
            <a:srgbClr val="1E3A66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936224" y="1271016"/>
            <a:ext cx="146304" cy="146304"/>
          </a:xfrm>
          <a:prstGeom prst="ellipse">
            <a:avLst/>
          </a:prstGeom>
          <a:solidFill>
            <a:srgbClr val="1E3A66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1320272" y="1271016"/>
            <a:ext cx="146304" cy="146304"/>
          </a:xfrm>
          <a:prstGeom prst="ellipse">
            <a:avLst/>
          </a:prstGeom>
          <a:solidFill>
            <a:srgbClr val="00B2D6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9784080" y="1655064"/>
            <a:ext cx="146304" cy="146304"/>
          </a:xfrm>
          <a:prstGeom prst="ellipse">
            <a:avLst/>
          </a:prstGeom>
          <a:solidFill>
            <a:srgbClr val="00B2D6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0168128" y="1655064"/>
            <a:ext cx="146304" cy="146304"/>
          </a:xfrm>
          <a:prstGeom prst="ellipse">
            <a:avLst/>
          </a:prstGeom>
          <a:solidFill>
            <a:srgbClr val="1E3A66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0552176" y="1655064"/>
            <a:ext cx="146304" cy="146304"/>
          </a:xfrm>
          <a:prstGeom prst="ellipse">
            <a:avLst/>
          </a:prstGeom>
          <a:solidFill>
            <a:srgbClr val="1E3A66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0936224" y="1655064"/>
            <a:ext cx="146304" cy="146304"/>
          </a:xfrm>
          <a:prstGeom prst="ellipse">
            <a:avLst/>
          </a:prstGeom>
          <a:solidFill>
            <a:srgbClr val="00B2D6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1320272" y="1655064"/>
            <a:ext cx="146304" cy="146304"/>
          </a:xfrm>
          <a:prstGeom prst="ellipse">
            <a:avLst/>
          </a:prstGeom>
          <a:solidFill>
            <a:srgbClr val="1E3A66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9784080" y="2039112"/>
            <a:ext cx="146304" cy="146304"/>
          </a:xfrm>
          <a:prstGeom prst="ellipse">
            <a:avLst/>
          </a:prstGeom>
          <a:solidFill>
            <a:srgbClr val="1E3A66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10168128" y="2039112"/>
            <a:ext cx="146304" cy="146304"/>
          </a:xfrm>
          <a:prstGeom prst="ellipse">
            <a:avLst/>
          </a:prstGeom>
          <a:solidFill>
            <a:srgbClr val="1E3A66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10552176" y="2039112"/>
            <a:ext cx="146304" cy="146304"/>
          </a:xfrm>
          <a:prstGeom prst="ellipse">
            <a:avLst/>
          </a:prstGeom>
          <a:solidFill>
            <a:srgbClr val="00B2D6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10936224" y="2039112"/>
            <a:ext cx="146304" cy="146304"/>
          </a:xfrm>
          <a:prstGeom prst="ellipse">
            <a:avLst/>
          </a:prstGeom>
          <a:solidFill>
            <a:srgbClr val="1E3A66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1320272" y="2039112"/>
            <a:ext cx="146304" cy="146304"/>
          </a:xfrm>
          <a:prstGeom prst="ellipse">
            <a:avLst/>
          </a:prstGeom>
          <a:solidFill>
            <a:srgbClr val="1E3A66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566928" y="2331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00B2D6"/>
                </a:solidFill>
                <a:latin typeface="굴림"/>
                <a:ea typeface="굴림"/>
                <a:cs typeface="굴림"/>
              </a:rPr>
              <a:t>AR 글래스 시대의 핵심 반도체</a:t>
            </a:r>
            <a:endParaRPr lang="en-US" sz="1700"/>
          </a:p>
        </p:txBody>
      </p:sp>
      <p:sp>
        <p:nvSpPr>
          <p:cNvPr id="29" name="Text 26"/>
          <p:cNvSpPr/>
          <p:nvPr/>
        </p:nvSpPr>
        <p:spPr>
          <a:xfrm>
            <a:off x="566928" y="2788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5200" b="1">
                <a:solidFill>
                  <a:srgbClr val="FFFFFF"/>
                </a:solidFill>
                <a:latin typeface="굴림"/>
                <a:ea typeface="굴림"/>
                <a:cs typeface="굴림"/>
              </a:rPr>
              <a:t>사피엔반도체 투자분석</a:t>
            </a:r>
            <a:endParaRPr lang="en-US" sz="5200"/>
          </a:p>
        </p:txBody>
      </p:sp>
      <p:sp>
        <p:nvSpPr>
          <p:cNvPr id="30" name="Text 27"/>
          <p:cNvSpPr/>
          <p:nvPr/>
        </p:nvSpPr>
        <p:spPr>
          <a:xfrm>
            <a:off x="566928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>
                <a:solidFill>
                  <a:srgbClr val="AEC0DC"/>
                </a:solidFill>
                <a:latin typeface="굴림"/>
                <a:ea typeface="굴림"/>
                <a:cs typeface="굴림"/>
              </a:rPr>
              <a:t>LEDoS DDIC 글로벌 선도 팹리스  ·  Micro-LED on Silicon  ·  원천특허 기반 기술 해자</a:t>
            </a:r>
            <a:endParaRPr lang="en-US" sz="1500"/>
          </a:p>
        </p:txBody>
      </p:sp>
      <p:sp>
        <p:nvSpPr>
          <p:cNvPr id="31" name="Text 28"/>
          <p:cNvSpPr/>
          <p:nvPr/>
        </p:nvSpPr>
        <p:spPr>
          <a:xfrm>
            <a:off x="566928" y="48920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8497B7"/>
                </a:solidFill>
                <a:latin typeface="굴림"/>
                <a:ea typeface="굴림"/>
                <a:cs typeface="굴림"/>
              </a:rPr>
              <a:t>KOSDAQ</a:t>
            </a:r>
            <a:endParaRPr lang="en-US" sz="1100"/>
          </a:p>
        </p:txBody>
      </p:sp>
      <p:sp>
        <p:nvSpPr>
          <p:cNvPr id="32" name="Text 29"/>
          <p:cNvSpPr/>
          <p:nvPr/>
        </p:nvSpPr>
        <p:spPr>
          <a:xfrm>
            <a:off x="566928" y="517550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굴림"/>
                <a:ea typeface="굴림"/>
                <a:cs typeface="굴림"/>
              </a:rPr>
              <a:t>452430</a:t>
            </a:r>
            <a:endParaRPr lang="en-US" sz="2200"/>
          </a:p>
        </p:txBody>
      </p:sp>
      <p:sp>
        <p:nvSpPr>
          <p:cNvPr id="33" name="Text 30"/>
          <p:cNvSpPr/>
          <p:nvPr/>
        </p:nvSpPr>
        <p:spPr>
          <a:xfrm>
            <a:off x="3218688" y="48920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8497B7"/>
                </a:solidFill>
                <a:latin typeface="굴림"/>
                <a:ea typeface="굴림"/>
                <a:cs typeface="굴림"/>
              </a:rPr>
              <a:t>현재주가</a:t>
            </a:r>
            <a:endParaRPr lang="en-US" sz="1100"/>
          </a:p>
        </p:txBody>
      </p:sp>
      <p:sp>
        <p:nvSpPr>
          <p:cNvPr id="34" name="Text 31"/>
          <p:cNvSpPr/>
          <p:nvPr/>
        </p:nvSpPr>
        <p:spPr>
          <a:xfrm>
            <a:off x="3218688" y="517550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굴림"/>
                <a:ea typeface="굴림"/>
                <a:cs typeface="굴림"/>
              </a:rPr>
              <a:t>₩33,250</a:t>
            </a:r>
            <a:endParaRPr lang="en-US" sz="2200"/>
          </a:p>
        </p:txBody>
      </p:sp>
      <p:sp>
        <p:nvSpPr>
          <p:cNvPr id="35" name="Text 32"/>
          <p:cNvSpPr/>
          <p:nvPr/>
        </p:nvSpPr>
        <p:spPr>
          <a:xfrm>
            <a:off x="5870448" y="48920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8497B7"/>
                </a:solidFill>
                <a:latin typeface="굴림"/>
                <a:ea typeface="굴림"/>
                <a:cs typeface="굴림"/>
              </a:rPr>
              <a:t>시가총액</a:t>
            </a:r>
            <a:endParaRPr lang="en-US" sz="1100"/>
          </a:p>
        </p:txBody>
      </p:sp>
      <p:sp>
        <p:nvSpPr>
          <p:cNvPr id="36" name="Text 33"/>
          <p:cNvSpPr/>
          <p:nvPr/>
        </p:nvSpPr>
        <p:spPr>
          <a:xfrm>
            <a:off x="5870448" y="517550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굴림"/>
                <a:ea typeface="굴림"/>
                <a:cs typeface="굴림"/>
              </a:rPr>
              <a:t>≈ 2,745억</a:t>
            </a:r>
            <a:endParaRPr lang="en-US" sz="2200"/>
          </a:p>
        </p:txBody>
      </p:sp>
      <p:sp>
        <p:nvSpPr>
          <p:cNvPr id="37" name="Text 34"/>
          <p:cNvSpPr/>
          <p:nvPr/>
        </p:nvSpPr>
        <p:spPr>
          <a:xfrm>
            <a:off x="8522208" y="48920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8497B7"/>
                </a:solidFill>
                <a:latin typeface="굴림"/>
                <a:ea typeface="굴림"/>
                <a:cs typeface="굴림"/>
              </a:rPr>
              <a:t>발표 기준</a:t>
            </a:r>
            <a:endParaRPr lang="en-US" sz="1100"/>
          </a:p>
        </p:txBody>
      </p:sp>
      <p:sp>
        <p:nvSpPr>
          <p:cNvPr id="38" name="Text 35"/>
          <p:cNvSpPr/>
          <p:nvPr/>
        </p:nvSpPr>
        <p:spPr>
          <a:xfrm>
            <a:off x="8522208" y="517550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굴림"/>
                <a:ea typeface="굴림"/>
                <a:cs typeface="굴림"/>
              </a:rPr>
              <a:t>2026년 6월</a:t>
            </a:r>
            <a:endParaRPr lang="en-US" sz="2200"/>
          </a:p>
        </p:txBody>
      </p:sp>
      <p:sp>
        <p:nvSpPr>
          <p:cNvPr id="39" name="Shape 36"/>
          <p:cNvSpPr/>
          <p:nvPr/>
        </p:nvSpPr>
        <p:spPr>
          <a:xfrm>
            <a:off x="566928" y="5989320"/>
            <a:ext cx="11057839" cy="0"/>
          </a:xfrm>
          <a:prstGeom prst="line">
            <a:avLst/>
          </a:prstGeom>
          <a:noFill/>
          <a:ln w="12700">
            <a:solidFill>
              <a:srgbClr val="23314F"/>
            </a:solidFill>
            <a:prstDash val="solid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0" name="Text 37"/>
          <p:cNvSpPr/>
          <p:nvPr/>
        </p:nvSpPr>
        <p:spPr>
          <a:xfrm>
            <a:off x="566928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E7E9C"/>
                </a:solidFill>
                <a:latin typeface="굴림"/>
                <a:ea typeface="굴림"/>
                <a:cs typeface="굴림"/>
              </a:rPr>
              <a:t>※ 본 자료는 투자 참고용이며, 투자 결과의 책임은 투자자 본인에게 있습니다.</a:t>
            </a:r>
            <a:endParaRPr lang="en-US" sz="1000"/>
          </a:p>
        </p:txBody>
      </p:sp>
      <p:pic>
        <p:nvPicPr>
          <p:cNvPr id="41" name="그림 4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72418" y="649224"/>
            <a:ext cx="2189025" cy="12404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light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997135" y="384048"/>
            <a:ext cx="1627632" cy="4790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5029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 kern="0" spc="200">
                <a:solidFill>
                  <a:srgbClr val="1C56B8"/>
                </a:solidFill>
                <a:latin typeface="굴림"/>
                <a:ea typeface="굴림"/>
                <a:cs typeface="굴림"/>
              </a:rPr>
              <a:t>CONTENTS</a:t>
            </a:r>
            <a:endParaRPr lang="en-US" sz="1200"/>
          </a:p>
        </p:txBody>
      </p:sp>
      <p:sp>
        <p:nvSpPr>
          <p:cNvPr id="4" name="Text 1"/>
          <p:cNvSpPr/>
          <p:nvPr/>
        </p:nvSpPr>
        <p:spPr>
          <a:xfrm>
            <a:off x="566928" y="8229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목차</a:t>
            </a:r>
            <a:endParaRPr lang="en-US" sz="3200"/>
          </a:p>
        </p:txBody>
      </p:sp>
      <p:sp>
        <p:nvSpPr>
          <p:cNvPr id="5" name="Shape 2"/>
          <p:cNvSpPr/>
          <p:nvPr/>
        </p:nvSpPr>
        <p:spPr>
          <a:xfrm>
            <a:off x="566928" y="1495425"/>
            <a:ext cx="11057839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804672" y="1687449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7" name="Image 1" descr="ic_building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05256" y="1788033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27048" y="1641729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1C56B8"/>
                </a:solidFill>
                <a:latin typeface="굴림"/>
                <a:ea typeface="굴림"/>
                <a:cs typeface="굴림"/>
              </a:rPr>
              <a:t>1</a:t>
            </a:r>
            <a:endParaRPr lang="en-US" sz="3000"/>
          </a:p>
        </p:txBody>
      </p:sp>
      <p:sp>
        <p:nvSpPr>
          <p:cNvPr id="9" name="Text 5"/>
          <p:cNvSpPr/>
          <p:nvPr/>
        </p:nvSpPr>
        <p:spPr>
          <a:xfrm>
            <a:off x="2304288" y="1650873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90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기업 개요</a:t>
            </a:r>
          </a:p>
          <a:p>
            <a:pPr marL="0" indent="0">
              <a:lnSpc>
                <a:spcPct val="105000"/>
              </a:lnSpc>
              <a:buNone/>
              <a:defRPr/>
            </a:pPr>
            <a:r>
              <a:rPr lang="en-US" sz="1050">
                <a:solidFill>
                  <a:srgbClr val="1C56B8"/>
                </a:solidFill>
                <a:latin typeface="굴림"/>
                <a:ea typeface="굴림"/>
                <a:cs typeface="굴림"/>
              </a:rPr>
              <a:t>Company Overview</a:t>
            </a:r>
            <a:endParaRPr lang="en-US" sz="1900"/>
          </a:p>
        </p:txBody>
      </p:sp>
      <p:sp>
        <p:nvSpPr>
          <p:cNvPr id="10" name="Text 6"/>
          <p:cNvSpPr/>
          <p:nvPr/>
        </p:nvSpPr>
        <p:spPr>
          <a:xfrm>
            <a:off x="5870448" y="1641729"/>
            <a:ext cx="5479999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설립·연혁·사업모델·핵심 제품과 기술 경쟁력</a:t>
            </a:r>
            <a:endParaRPr lang="en-US" sz="1200"/>
          </a:p>
        </p:txBody>
      </p:sp>
      <p:sp>
        <p:nvSpPr>
          <p:cNvPr id="11" name="Shape 7"/>
          <p:cNvSpPr/>
          <p:nvPr/>
        </p:nvSpPr>
        <p:spPr>
          <a:xfrm>
            <a:off x="566928" y="2574417"/>
            <a:ext cx="11057839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804672" y="2766441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3" name="Image 2" descr="ic_idea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05256" y="2867025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27048" y="2720721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1C56B8"/>
                </a:solidFill>
                <a:latin typeface="굴림"/>
                <a:ea typeface="굴림"/>
                <a:cs typeface="굴림"/>
              </a:rPr>
              <a:t>2</a:t>
            </a:r>
            <a:endParaRPr lang="en-US" sz="3000"/>
          </a:p>
        </p:txBody>
      </p:sp>
      <p:sp>
        <p:nvSpPr>
          <p:cNvPr id="15" name="Text 10"/>
          <p:cNvSpPr/>
          <p:nvPr/>
        </p:nvSpPr>
        <p:spPr>
          <a:xfrm>
            <a:off x="2304288" y="2729865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90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투자 아이디어</a:t>
            </a:r>
          </a:p>
          <a:p>
            <a:pPr marL="0" indent="0">
              <a:lnSpc>
                <a:spcPct val="105000"/>
              </a:lnSpc>
              <a:buNone/>
              <a:defRPr/>
            </a:pPr>
            <a:r>
              <a:rPr lang="en-US" sz="1050">
                <a:solidFill>
                  <a:srgbClr val="1C56B8"/>
                </a:solidFill>
                <a:latin typeface="굴림"/>
                <a:ea typeface="굴림"/>
                <a:cs typeface="굴림"/>
              </a:rPr>
              <a:t>Investment Thesis</a:t>
            </a:r>
            <a:endParaRPr lang="en-US" sz="1900"/>
          </a:p>
        </p:txBody>
      </p:sp>
      <p:sp>
        <p:nvSpPr>
          <p:cNvPr id="16" name="Text 11"/>
          <p:cNvSpPr/>
          <p:nvPr/>
        </p:nvSpPr>
        <p:spPr>
          <a:xfrm>
            <a:off x="5870448" y="2720721"/>
            <a:ext cx="5479999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실적 전환·NRE 양산 모델·시장 성장·밸류에이션</a:t>
            </a:r>
            <a:endParaRPr lang="en-US" sz="1200"/>
          </a:p>
        </p:txBody>
      </p:sp>
      <p:sp>
        <p:nvSpPr>
          <p:cNvPr id="17" name="Shape 12"/>
          <p:cNvSpPr/>
          <p:nvPr/>
        </p:nvSpPr>
        <p:spPr>
          <a:xfrm>
            <a:off x="566928" y="3653409"/>
            <a:ext cx="11057839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8" name="Shape 13"/>
          <p:cNvSpPr/>
          <p:nvPr/>
        </p:nvSpPr>
        <p:spPr>
          <a:xfrm>
            <a:off x="804672" y="3845433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9" name="Image 3" descr="ic_warn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05256" y="3946017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27048" y="3799713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1C56B8"/>
                </a:solidFill>
                <a:latin typeface="굴림"/>
                <a:ea typeface="굴림"/>
                <a:cs typeface="굴림"/>
              </a:rPr>
              <a:t>3</a:t>
            </a:r>
            <a:endParaRPr lang="en-US" sz="3000"/>
          </a:p>
        </p:txBody>
      </p:sp>
      <p:sp>
        <p:nvSpPr>
          <p:cNvPr id="21" name="Text 15"/>
          <p:cNvSpPr/>
          <p:nvPr/>
        </p:nvSpPr>
        <p:spPr>
          <a:xfrm>
            <a:off x="2304288" y="3808857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90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투자 리스크</a:t>
            </a:r>
          </a:p>
          <a:p>
            <a:pPr marL="0" indent="0">
              <a:lnSpc>
                <a:spcPct val="105000"/>
              </a:lnSpc>
              <a:buNone/>
              <a:defRPr/>
            </a:pPr>
            <a:r>
              <a:rPr lang="en-US" sz="1050">
                <a:solidFill>
                  <a:srgbClr val="1C56B8"/>
                </a:solidFill>
                <a:latin typeface="굴림"/>
                <a:ea typeface="굴림"/>
                <a:cs typeface="굴림"/>
              </a:rPr>
              <a:t>Investment Risk</a:t>
            </a:r>
            <a:endParaRPr lang="en-US" sz="1900"/>
          </a:p>
        </p:txBody>
      </p:sp>
      <p:sp>
        <p:nvSpPr>
          <p:cNvPr id="22" name="Text 16"/>
          <p:cNvSpPr/>
          <p:nvPr/>
        </p:nvSpPr>
        <p:spPr>
          <a:xfrm>
            <a:off x="5870448" y="3799713"/>
            <a:ext cx="5479999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시장·기술·재무·경영 리스크와 완화 전략</a:t>
            </a:r>
            <a:endParaRPr lang="en-US" sz="1200"/>
          </a:p>
        </p:txBody>
      </p:sp>
      <p:sp>
        <p:nvSpPr>
          <p:cNvPr id="23" name="Shape 17"/>
          <p:cNvSpPr/>
          <p:nvPr/>
        </p:nvSpPr>
        <p:spPr>
          <a:xfrm>
            <a:off x="566928" y="4732401"/>
            <a:ext cx="11057839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Shape 18"/>
          <p:cNvSpPr/>
          <p:nvPr/>
        </p:nvSpPr>
        <p:spPr>
          <a:xfrm>
            <a:off x="804672" y="4924425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25" name="Image 4" descr="ic_roa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905256" y="5025009"/>
            <a:ext cx="347472" cy="34747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527048" y="487870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1C56B8"/>
                </a:solidFill>
                <a:latin typeface="굴림"/>
                <a:ea typeface="굴림"/>
                <a:cs typeface="굴림"/>
              </a:rPr>
              <a:t>4</a:t>
            </a:r>
            <a:endParaRPr lang="en-US" sz="3000"/>
          </a:p>
        </p:txBody>
      </p:sp>
      <p:sp>
        <p:nvSpPr>
          <p:cNvPr id="27" name="Text 20"/>
          <p:cNvSpPr/>
          <p:nvPr/>
        </p:nvSpPr>
        <p:spPr>
          <a:xfrm>
            <a:off x="2304288" y="4887849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90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투자 로드맵</a:t>
            </a:r>
          </a:p>
          <a:p>
            <a:pPr marL="0" indent="0">
              <a:lnSpc>
                <a:spcPct val="105000"/>
              </a:lnSpc>
              <a:buNone/>
              <a:defRPr/>
            </a:pPr>
            <a:r>
              <a:rPr lang="en-US" sz="1050">
                <a:solidFill>
                  <a:srgbClr val="1C56B8"/>
                </a:solidFill>
                <a:latin typeface="굴림"/>
                <a:ea typeface="굴림"/>
                <a:cs typeface="굴림"/>
              </a:rPr>
              <a:t>Investment Roadmap</a:t>
            </a:r>
            <a:endParaRPr lang="en-US" sz="1900"/>
          </a:p>
        </p:txBody>
      </p:sp>
      <p:sp>
        <p:nvSpPr>
          <p:cNvPr id="28" name="Text 21"/>
          <p:cNvSpPr/>
          <p:nvPr/>
        </p:nvSpPr>
        <p:spPr>
          <a:xfrm>
            <a:off x="5870448" y="4878705"/>
            <a:ext cx="5479999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단계별 전략·목표주가 시나리오·체크리스트</a:t>
            </a:r>
            <a:endParaRPr lang="en-US" sz="1200"/>
          </a:p>
        </p:txBody>
      </p:sp>
      <p:sp>
        <p:nvSpPr>
          <p:cNvPr id="35" name="Shape 2"/>
          <p:cNvSpPr/>
          <p:nvPr/>
        </p:nvSpPr>
        <p:spPr>
          <a:xfrm>
            <a:off x="566928" y="5804904"/>
            <a:ext cx="11057839" cy="854976"/>
          </a:xfrm>
          <a:prstGeom prst="roundRect">
            <a:avLst>
              <a:gd name="adj" fmla="val 7843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2E8F2">
                <a:alpha val="100000"/>
              </a:srgbClr>
            </a:solidFill>
            <a:prstDash val="solid"/>
          </a:ln>
          <a:effectLst>
            <a:outerShdw blurRad="114300" dist="38100" dir="5400000" algn="bl" rotWithShape="0">
              <a:srgbClr val="0B1830">
                <a:alpha val="9800"/>
              </a:srgbClr>
            </a:outerShdw>
          </a:effectLst>
        </p:spPr>
        <p:txBody>
          <a:bodyPr anchor="ctr"/>
          <a:lstStyle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6" name="Shape 3"/>
          <p:cNvSpPr/>
          <p:nvPr/>
        </p:nvSpPr>
        <p:spPr>
          <a:xfrm>
            <a:off x="804672" y="595807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AF1FB">
              <a:alpha val="100000"/>
            </a:srgbClr>
          </a:solidFill>
          <a:ln/>
        </p:spPr>
        <p:txBody>
          <a:bodyPr anchor="ctr"/>
          <a:lstStyle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pic>
        <p:nvPicPr>
          <p:cNvPr id="37" name="Image 1" descr="ic_clip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905256" y="6058656"/>
            <a:ext cx="347472" cy="347472"/>
          </a:xfrm>
          <a:prstGeom prst="rect">
            <a:avLst/>
          </a:prstGeom>
        </p:spPr>
      </p:pic>
      <p:sp>
        <p:nvSpPr>
          <p:cNvPr id="38" name="Text 4"/>
          <p:cNvSpPr/>
          <p:nvPr/>
        </p:nvSpPr>
        <p:spPr>
          <a:xfrm>
            <a:off x="1527048" y="59123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sz="3000" b="1" i="0" u="none" strike="noStrike" kern="1200" cap="none" spc="0" normalizeH="0" baseline="0">
                <a:solidFill>
                  <a:srgbClr val="1C56B8"/>
                </a:solidFill>
                <a:latin typeface="굴림"/>
                <a:ea typeface="굴림"/>
                <a:cs typeface="굴림"/>
              </a:rPr>
              <a:t>5</a:t>
            </a:r>
            <a:endParaRPr kumimoji="0" lang="en-US" sz="3000" b="0" i="0" u="none" strike="noStrike" kern="1200" cap="none" spc="0" normalizeH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" name="Text 5"/>
          <p:cNvSpPr/>
          <p:nvPr/>
        </p:nvSpPr>
        <p:spPr>
          <a:xfrm>
            <a:off x="2304288" y="5921496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 defTabSz="914400" rtl="0" eaLnBrk="1" latinLnBrk="0" hangingPunct="1">
              <a:lnSpc>
                <a:spcPct val="10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sz="1900" b="1" i="0" u="none" strike="noStrike" kern="1200" cap="none" spc="0" normalizeH="0" baseline="0">
                <a:solidFill>
                  <a:srgbClr val="141C2C"/>
                </a:solidFill>
                <a:latin typeface="굴림"/>
                <a:ea typeface="굴림"/>
                <a:cs typeface="굴림"/>
              </a:rPr>
              <a:t>주식담당자 통화 및 답변</a:t>
            </a:r>
          </a:p>
          <a:p>
            <a:pPr marL="0" indent="0" algn="l" defTabSz="914400" rtl="0" eaLnBrk="1" latinLnBrk="0" hangingPunct="1">
              <a:lnSpc>
                <a:spcPct val="105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sz="1050" b="0" i="0" u="none" strike="noStrike" kern="1200" cap="none" spc="0" normalizeH="0" baseline="0">
                <a:solidFill>
                  <a:srgbClr val="1C56B8"/>
                </a:solidFill>
                <a:latin typeface="굴림"/>
                <a:ea typeface="굴림"/>
                <a:cs typeface="굴림"/>
              </a:rPr>
              <a:t>IR Q&amp;A Session</a:t>
            </a:r>
            <a:endParaRPr kumimoji="0" lang="en-US" sz="1900" b="0" i="0" u="none" strike="noStrike" kern="1200" cap="none" spc="0" normalizeH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" name="Text 6"/>
          <p:cNvSpPr/>
          <p:nvPr/>
        </p:nvSpPr>
        <p:spPr>
          <a:xfrm>
            <a:off x="5870448" y="5912352"/>
            <a:ext cx="5479999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sz="1200" b="0" i="0" u="none" strike="noStrike" kern="1200" cap="none" spc="0" normalizeH="0" baseline="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사업·고객·재무·기술·시장·경영 전반의 Q&amp;A 정리</a:t>
            </a:r>
            <a:endParaRPr kumimoji="0" lang="en-US" sz="1200" b="0" i="0" u="none" strike="noStrike" kern="1200" cap="none" spc="0" normalizeH="0" baseline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0287" y="457200"/>
            <a:ext cx="1554480" cy="4575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1828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B2D6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CHAPTER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66928" y="210312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1A336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01</a:t>
            </a:r>
            <a:endParaRPr lang="en-US" sz="9600" dirty="0"/>
          </a:p>
        </p:txBody>
      </p:sp>
      <p:pic>
        <p:nvPicPr>
          <p:cNvPr id="5" name="Image 1" descr="ic_building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0048" y="2331720"/>
            <a:ext cx="822960" cy="8229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675888" y="23317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기업 개요</a:t>
            </a:r>
            <a:endParaRPr lang="en-US" sz="4000" dirty="0"/>
          </a:p>
        </p:txBody>
      </p:sp>
      <p:sp>
        <p:nvSpPr>
          <p:cNvPr id="7" name="Text 3"/>
          <p:cNvSpPr/>
          <p:nvPr/>
        </p:nvSpPr>
        <p:spPr>
          <a:xfrm>
            <a:off x="3703320" y="31546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FB0E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Company Overview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66928" y="4434840"/>
            <a:ext cx="2558720" cy="868680"/>
          </a:xfrm>
          <a:prstGeom prst="roundRect">
            <a:avLst>
              <a:gd name="adj" fmla="val 8421"/>
            </a:avLst>
          </a:prstGeom>
          <a:solidFill>
            <a:srgbClr val="14233F"/>
          </a:solidFill>
          <a:ln w="12700">
            <a:solidFill>
              <a:srgbClr val="23406E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4434840"/>
            <a:ext cx="2229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7E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설립 2017 · UNIST 교내 벤처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3399968" y="4434840"/>
            <a:ext cx="2558720" cy="868680"/>
          </a:xfrm>
          <a:prstGeom prst="roundRect">
            <a:avLst>
              <a:gd name="adj" fmla="val 8421"/>
            </a:avLst>
          </a:prstGeom>
          <a:solidFill>
            <a:srgbClr val="14233F"/>
          </a:solidFill>
          <a:ln w="12700">
            <a:solidFill>
              <a:srgbClr val="23406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564560" y="4434840"/>
            <a:ext cx="2229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7E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팹리스 · LEDoS DDIC 전문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233008" y="4434840"/>
            <a:ext cx="2558720" cy="868680"/>
          </a:xfrm>
          <a:prstGeom prst="roundRect">
            <a:avLst>
              <a:gd name="adj" fmla="val 8421"/>
            </a:avLst>
          </a:prstGeom>
          <a:solidFill>
            <a:srgbClr val="14233F"/>
          </a:solidFill>
          <a:ln w="12700">
            <a:solidFill>
              <a:srgbClr val="23406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397600" y="4434840"/>
            <a:ext cx="2229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7E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코스닥 기술성장특례 상장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9066047" y="4434840"/>
            <a:ext cx="2558720" cy="868680"/>
          </a:xfrm>
          <a:prstGeom prst="roundRect">
            <a:avLst>
              <a:gd name="adj" fmla="val 8421"/>
            </a:avLst>
          </a:prstGeom>
          <a:solidFill>
            <a:srgbClr val="14233F"/>
          </a:solidFill>
          <a:ln w="12700">
            <a:solidFill>
              <a:srgbClr val="23406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230639" y="4434840"/>
            <a:ext cx="2229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7E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글로벌 빅테크 4개권 고객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AA4B4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Sapien Semiconductors  |  KOSDAQ 452430  |  Investment Analysis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B4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66928" y="42062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굴림"/>
                <a:ea typeface="굴림"/>
                <a:cs typeface="굴림"/>
              </a:rPr>
              <a:t>1</a:t>
            </a:r>
            <a:endParaRPr lang="en-US" sz="1500"/>
          </a:p>
        </p:txBody>
      </p:sp>
      <p:sp>
        <p:nvSpPr>
          <p:cNvPr id="4" name="Text 2"/>
          <p:cNvSpPr/>
          <p:nvPr/>
        </p:nvSpPr>
        <p:spPr>
          <a:xfrm>
            <a:off x="1133856" y="42062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1200" b="1" kern="0" spc="200">
                <a:solidFill>
                  <a:srgbClr val="1C56B8"/>
                </a:solidFill>
                <a:latin typeface="굴림"/>
                <a:ea typeface="굴림"/>
                <a:cs typeface="굴림"/>
              </a:rPr>
              <a:t>기업 개요</a:t>
            </a:r>
            <a:endParaRPr lang="en-US" sz="1200"/>
          </a:p>
        </p:txBody>
      </p:sp>
      <p:pic>
        <p:nvPicPr>
          <p:cNvPr id="5" name="Image 0" descr="logo_light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997135" y="384048"/>
            <a:ext cx="1627632" cy="4790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회사 개요 · 한눈에 보는 사피엔반도체</a:t>
            </a:r>
            <a:endParaRPr lang="en-US" sz="3000"/>
          </a:p>
        </p:txBody>
      </p:sp>
      <p:sp>
        <p:nvSpPr>
          <p:cNvPr id="7" name="Text 4"/>
          <p:cNvSpPr/>
          <p:nvPr/>
        </p:nvSpPr>
        <p:spPr>
          <a:xfrm>
            <a:off x="566928" y="14447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135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AR 글래스용 LEDoS 구동 반도체를 설계하는 코스닥 상장 팹리스</a:t>
            </a:r>
            <a:endParaRPr lang="en-US" sz="1350"/>
          </a:p>
        </p:txBody>
      </p:sp>
      <p:sp>
        <p:nvSpPr>
          <p:cNvPr id="8" name="Text 5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9AA4B4"/>
                </a:solidFill>
                <a:latin typeface="굴림"/>
                <a:ea typeface="굴림"/>
                <a:cs typeface="굴림"/>
              </a:rPr>
              <a:t>Sapien Semiconductors  |  KOSDAQ 452430  |  Investment Analysis</a:t>
            </a:r>
            <a:endParaRPr lang="en-US" sz="850"/>
          </a:p>
        </p:txBody>
      </p:sp>
      <p:sp>
        <p:nvSpPr>
          <p:cNvPr id="9" name="Text 6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9AA4B4"/>
                </a:solidFill>
                <a:latin typeface="굴림"/>
                <a:ea typeface="굴림"/>
                <a:cs typeface="굴림"/>
              </a:rPr>
              <a:t>2</a:t>
            </a:r>
            <a:endParaRPr lang="en-US" sz="900"/>
          </a:p>
        </p:txBody>
      </p:sp>
      <p:sp>
        <p:nvSpPr>
          <p:cNvPr id="10" name="Shape 7"/>
          <p:cNvSpPr/>
          <p:nvPr/>
        </p:nvSpPr>
        <p:spPr>
          <a:xfrm>
            <a:off x="566928" y="1993392"/>
            <a:ext cx="254203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658368" y="2103120"/>
            <a:ext cx="2359152" cy="56692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2600" b="1">
                <a:solidFill>
                  <a:srgbClr val="1C56B8"/>
                </a:solidFill>
                <a:latin typeface="굴림"/>
                <a:ea typeface="굴림"/>
                <a:cs typeface="굴림"/>
              </a:rPr>
              <a:t>2017</a:t>
            </a:r>
            <a:endParaRPr lang="en-US" sz="2600"/>
          </a:p>
        </p:txBody>
      </p:sp>
      <p:sp>
        <p:nvSpPr>
          <p:cNvPr id="12" name="Text 9"/>
          <p:cNvSpPr/>
          <p:nvPr/>
        </p:nvSpPr>
        <p:spPr>
          <a:xfrm>
            <a:off x="658368" y="2670048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설립연도 (UNIST 벤처)</a:t>
            </a:r>
            <a:endParaRPr lang="en-US" sz="1100"/>
          </a:p>
        </p:txBody>
      </p:sp>
      <p:sp>
        <p:nvSpPr>
          <p:cNvPr id="13" name="Shape 10"/>
          <p:cNvSpPr/>
          <p:nvPr/>
        </p:nvSpPr>
        <p:spPr>
          <a:xfrm>
            <a:off x="3264408" y="1993392"/>
            <a:ext cx="254203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3355848" y="2103120"/>
            <a:ext cx="2359152" cy="56692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2600" b="1">
                <a:solidFill>
                  <a:srgbClr val="1C56B8"/>
                </a:solidFill>
                <a:latin typeface="굴림"/>
                <a:ea typeface="굴림"/>
                <a:cs typeface="굴림"/>
              </a:rPr>
              <a:t>55명</a:t>
            </a:r>
            <a:endParaRPr lang="en-US" sz="2600"/>
          </a:p>
        </p:txBody>
      </p:sp>
      <p:sp>
        <p:nvSpPr>
          <p:cNvPr id="15" name="Text 12"/>
          <p:cNvSpPr/>
          <p:nvPr/>
        </p:nvSpPr>
        <p:spPr>
          <a:xfrm>
            <a:off x="3355848" y="2670048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임직원 (2026.01)</a:t>
            </a:r>
            <a:endParaRPr lang="en-US" sz="1100"/>
          </a:p>
        </p:txBody>
      </p:sp>
      <p:sp>
        <p:nvSpPr>
          <p:cNvPr id="16" name="Shape 13"/>
          <p:cNvSpPr/>
          <p:nvPr/>
        </p:nvSpPr>
        <p:spPr>
          <a:xfrm>
            <a:off x="5961888" y="1993392"/>
            <a:ext cx="2542032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6053328" y="2103120"/>
            <a:ext cx="2359152" cy="56692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2600" b="1">
                <a:solidFill>
                  <a:srgbClr val="1C56B8"/>
                </a:solidFill>
                <a:latin typeface="굴림"/>
                <a:ea typeface="굴림"/>
                <a:cs typeface="굴림"/>
              </a:rPr>
              <a:t>173억</a:t>
            </a:r>
            <a:endParaRPr lang="en-US" sz="2600"/>
          </a:p>
        </p:txBody>
      </p:sp>
      <p:sp>
        <p:nvSpPr>
          <p:cNvPr id="18" name="Text 15"/>
          <p:cNvSpPr/>
          <p:nvPr/>
        </p:nvSpPr>
        <p:spPr>
          <a:xfrm>
            <a:off x="6053328" y="2670048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2025 매출 (+116.6%)</a:t>
            </a:r>
            <a:endParaRPr lang="en-US" sz="1100"/>
          </a:p>
        </p:txBody>
      </p:sp>
      <p:sp>
        <p:nvSpPr>
          <p:cNvPr id="19" name="Shape 16"/>
          <p:cNvSpPr/>
          <p:nvPr/>
        </p:nvSpPr>
        <p:spPr>
          <a:xfrm>
            <a:off x="8659368" y="1993392"/>
            <a:ext cx="2965399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8750808" y="2103120"/>
            <a:ext cx="2782519" cy="56692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2600" b="1">
                <a:solidFill>
                  <a:srgbClr val="1C56B8"/>
                </a:solidFill>
                <a:latin typeface="굴림"/>
                <a:ea typeface="굴림"/>
                <a:cs typeface="굴림"/>
              </a:rPr>
              <a:t>₩33,250</a:t>
            </a:r>
            <a:endParaRPr lang="en-US" sz="2600"/>
          </a:p>
        </p:txBody>
      </p:sp>
      <p:sp>
        <p:nvSpPr>
          <p:cNvPr id="21" name="Text 18"/>
          <p:cNvSpPr/>
          <p:nvPr/>
        </p:nvSpPr>
        <p:spPr>
          <a:xfrm>
            <a:off x="8750808" y="2670048"/>
            <a:ext cx="2782519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현재 주가 (2026.06)</a:t>
            </a:r>
            <a:endParaRPr lang="en-US" sz="1100"/>
          </a:p>
        </p:txBody>
      </p:sp>
      <p:sp>
        <p:nvSpPr>
          <p:cNvPr id="22" name="Shape 19"/>
          <p:cNvSpPr/>
          <p:nvPr/>
        </p:nvSpPr>
        <p:spPr>
          <a:xfrm>
            <a:off x="566928" y="3273552"/>
            <a:ext cx="5486400" cy="3090672"/>
          </a:xfrm>
          <a:prstGeom prst="roundRect">
            <a:avLst>
              <a:gd name="adj" fmla="val 236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786384" y="3438144"/>
            <a:ext cx="5084064" cy="38404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기업 기본 정보</a:t>
            </a:r>
            <a:endParaRPr lang="en-US" sz="1450"/>
          </a:p>
        </p:txBody>
      </p:sp>
      <p:sp>
        <p:nvSpPr>
          <p:cNvPr id="24" name="Text 21"/>
          <p:cNvSpPr/>
          <p:nvPr/>
        </p:nvSpPr>
        <p:spPr>
          <a:xfrm>
            <a:off x="786384" y="3877056"/>
            <a:ext cx="5065776" cy="2322576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ct val="102000"/>
              </a:lnSpc>
              <a:buNone/>
              <a:defRPr/>
            </a:pPr>
            <a:endParaRPr lang="en-US"/>
          </a:p>
        </p:txBody>
      </p:sp>
      <p:graphicFrame>
        <p:nvGraphicFramePr>
          <p:cNvPr id="34" name="Table 0"/>
          <p:cNvGraphicFramePr>
            <a:graphicFrameLocks noGrp="1"/>
          </p:cNvGraphicFramePr>
          <p:nvPr/>
        </p:nvGraphicFramePr>
        <p:xfrm>
          <a:off x="786384" y="3840480"/>
          <a:ext cx="5047488" cy="252374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8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5468"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굴림"/>
                          <a:ea typeface="굴림"/>
                          <a:cs typeface="굴림"/>
                        </a:rPr>
                        <a:t>항목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E2E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굴림"/>
                          <a:ea typeface="굴림"/>
                          <a:cs typeface="굴림"/>
                        </a:rPr>
                        <a:t>내용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E2E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05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회사명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주식회사 사피엔반도체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05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본사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판교 글로벌비즈센터 (성남)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05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주요사업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Micro-LED DDIC 설계 팹리스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05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상장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2024.02.19 코스닥 기술성장특례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05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상장코드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KOSDAQ 452430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05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기업구분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중소기업 / 벤처기업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05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총자산(2025)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316억원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6281928" y="3273552"/>
            <a:ext cx="5342839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27" name="Image 1" descr="ic_chip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501384" y="3474720"/>
            <a:ext cx="310896" cy="31089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922008" y="3438144"/>
            <a:ext cx="4519879" cy="38404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주요 제품군</a:t>
            </a:r>
            <a:endParaRPr lang="en-US" sz="1450"/>
          </a:p>
        </p:txBody>
      </p:sp>
      <p:sp>
        <p:nvSpPr>
          <p:cNvPr id="29" name="Text 24"/>
          <p:cNvSpPr/>
          <p:nvPr/>
        </p:nvSpPr>
        <p:spPr>
          <a:xfrm>
            <a:off x="6501384" y="3877056"/>
            <a:ext cx="4922215" cy="1014984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LEDoS CMOS Backplane — AR/MR 스마트글래스 핵심 구동칩</a:t>
            </a:r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대형/초대형 Micro-LED 사이니지</a:t>
            </a:r>
            <a:r>
              <a:rPr lang="en-US" altLang="ko-KR" sz="115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(</a:t>
            </a:r>
            <a:r>
              <a:rPr lang="ko-KR" altLang="en-US" sz="115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전자화면</a:t>
            </a:r>
            <a:r>
              <a:rPr lang="en-US" altLang="ko-KR" sz="115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)</a:t>
            </a:r>
            <a:r>
              <a:rPr lang="en-US" sz="115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·TV용 DDIC 칩셋</a:t>
            </a:r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차세대 XR·AI 웨어러블 공간컴퓨팅 디바이스로 확장</a:t>
            </a:r>
            <a:endParaRPr lang="en-US" sz="1150"/>
          </a:p>
        </p:txBody>
      </p:sp>
      <p:sp>
        <p:nvSpPr>
          <p:cNvPr id="30" name="Shape 25"/>
          <p:cNvSpPr/>
          <p:nvPr/>
        </p:nvSpPr>
        <p:spPr>
          <a:xfrm>
            <a:off x="6281928" y="5157216"/>
            <a:ext cx="5342839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1" name="Text 26"/>
          <p:cNvSpPr/>
          <p:nvPr/>
        </p:nvSpPr>
        <p:spPr>
          <a:xfrm>
            <a:off x="6501384" y="5303520"/>
            <a:ext cx="4977079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응용 시장 매출 비중</a:t>
            </a:r>
            <a:endParaRPr lang="en-US" sz="1350"/>
          </a:p>
        </p:txBody>
      </p:sp>
      <p:graphicFrame>
        <p:nvGraphicFramePr>
          <p:cNvPr id="32" name="Chart 0"/>
          <p:cNvGraphicFramePr/>
          <p:nvPr/>
        </p:nvGraphicFramePr>
        <p:xfrm>
          <a:off x="6419088" y="5614416"/>
          <a:ext cx="1828800" cy="5669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3" name="Text 27"/>
          <p:cNvSpPr/>
          <p:nvPr/>
        </p:nvSpPr>
        <p:spPr>
          <a:xfrm>
            <a:off x="8430768" y="5614416"/>
            <a:ext cx="3011119" cy="56692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5000"/>
              </a:lnSpc>
              <a:buNone/>
              <a:defRPr/>
            </a:pPr>
            <a:r>
              <a:rPr lang="en-US" sz="1300" b="1">
                <a:solidFill>
                  <a:srgbClr val="1C56B8"/>
                </a:solidFill>
                <a:latin typeface="굴림"/>
                <a:ea typeface="굴림"/>
                <a:cs typeface="굴림"/>
              </a:rPr>
              <a:t>95%  </a:t>
            </a:r>
            <a:r>
              <a:rPr lang="en-US" sz="1150">
                <a:solidFill>
                  <a:srgbClr val="141C2C"/>
                </a:solidFill>
                <a:latin typeface="굴림"/>
                <a:ea typeface="굴림"/>
                <a:cs typeface="굴림"/>
              </a:rPr>
              <a:t>AR/MR 스마트글래스</a:t>
            </a:r>
          </a:p>
          <a:p>
            <a:pPr marL="0" indent="0">
              <a:lnSpc>
                <a:spcPct val="115000"/>
              </a:lnSpc>
              <a:buNone/>
              <a:defRPr/>
            </a:pPr>
            <a:r>
              <a:rPr lang="en-US" sz="100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매출 주력 제품</a:t>
            </a:r>
          </a:p>
          <a:p>
            <a:pPr marL="0" indent="0">
              <a:lnSpc>
                <a:spcPct val="115000"/>
              </a:lnSpc>
              <a:buNone/>
              <a:defRPr/>
            </a:pPr>
            <a:r>
              <a:rPr lang="en-US" sz="600">
                <a:solidFill>
                  <a:srgbClr val="000000"/>
                </a:solidFill>
                <a:latin typeface="굴림"/>
                <a:ea typeface="굴림"/>
                <a:cs typeface="굴림"/>
              </a:rPr>
              <a:t> </a:t>
            </a:r>
          </a:p>
          <a:p>
            <a:pPr marL="0" indent="0">
              <a:lnSpc>
                <a:spcPct val="115000"/>
              </a:lnSpc>
              <a:buNone/>
              <a:defRPr/>
            </a:pPr>
            <a:r>
              <a:rPr lang="en-US" sz="1300" b="1">
                <a:solidFill>
                  <a:srgbClr val="00B2D6"/>
                </a:solidFill>
                <a:latin typeface="굴림"/>
                <a:ea typeface="굴림"/>
                <a:cs typeface="굴림"/>
              </a:rPr>
              <a:t>5%  </a:t>
            </a:r>
            <a:r>
              <a:rPr lang="en-US" sz="1150">
                <a:solidFill>
                  <a:srgbClr val="141C2C"/>
                </a:solidFill>
                <a:latin typeface="굴림"/>
                <a:ea typeface="굴림"/>
                <a:cs typeface="굴림"/>
              </a:rPr>
              <a:t>대형 LED 사이니지·TV</a:t>
            </a:r>
          </a:p>
          <a:p>
            <a:pPr marL="0" indent="0">
              <a:lnSpc>
                <a:spcPct val="115000"/>
              </a:lnSpc>
              <a:buNone/>
              <a:defRPr/>
            </a:pPr>
            <a:r>
              <a:rPr lang="en-US" sz="100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초대형 DDIC 칩셋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33856" y="42062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기업 개요</a:t>
            </a:r>
            <a:endParaRPr lang="en-US" sz="1200" dirty="0"/>
          </a:p>
        </p:txBody>
      </p:sp>
      <p:pic>
        <p:nvPicPr>
          <p:cNvPr id="5" name="Image 0" descr="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7135" y="384048"/>
            <a:ext cx="1627632" cy="4790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성장 연혁 · 2017 → 2026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66928" y="14447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UNIST 벤처에서 글로벌 빅테크 NRE 파트너로 성장한 9년의 궤적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AA4B4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Sapien Semiconductors  |  KOSDAQ 452430  |  Investment Analysis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B4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3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" y="2020824"/>
            <a:ext cx="2558720" cy="15910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68096" y="220370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1C56B8"/>
          </a:solidFill>
          <a:ln/>
        </p:spPr>
      </p:sp>
      <p:sp>
        <p:nvSpPr>
          <p:cNvPr id="12" name="Text 9"/>
          <p:cNvSpPr/>
          <p:nvPr/>
        </p:nvSpPr>
        <p:spPr>
          <a:xfrm>
            <a:off x="768096" y="220370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2017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68096" y="2734056"/>
            <a:ext cx="21563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UNIST 교내 벤처 설립 — 이명희 교수 창업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399968" y="2020824"/>
            <a:ext cx="2558720" cy="15910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01136" y="220370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1C56B8"/>
          </a:solidFill>
          <a:ln/>
        </p:spPr>
      </p:sp>
      <p:sp>
        <p:nvSpPr>
          <p:cNvPr id="16" name="Text 13"/>
          <p:cNvSpPr/>
          <p:nvPr/>
        </p:nvSpPr>
        <p:spPr>
          <a:xfrm>
            <a:off x="3601136" y="220370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2019–21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601136" y="2734056"/>
            <a:ext cx="21563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Multi-bit MIP·PWM 원천기술 개발 · 특허 150+ 확보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233008" y="2020824"/>
            <a:ext cx="2558720" cy="15910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34176" y="220370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1C56B8"/>
          </a:solidFill>
          <a:ln/>
        </p:spPr>
      </p:sp>
      <p:sp>
        <p:nvSpPr>
          <p:cNvPr id="20" name="Text 17"/>
          <p:cNvSpPr/>
          <p:nvPr/>
        </p:nvSpPr>
        <p:spPr>
          <a:xfrm>
            <a:off x="6434176" y="220370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2022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434176" y="2734056"/>
            <a:ext cx="21563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글로벌 전략적 투자 유치 · NRE 매출 71.9억 달성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66047" y="2020824"/>
            <a:ext cx="2558720" cy="15910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9267215" y="220370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1C56B8"/>
          </a:solidFill>
          <a:ln/>
        </p:spPr>
      </p:sp>
      <p:sp>
        <p:nvSpPr>
          <p:cNvPr id="24" name="Text 21"/>
          <p:cNvSpPr/>
          <p:nvPr/>
        </p:nvSpPr>
        <p:spPr>
          <a:xfrm>
            <a:off x="9267215" y="220370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2023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267215" y="2734056"/>
            <a:ext cx="21563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글로벌 70+ 기업 NDA · 실리콘밸리 사무소 개설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66928" y="3867912"/>
            <a:ext cx="2558720" cy="15910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68096" y="4050792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1C56B8"/>
          </a:solidFill>
          <a:ln/>
        </p:spPr>
      </p:sp>
      <p:sp>
        <p:nvSpPr>
          <p:cNvPr id="28" name="Text 25"/>
          <p:cNvSpPr/>
          <p:nvPr/>
        </p:nvSpPr>
        <p:spPr>
          <a:xfrm>
            <a:off x="768096" y="405079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2024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768096" y="4581144"/>
            <a:ext cx="21563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코스닥 기술성장특례 상장(452430) · 판교 본사 이전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3399968" y="3867912"/>
            <a:ext cx="2558720" cy="15910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3601136" y="4050792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1C56B8"/>
          </a:solidFill>
          <a:ln/>
        </p:spPr>
      </p:sp>
      <p:sp>
        <p:nvSpPr>
          <p:cNvPr id="32" name="Text 29"/>
          <p:cNvSpPr/>
          <p:nvPr/>
        </p:nvSpPr>
        <p:spPr>
          <a:xfrm>
            <a:off x="3601136" y="405079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2024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3601136" y="4581144"/>
            <a:ext cx="21563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북미 빅테크 NRE 95.2억 · 중국 CMOS 43.9억 계약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6233008" y="3867912"/>
            <a:ext cx="2558720" cy="15910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434176" y="4050792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0B2D6"/>
          </a:solidFill>
          <a:ln/>
        </p:spPr>
      </p:sp>
      <p:sp>
        <p:nvSpPr>
          <p:cNvPr id="36" name="Text 33"/>
          <p:cNvSpPr/>
          <p:nvPr/>
        </p:nvSpPr>
        <p:spPr>
          <a:xfrm>
            <a:off x="6434176" y="405079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2025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6434176" y="4581144"/>
            <a:ext cx="21563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일본 빅테크 41억 · NRE 120억 증액 · 3Q +341.5%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9066047" y="3867912"/>
            <a:ext cx="2558720" cy="1591056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9267215" y="4050792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0B2D6"/>
          </a:solidFill>
          <a:ln/>
        </p:spPr>
      </p:sp>
      <p:sp>
        <p:nvSpPr>
          <p:cNvPr id="40" name="Text 37"/>
          <p:cNvSpPr/>
          <p:nvPr/>
        </p:nvSpPr>
        <p:spPr>
          <a:xfrm>
            <a:off x="9267215" y="405079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2026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9267215" y="4581144"/>
            <a:ext cx="21563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SEMIFIVE MOU · UXGA+ 구동칩 출시 · 양산 매출 개시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66928" y="42062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굴림"/>
                <a:ea typeface="굴림"/>
                <a:cs typeface="굴림"/>
              </a:rPr>
              <a:t>1</a:t>
            </a:r>
            <a:endParaRPr lang="en-US" sz="1500"/>
          </a:p>
        </p:txBody>
      </p:sp>
      <p:sp>
        <p:nvSpPr>
          <p:cNvPr id="4" name="Text 2"/>
          <p:cNvSpPr/>
          <p:nvPr/>
        </p:nvSpPr>
        <p:spPr>
          <a:xfrm>
            <a:off x="1133856" y="42062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1200" b="1" kern="0" spc="200">
                <a:solidFill>
                  <a:srgbClr val="1C56B8"/>
                </a:solidFill>
                <a:latin typeface="굴림"/>
                <a:ea typeface="굴림"/>
                <a:cs typeface="굴림"/>
              </a:rPr>
              <a:t>기업 개요</a:t>
            </a:r>
            <a:endParaRPr lang="en-US" sz="1200"/>
          </a:p>
        </p:txBody>
      </p:sp>
      <p:pic>
        <p:nvPicPr>
          <p:cNvPr id="5" name="Image 0" descr="logo_light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997135" y="384048"/>
            <a:ext cx="1627632" cy="4790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핵심 제품 · LEDoS CMOS Backplane</a:t>
            </a:r>
            <a:endParaRPr lang="en-US" sz="3000"/>
          </a:p>
        </p:txBody>
      </p:sp>
      <p:sp>
        <p:nvSpPr>
          <p:cNvPr id="7" name="Text 4"/>
          <p:cNvSpPr/>
          <p:nvPr/>
        </p:nvSpPr>
        <p:spPr>
          <a:xfrm>
            <a:off x="566928" y="14447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135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실리콘 기판 위 Micro-LED 집적 — AR 글래스용 초소형·초고해상도 구동 반도체</a:t>
            </a:r>
            <a:endParaRPr lang="en-US" sz="1350"/>
          </a:p>
        </p:txBody>
      </p:sp>
      <p:sp>
        <p:nvSpPr>
          <p:cNvPr id="8" name="Text 5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9AA4B4"/>
                </a:solidFill>
                <a:latin typeface="굴림"/>
                <a:ea typeface="굴림"/>
                <a:cs typeface="굴림"/>
              </a:rPr>
              <a:t>Sapien Semiconductors  |  KOSDAQ 452430  |  Investment Analysis</a:t>
            </a:r>
            <a:endParaRPr lang="en-US" sz="850"/>
          </a:p>
        </p:txBody>
      </p:sp>
      <p:sp>
        <p:nvSpPr>
          <p:cNvPr id="9" name="Text 6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9AA4B4"/>
                </a:solidFill>
                <a:latin typeface="굴림"/>
                <a:ea typeface="굴림"/>
                <a:cs typeface="굴림"/>
              </a:rPr>
              <a:t>5</a:t>
            </a:r>
            <a:endParaRPr lang="en-US" sz="900"/>
          </a:p>
        </p:txBody>
      </p:sp>
      <p:sp>
        <p:nvSpPr>
          <p:cNvPr id="10" name="Shape 7"/>
          <p:cNvSpPr/>
          <p:nvPr/>
        </p:nvSpPr>
        <p:spPr>
          <a:xfrm>
            <a:off x="566928" y="2020824"/>
            <a:ext cx="3291840" cy="2052828"/>
          </a:xfrm>
          <a:prstGeom prst="roundRect">
            <a:avLst>
              <a:gd name="adj" fmla="val 356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86384" y="2221992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EAF1FB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2" name="Image 1" descr="ic_patent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877824" y="2313432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26464" y="220370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C56B8"/>
                </a:solidFill>
                <a:latin typeface="굴림"/>
                <a:ea typeface="굴림"/>
                <a:cs typeface="굴림"/>
              </a:rPr>
              <a:t>MiP 원천기술</a:t>
            </a:r>
            <a:endParaRPr lang="en-US" sz="1500"/>
          </a:p>
        </p:txBody>
      </p:sp>
      <p:sp>
        <p:nvSpPr>
          <p:cNvPr id="14" name="Text 10"/>
          <p:cNvSpPr/>
          <p:nvPr/>
        </p:nvSpPr>
        <p:spPr>
          <a:xfrm>
            <a:off x="786384" y="2807208"/>
            <a:ext cx="2852928" cy="1138428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10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Memory-Inside-Pixel 구조 세계 최초 개발. 픽셀 내 메모리로 구동 방식 혁신</a:t>
            </a:r>
            <a:endParaRPr lang="en-US" sz="1100"/>
          </a:p>
        </p:txBody>
      </p:sp>
      <p:sp>
        <p:nvSpPr>
          <p:cNvPr id="15" name="Shape 11"/>
          <p:cNvSpPr/>
          <p:nvPr/>
        </p:nvSpPr>
        <p:spPr>
          <a:xfrm>
            <a:off x="4133088" y="2020824"/>
            <a:ext cx="3291840" cy="2052828"/>
          </a:xfrm>
          <a:prstGeom prst="roundRect">
            <a:avLst>
              <a:gd name="adj" fmla="val 356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4352544" y="2221992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EAF1FB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7" name="Image 2" descr="ic_bolt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4443984" y="2313432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992624" y="220370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C56B8"/>
                </a:solidFill>
                <a:latin typeface="굴림"/>
                <a:ea typeface="굴림"/>
                <a:cs typeface="굴림"/>
              </a:rPr>
              <a:t>소비전력 75% 절감</a:t>
            </a:r>
            <a:endParaRPr lang="en-US" sz="1500"/>
          </a:p>
        </p:txBody>
      </p:sp>
      <p:sp>
        <p:nvSpPr>
          <p:cNvPr id="19" name="Text 14"/>
          <p:cNvSpPr/>
          <p:nvPr/>
        </p:nvSpPr>
        <p:spPr>
          <a:xfrm>
            <a:off x="4352544" y="2807208"/>
            <a:ext cx="2852928" cy="1138428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10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경쟁사 LEDoS 대비 최대 75% 전력 절약. AR 글래스 배터리 수명 획기적 개선</a:t>
            </a:r>
            <a:endParaRPr lang="en-US" sz="1100"/>
          </a:p>
        </p:txBody>
      </p:sp>
      <p:sp>
        <p:nvSpPr>
          <p:cNvPr id="20" name="Shape 15"/>
          <p:cNvSpPr/>
          <p:nvPr/>
        </p:nvSpPr>
        <p:spPr>
          <a:xfrm>
            <a:off x="566928" y="4347972"/>
            <a:ext cx="3291840" cy="2052828"/>
          </a:xfrm>
          <a:prstGeom prst="roundRect">
            <a:avLst>
              <a:gd name="adj" fmla="val 356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Shape 16"/>
          <p:cNvSpPr/>
          <p:nvPr/>
        </p:nvSpPr>
        <p:spPr>
          <a:xfrm>
            <a:off x="786384" y="4549140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EAF1FB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22" name="Image 3" descr="ic_coins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877824" y="4640580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26464" y="45308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C56B8"/>
                </a:solidFill>
                <a:latin typeface="굴림"/>
                <a:ea typeface="굴림"/>
                <a:cs typeface="굴림"/>
              </a:rPr>
              <a:t>원가 50% 절감</a:t>
            </a:r>
            <a:endParaRPr lang="en-US" sz="1500"/>
          </a:p>
        </p:txBody>
      </p:sp>
      <p:sp>
        <p:nvSpPr>
          <p:cNvPr id="24" name="Text 18"/>
          <p:cNvSpPr/>
          <p:nvPr/>
        </p:nvSpPr>
        <p:spPr>
          <a:xfrm>
            <a:off x="786384" y="5134356"/>
            <a:ext cx="2852928" cy="1138428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10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12인치 웨이퍼 1장당 4,000+ 모듈. 양산 수율 경쟁사 대비 30%p 우위</a:t>
            </a:r>
            <a:endParaRPr lang="en-US" sz="1100"/>
          </a:p>
        </p:txBody>
      </p:sp>
      <p:sp>
        <p:nvSpPr>
          <p:cNvPr id="25" name="Shape 19"/>
          <p:cNvSpPr/>
          <p:nvPr/>
        </p:nvSpPr>
        <p:spPr>
          <a:xfrm>
            <a:off x="4133088" y="4347972"/>
            <a:ext cx="3291840" cy="2052828"/>
          </a:xfrm>
          <a:prstGeom prst="roundRect">
            <a:avLst>
              <a:gd name="adj" fmla="val 356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6" name="Shape 20"/>
          <p:cNvSpPr/>
          <p:nvPr/>
        </p:nvSpPr>
        <p:spPr>
          <a:xfrm>
            <a:off x="4352544" y="4549140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EAF1FB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27" name="Image 4" descr="ic_expan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4443984" y="4640580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992624" y="45308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C56B8"/>
                </a:solidFill>
                <a:latin typeface="굴림"/>
                <a:ea typeface="굴림"/>
                <a:cs typeface="굴림"/>
              </a:rPr>
              <a:t>초고해상도</a:t>
            </a:r>
            <a:endParaRPr lang="en-US" sz="1500"/>
          </a:p>
        </p:txBody>
      </p:sp>
      <p:sp>
        <p:nvSpPr>
          <p:cNvPr id="29" name="Text 22"/>
          <p:cNvSpPr/>
          <p:nvPr/>
        </p:nvSpPr>
        <p:spPr>
          <a:xfrm>
            <a:off x="4352544" y="5134356"/>
            <a:ext cx="2852928" cy="1138428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10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픽셀 피치 2.5μm — 3μm 이하 초미세 픽셀 세계 최고 수준 구현</a:t>
            </a:r>
          </a:p>
          <a:p>
            <a:pPr marL="0" indent="0">
              <a:lnSpc>
                <a:spcPct val="110000"/>
              </a:lnSpc>
              <a:buNone/>
              <a:defRPr/>
            </a:pPr>
            <a:endParaRPr lang="en-US" altLang="ko-KR" sz="1100">
              <a:solidFill>
                <a:srgbClr val="5A6373"/>
              </a:solidFill>
              <a:latin typeface="굴림"/>
              <a:ea typeface="굴림"/>
              <a:cs typeface="굴림"/>
            </a:endParaRPr>
          </a:p>
        </p:txBody>
      </p:sp>
      <p:sp>
        <p:nvSpPr>
          <p:cNvPr id="30" name="Shape 23"/>
          <p:cNvSpPr/>
          <p:nvPr/>
        </p:nvSpPr>
        <p:spPr>
          <a:xfrm>
            <a:off x="7699248" y="2020824"/>
            <a:ext cx="3925519" cy="4379976"/>
          </a:xfrm>
          <a:prstGeom prst="roundRect">
            <a:avLst>
              <a:gd name="adj" fmla="val 1863"/>
            </a:avLst>
          </a:prstGeom>
          <a:solidFill>
            <a:srgbClr val="0B1830"/>
          </a:solidFill>
          <a:ln/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31" name="Image 5" descr="ic_glasses_w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7973568" y="2295144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567928" y="2295144"/>
            <a:ext cx="2919679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굴림"/>
                <a:ea typeface="굴림"/>
                <a:cs typeface="굴림"/>
              </a:rPr>
              <a:t>핵심 스펙</a:t>
            </a:r>
            <a:endParaRPr lang="en-US" sz="1600"/>
          </a:p>
        </p:txBody>
      </p:sp>
      <p:sp>
        <p:nvSpPr>
          <p:cNvPr id="33" name="Text 25"/>
          <p:cNvSpPr/>
          <p:nvPr/>
        </p:nvSpPr>
        <p:spPr>
          <a:xfrm>
            <a:off x="7973568" y="2916936"/>
            <a:ext cx="3376879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8FB0E0"/>
                </a:solidFill>
                <a:latin typeface="굴림"/>
                <a:ea typeface="굴림"/>
                <a:cs typeface="굴림"/>
              </a:rPr>
              <a:t>픽셀 피치</a:t>
            </a:r>
            <a:endParaRPr lang="en-US" sz="1100"/>
          </a:p>
        </p:txBody>
      </p:sp>
      <p:sp>
        <p:nvSpPr>
          <p:cNvPr id="34" name="Text 26"/>
          <p:cNvSpPr/>
          <p:nvPr/>
        </p:nvSpPr>
        <p:spPr>
          <a:xfrm>
            <a:off x="7973568" y="3154680"/>
            <a:ext cx="3376879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0B2D6"/>
                </a:solidFill>
                <a:latin typeface="굴림"/>
                <a:ea typeface="굴림"/>
                <a:cs typeface="굴림"/>
              </a:rPr>
              <a:t>2.5 μm</a:t>
            </a:r>
            <a:endParaRPr lang="en-US" sz="1600"/>
          </a:p>
        </p:txBody>
      </p:sp>
      <p:sp>
        <p:nvSpPr>
          <p:cNvPr id="35" name="Shape 27"/>
          <p:cNvSpPr/>
          <p:nvPr/>
        </p:nvSpPr>
        <p:spPr>
          <a:xfrm>
            <a:off x="7973568" y="3557016"/>
            <a:ext cx="3376879" cy="0"/>
          </a:xfrm>
          <a:prstGeom prst="line">
            <a:avLst/>
          </a:prstGeom>
          <a:noFill/>
          <a:ln w="12700">
            <a:solidFill>
              <a:srgbClr val="1E3A66"/>
            </a:solidFill>
            <a:prstDash val="solid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6" name="Text 28"/>
          <p:cNvSpPr/>
          <p:nvPr/>
        </p:nvSpPr>
        <p:spPr>
          <a:xfrm>
            <a:off x="7973568" y="3593592"/>
            <a:ext cx="3376879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8FB0E0"/>
                </a:solidFill>
                <a:latin typeface="굴림"/>
                <a:ea typeface="굴림"/>
                <a:cs typeface="굴림"/>
              </a:rPr>
              <a:t>해상도</a:t>
            </a:r>
            <a:endParaRPr lang="en-US" sz="1100"/>
          </a:p>
        </p:txBody>
      </p:sp>
      <p:sp>
        <p:nvSpPr>
          <p:cNvPr id="37" name="Text 29"/>
          <p:cNvSpPr/>
          <p:nvPr/>
        </p:nvSpPr>
        <p:spPr>
          <a:xfrm>
            <a:off x="7973568" y="3831336"/>
            <a:ext cx="3376879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0B2D6"/>
                </a:solidFill>
                <a:latin typeface="굴림"/>
                <a:ea typeface="굴림"/>
                <a:cs typeface="굴림"/>
              </a:rPr>
              <a:t>800×600 (1.5VGA급)</a:t>
            </a:r>
            <a:endParaRPr lang="en-US" sz="1600"/>
          </a:p>
        </p:txBody>
      </p:sp>
      <p:sp>
        <p:nvSpPr>
          <p:cNvPr id="38" name="Shape 30"/>
          <p:cNvSpPr/>
          <p:nvPr/>
        </p:nvSpPr>
        <p:spPr>
          <a:xfrm>
            <a:off x="7973568" y="4233672"/>
            <a:ext cx="3376879" cy="0"/>
          </a:xfrm>
          <a:prstGeom prst="line">
            <a:avLst/>
          </a:prstGeom>
          <a:noFill/>
          <a:ln w="12700">
            <a:solidFill>
              <a:srgbClr val="1E3A66"/>
            </a:solidFill>
            <a:prstDash val="solid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9" name="Text 31"/>
          <p:cNvSpPr/>
          <p:nvPr/>
        </p:nvSpPr>
        <p:spPr>
          <a:xfrm>
            <a:off x="7973568" y="4270248"/>
            <a:ext cx="3376879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8FB0E0"/>
                </a:solidFill>
                <a:latin typeface="굴림"/>
                <a:ea typeface="굴림"/>
                <a:cs typeface="굴림"/>
              </a:rPr>
              <a:t>소비전력</a:t>
            </a:r>
            <a:endParaRPr lang="en-US" sz="1100"/>
          </a:p>
        </p:txBody>
      </p:sp>
      <p:sp>
        <p:nvSpPr>
          <p:cNvPr id="40" name="Text 32"/>
          <p:cNvSpPr/>
          <p:nvPr/>
        </p:nvSpPr>
        <p:spPr>
          <a:xfrm>
            <a:off x="7973568" y="4507992"/>
            <a:ext cx="3376879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0B2D6"/>
                </a:solidFill>
                <a:latin typeface="굴림"/>
                <a:ea typeface="굴림"/>
                <a:cs typeface="굴림"/>
              </a:rPr>
              <a:t>경쟁사 대비 −75%</a:t>
            </a:r>
            <a:endParaRPr lang="en-US" sz="1600"/>
          </a:p>
        </p:txBody>
      </p:sp>
      <p:sp>
        <p:nvSpPr>
          <p:cNvPr id="41" name="Shape 33"/>
          <p:cNvSpPr/>
          <p:nvPr/>
        </p:nvSpPr>
        <p:spPr>
          <a:xfrm>
            <a:off x="7973568" y="4910328"/>
            <a:ext cx="3376879" cy="0"/>
          </a:xfrm>
          <a:prstGeom prst="line">
            <a:avLst/>
          </a:prstGeom>
          <a:noFill/>
          <a:ln w="12700">
            <a:solidFill>
              <a:srgbClr val="1E3A66"/>
            </a:solidFill>
            <a:prstDash val="solid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2" name="Text 34"/>
          <p:cNvSpPr/>
          <p:nvPr/>
        </p:nvSpPr>
        <p:spPr>
          <a:xfrm>
            <a:off x="7973568" y="4946904"/>
            <a:ext cx="3376879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8FB0E0"/>
                </a:solidFill>
                <a:latin typeface="굴림"/>
                <a:ea typeface="굴림"/>
                <a:cs typeface="굴림"/>
              </a:rPr>
              <a:t>원가</a:t>
            </a:r>
            <a:endParaRPr lang="en-US" sz="1100"/>
          </a:p>
        </p:txBody>
      </p:sp>
      <p:sp>
        <p:nvSpPr>
          <p:cNvPr id="43" name="Text 35"/>
          <p:cNvSpPr/>
          <p:nvPr/>
        </p:nvSpPr>
        <p:spPr>
          <a:xfrm>
            <a:off x="7973568" y="5184648"/>
            <a:ext cx="3376879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0B2D6"/>
                </a:solidFill>
                <a:latin typeface="굴림"/>
                <a:ea typeface="굴림"/>
                <a:cs typeface="굴림"/>
              </a:rPr>
              <a:t>−50% 절감</a:t>
            </a:r>
            <a:endParaRPr lang="en-US" sz="1600"/>
          </a:p>
        </p:txBody>
      </p:sp>
      <p:sp>
        <p:nvSpPr>
          <p:cNvPr id="44" name="Shape 36"/>
          <p:cNvSpPr/>
          <p:nvPr/>
        </p:nvSpPr>
        <p:spPr>
          <a:xfrm>
            <a:off x="7973568" y="5586984"/>
            <a:ext cx="3376879" cy="0"/>
          </a:xfrm>
          <a:prstGeom prst="line">
            <a:avLst/>
          </a:prstGeom>
          <a:noFill/>
          <a:ln w="12700">
            <a:solidFill>
              <a:srgbClr val="1E3A66"/>
            </a:solidFill>
            <a:prstDash val="solid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5" name="Text 37"/>
          <p:cNvSpPr/>
          <p:nvPr/>
        </p:nvSpPr>
        <p:spPr>
          <a:xfrm>
            <a:off x="7973568" y="5623560"/>
            <a:ext cx="3376879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8FB0E0"/>
                </a:solidFill>
                <a:latin typeface="굴림"/>
                <a:ea typeface="굴림"/>
                <a:cs typeface="굴림"/>
              </a:rPr>
              <a:t>수율 우위</a:t>
            </a:r>
            <a:endParaRPr lang="en-US" sz="1100"/>
          </a:p>
        </p:txBody>
      </p:sp>
      <p:sp>
        <p:nvSpPr>
          <p:cNvPr id="46" name="Text 38"/>
          <p:cNvSpPr/>
          <p:nvPr/>
        </p:nvSpPr>
        <p:spPr>
          <a:xfrm>
            <a:off x="7973568" y="5861304"/>
            <a:ext cx="3376879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00B2D6"/>
                </a:solidFill>
                <a:latin typeface="굴림"/>
                <a:ea typeface="굴림"/>
                <a:cs typeface="굴림"/>
              </a:rPr>
              <a:t>+30%p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8050" y="0"/>
            <a:ext cx="6989463" cy="6858000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433573" y="3756936"/>
            <a:ext cx="1354455" cy="22260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900" b="1" i="0" strike="noStrike">
                <a:solidFill>
                  <a:srgbClr val="FF0000"/>
                </a:solidFill>
                <a:latin typeface="Arial"/>
                <a:ea typeface="&amp;quot"/>
              </a:rPr>
              <a:t>백플레인 (회로층, 두뇌</a:t>
            </a:r>
            <a:r>
              <a:rPr lang="en-US" altLang="ko-KR" sz="900" b="1" i="0" strike="noStrike">
                <a:solidFill>
                  <a:srgbClr val="FF0000"/>
                </a:solidFill>
                <a:latin typeface="Arial"/>
                <a:ea typeface="&amp;quot"/>
              </a:rPr>
              <a:t>)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554238" y="4447838"/>
            <a:ext cx="6649378" cy="241016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7007513" y="0"/>
            <a:ext cx="5184182" cy="44478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33856" y="42062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기업 개요</a:t>
            </a:r>
            <a:endParaRPr lang="en-US" sz="1200" dirty="0"/>
          </a:p>
        </p:txBody>
      </p:sp>
      <p:pic>
        <p:nvPicPr>
          <p:cNvPr id="5" name="Image 0" descr="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7135" y="384048"/>
            <a:ext cx="1627632" cy="4790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기술 경쟁력 · 글로벌 경쟁사 비교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66928" y="14447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픽셀 피치·전력·원가 전 영역에서 글로벌 최고 수준의 기술 격차 확보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AA4B4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Sapien Semiconductors  |  KOSDAQ 452430  |  Investment Analysis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B4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6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" y="2020824"/>
            <a:ext cx="6766560" cy="4379976"/>
          </a:xfrm>
          <a:prstGeom prst="roundRect">
            <a:avLst>
              <a:gd name="adj" fmla="val 1670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04672" y="218541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경쟁사 기술 비교</a:t>
            </a:r>
            <a:endParaRPr lang="en-US" sz="14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" y="2587752"/>
          <a:ext cx="630936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구분</a:t>
                      </a:r>
                      <a:endParaRPr lang="en-US" sz="10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E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사피엔반도체</a:t>
                      </a:r>
                      <a:endParaRPr lang="en-US" sz="10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E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JBD(중국)</a:t>
                      </a:r>
                      <a:endParaRPr lang="en-US" sz="10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E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라온텍(한)</a:t>
                      </a:r>
                      <a:endParaRPr lang="en-US" sz="10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E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Jasper(미)</a:t>
                      </a:r>
                      <a:endParaRPr lang="en-US" sz="10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E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픽셀 피치</a:t>
                      </a:r>
                      <a:endParaRPr lang="en-US" sz="10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C56B8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2.5μm ★</a:t>
                      </a:r>
                      <a:endParaRPr lang="en-US" sz="10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4μm</a:t>
                      </a:r>
                      <a:endParaRPr lang="en-US" sz="10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3~5μm</a:t>
                      </a:r>
                      <a:endParaRPr lang="en-US" sz="10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OLEDoS</a:t>
                      </a:r>
                      <a:endParaRPr lang="en-US" sz="10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소비전력</a:t>
                      </a:r>
                      <a:endParaRPr lang="en-US" sz="10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C56B8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최저 −75% ★</a:t>
                      </a:r>
                      <a:endParaRPr lang="en-US" sz="10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기준</a:t>
                      </a:r>
                      <a:endParaRPr lang="en-US" sz="10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유사</a:t>
                      </a:r>
                      <a:endParaRPr lang="en-US" sz="10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비교불가</a:t>
                      </a:r>
                      <a:endParaRPr lang="en-US" sz="10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원가경쟁력</a:t>
                      </a:r>
                      <a:endParaRPr lang="en-US" sz="10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C56B8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50% 절감 ★</a:t>
                      </a:r>
                      <a:endParaRPr lang="en-US" sz="10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기준</a:t>
                      </a:r>
                      <a:endParaRPr lang="en-US" sz="10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유사</a:t>
                      </a:r>
                      <a:endParaRPr lang="en-US" sz="10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비교불가</a:t>
                      </a:r>
                      <a:endParaRPr lang="en-US" sz="10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기술 수준</a:t>
                      </a:r>
                      <a:endParaRPr lang="en-US" sz="10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C56B8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세계 최고 ★</a:t>
                      </a:r>
                      <a:endParaRPr lang="en-US" sz="10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2세대 격차</a:t>
                      </a:r>
                      <a:endParaRPr lang="en-US" sz="10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직접경쟁</a:t>
                      </a:r>
                      <a:endParaRPr lang="en-US" sz="10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41C2C"/>
                          </a:solidFill>
                          <a:latin typeface="Gulim" pitchFamily="34" charset="0"/>
                          <a:ea typeface="Gulim" pitchFamily="34" charset="-122"/>
                          <a:cs typeface="Gulim" pitchFamily="34" charset="-120"/>
                        </a:rPr>
                        <a:t>OLEDoS 특화</a:t>
                      </a:r>
                      <a:endParaRPr lang="en-US" sz="1050" dirty="0">
                        <a:latin typeface="Gulim" charset="0"/>
                        <a:ea typeface="Gulim" charset="0"/>
                        <a:cs typeface="Gulim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804672" y="5879592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※ 중국 경쟁사 대비 2~5년 기술 격차 · MiP 원천특허 기반 법적 진입장벽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562088" y="2020824"/>
            <a:ext cx="4062679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</p:sp>
      <p:pic>
        <p:nvPicPr>
          <p:cNvPr id="15" name="Image 1" descr="ic_pat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1544" y="2221992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02168" y="2185416"/>
            <a:ext cx="32397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특허 &amp; 기술 장벽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7781544" y="2624328"/>
            <a:ext cx="364205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150개+ 특허 포트폴리오 보유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MiP(Memory Inside Pixel) 원천 특허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글로벌 70+ 기업 NDA 체결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7562088" y="3776472"/>
            <a:ext cx="4062679" cy="2624328"/>
          </a:xfrm>
          <a:prstGeom prst="roundRect">
            <a:avLst>
              <a:gd name="adj" fmla="val 278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</p:sp>
      <p:pic>
        <p:nvPicPr>
          <p:cNvPr id="19" name="Image 2" descr="ic_indust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1544" y="3977640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202168" y="3941064"/>
            <a:ext cx="32397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대형 DDIC 사업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7781544" y="4379976"/>
            <a:ext cx="3642055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TV·사이니지·XR 대형 패널 구동 칩셋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FALD-BLU(Full Array Local Dimming) 제어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Multi-bit MIP + PWM 구동 MPD 기술 적용</a:t>
            </a:r>
            <a:endParaRPr lang="en-US" sz="11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Sony·Macroblock 등 글로벌사와 직접 경쟁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0287" y="457200"/>
            <a:ext cx="1554480" cy="4575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1828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B2D6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CHAPTER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66928" y="210312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1A336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02</a:t>
            </a:r>
            <a:endParaRPr lang="en-US" sz="9600" dirty="0"/>
          </a:p>
        </p:txBody>
      </p:sp>
      <p:pic>
        <p:nvPicPr>
          <p:cNvPr id="5" name="Image 1" descr="ic_idea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0048" y="2331720"/>
            <a:ext cx="822960" cy="8229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675888" y="23317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투자 아이디어</a:t>
            </a:r>
            <a:endParaRPr lang="en-US" sz="4000" dirty="0"/>
          </a:p>
        </p:txBody>
      </p:sp>
      <p:sp>
        <p:nvSpPr>
          <p:cNvPr id="7" name="Text 3"/>
          <p:cNvSpPr/>
          <p:nvPr/>
        </p:nvSpPr>
        <p:spPr>
          <a:xfrm>
            <a:off x="3703320" y="31546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FB0E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Investment Thesis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66928" y="4434840"/>
            <a:ext cx="2558720" cy="868680"/>
          </a:xfrm>
          <a:prstGeom prst="roundRect">
            <a:avLst>
              <a:gd name="adj" fmla="val 8421"/>
            </a:avLst>
          </a:prstGeom>
          <a:solidFill>
            <a:srgbClr val="14233F"/>
          </a:solidFill>
          <a:ln w="12700">
            <a:solidFill>
              <a:srgbClr val="23406E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4434840"/>
            <a:ext cx="2229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7E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2026 흑자전환 · 폭발적 실적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3399968" y="4434840"/>
            <a:ext cx="2558720" cy="868680"/>
          </a:xfrm>
          <a:prstGeom prst="roundRect">
            <a:avLst>
              <a:gd name="adj" fmla="val 8421"/>
            </a:avLst>
          </a:prstGeom>
          <a:solidFill>
            <a:srgbClr val="14233F"/>
          </a:solidFill>
          <a:ln w="12700">
            <a:solidFill>
              <a:srgbClr val="23406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564560" y="4434840"/>
            <a:ext cx="2229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7E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NRE→양산 이익 레버리지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233008" y="4434840"/>
            <a:ext cx="2558720" cy="868680"/>
          </a:xfrm>
          <a:prstGeom prst="roundRect">
            <a:avLst>
              <a:gd name="adj" fmla="val 8421"/>
            </a:avLst>
          </a:prstGeom>
          <a:solidFill>
            <a:srgbClr val="14233F"/>
          </a:solidFill>
          <a:ln w="12700">
            <a:solidFill>
              <a:srgbClr val="23406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397600" y="4434840"/>
            <a:ext cx="2229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7E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AR 글래스 시장 최대 수혜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9066047" y="4434840"/>
            <a:ext cx="2558720" cy="868680"/>
          </a:xfrm>
          <a:prstGeom prst="roundRect">
            <a:avLst>
              <a:gd name="adj" fmla="val 8421"/>
            </a:avLst>
          </a:prstGeom>
          <a:solidFill>
            <a:srgbClr val="14233F"/>
          </a:solidFill>
          <a:ln w="12700">
            <a:solidFill>
              <a:srgbClr val="23406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230639" y="4434840"/>
            <a:ext cx="2229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7E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원천특허 기반 강력한 해자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AA4B4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Sapien Semiconductors  |  KOSDAQ 452430  |  Investment Analysis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B4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66928" y="42062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굴림"/>
                <a:ea typeface="굴림"/>
                <a:cs typeface="굴림"/>
              </a:rPr>
              <a:t>2</a:t>
            </a:r>
            <a:endParaRPr lang="en-US" sz="1500"/>
          </a:p>
        </p:txBody>
      </p:sp>
      <p:sp>
        <p:nvSpPr>
          <p:cNvPr id="4" name="Text 2"/>
          <p:cNvSpPr/>
          <p:nvPr/>
        </p:nvSpPr>
        <p:spPr>
          <a:xfrm>
            <a:off x="1133856" y="42062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1200" b="1" kern="0" spc="200">
                <a:solidFill>
                  <a:srgbClr val="1C56B8"/>
                </a:solidFill>
                <a:latin typeface="굴림"/>
                <a:ea typeface="굴림"/>
                <a:cs typeface="굴림"/>
              </a:rPr>
              <a:t>투자 아이디어</a:t>
            </a:r>
            <a:endParaRPr lang="en-US" sz="1200"/>
          </a:p>
        </p:txBody>
      </p:sp>
      <p:pic>
        <p:nvPicPr>
          <p:cNvPr id="5" name="Image 0" descr="logo_light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997135" y="384048"/>
            <a:ext cx="1627632" cy="4790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실적 전환 · 적자에서 흑자로</a:t>
            </a:r>
            <a:endParaRPr lang="en-US" sz="3000"/>
          </a:p>
        </p:txBody>
      </p:sp>
      <p:sp>
        <p:nvSpPr>
          <p:cNvPr id="7" name="Text 4"/>
          <p:cNvSpPr/>
          <p:nvPr/>
        </p:nvSpPr>
        <p:spPr>
          <a:xfrm>
            <a:off x="566928" y="14447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135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NRE 매출 확대와 양산 전환으로 2026년 흑자전환, 폭발적 외형 성장 전망</a:t>
            </a:r>
            <a:endParaRPr lang="en-US" sz="1350"/>
          </a:p>
        </p:txBody>
      </p:sp>
      <p:sp>
        <p:nvSpPr>
          <p:cNvPr id="8" name="Text 5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9AA4B4"/>
                </a:solidFill>
                <a:latin typeface="굴림"/>
                <a:ea typeface="굴림"/>
                <a:cs typeface="굴림"/>
              </a:rPr>
              <a:t>Sapien Semiconductors  |  KOSDAQ 452430  |  Investment Analysis</a:t>
            </a:r>
            <a:endParaRPr lang="en-US" sz="850"/>
          </a:p>
        </p:txBody>
      </p:sp>
      <p:sp>
        <p:nvSpPr>
          <p:cNvPr id="9" name="Text 6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9AA4B4"/>
                </a:solidFill>
                <a:latin typeface="굴림"/>
                <a:ea typeface="굴림"/>
                <a:cs typeface="굴림"/>
              </a:rPr>
              <a:t>8</a:t>
            </a:r>
            <a:endParaRPr lang="en-US" sz="900"/>
          </a:p>
        </p:txBody>
      </p:sp>
      <p:sp>
        <p:nvSpPr>
          <p:cNvPr id="10" name="Shape 7"/>
          <p:cNvSpPr/>
          <p:nvPr/>
        </p:nvSpPr>
        <p:spPr>
          <a:xfrm>
            <a:off x="566928" y="2020824"/>
            <a:ext cx="5760720" cy="4379976"/>
          </a:xfrm>
          <a:prstGeom prst="roundRect">
            <a:avLst>
              <a:gd name="adj" fmla="val 1670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804672" y="218541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매출액 추이 (억원)</a:t>
            </a:r>
            <a:endParaRPr lang="en-US" sz="1450"/>
          </a:p>
        </p:txBody>
      </p:sp>
      <p:graphicFrame>
        <p:nvGraphicFramePr>
          <p:cNvPr id="12" name="Chart 0"/>
          <p:cNvGraphicFramePr/>
          <p:nvPr/>
        </p:nvGraphicFramePr>
        <p:xfrm>
          <a:off x="704088" y="2569464"/>
          <a:ext cx="5486400" cy="36210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Shape 9"/>
          <p:cNvSpPr/>
          <p:nvPr/>
        </p:nvSpPr>
        <p:spPr>
          <a:xfrm>
            <a:off x="6556248" y="2020824"/>
            <a:ext cx="5068519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4" name="Text 10"/>
          <p:cNvSpPr/>
          <p:nvPr/>
        </p:nvSpPr>
        <p:spPr>
          <a:xfrm>
            <a:off x="6775704" y="2185416"/>
            <a:ext cx="4702759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상세 손익 (억원)</a:t>
            </a:r>
            <a:endParaRPr lang="en-US" sz="1350"/>
          </a:p>
        </p:txBody>
      </p:sp>
      <p:graphicFrame>
        <p:nvGraphicFramePr>
          <p:cNvPr id="25" name="Table 0"/>
          <p:cNvGraphicFramePr>
            <a:graphicFrameLocks noGrp="1"/>
          </p:cNvGraphicFramePr>
          <p:nvPr/>
        </p:nvGraphicFramePr>
        <p:xfrm>
          <a:off x="6775704" y="2569464"/>
          <a:ext cx="4663440" cy="1536192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굴림"/>
                          <a:ea typeface="굴림"/>
                          <a:cs typeface="굴림"/>
                        </a:rPr>
                        <a:t>항목</a:t>
                      </a:r>
                      <a:endParaRPr lang="en-US" sz="100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E2E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굴림"/>
                          <a:ea typeface="굴림"/>
                          <a:cs typeface="굴림"/>
                        </a:rPr>
                        <a:t>'24A</a:t>
                      </a:r>
                      <a:endParaRPr lang="en-US" sz="100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E2E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굴림"/>
                          <a:ea typeface="굴림"/>
                          <a:cs typeface="굴림"/>
                        </a:rPr>
                        <a:t>'25A</a:t>
                      </a:r>
                      <a:endParaRPr lang="en-US" sz="100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E2E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굴림"/>
                          <a:ea typeface="굴림"/>
                          <a:cs typeface="굴림"/>
                        </a:rPr>
                        <a:t>'26E</a:t>
                      </a:r>
                      <a:endParaRPr lang="en-US" sz="100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E2E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굴림"/>
                          <a:ea typeface="굴림"/>
                          <a:cs typeface="굴림"/>
                        </a:rPr>
                        <a:t>'27E</a:t>
                      </a:r>
                      <a:endParaRPr lang="en-US" sz="100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E2E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굴림"/>
                          <a:ea typeface="굴림"/>
                          <a:cs typeface="굴림"/>
                        </a:rPr>
                        <a:t>'28E</a:t>
                      </a:r>
                      <a:endParaRPr lang="en-US" sz="100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E2E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05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매출액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80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173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352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957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2,915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05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영업손익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>
                          <a:solidFill>
                            <a:srgbClr val="D64550"/>
                          </a:solidFill>
                          <a:latin typeface="굴림"/>
                          <a:ea typeface="굴림"/>
                          <a:cs typeface="굴림"/>
                        </a:rPr>
                        <a:t>-34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>
                          <a:solidFill>
                            <a:srgbClr val="D64550"/>
                          </a:solidFill>
                          <a:latin typeface="굴림"/>
                          <a:ea typeface="굴림"/>
                          <a:cs typeface="굴림"/>
                        </a:rPr>
                        <a:t>-46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>
                          <a:solidFill>
                            <a:srgbClr val="D64550"/>
                          </a:solidFill>
                          <a:latin typeface="굴림"/>
                          <a:ea typeface="굴림"/>
                          <a:cs typeface="굴림"/>
                        </a:rPr>
                        <a:t>+24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>
                          <a:solidFill>
                            <a:srgbClr val="D64550"/>
                          </a:solidFill>
                          <a:latin typeface="굴림"/>
                          <a:ea typeface="굴림"/>
                          <a:cs typeface="굴림"/>
                        </a:rPr>
                        <a:t>+168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 b="1">
                          <a:solidFill>
                            <a:srgbClr val="1F9E5A"/>
                          </a:solidFill>
                          <a:latin typeface="굴림"/>
                          <a:ea typeface="굴림"/>
                          <a:cs typeface="굴림"/>
                        </a:rPr>
                        <a:t>+574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05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순손익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>
                          <a:solidFill>
                            <a:srgbClr val="D64550"/>
                          </a:solidFill>
                          <a:latin typeface="굴림"/>
                          <a:ea typeface="굴림"/>
                          <a:cs typeface="굴림"/>
                        </a:rPr>
                        <a:t>-171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>
                          <a:solidFill>
                            <a:srgbClr val="D64550"/>
                          </a:solidFill>
                          <a:latin typeface="굴림"/>
                          <a:ea typeface="굴림"/>
                          <a:cs typeface="굴림"/>
                        </a:rPr>
                        <a:t>-48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>
                          <a:solidFill>
                            <a:srgbClr val="D64550"/>
                          </a:solidFill>
                          <a:latin typeface="굴림"/>
                          <a:ea typeface="굴림"/>
                          <a:cs typeface="굴림"/>
                        </a:rPr>
                        <a:t>+34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>
                          <a:solidFill>
                            <a:srgbClr val="D64550"/>
                          </a:solidFill>
                          <a:latin typeface="굴림"/>
                          <a:ea typeface="굴림"/>
                          <a:cs typeface="굴림"/>
                        </a:rPr>
                        <a:t>+160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 b="1">
                          <a:solidFill>
                            <a:srgbClr val="1F9E5A"/>
                          </a:solidFill>
                          <a:latin typeface="굴림"/>
                          <a:ea typeface="굴림"/>
                          <a:cs typeface="굴림"/>
                        </a:rPr>
                        <a:t>+506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Text 11"/>
          <p:cNvSpPr/>
          <p:nvPr/>
        </p:nvSpPr>
        <p:spPr>
          <a:xfrm>
            <a:off x="6775704" y="4160520"/>
            <a:ext cx="4629607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1F9E5A"/>
                </a:solidFill>
                <a:latin typeface="굴림"/>
                <a:ea typeface="굴림"/>
                <a:cs typeface="굴림"/>
              </a:rPr>
              <a:t>2026E 영업이익 +24억 — 첫 흑자전환</a:t>
            </a:r>
            <a:endParaRPr lang="en-US" sz="1100"/>
          </a:p>
        </p:txBody>
      </p:sp>
      <p:sp>
        <p:nvSpPr>
          <p:cNvPr id="17" name="Shape 12"/>
          <p:cNvSpPr/>
          <p:nvPr/>
        </p:nvSpPr>
        <p:spPr>
          <a:xfrm>
            <a:off x="6556248" y="4626864"/>
            <a:ext cx="23971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8" name="Text 13"/>
          <p:cNvSpPr/>
          <p:nvPr/>
        </p:nvSpPr>
        <p:spPr>
          <a:xfrm>
            <a:off x="6647688" y="4736592"/>
            <a:ext cx="2214220" cy="56692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2600" b="1">
                <a:solidFill>
                  <a:srgbClr val="1C56B8"/>
                </a:solidFill>
                <a:latin typeface="굴림"/>
                <a:ea typeface="굴림"/>
                <a:cs typeface="굴림"/>
              </a:rPr>
              <a:t>+103%</a:t>
            </a:r>
            <a:endParaRPr lang="en-US" sz="2600"/>
          </a:p>
        </p:txBody>
      </p:sp>
      <p:sp>
        <p:nvSpPr>
          <p:cNvPr id="19" name="Text 14"/>
          <p:cNvSpPr/>
          <p:nvPr/>
        </p:nvSpPr>
        <p:spPr>
          <a:xfrm>
            <a:off x="6647688" y="5303520"/>
            <a:ext cx="2214220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2026E 매출 YoY</a:t>
            </a:r>
            <a:endParaRPr lang="en-US" sz="1100"/>
          </a:p>
        </p:txBody>
      </p:sp>
      <p:sp>
        <p:nvSpPr>
          <p:cNvPr id="20" name="Shape 15"/>
          <p:cNvSpPr/>
          <p:nvPr/>
        </p:nvSpPr>
        <p:spPr>
          <a:xfrm>
            <a:off x="9227668" y="4626864"/>
            <a:ext cx="23971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Text 16"/>
          <p:cNvSpPr/>
          <p:nvPr/>
        </p:nvSpPr>
        <p:spPr>
          <a:xfrm>
            <a:off x="9319108" y="4736592"/>
            <a:ext cx="2214220" cy="56692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2600" b="1">
                <a:solidFill>
                  <a:srgbClr val="1F9E5A"/>
                </a:solidFill>
                <a:latin typeface="굴림"/>
                <a:ea typeface="굴림"/>
                <a:cs typeface="굴림"/>
              </a:rPr>
              <a:t>흑자전환</a:t>
            </a:r>
            <a:endParaRPr lang="en-US" sz="2600"/>
          </a:p>
        </p:txBody>
      </p:sp>
      <p:sp>
        <p:nvSpPr>
          <p:cNvPr id="22" name="Text 17"/>
          <p:cNvSpPr/>
          <p:nvPr/>
        </p:nvSpPr>
        <p:spPr>
          <a:xfrm>
            <a:off x="9319108" y="5303520"/>
            <a:ext cx="2214220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2026E 영업이익</a:t>
            </a:r>
            <a:endParaRPr lang="en-US" sz="1100"/>
          </a:p>
        </p:txBody>
      </p:sp>
      <p:sp>
        <p:nvSpPr>
          <p:cNvPr id="23" name="Shape 18"/>
          <p:cNvSpPr/>
          <p:nvPr/>
        </p:nvSpPr>
        <p:spPr>
          <a:xfrm>
            <a:off x="6556248" y="5833872"/>
            <a:ext cx="5068519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Text 19"/>
          <p:cNvSpPr/>
          <p:nvPr/>
        </p:nvSpPr>
        <p:spPr>
          <a:xfrm>
            <a:off x="6775704" y="5833872"/>
            <a:ext cx="4629607" cy="56692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영업이익률 </a:t>
            </a:r>
            <a:r>
              <a:rPr lang="en-US" sz="1400" b="1">
                <a:solidFill>
                  <a:srgbClr val="1C56B8"/>
                </a:solidFill>
                <a:latin typeface="굴림"/>
                <a:ea typeface="굴림"/>
                <a:cs typeface="굴림"/>
              </a:rPr>
              <a:t>-26.6% → 24.3%</a:t>
            </a:r>
            <a:r>
              <a:rPr lang="en-US" sz="110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  (2024A→2026E)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33856" y="42062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투자 아이디어</a:t>
            </a:r>
            <a:endParaRPr lang="en-US" sz="1200" dirty="0"/>
          </a:p>
        </p:txBody>
      </p:sp>
      <p:pic>
        <p:nvPicPr>
          <p:cNvPr id="5" name="Image 0" descr="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7135" y="384048"/>
            <a:ext cx="1627632" cy="4790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글로벌 NRE 계약 · 빅테크 4개권 선점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66928" y="14447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북미·중국·일본·유럽 4개 대륙 핵심 빅테크와 NRE 계약 체결 완료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AA4B4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Sapien Semiconductors  |  KOSDAQ 452430  |  Investment Analysis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B4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9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" y="2020824"/>
            <a:ext cx="2558720" cy="2468880"/>
          </a:xfrm>
          <a:prstGeom prst="roundRect">
            <a:avLst>
              <a:gd name="adj" fmla="val 2963"/>
            </a:avLst>
          </a:prstGeom>
          <a:solidFill>
            <a:srgbClr val="0B1830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86384" y="2221992"/>
            <a:ext cx="211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2D6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북미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86384" y="2624328"/>
            <a:ext cx="2119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캘리포니아 빅테크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86384" y="3099816"/>
            <a:ext cx="211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B0E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(메타 추정)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86384" y="3438144"/>
            <a:ext cx="211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0B2D6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120억원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786384" y="3959352"/>
            <a:ext cx="211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B0E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2024.08 ~ 2026.06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86384" y="4215384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1E3A66"/>
          </a:solidFill>
          <a:ln/>
        </p:spPr>
      </p:sp>
      <p:sp>
        <p:nvSpPr>
          <p:cNvPr id="17" name="Text 14"/>
          <p:cNvSpPr/>
          <p:nvPr/>
        </p:nvSpPr>
        <p:spPr>
          <a:xfrm>
            <a:off x="786384" y="421538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2D6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진행중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399968" y="2020824"/>
            <a:ext cx="25587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3619424" y="2221992"/>
            <a:ext cx="211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중국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619424" y="2624328"/>
            <a:ext cx="2119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JBD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3619424" y="3099816"/>
            <a:ext cx="211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(LEDoS 양산사)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3619424" y="3438144"/>
            <a:ext cx="211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58.7억원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3619424" y="3959352"/>
            <a:ext cx="211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2025.10 ~ 2026.09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619424" y="4215384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/>
        </p:spPr>
      </p:sp>
      <p:sp>
        <p:nvSpPr>
          <p:cNvPr id="25" name="Text 22"/>
          <p:cNvSpPr/>
          <p:nvPr/>
        </p:nvSpPr>
        <p:spPr>
          <a:xfrm>
            <a:off x="3619424" y="421538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진행중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233008" y="2020824"/>
            <a:ext cx="25587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452464" y="2221992"/>
            <a:ext cx="211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일본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452464" y="2624328"/>
            <a:ext cx="2119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일본 빅테크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6452464" y="3099816"/>
            <a:ext cx="211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(미공개)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6452464" y="3438144"/>
            <a:ext cx="211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41억원</a:t>
            </a:r>
            <a:endParaRPr lang="en-US" sz="2100" dirty="0"/>
          </a:p>
        </p:txBody>
      </p:sp>
      <p:sp>
        <p:nvSpPr>
          <p:cNvPr id="31" name="Text 28"/>
          <p:cNvSpPr/>
          <p:nvPr/>
        </p:nvSpPr>
        <p:spPr>
          <a:xfrm>
            <a:off x="6452464" y="3959352"/>
            <a:ext cx="211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2025.04 ~ 2026.09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452464" y="4215384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/>
        </p:spPr>
      </p:sp>
      <p:sp>
        <p:nvSpPr>
          <p:cNvPr id="33" name="Text 30"/>
          <p:cNvSpPr/>
          <p:nvPr/>
        </p:nvSpPr>
        <p:spPr>
          <a:xfrm>
            <a:off x="6452464" y="421538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진행중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9066047" y="2020824"/>
            <a:ext cx="25587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9285503" y="2221992"/>
            <a:ext cx="211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유럽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285503" y="2624328"/>
            <a:ext cx="2119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유럽 OEM사</a:t>
            </a:r>
            <a:endParaRPr lang="en-US" sz="1350" dirty="0"/>
          </a:p>
        </p:txBody>
      </p:sp>
      <p:sp>
        <p:nvSpPr>
          <p:cNvPr id="37" name="Text 34"/>
          <p:cNvSpPr/>
          <p:nvPr/>
        </p:nvSpPr>
        <p:spPr>
          <a:xfrm>
            <a:off x="9285503" y="3099816"/>
            <a:ext cx="211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(미공개)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9285503" y="3438144"/>
            <a:ext cx="211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미공개</a:t>
            </a:r>
            <a:endParaRPr lang="en-US" sz="2100" dirty="0"/>
          </a:p>
        </p:txBody>
      </p:sp>
      <p:sp>
        <p:nvSpPr>
          <p:cNvPr id="39" name="Text 36"/>
          <p:cNvSpPr/>
          <p:nvPr/>
        </p:nvSpPr>
        <p:spPr>
          <a:xfrm>
            <a:off x="9285503" y="3959352"/>
            <a:ext cx="211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2025년 체결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9285503" y="4215384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/>
        </p:spPr>
      </p:sp>
      <p:sp>
        <p:nvSpPr>
          <p:cNvPr id="41" name="Text 38"/>
          <p:cNvSpPr/>
          <p:nvPr/>
        </p:nvSpPr>
        <p:spPr>
          <a:xfrm>
            <a:off x="9285503" y="421538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진행중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66928" y="4718304"/>
            <a:ext cx="11057839" cy="1682496"/>
          </a:xfrm>
          <a:prstGeom prst="roundRect">
            <a:avLst>
              <a:gd name="adj" fmla="val 4348"/>
            </a:avLst>
          </a:prstGeom>
          <a:solidFill>
            <a:srgbClr val="EAF1FB"/>
          </a:solidFill>
          <a:ln w="12700">
            <a:solidFill>
              <a:srgbClr val="CBDDF6"/>
            </a:solidFill>
            <a:prstDash val="solid"/>
          </a:ln>
        </p:spPr>
      </p:sp>
      <p:pic>
        <p:nvPicPr>
          <p:cNvPr id="43" name="Image 1" descr="ic_ide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974336"/>
            <a:ext cx="384048" cy="384048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1435608" y="4882896"/>
            <a:ext cx="9960559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NRE (Non-Recurring Engineering)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신제품 초기개발비 계약. 기술 검증과 고객 인증을 거쳐 양산 전환 시 수십~수백배 규모의 제품 매출로 연결되는 사피엔의 핵심 성장 엔진.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66928" y="42062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굴림"/>
                <a:ea typeface="굴림"/>
                <a:cs typeface="굴림"/>
              </a:rPr>
              <a:t>2</a:t>
            </a:r>
            <a:endParaRPr lang="en-US" sz="1500"/>
          </a:p>
        </p:txBody>
      </p:sp>
      <p:sp>
        <p:nvSpPr>
          <p:cNvPr id="4" name="Text 2"/>
          <p:cNvSpPr/>
          <p:nvPr/>
        </p:nvSpPr>
        <p:spPr>
          <a:xfrm>
            <a:off x="1133856" y="42062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1200" b="1" kern="0" spc="200">
                <a:solidFill>
                  <a:srgbClr val="1C56B8"/>
                </a:solidFill>
                <a:latin typeface="굴림"/>
                <a:ea typeface="굴림"/>
                <a:cs typeface="굴림"/>
              </a:rPr>
              <a:t>투자 아이디어</a:t>
            </a:r>
            <a:endParaRPr lang="en-US" sz="1200"/>
          </a:p>
        </p:txBody>
      </p:sp>
      <p:pic>
        <p:nvPicPr>
          <p:cNvPr id="5" name="Image 0" descr="logo_light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997135" y="384048"/>
            <a:ext cx="1627632" cy="4790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AR 글래스 시장 성장 · 최대 수혜</a:t>
            </a:r>
            <a:endParaRPr lang="en-US" sz="3000"/>
          </a:p>
        </p:txBody>
      </p:sp>
      <p:sp>
        <p:nvSpPr>
          <p:cNvPr id="7" name="Text 4"/>
          <p:cNvSpPr/>
          <p:nvPr/>
        </p:nvSpPr>
        <p:spPr>
          <a:xfrm>
            <a:off x="566928" y="14447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135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메타·구글·삼성·애플의 AR 글래스 경쟁이 곧 사피엔 매출 성장으로 직결</a:t>
            </a:r>
            <a:endParaRPr lang="en-US" sz="1350"/>
          </a:p>
        </p:txBody>
      </p:sp>
      <p:sp>
        <p:nvSpPr>
          <p:cNvPr id="8" name="Text 5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9AA4B4"/>
                </a:solidFill>
                <a:latin typeface="굴림"/>
                <a:ea typeface="굴림"/>
                <a:cs typeface="굴림"/>
              </a:rPr>
              <a:t>Sapien Semiconductors  |  KOSDAQ 452430  |  Investment Analysis</a:t>
            </a:r>
            <a:endParaRPr lang="en-US" sz="850"/>
          </a:p>
        </p:txBody>
      </p:sp>
      <p:sp>
        <p:nvSpPr>
          <p:cNvPr id="9" name="Text 6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9AA4B4"/>
                </a:solidFill>
                <a:latin typeface="굴림"/>
                <a:ea typeface="굴림"/>
                <a:cs typeface="굴림"/>
              </a:rPr>
              <a:t>10</a:t>
            </a:r>
            <a:endParaRPr lang="en-US" sz="900"/>
          </a:p>
        </p:txBody>
      </p:sp>
      <p:sp>
        <p:nvSpPr>
          <p:cNvPr id="10" name="Shape 7"/>
          <p:cNvSpPr/>
          <p:nvPr/>
        </p:nvSpPr>
        <p:spPr>
          <a:xfrm>
            <a:off x="566928" y="2020824"/>
            <a:ext cx="5760720" cy="4379976"/>
          </a:xfrm>
          <a:prstGeom prst="roundRect">
            <a:avLst>
              <a:gd name="adj" fmla="val 1670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804672" y="2185416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Micro-LED 시장 성장 전망</a:t>
            </a:r>
            <a:endParaRPr lang="en-US" sz="1450"/>
          </a:p>
        </p:txBody>
      </p:sp>
      <p:graphicFrame>
        <p:nvGraphicFramePr>
          <p:cNvPr id="12" name="Chart 0"/>
          <p:cNvGraphicFramePr/>
          <p:nvPr/>
        </p:nvGraphicFramePr>
        <p:xfrm>
          <a:off x="658368" y="2569464"/>
          <a:ext cx="553212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Text 9"/>
          <p:cNvSpPr/>
          <p:nvPr/>
        </p:nvSpPr>
        <p:spPr>
          <a:xfrm>
            <a:off x="804672" y="4562856"/>
            <a:ext cx="2532888" cy="8686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2200" b="1">
                <a:solidFill>
                  <a:srgbClr val="1C56B8"/>
                </a:solidFill>
                <a:latin typeface="굴림"/>
                <a:ea typeface="굴림"/>
                <a:cs typeface="굴림"/>
              </a:rPr>
              <a:t>94% </a:t>
            </a:r>
            <a:r>
              <a:rPr lang="en-US" sz="120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CAGR</a:t>
            </a:r>
          </a:p>
          <a:p>
            <a:pPr marL="0" indent="0">
              <a:lnSpc>
                <a:spcPct val="105000"/>
              </a:lnSpc>
              <a:buNone/>
              <a:defRPr/>
            </a:pPr>
            <a:r>
              <a:rPr lang="en-US" sz="105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Micro-LED 디스플레이 ('25→'30)</a:t>
            </a:r>
            <a:endParaRPr lang="en-US" sz="2200"/>
          </a:p>
        </p:txBody>
      </p:sp>
      <p:sp>
        <p:nvSpPr>
          <p:cNvPr id="14" name="Text 10"/>
          <p:cNvSpPr/>
          <p:nvPr/>
        </p:nvSpPr>
        <p:spPr>
          <a:xfrm>
            <a:off x="3557016" y="4562856"/>
            <a:ext cx="2532888" cy="8686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2200" b="1">
                <a:solidFill>
                  <a:srgbClr val="00B2D6"/>
                </a:solidFill>
                <a:latin typeface="굴림"/>
                <a:ea typeface="굴림"/>
                <a:cs typeface="굴림"/>
              </a:rPr>
              <a:t>60% </a:t>
            </a:r>
            <a:r>
              <a:rPr lang="en-US" sz="120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CAGR</a:t>
            </a:r>
          </a:p>
          <a:p>
            <a:pPr marL="0" indent="0">
              <a:lnSpc>
                <a:spcPct val="105000"/>
              </a:lnSpc>
              <a:buNone/>
              <a:defRPr/>
            </a:pPr>
            <a:r>
              <a:rPr lang="en-US" sz="105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Micro-LED 구동칩 시장 ('25→'30)</a:t>
            </a:r>
            <a:endParaRPr lang="en-US" sz="2200"/>
          </a:p>
        </p:txBody>
      </p:sp>
      <p:sp>
        <p:nvSpPr>
          <p:cNvPr id="15" name="Shape 11"/>
          <p:cNvSpPr/>
          <p:nvPr/>
        </p:nvSpPr>
        <p:spPr>
          <a:xfrm>
            <a:off x="6556248" y="2020824"/>
            <a:ext cx="5068519" cy="4379976"/>
          </a:xfrm>
          <a:prstGeom prst="roundRect">
            <a:avLst>
              <a:gd name="adj" fmla="val 1670"/>
            </a:avLst>
          </a:prstGeom>
          <a:solidFill>
            <a:srgbClr val="0B1830"/>
          </a:solidFill>
          <a:ln/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6" name="Image 1" descr="ic_glasses_w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830568" y="2258568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379208" y="2258568"/>
            <a:ext cx="4062679" cy="42062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굴림"/>
                <a:ea typeface="굴림"/>
                <a:cs typeface="굴림"/>
              </a:rPr>
              <a:t>글로벌 빅테크 AR 글래스 출시 경쟁</a:t>
            </a:r>
            <a:endParaRPr lang="en-US" sz="1400"/>
          </a:p>
        </p:txBody>
      </p:sp>
      <p:sp>
        <p:nvSpPr>
          <p:cNvPr id="18" name="Shape 13"/>
          <p:cNvSpPr/>
          <p:nvPr/>
        </p:nvSpPr>
        <p:spPr>
          <a:xfrm>
            <a:off x="6830568" y="2889504"/>
            <a:ext cx="914400" cy="420624"/>
          </a:xfrm>
          <a:prstGeom prst="roundRect">
            <a:avLst>
              <a:gd name="adj" fmla="val 15217"/>
            </a:avLst>
          </a:prstGeom>
          <a:solidFill>
            <a:srgbClr val="1E3A66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9" name="Text 14"/>
          <p:cNvSpPr/>
          <p:nvPr/>
        </p:nvSpPr>
        <p:spPr>
          <a:xfrm>
            <a:off x="6830568" y="288950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00B2D6"/>
                </a:solidFill>
                <a:latin typeface="굴림"/>
                <a:ea typeface="굴림"/>
                <a:cs typeface="굴림"/>
              </a:rPr>
              <a:t>메타</a:t>
            </a:r>
            <a:endParaRPr lang="en-US" sz="1250"/>
          </a:p>
        </p:txBody>
      </p:sp>
      <p:sp>
        <p:nvSpPr>
          <p:cNvPr id="20" name="Text 15"/>
          <p:cNvSpPr/>
          <p:nvPr/>
        </p:nvSpPr>
        <p:spPr>
          <a:xfrm>
            <a:off x="7882128" y="2852928"/>
            <a:ext cx="3514039" cy="51206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en-US" sz="1050">
                <a:solidFill>
                  <a:srgbClr val="D7E2F4"/>
                </a:solidFill>
                <a:latin typeface="굴림"/>
                <a:ea typeface="굴림"/>
                <a:cs typeface="굴림"/>
              </a:rPr>
              <a:t>Ray-Ban 3세대(202</a:t>
            </a:r>
            <a:r>
              <a:rPr lang="en-US" altLang="ko-KR" sz="1050">
                <a:solidFill>
                  <a:srgbClr val="D7E2F4"/>
                </a:solidFill>
                <a:latin typeface="굴림"/>
                <a:ea typeface="굴림"/>
                <a:cs typeface="굴림"/>
              </a:rPr>
              <a:t>6</a:t>
            </a:r>
            <a:r>
              <a:rPr lang="en-US" sz="1050">
                <a:solidFill>
                  <a:srgbClr val="D7E2F4"/>
                </a:solidFill>
                <a:latin typeface="굴림"/>
                <a:ea typeface="굴림"/>
                <a:cs typeface="굴림"/>
              </a:rPr>
              <a:t>下) · Orion AR(2027, LEDoS 탑재)</a:t>
            </a:r>
          </a:p>
        </p:txBody>
      </p:sp>
      <p:sp>
        <p:nvSpPr>
          <p:cNvPr id="21" name="Shape 16"/>
          <p:cNvSpPr/>
          <p:nvPr/>
        </p:nvSpPr>
        <p:spPr>
          <a:xfrm>
            <a:off x="6830568" y="3493008"/>
            <a:ext cx="914400" cy="420624"/>
          </a:xfrm>
          <a:prstGeom prst="roundRect">
            <a:avLst>
              <a:gd name="adj" fmla="val 15217"/>
            </a:avLst>
          </a:prstGeom>
          <a:solidFill>
            <a:srgbClr val="1E3A66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2" name="Text 17"/>
          <p:cNvSpPr/>
          <p:nvPr/>
        </p:nvSpPr>
        <p:spPr>
          <a:xfrm>
            <a:off x="6830568" y="349300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00B2D6"/>
                </a:solidFill>
                <a:latin typeface="굴림"/>
                <a:ea typeface="굴림"/>
                <a:cs typeface="굴림"/>
              </a:rPr>
              <a:t>구글</a:t>
            </a:r>
            <a:endParaRPr lang="en-US" sz="1250"/>
          </a:p>
        </p:txBody>
      </p:sp>
      <p:sp>
        <p:nvSpPr>
          <p:cNvPr id="23" name="Text 18"/>
          <p:cNvSpPr/>
          <p:nvPr/>
        </p:nvSpPr>
        <p:spPr>
          <a:xfrm>
            <a:off x="7882128" y="3456432"/>
            <a:ext cx="3514039" cy="51206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en-US" sz="1050">
                <a:solidFill>
                  <a:srgbClr val="D7E2F4"/>
                </a:solidFill>
                <a:latin typeface="굴림"/>
                <a:ea typeface="굴림"/>
                <a:cs typeface="굴림"/>
              </a:rPr>
              <a:t>Gentle Monster 협업 글래스 2026 · LEDoS 채택 유력</a:t>
            </a:r>
            <a:endParaRPr lang="en-US" sz="1050"/>
          </a:p>
        </p:txBody>
      </p:sp>
      <p:sp>
        <p:nvSpPr>
          <p:cNvPr id="24" name="Shape 19"/>
          <p:cNvSpPr/>
          <p:nvPr/>
        </p:nvSpPr>
        <p:spPr>
          <a:xfrm>
            <a:off x="6830568" y="4096512"/>
            <a:ext cx="914400" cy="420624"/>
          </a:xfrm>
          <a:prstGeom prst="roundRect">
            <a:avLst>
              <a:gd name="adj" fmla="val 15217"/>
            </a:avLst>
          </a:prstGeom>
          <a:solidFill>
            <a:srgbClr val="1E3A66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5" name="Text 20"/>
          <p:cNvSpPr/>
          <p:nvPr/>
        </p:nvSpPr>
        <p:spPr>
          <a:xfrm>
            <a:off x="6830568" y="409651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00B2D6"/>
                </a:solidFill>
                <a:latin typeface="굴림"/>
                <a:ea typeface="굴림"/>
                <a:cs typeface="굴림"/>
              </a:rPr>
              <a:t>삼성</a:t>
            </a:r>
            <a:endParaRPr lang="en-US" sz="1250"/>
          </a:p>
        </p:txBody>
      </p:sp>
      <p:sp>
        <p:nvSpPr>
          <p:cNvPr id="26" name="Text 21"/>
          <p:cNvSpPr/>
          <p:nvPr/>
        </p:nvSpPr>
        <p:spPr>
          <a:xfrm>
            <a:off x="7882128" y="4059936"/>
            <a:ext cx="3514039" cy="51206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en-US" sz="1050">
                <a:solidFill>
                  <a:srgbClr val="D7E2F4"/>
                </a:solidFill>
                <a:latin typeface="굴림"/>
                <a:ea typeface="굴림"/>
                <a:cs typeface="굴림"/>
              </a:rPr>
              <a:t>Galaxy AI 글래스 준비 중</a:t>
            </a:r>
            <a:endParaRPr lang="en-US" sz="1050"/>
          </a:p>
        </p:txBody>
      </p:sp>
      <p:sp>
        <p:nvSpPr>
          <p:cNvPr id="27" name="Shape 22"/>
          <p:cNvSpPr/>
          <p:nvPr/>
        </p:nvSpPr>
        <p:spPr>
          <a:xfrm>
            <a:off x="6830568" y="4700016"/>
            <a:ext cx="914400" cy="420624"/>
          </a:xfrm>
          <a:prstGeom prst="roundRect">
            <a:avLst>
              <a:gd name="adj" fmla="val 15217"/>
            </a:avLst>
          </a:prstGeom>
          <a:solidFill>
            <a:srgbClr val="1E3A66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8" name="Text 23"/>
          <p:cNvSpPr/>
          <p:nvPr/>
        </p:nvSpPr>
        <p:spPr>
          <a:xfrm>
            <a:off x="6830568" y="4700016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00B2D6"/>
                </a:solidFill>
                <a:latin typeface="굴림"/>
                <a:ea typeface="굴림"/>
                <a:cs typeface="굴림"/>
              </a:rPr>
              <a:t>애플</a:t>
            </a:r>
            <a:endParaRPr lang="en-US" sz="1250"/>
          </a:p>
        </p:txBody>
      </p:sp>
      <p:sp>
        <p:nvSpPr>
          <p:cNvPr id="29" name="Text 24"/>
          <p:cNvSpPr/>
          <p:nvPr/>
        </p:nvSpPr>
        <p:spPr>
          <a:xfrm>
            <a:off x="7882128" y="4663440"/>
            <a:ext cx="3514039" cy="51206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en-US" sz="1050">
                <a:solidFill>
                  <a:srgbClr val="D7E2F4"/>
                </a:solidFill>
                <a:latin typeface="굴림"/>
                <a:ea typeface="굴림"/>
                <a:cs typeface="굴림"/>
              </a:rPr>
              <a:t>스마트글래스 2026~27 출시 예고</a:t>
            </a:r>
            <a:endParaRPr lang="en-US" sz="1050"/>
          </a:p>
        </p:txBody>
      </p:sp>
      <p:sp>
        <p:nvSpPr>
          <p:cNvPr id="30" name="Shape 25"/>
          <p:cNvSpPr/>
          <p:nvPr/>
        </p:nvSpPr>
        <p:spPr>
          <a:xfrm>
            <a:off x="6830568" y="5303520"/>
            <a:ext cx="914400" cy="420624"/>
          </a:xfrm>
          <a:prstGeom prst="roundRect">
            <a:avLst>
              <a:gd name="adj" fmla="val 15217"/>
            </a:avLst>
          </a:prstGeom>
          <a:solidFill>
            <a:srgbClr val="1E3A66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1" name="Text 26"/>
          <p:cNvSpPr/>
          <p:nvPr/>
        </p:nvSpPr>
        <p:spPr>
          <a:xfrm>
            <a:off x="6830568" y="530352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250" b="1">
                <a:solidFill>
                  <a:srgbClr val="00B2D6"/>
                </a:solidFill>
                <a:latin typeface="굴림"/>
                <a:ea typeface="굴림"/>
                <a:cs typeface="굴림"/>
              </a:rPr>
              <a:t>중국</a:t>
            </a:r>
            <a:endParaRPr lang="en-US" sz="1250"/>
          </a:p>
        </p:txBody>
      </p:sp>
      <p:sp>
        <p:nvSpPr>
          <p:cNvPr id="32" name="Text 27"/>
          <p:cNvSpPr/>
          <p:nvPr/>
        </p:nvSpPr>
        <p:spPr>
          <a:xfrm>
            <a:off x="7882128" y="5266944"/>
            <a:ext cx="3514039" cy="51206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en-US" sz="1050">
                <a:solidFill>
                  <a:srgbClr val="D7E2F4"/>
                </a:solidFill>
                <a:latin typeface="굴림"/>
                <a:ea typeface="굴림"/>
                <a:cs typeface="굴림"/>
              </a:rPr>
              <a:t>Alibaba Quark · TCL RayNeo X3 Pro 이미 출시</a:t>
            </a:r>
            <a:endParaRPr lang="en-US" sz="1050"/>
          </a:p>
        </p:txBody>
      </p:sp>
      <p:sp>
        <p:nvSpPr>
          <p:cNvPr id="33" name="Text 28"/>
          <p:cNvSpPr/>
          <p:nvPr/>
        </p:nvSpPr>
        <p:spPr>
          <a:xfrm>
            <a:off x="6830568" y="6035040"/>
            <a:ext cx="4519879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850" i="1">
                <a:solidFill>
                  <a:srgbClr val="6E84A8"/>
                </a:solidFill>
                <a:latin typeface="굴림"/>
                <a:ea typeface="굴림"/>
                <a:cs typeface="굴림"/>
              </a:rPr>
              <a:t>출처: Reportlinker · DSCC · UBI Research · Omdia · TrendForce</a:t>
            </a:r>
            <a:endParaRPr lang="en-US" sz="85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615640" y="3612460"/>
            <a:ext cx="5576054" cy="1781423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615640" y="0"/>
            <a:ext cx="5576055" cy="361245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0"/>
            <a:ext cx="6615640" cy="361246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0" y="3612460"/>
            <a:ext cx="6716648" cy="32455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66928" y="42062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굴림"/>
                <a:ea typeface="굴림"/>
                <a:cs typeface="굴림"/>
              </a:rPr>
              <a:t>2</a:t>
            </a:r>
            <a:endParaRPr lang="en-US" sz="1500"/>
          </a:p>
        </p:txBody>
      </p:sp>
      <p:sp>
        <p:nvSpPr>
          <p:cNvPr id="4" name="Text 2"/>
          <p:cNvSpPr/>
          <p:nvPr/>
        </p:nvSpPr>
        <p:spPr>
          <a:xfrm>
            <a:off x="1133856" y="42062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1200" b="1" kern="0" spc="200">
                <a:solidFill>
                  <a:srgbClr val="1C56B8"/>
                </a:solidFill>
                <a:latin typeface="굴림"/>
                <a:ea typeface="굴림"/>
                <a:cs typeface="굴림"/>
              </a:rPr>
              <a:t>투자 아이디어</a:t>
            </a:r>
            <a:endParaRPr lang="en-US" sz="1200"/>
          </a:p>
        </p:txBody>
      </p:sp>
      <p:pic>
        <p:nvPicPr>
          <p:cNvPr id="5" name="Image 0" descr="logo_light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997135" y="384048"/>
            <a:ext cx="1627632" cy="4790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경쟁 구도 · 글로벌 LEDoS 포지셔닝</a:t>
            </a:r>
            <a:endParaRPr lang="en-US" sz="3000"/>
          </a:p>
        </p:txBody>
      </p:sp>
      <p:sp>
        <p:nvSpPr>
          <p:cNvPr id="7" name="Text 4"/>
          <p:cNvSpPr/>
          <p:nvPr/>
        </p:nvSpPr>
        <p:spPr>
          <a:xfrm>
            <a:off x="566928" y="14447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135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원천특허·기술격차·선점 계약이 만들어내는 독보적 경쟁 우위</a:t>
            </a:r>
            <a:endParaRPr lang="en-US" sz="1350"/>
          </a:p>
        </p:txBody>
      </p:sp>
      <p:sp>
        <p:nvSpPr>
          <p:cNvPr id="8" name="Text 5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9AA4B4"/>
                </a:solidFill>
                <a:latin typeface="굴림"/>
                <a:ea typeface="굴림"/>
                <a:cs typeface="굴림"/>
              </a:rPr>
              <a:t>Sapien Semiconductors  |  KOSDAQ 452430  |  Investment Analysis</a:t>
            </a:r>
            <a:endParaRPr lang="en-US" sz="850"/>
          </a:p>
        </p:txBody>
      </p:sp>
      <p:sp>
        <p:nvSpPr>
          <p:cNvPr id="9" name="Text 6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9AA4B4"/>
                </a:solidFill>
                <a:latin typeface="굴림"/>
                <a:ea typeface="굴림"/>
                <a:cs typeface="굴림"/>
              </a:rPr>
              <a:t>11</a:t>
            </a:r>
            <a:endParaRPr lang="en-US" sz="900"/>
          </a:p>
        </p:txBody>
      </p:sp>
      <p:sp>
        <p:nvSpPr>
          <p:cNvPr id="10" name="Shape 7"/>
          <p:cNvSpPr/>
          <p:nvPr/>
        </p:nvSpPr>
        <p:spPr>
          <a:xfrm>
            <a:off x="566928" y="2020824"/>
            <a:ext cx="11057839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768096" y="2185416"/>
          <a:ext cx="9509760" cy="2414016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굴림"/>
                          <a:ea typeface="굴림"/>
                          <a:cs typeface="굴림"/>
                        </a:rPr>
                        <a:t>기업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E2E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굴림"/>
                          <a:ea typeface="굴림"/>
                          <a:cs typeface="굴림"/>
                        </a:rPr>
                        <a:t>국가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E2E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굴림"/>
                          <a:ea typeface="굴림"/>
                          <a:cs typeface="굴림"/>
                        </a:rPr>
                        <a:t>주력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E2E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굴림"/>
                          <a:ea typeface="굴림"/>
                          <a:cs typeface="굴림"/>
                        </a:rPr>
                        <a:t>픽셀 피치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E2E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굴림"/>
                          <a:ea typeface="굴림"/>
                          <a:cs typeface="굴림"/>
                        </a:rPr>
                        <a:t>기술 수준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E2E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굴림"/>
                          <a:ea typeface="굴림"/>
                          <a:cs typeface="굴림"/>
                        </a:rPr>
                        <a:t>특이사항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E2E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050" b="1">
                          <a:solidFill>
                            <a:srgbClr val="1C56B8"/>
                          </a:solidFill>
                          <a:latin typeface="굴림"/>
                          <a:ea typeface="굴림"/>
                          <a:cs typeface="굴림"/>
                        </a:rPr>
                        <a:t>사피엔반도체 ★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KR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LEDoS DDIC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 b="1">
                          <a:solidFill>
                            <a:srgbClr val="1C56B8"/>
                          </a:solidFill>
                          <a:latin typeface="굴림"/>
                          <a:ea typeface="굴림"/>
                          <a:cs typeface="굴림"/>
                        </a:rPr>
                        <a:t>2.5μm ★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 b="1">
                          <a:solidFill>
                            <a:srgbClr val="1C56B8"/>
                          </a:solidFill>
                          <a:latin typeface="굴림"/>
                          <a:ea typeface="굴림"/>
                          <a:cs typeface="굴림"/>
                        </a:rPr>
                        <a:t>세계 최고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A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MiP 원천특허 150+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05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JBD(중국)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CN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LEDoS 모듈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4μm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2세대 격차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NRE 파트너 관계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05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라온텍(한)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KR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µOLED·LEDoS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3~5μm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직접 경쟁사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AR/VR 모바일TV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05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Jasper(미)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US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µOLED BPL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OLEDoS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OLEDoS 특화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LEDoS 취약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05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Macroblock(대만)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TW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대형 LED DDIC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-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대형 전문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사이니지·TV용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66928" y="4901184"/>
            <a:ext cx="2558720" cy="1499616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68096" y="512064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EAF1FB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32" name="Image 1" descr="ic_patent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850392" y="5202936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53312" y="5084064"/>
            <a:ext cx="164432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원천특허 기술력</a:t>
            </a:r>
            <a:endParaRPr lang="en-US" sz="1250"/>
          </a:p>
        </p:txBody>
      </p:sp>
      <p:sp>
        <p:nvSpPr>
          <p:cNvPr id="16" name="Text 11"/>
          <p:cNvSpPr/>
          <p:nvPr/>
        </p:nvSpPr>
        <p:spPr>
          <a:xfrm>
            <a:off x="768096" y="5687568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10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MiP 기반 독보적 기술</a:t>
            </a:r>
            <a:endParaRPr lang="en-US" sz="1100"/>
          </a:p>
        </p:txBody>
      </p:sp>
      <p:sp>
        <p:nvSpPr>
          <p:cNvPr id="17" name="Shape 12"/>
          <p:cNvSpPr/>
          <p:nvPr/>
        </p:nvSpPr>
        <p:spPr>
          <a:xfrm>
            <a:off x="3399968" y="4901184"/>
            <a:ext cx="2558720" cy="1499616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8" name="Shape 13"/>
          <p:cNvSpPr/>
          <p:nvPr/>
        </p:nvSpPr>
        <p:spPr>
          <a:xfrm>
            <a:off x="3601136" y="512064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EAF1FB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9" name="Image 2" descr="ic_bolt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3683432" y="5202936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186352" y="5084064"/>
            <a:ext cx="164432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효율 우위</a:t>
            </a:r>
            <a:endParaRPr lang="en-US" sz="1250"/>
          </a:p>
        </p:txBody>
      </p:sp>
      <p:sp>
        <p:nvSpPr>
          <p:cNvPr id="21" name="Text 15"/>
          <p:cNvSpPr/>
          <p:nvPr/>
        </p:nvSpPr>
        <p:spPr>
          <a:xfrm>
            <a:off x="3601136" y="5687568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10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전력 75%·원가 50% 절감</a:t>
            </a:r>
            <a:endParaRPr lang="en-US" sz="1100"/>
          </a:p>
        </p:txBody>
      </p:sp>
      <p:sp>
        <p:nvSpPr>
          <p:cNvPr id="22" name="Shape 16"/>
          <p:cNvSpPr/>
          <p:nvPr/>
        </p:nvSpPr>
        <p:spPr>
          <a:xfrm>
            <a:off x="6233008" y="4901184"/>
            <a:ext cx="2558720" cy="1499616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3" name="Shape 17"/>
          <p:cNvSpPr/>
          <p:nvPr/>
        </p:nvSpPr>
        <p:spPr>
          <a:xfrm>
            <a:off x="6434176" y="512064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EAF1FB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24" name="Image 3" descr="ic_shiel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516472" y="5202936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019392" y="5084064"/>
            <a:ext cx="164432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기술 격차</a:t>
            </a:r>
            <a:endParaRPr lang="en-US" sz="1250"/>
          </a:p>
        </p:txBody>
      </p:sp>
      <p:sp>
        <p:nvSpPr>
          <p:cNvPr id="26" name="Text 19"/>
          <p:cNvSpPr/>
          <p:nvPr/>
        </p:nvSpPr>
        <p:spPr>
          <a:xfrm>
            <a:off x="6434176" y="5687568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10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중국 대비 2~5년 선행</a:t>
            </a:r>
            <a:endParaRPr lang="en-US" sz="1100"/>
          </a:p>
        </p:txBody>
      </p:sp>
      <p:sp>
        <p:nvSpPr>
          <p:cNvPr id="27" name="Shape 20"/>
          <p:cNvSpPr/>
          <p:nvPr/>
        </p:nvSpPr>
        <p:spPr>
          <a:xfrm>
            <a:off x="9066047" y="4901184"/>
            <a:ext cx="2558720" cy="1499616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8" name="Shape 21"/>
          <p:cNvSpPr/>
          <p:nvPr/>
        </p:nvSpPr>
        <p:spPr>
          <a:xfrm>
            <a:off x="9267215" y="512064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EAF1FB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29" name="Image 4" descr="ic_han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9349511" y="5202936"/>
            <a:ext cx="310896" cy="31089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852431" y="5084064"/>
            <a:ext cx="164432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선점 계약</a:t>
            </a:r>
            <a:endParaRPr lang="en-US" sz="1250"/>
          </a:p>
        </p:txBody>
      </p:sp>
      <p:sp>
        <p:nvSpPr>
          <p:cNvPr id="31" name="Text 23"/>
          <p:cNvSpPr/>
          <p:nvPr/>
        </p:nvSpPr>
        <p:spPr>
          <a:xfrm>
            <a:off x="9267215" y="5687568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10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빅테크 4개권 NRE 확보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33856" y="42062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투자 아이디어</a:t>
            </a:r>
            <a:endParaRPr lang="en-US" sz="1200" dirty="0"/>
          </a:p>
        </p:txBody>
      </p:sp>
      <p:pic>
        <p:nvPicPr>
          <p:cNvPr id="5" name="Image 0" descr="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7135" y="384048"/>
            <a:ext cx="1627632" cy="4790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밸류에이션 &amp; 핵심 투자 포인트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66928" y="14447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고위험·고수익 성장주 — 흑자전환 이후 이익 레버리지 본격화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AA4B4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Sapien Semiconductors  |  KOSDAQ 452430  |  Investment Analysis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B4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12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" y="2020824"/>
            <a:ext cx="26974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8368" y="213055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₩33,250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658368" y="269748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현재 주가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419856" y="2020824"/>
            <a:ext cx="26974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511296" y="213055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2,745억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3511296" y="269748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시가총액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272784" y="2020824"/>
            <a:ext cx="26974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364224" y="213055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79.45배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6364224" y="269748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2026E PER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125712" y="2020824"/>
            <a:ext cx="2499055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9217152" y="2130552"/>
            <a:ext cx="23161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9E5A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23.58%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9217152" y="2697480"/>
            <a:ext cx="2316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2026E ROE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66928" y="3300984"/>
            <a:ext cx="3503066" cy="3099816"/>
          </a:xfrm>
          <a:prstGeom prst="roundRect">
            <a:avLst>
              <a:gd name="adj" fmla="val 2360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86384" y="3520440"/>
            <a:ext cx="603504" cy="603504"/>
          </a:xfrm>
          <a:prstGeom prst="ellipse">
            <a:avLst/>
          </a:prstGeom>
          <a:solidFill>
            <a:srgbClr val="1C56B8"/>
          </a:solidFill>
          <a:ln/>
        </p:spPr>
      </p:sp>
      <p:sp>
        <p:nvSpPr>
          <p:cNvPr id="24" name="Text 21"/>
          <p:cNvSpPr/>
          <p:nvPr/>
        </p:nvSpPr>
        <p:spPr>
          <a:xfrm>
            <a:off x="786384" y="35204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1</a:t>
            </a:r>
            <a:endParaRPr lang="en-US" sz="2200" dirty="0"/>
          </a:p>
        </p:txBody>
      </p:sp>
      <p:pic>
        <p:nvPicPr>
          <p:cNvPr id="25" name="Image 1" descr="ic_glass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6762" y="3575304"/>
            <a:ext cx="457200" cy="4572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86384" y="4233672"/>
            <a:ext cx="30641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AR 시대 독점 핵심 부품사</a:t>
            </a:r>
            <a:endParaRPr lang="en-US" sz="1450" dirty="0"/>
          </a:p>
        </p:txBody>
      </p:sp>
      <p:sp>
        <p:nvSpPr>
          <p:cNvPr id="27" name="Text 23"/>
          <p:cNvSpPr/>
          <p:nvPr/>
        </p:nvSpPr>
        <p:spPr>
          <a:xfrm>
            <a:off x="786384" y="4928616"/>
            <a:ext cx="306415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메타·구글·삼성·애플 경쟁 시장에서 LEDoS CMOS Backplane 원천특허 보유. 시장 성장이 그대로 사피엔 매출 성장으로 연결.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4344314" y="3300984"/>
            <a:ext cx="3503066" cy="3099816"/>
          </a:xfrm>
          <a:prstGeom prst="roundRect">
            <a:avLst>
              <a:gd name="adj" fmla="val 2360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4563770" y="3520440"/>
            <a:ext cx="603504" cy="603504"/>
          </a:xfrm>
          <a:prstGeom prst="ellipse">
            <a:avLst/>
          </a:prstGeom>
          <a:solidFill>
            <a:srgbClr val="1C56B8"/>
          </a:solidFill>
          <a:ln/>
        </p:spPr>
      </p:sp>
      <p:sp>
        <p:nvSpPr>
          <p:cNvPr id="30" name="Text 26"/>
          <p:cNvSpPr/>
          <p:nvPr/>
        </p:nvSpPr>
        <p:spPr>
          <a:xfrm>
            <a:off x="4563770" y="35204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2</a:t>
            </a:r>
            <a:endParaRPr lang="en-US" sz="2200" dirty="0"/>
          </a:p>
        </p:txBody>
      </p:sp>
      <p:pic>
        <p:nvPicPr>
          <p:cNvPr id="31" name="Image 2" descr="ic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4149" y="3575304"/>
            <a:ext cx="457200" cy="45720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4563770" y="4233672"/>
            <a:ext cx="30641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2026~27 폭발적 실적 전환</a:t>
            </a:r>
            <a:endParaRPr lang="en-US" sz="1450" dirty="0"/>
          </a:p>
        </p:txBody>
      </p:sp>
      <p:sp>
        <p:nvSpPr>
          <p:cNvPr id="33" name="Text 28"/>
          <p:cNvSpPr/>
          <p:nvPr/>
        </p:nvSpPr>
        <p:spPr>
          <a:xfrm>
            <a:off x="4563770" y="4928616"/>
            <a:ext cx="306415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NRE→양산 전환으로 2026 흑자전환, 2027 매출 957억·영업이익 168억 전망. 팹리스 특성상 BEP 이후 이익 레버리지 매우 큼.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8121701" y="3300984"/>
            <a:ext cx="3503066" cy="3099816"/>
          </a:xfrm>
          <a:prstGeom prst="roundRect">
            <a:avLst>
              <a:gd name="adj" fmla="val 2360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8341157" y="3520440"/>
            <a:ext cx="603504" cy="603504"/>
          </a:xfrm>
          <a:prstGeom prst="ellipse">
            <a:avLst/>
          </a:prstGeom>
          <a:solidFill>
            <a:srgbClr val="1C56B8"/>
          </a:solidFill>
          <a:ln/>
        </p:spPr>
      </p:sp>
      <p:sp>
        <p:nvSpPr>
          <p:cNvPr id="36" name="Text 31"/>
          <p:cNvSpPr/>
          <p:nvPr/>
        </p:nvSpPr>
        <p:spPr>
          <a:xfrm>
            <a:off x="8341157" y="35204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3</a:t>
            </a:r>
            <a:endParaRPr lang="en-US" sz="2200" dirty="0"/>
          </a:p>
        </p:txBody>
      </p:sp>
      <p:pic>
        <p:nvPicPr>
          <p:cNvPr id="37" name="Image 3" descr="ic_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11535" y="3575304"/>
            <a:ext cx="457200" cy="45720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8341157" y="4233672"/>
            <a:ext cx="30641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기술 격차 &amp; 선점 효과</a:t>
            </a:r>
            <a:endParaRPr lang="en-US" sz="1450" dirty="0"/>
          </a:p>
        </p:txBody>
      </p:sp>
      <p:sp>
        <p:nvSpPr>
          <p:cNvPr id="39" name="Text 33"/>
          <p:cNvSpPr/>
          <p:nvPr/>
        </p:nvSpPr>
        <p:spPr>
          <a:xfrm>
            <a:off x="8341157" y="4928616"/>
            <a:ext cx="306415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중국 대비 2~5년 기술 선행. 150+ 특허로 진입장벽 구축. 70+ NDA로 공급망 선점. 빅테크 4개권 NRE 계약 체결 완료.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66928" y="42062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굴림"/>
                <a:ea typeface="굴림"/>
                <a:cs typeface="굴림"/>
              </a:rPr>
              <a:t>2</a:t>
            </a:r>
            <a:endParaRPr lang="en-US" sz="1500"/>
          </a:p>
        </p:txBody>
      </p:sp>
      <p:sp>
        <p:nvSpPr>
          <p:cNvPr id="4" name="Text 2"/>
          <p:cNvSpPr/>
          <p:nvPr/>
        </p:nvSpPr>
        <p:spPr>
          <a:xfrm>
            <a:off x="1133856" y="42062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1200" b="1" kern="0" spc="200">
                <a:solidFill>
                  <a:srgbClr val="1C56B8"/>
                </a:solidFill>
                <a:latin typeface="굴림"/>
                <a:ea typeface="굴림"/>
                <a:cs typeface="굴림"/>
              </a:rPr>
              <a:t>투자 아이디어</a:t>
            </a:r>
            <a:endParaRPr lang="en-US" sz="1200"/>
          </a:p>
        </p:txBody>
      </p:sp>
      <p:pic>
        <p:nvPicPr>
          <p:cNvPr id="5" name="Image 0" descr="logo_light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997135" y="384048"/>
            <a:ext cx="1627632" cy="4790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실적 전망 상세 &amp; 재무 안정성</a:t>
            </a:r>
            <a:endParaRPr lang="en-US" sz="3000"/>
          </a:p>
        </p:txBody>
      </p:sp>
      <p:sp>
        <p:nvSpPr>
          <p:cNvPr id="7" name="Text 4"/>
          <p:cNvSpPr/>
          <p:nvPr/>
        </p:nvSpPr>
        <p:spPr>
          <a:xfrm>
            <a:off x="566928" y="14447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135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수익성 지표의 빠른 개선과 순현금 기반의 단기 유동성 확보</a:t>
            </a:r>
            <a:endParaRPr lang="en-US" sz="1350"/>
          </a:p>
        </p:txBody>
      </p:sp>
      <p:sp>
        <p:nvSpPr>
          <p:cNvPr id="8" name="Text 5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9AA4B4"/>
                </a:solidFill>
                <a:latin typeface="굴림"/>
                <a:ea typeface="굴림"/>
                <a:cs typeface="굴림"/>
              </a:rPr>
              <a:t>Sapien Semiconductors  |  KOSDAQ 452430  |  Investment Analysis</a:t>
            </a:r>
            <a:endParaRPr lang="en-US" sz="850"/>
          </a:p>
        </p:txBody>
      </p:sp>
      <p:sp>
        <p:nvSpPr>
          <p:cNvPr id="9" name="Text 6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9AA4B4"/>
                </a:solidFill>
                <a:latin typeface="굴림"/>
                <a:ea typeface="굴림"/>
                <a:cs typeface="굴림"/>
              </a:rPr>
              <a:t>13</a:t>
            </a:r>
            <a:endParaRPr lang="en-US" sz="900"/>
          </a:p>
        </p:txBody>
      </p:sp>
      <p:sp>
        <p:nvSpPr>
          <p:cNvPr id="10" name="Shape 7"/>
          <p:cNvSpPr/>
          <p:nvPr/>
        </p:nvSpPr>
        <p:spPr>
          <a:xfrm>
            <a:off x="566928" y="2020824"/>
            <a:ext cx="5760720" cy="4379976"/>
          </a:xfrm>
          <a:prstGeom prst="roundRect">
            <a:avLst>
              <a:gd name="adj" fmla="val 1670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804672" y="218541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수익성 지표 추이</a:t>
            </a:r>
            <a:endParaRPr lang="en-US" sz="1450"/>
          </a:p>
        </p:txBody>
      </p:sp>
      <p:sp>
        <p:nvSpPr>
          <p:cNvPr id="13" name="Text 9"/>
          <p:cNvSpPr/>
          <p:nvPr/>
        </p:nvSpPr>
        <p:spPr>
          <a:xfrm>
            <a:off x="804672" y="45628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주당순이익(EPS, 원)</a:t>
            </a:r>
            <a:endParaRPr lang="en-US" sz="1200"/>
          </a:p>
        </p:txBody>
      </p:sp>
      <p:sp>
        <p:nvSpPr>
          <p:cNvPr id="14" name="Text 10"/>
          <p:cNvSpPr/>
          <p:nvPr/>
        </p:nvSpPr>
        <p:spPr>
          <a:xfrm>
            <a:off x="804672" y="4873752"/>
            <a:ext cx="1229868" cy="23774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2024A</a:t>
            </a:r>
            <a:endParaRPr lang="en-US" sz="1000"/>
          </a:p>
        </p:txBody>
      </p:sp>
      <p:sp>
        <p:nvSpPr>
          <p:cNvPr id="15" name="Text 11"/>
          <p:cNvSpPr/>
          <p:nvPr/>
        </p:nvSpPr>
        <p:spPr>
          <a:xfrm>
            <a:off x="804672" y="5111496"/>
            <a:ext cx="1229868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D64550"/>
                </a:solidFill>
                <a:latin typeface="굴림"/>
                <a:ea typeface="굴림"/>
                <a:cs typeface="굴림"/>
              </a:rPr>
              <a:t>-2,146</a:t>
            </a:r>
            <a:endParaRPr lang="en-US" sz="1500"/>
          </a:p>
        </p:txBody>
      </p:sp>
      <p:sp>
        <p:nvSpPr>
          <p:cNvPr id="16" name="Text 12"/>
          <p:cNvSpPr/>
          <p:nvPr/>
        </p:nvSpPr>
        <p:spPr>
          <a:xfrm>
            <a:off x="2125980" y="4873752"/>
            <a:ext cx="1229868" cy="23774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2025A</a:t>
            </a:r>
            <a:endParaRPr lang="en-US" sz="1000"/>
          </a:p>
        </p:txBody>
      </p:sp>
      <p:sp>
        <p:nvSpPr>
          <p:cNvPr id="17" name="Text 13"/>
          <p:cNvSpPr/>
          <p:nvPr/>
        </p:nvSpPr>
        <p:spPr>
          <a:xfrm>
            <a:off x="2125980" y="5111496"/>
            <a:ext cx="1229868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D64550"/>
                </a:solidFill>
                <a:latin typeface="굴림"/>
                <a:ea typeface="굴림"/>
                <a:cs typeface="굴림"/>
              </a:rPr>
              <a:t>-585</a:t>
            </a:r>
            <a:endParaRPr lang="en-US" sz="1500"/>
          </a:p>
        </p:txBody>
      </p:sp>
      <p:sp>
        <p:nvSpPr>
          <p:cNvPr id="18" name="Text 14"/>
          <p:cNvSpPr/>
          <p:nvPr/>
        </p:nvSpPr>
        <p:spPr>
          <a:xfrm>
            <a:off x="3447288" y="4873752"/>
            <a:ext cx="1229868" cy="23774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2026E</a:t>
            </a:r>
            <a:endParaRPr lang="en-US" sz="1000"/>
          </a:p>
        </p:txBody>
      </p:sp>
      <p:sp>
        <p:nvSpPr>
          <p:cNvPr id="19" name="Text 15"/>
          <p:cNvSpPr/>
          <p:nvPr/>
        </p:nvSpPr>
        <p:spPr>
          <a:xfrm>
            <a:off x="3447288" y="5111496"/>
            <a:ext cx="1229868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1F9E5A"/>
                </a:solidFill>
                <a:latin typeface="굴림"/>
                <a:ea typeface="굴림"/>
                <a:cs typeface="굴림"/>
              </a:rPr>
              <a:t>+419</a:t>
            </a:r>
            <a:endParaRPr lang="en-US" sz="1500"/>
          </a:p>
        </p:txBody>
      </p:sp>
      <p:sp>
        <p:nvSpPr>
          <p:cNvPr id="20" name="Text 16"/>
          <p:cNvSpPr/>
          <p:nvPr/>
        </p:nvSpPr>
        <p:spPr>
          <a:xfrm>
            <a:off x="4768596" y="4873752"/>
            <a:ext cx="1229868" cy="23774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2027E</a:t>
            </a:r>
            <a:endParaRPr lang="en-US" sz="1000"/>
          </a:p>
        </p:txBody>
      </p:sp>
      <p:sp>
        <p:nvSpPr>
          <p:cNvPr id="21" name="Text 17"/>
          <p:cNvSpPr/>
          <p:nvPr/>
        </p:nvSpPr>
        <p:spPr>
          <a:xfrm>
            <a:off x="4768596" y="5111496"/>
            <a:ext cx="1229868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1F9E5A"/>
                </a:solidFill>
                <a:latin typeface="굴림"/>
                <a:ea typeface="굴림"/>
                <a:cs typeface="굴림"/>
              </a:rPr>
              <a:t>+1,938</a:t>
            </a:r>
            <a:r>
              <a:rPr lang="ko-KR" altLang="en-US" sz="1500" b="1">
                <a:solidFill>
                  <a:srgbClr val="1F9E5A"/>
                </a:solidFill>
                <a:latin typeface="굴림"/>
                <a:ea typeface="굴림"/>
                <a:cs typeface="굴림"/>
              </a:rPr>
              <a:t> </a:t>
            </a:r>
          </a:p>
        </p:txBody>
      </p:sp>
      <p:sp>
        <p:nvSpPr>
          <p:cNvPr id="22" name="Shape 18"/>
          <p:cNvSpPr/>
          <p:nvPr/>
        </p:nvSpPr>
        <p:spPr>
          <a:xfrm>
            <a:off x="6556248" y="2020824"/>
            <a:ext cx="5068519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3" name="Text 19"/>
          <p:cNvSpPr/>
          <p:nvPr/>
        </p:nvSpPr>
        <p:spPr>
          <a:xfrm>
            <a:off x="6775704" y="2185416"/>
            <a:ext cx="4702759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재무 안정성 (2025A)</a:t>
            </a:r>
            <a:endParaRPr lang="en-US" sz="1350"/>
          </a:p>
        </p:txBody>
      </p:sp>
      <p:sp>
        <p:nvSpPr>
          <p:cNvPr id="24" name="Shape 20"/>
          <p:cNvSpPr/>
          <p:nvPr/>
        </p:nvSpPr>
        <p:spPr>
          <a:xfrm>
            <a:off x="6775704" y="2587752"/>
            <a:ext cx="2177644" cy="749808"/>
          </a:xfrm>
          <a:prstGeom prst="roundRect">
            <a:avLst>
              <a:gd name="adj" fmla="val 8537"/>
            </a:avLst>
          </a:prstGeom>
          <a:solidFill>
            <a:srgbClr val="EAF1FB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5" name="Text 21"/>
          <p:cNvSpPr/>
          <p:nvPr/>
        </p:nvSpPr>
        <p:spPr>
          <a:xfrm>
            <a:off x="6775704" y="2660904"/>
            <a:ext cx="2177644" cy="40233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1C56B8"/>
                </a:solidFill>
                <a:latin typeface="굴림"/>
                <a:ea typeface="굴림"/>
                <a:cs typeface="굴림"/>
              </a:rPr>
              <a:t>316억</a:t>
            </a:r>
            <a:endParaRPr lang="en-US" sz="1800"/>
          </a:p>
        </p:txBody>
      </p:sp>
      <p:sp>
        <p:nvSpPr>
          <p:cNvPr id="26" name="Text 22"/>
          <p:cNvSpPr/>
          <p:nvPr/>
        </p:nvSpPr>
        <p:spPr>
          <a:xfrm>
            <a:off x="6775704" y="3044952"/>
            <a:ext cx="2177644" cy="23774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자산총계</a:t>
            </a:r>
            <a:endParaRPr lang="en-US" sz="1000"/>
          </a:p>
        </p:txBody>
      </p:sp>
      <p:sp>
        <p:nvSpPr>
          <p:cNvPr id="27" name="Shape 23"/>
          <p:cNvSpPr/>
          <p:nvPr/>
        </p:nvSpPr>
        <p:spPr>
          <a:xfrm>
            <a:off x="9227668" y="2587752"/>
            <a:ext cx="2177644" cy="749808"/>
          </a:xfrm>
          <a:prstGeom prst="roundRect">
            <a:avLst>
              <a:gd name="adj" fmla="val 8537"/>
            </a:avLst>
          </a:prstGeom>
          <a:solidFill>
            <a:srgbClr val="EAF1FB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8" name="Text 24"/>
          <p:cNvSpPr/>
          <p:nvPr/>
        </p:nvSpPr>
        <p:spPr>
          <a:xfrm>
            <a:off x="9227668" y="2660904"/>
            <a:ext cx="2177644" cy="40233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1C56B8"/>
                </a:solidFill>
                <a:latin typeface="굴림"/>
                <a:ea typeface="굴림"/>
                <a:cs typeface="굴림"/>
              </a:rPr>
              <a:t>187억</a:t>
            </a:r>
            <a:endParaRPr lang="en-US" sz="1800"/>
          </a:p>
        </p:txBody>
      </p:sp>
      <p:sp>
        <p:nvSpPr>
          <p:cNvPr id="29" name="Text 25"/>
          <p:cNvSpPr/>
          <p:nvPr/>
        </p:nvSpPr>
        <p:spPr>
          <a:xfrm>
            <a:off x="9227668" y="3044952"/>
            <a:ext cx="2177644" cy="23774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부채총계</a:t>
            </a:r>
            <a:endParaRPr lang="en-US" sz="1000"/>
          </a:p>
        </p:txBody>
      </p:sp>
      <p:sp>
        <p:nvSpPr>
          <p:cNvPr id="30" name="Shape 26"/>
          <p:cNvSpPr/>
          <p:nvPr/>
        </p:nvSpPr>
        <p:spPr>
          <a:xfrm>
            <a:off x="6775704" y="3429000"/>
            <a:ext cx="2177644" cy="749808"/>
          </a:xfrm>
          <a:prstGeom prst="roundRect">
            <a:avLst>
              <a:gd name="adj" fmla="val 8537"/>
            </a:avLst>
          </a:prstGeom>
          <a:solidFill>
            <a:srgbClr val="EAF1FB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1" name="Text 27"/>
          <p:cNvSpPr/>
          <p:nvPr/>
        </p:nvSpPr>
        <p:spPr>
          <a:xfrm>
            <a:off x="6775704" y="3502152"/>
            <a:ext cx="2177644" cy="40233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1C56B8"/>
                </a:solidFill>
                <a:latin typeface="굴림"/>
                <a:ea typeface="굴림"/>
                <a:cs typeface="굴림"/>
              </a:rPr>
              <a:t>129억</a:t>
            </a:r>
            <a:endParaRPr lang="en-US" sz="1800"/>
          </a:p>
        </p:txBody>
      </p:sp>
      <p:sp>
        <p:nvSpPr>
          <p:cNvPr id="32" name="Text 28"/>
          <p:cNvSpPr/>
          <p:nvPr/>
        </p:nvSpPr>
        <p:spPr>
          <a:xfrm>
            <a:off x="6775704" y="3886200"/>
            <a:ext cx="2177644" cy="23774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자본총계</a:t>
            </a:r>
            <a:endParaRPr lang="en-US" sz="1000"/>
          </a:p>
        </p:txBody>
      </p:sp>
      <p:sp>
        <p:nvSpPr>
          <p:cNvPr id="33" name="Shape 29"/>
          <p:cNvSpPr/>
          <p:nvPr/>
        </p:nvSpPr>
        <p:spPr>
          <a:xfrm>
            <a:off x="9227668" y="3429000"/>
            <a:ext cx="2177644" cy="749808"/>
          </a:xfrm>
          <a:prstGeom prst="roundRect">
            <a:avLst>
              <a:gd name="adj" fmla="val 8537"/>
            </a:avLst>
          </a:prstGeom>
          <a:solidFill>
            <a:srgbClr val="EAF1FB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4" name="Text 30"/>
          <p:cNvSpPr/>
          <p:nvPr/>
        </p:nvSpPr>
        <p:spPr>
          <a:xfrm>
            <a:off x="9227668" y="3502152"/>
            <a:ext cx="2177644" cy="40233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1C56B8"/>
                </a:solidFill>
                <a:latin typeface="굴림"/>
                <a:ea typeface="굴림"/>
                <a:cs typeface="굴림"/>
              </a:rPr>
              <a:t>-33.1억</a:t>
            </a:r>
            <a:endParaRPr lang="en-US" sz="1800"/>
          </a:p>
        </p:txBody>
      </p:sp>
      <p:sp>
        <p:nvSpPr>
          <p:cNvPr id="35" name="Text 31"/>
          <p:cNvSpPr/>
          <p:nvPr/>
        </p:nvSpPr>
        <p:spPr>
          <a:xfrm>
            <a:off x="9227668" y="3886200"/>
            <a:ext cx="2177644" cy="23774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EBITDA</a:t>
            </a:r>
            <a:endParaRPr lang="en-US" sz="1000"/>
          </a:p>
        </p:txBody>
      </p:sp>
      <p:sp>
        <p:nvSpPr>
          <p:cNvPr id="36" name="Shape 32"/>
          <p:cNvSpPr/>
          <p:nvPr/>
        </p:nvSpPr>
        <p:spPr>
          <a:xfrm>
            <a:off x="6556248" y="4416552"/>
            <a:ext cx="5068519" cy="1984248"/>
          </a:xfrm>
          <a:prstGeom prst="roundRect">
            <a:avLst>
              <a:gd name="adj" fmla="val 368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37" name="Image 1" descr="ic_coins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775704" y="4617720"/>
            <a:ext cx="310896" cy="310896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7196328" y="4581144"/>
            <a:ext cx="4245559" cy="38404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핵심 재무 지표</a:t>
            </a:r>
            <a:endParaRPr lang="en-US" sz="1450"/>
          </a:p>
        </p:txBody>
      </p:sp>
      <p:sp>
        <p:nvSpPr>
          <p:cNvPr id="39" name="Text 34"/>
          <p:cNvSpPr/>
          <p:nvPr/>
        </p:nvSpPr>
        <p:spPr>
          <a:xfrm>
            <a:off x="6775704" y="5020056"/>
            <a:ext cx="4647895" cy="1216152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영업이익률 -26.6% → 24.3% — 2026년 흑자전환</a:t>
            </a:r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ROE 2026E 23.58% — 자본 효율성 개선 중</a:t>
            </a:r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PBR 16.74배(2026E) — 성장성 프리미엄 반영</a:t>
            </a:r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  <a:defRPr/>
            </a:pPr>
            <a:r>
              <a:rPr lang="en-US" sz="105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EV/EBITDA 78.75배(2026E) — 성장형 팹리스 적정</a:t>
            </a:r>
            <a:endParaRPr lang="en-US" sz="1050"/>
          </a:p>
        </p:txBody>
      </p:sp>
      <p:graphicFrame>
        <p:nvGraphicFramePr>
          <p:cNvPr id="44" name="Chart 0"/>
          <p:cNvGraphicFramePr/>
          <p:nvPr/>
        </p:nvGraphicFramePr>
        <p:xfrm>
          <a:off x="658368" y="2597277"/>
          <a:ext cx="5532120" cy="18105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5" name="Text 16"/>
          <p:cNvSpPr/>
          <p:nvPr/>
        </p:nvSpPr>
        <p:spPr>
          <a:xfrm>
            <a:off x="4787646" y="5540502"/>
            <a:ext cx="1229868" cy="23774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sz="1000" b="0" i="0" u="none" strike="noStrike" kern="1200" cap="none" spc="0" normalizeH="0" baseline="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202</a:t>
            </a:r>
            <a:r>
              <a:rPr kumimoji="0" lang="en-US" altLang="ko-KR" sz="1000" b="0" i="0" u="none" strike="noStrike" kern="1200" cap="none" spc="0" normalizeH="0" baseline="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8</a:t>
            </a:r>
            <a:r>
              <a:rPr kumimoji="0" lang="en-US" sz="1000" b="0" i="0" u="none" strike="noStrike" kern="1200" cap="none" spc="0" normalizeH="0" baseline="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E</a:t>
            </a:r>
          </a:p>
        </p:txBody>
      </p:sp>
      <p:sp>
        <p:nvSpPr>
          <p:cNvPr id="46" name="Text 17"/>
          <p:cNvSpPr/>
          <p:nvPr/>
        </p:nvSpPr>
        <p:spPr>
          <a:xfrm>
            <a:off x="4787646" y="5778246"/>
            <a:ext cx="1229868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sz="1500" b="1" i="0" u="none" strike="noStrike" kern="1200" cap="none" spc="0" normalizeH="0" baseline="0">
                <a:solidFill>
                  <a:srgbClr val="1F9E5A"/>
                </a:solidFill>
                <a:latin typeface="굴림"/>
                <a:ea typeface="굴림"/>
                <a:cs typeface="굴림"/>
              </a:rPr>
              <a:t>+</a:t>
            </a:r>
            <a:r>
              <a:rPr kumimoji="0" lang="en-US" altLang="ko-KR" sz="1500" b="1" i="0" u="none" strike="noStrike" kern="1200" cap="none" spc="0" normalizeH="0" baseline="0">
                <a:solidFill>
                  <a:srgbClr val="1F9E5A"/>
                </a:solidFill>
                <a:latin typeface="굴림"/>
                <a:ea typeface="굴림"/>
                <a:cs typeface="굴림"/>
              </a:rPr>
              <a:t>6</a:t>
            </a:r>
            <a:r>
              <a:rPr kumimoji="0" lang="en-US" sz="1500" b="1" i="0" u="none" strike="noStrike" kern="1200" cap="none" spc="0" normalizeH="0" baseline="0">
                <a:solidFill>
                  <a:srgbClr val="1F9E5A"/>
                </a:solidFill>
                <a:latin typeface="굴림"/>
                <a:ea typeface="굴림"/>
                <a:cs typeface="굴림"/>
              </a:rPr>
              <a:t>,</a:t>
            </a:r>
            <a:r>
              <a:rPr kumimoji="0" lang="en-US" altLang="ko-KR" sz="1500" b="1" i="0" u="none" strike="noStrike" kern="1200" cap="none" spc="0" normalizeH="0" baseline="0">
                <a:solidFill>
                  <a:srgbClr val="1F9E5A"/>
                </a:solidFill>
                <a:latin typeface="굴림"/>
                <a:ea typeface="굴림"/>
                <a:cs typeface="굴림"/>
              </a:rPr>
              <a:t>135</a:t>
            </a:r>
          </a:p>
        </p:txBody>
      </p:sp>
      <p:pic>
        <p:nvPicPr>
          <p:cNvPr id="50" name="그림 49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5524072" y="80097"/>
            <a:ext cx="4473063" cy="21053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33856" y="42062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투자 아이디어</a:t>
            </a:r>
            <a:endParaRPr lang="en-US" sz="1200" dirty="0"/>
          </a:p>
        </p:txBody>
      </p:sp>
      <p:pic>
        <p:nvPicPr>
          <p:cNvPr id="5" name="Image 0" descr="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7135" y="384048"/>
            <a:ext cx="1627632" cy="4790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투자 아이디어 종합 · SWOT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66928" y="14447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원천특허 + 기술격차 + 선점 NRE 계약이 만들어내는 강력한 해자(Moat)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AA4B4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Sapien Semiconductors  |  KOSDAQ 452430  |  Investment Analysis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B4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14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" y="2020824"/>
            <a:ext cx="5391760" cy="2052828"/>
          </a:xfrm>
          <a:prstGeom prst="roundRect">
            <a:avLst>
              <a:gd name="adj" fmla="val 356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86384" y="222199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F9E5A"/>
          </a:solidFill>
          <a:ln/>
        </p:spPr>
      </p:sp>
      <p:sp>
        <p:nvSpPr>
          <p:cNvPr id="12" name="Text 9"/>
          <p:cNvSpPr/>
          <p:nvPr/>
        </p:nvSpPr>
        <p:spPr>
          <a:xfrm>
            <a:off x="786384" y="22219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S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1481328" y="2221992"/>
            <a:ext cx="429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Strength · 강점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822960" y="2935224"/>
            <a:ext cx="4879696" cy="1001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MiP 원천특허·150+ IP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소비전력 75%·원가 50% 우위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빅테크 4개권 NRE 선점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팹리스 레버리지 구조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33008" y="2020824"/>
            <a:ext cx="5391760" cy="2052828"/>
          </a:xfrm>
          <a:prstGeom prst="roundRect">
            <a:avLst>
              <a:gd name="adj" fmla="val 356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52464" y="222199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0A030"/>
          </a:solidFill>
          <a:ln/>
        </p:spPr>
      </p:sp>
      <p:sp>
        <p:nvSpPr>
          <p:cNvPr id="17" name="Text 14"/>
          <p:cNvSpPr/>
          <p:nvPr/>
        </p:nvSpPr>
        <p:spPr>
          <a:xfrm>
            <a:off x="6452464" y="22219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W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7147408" y="2221992"/>
            <a:ext cx="429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Weakness · 약점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6489040" y="2935224"/>
            <a:ext cx="4879696" cy="1001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영업 적자 지속 중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매출 대부분 NRE 용역 의존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고객 비공개로 불투명성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소규모 기업(55명)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66928" y="4347972"/>
            <a:ext cx="5391760" cy="2052828"/>
          </a:xfrm>
          <a:prstGeom prst="roundRect">
            <a:avLst>
              <a:gd name="adj" fmla="val 356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86384" y="454914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C56B8"/>
          </a:solidFill>
          <a:ln/>
        </p:spPr>
      </p:sp>
      <p:sp>
        <p:nvSpPr>
          <p:cNvPr id="22" name="Text 19"/>
          <p:cNvSpPr/>
          <p:nvPr/>
        </p:nvSpPr>
        <p:spPr>
          <a:xfrm>
            <a:off x="786384" y="45491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O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1481328" y="4549140"/>
            <a:ext cx="429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Opportunity · 기회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822960" y="5262372"/>
            <a:ext cx="4879696" cy="1001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AR 글래스 대중화 임박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메타·구글·삼성·애플 출시 경쟁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LEDoS 점유율 급격 상승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AI 웨어러블 시장 창출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233008" y="4347972"/>
            <a:ext cx="5391760" cy="2052828"/>
          </a:xfrm>
          <a:prstGeom prst="roundRect">
            <a:avLst>
              <a:gd name="adj" fmla="val 356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452464" y="454914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D64550"/>
          </a:solidFill>
          <a:ln/>
        </p:spPr>
      </p:sp>
      <p:sp>
        <p:nvSpPr>
          <p:cNvPr id="27" name="Text 24"/>
          <p:cNvSpPr/>
          <p:nvPr/>
        </p:nvSpPr>
        <p:spPr>
          <a:xfrm>
            <a:off x="6452464" y="45491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T</a:t>
            </a:r>
            <a:endParaRPr lang="en-US" sz="2600" dirty="0"/>
          </a:p>
        </p:txBody>
      </p:sp>
      <p:sp>
        <p:nvSpPr>
          <p:cNvPr id="28" name="Text 25"/>
          <p:cNvSpPr/>
          <p:nvPr/>
        </p:nvSpPr>
        <p:spPr>
          <a:xfrm>
            <a:off x="7147408" y="4549140"/>
            <a:ext cx="429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Threat · 위협</a:t>
            </a:r>
            <a:endParaRPr lang="en-US" sz="1550" dirty="0"/>
          </a:p>
        </p:txBody>
      </p:sp>
      <p:sp>
        <p:nvSpPr>
          <p:cNvPr id="29" name="Text 26"/>
          <p:cNvSpPr/>
          <p:nvPr/>
        </p:nvSpPr>
        <p:spPr>
          <a:xfrm>
            <a:off x="6489040" y="5262372"/>
            <a:ext cx="4879696" cy="1001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AR 시장 상용화 지연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OLEDoS 기술 전환 가능성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중국 경쟁사 추격</a:t>
            </a:r>
            <a:endParaRPr lang="en-US" sz="120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파운드리 공급망 리스크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0287" y="457200"/>
            <a:ext cx="1554480" cy="4575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1828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B2D6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CHAPTER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66928" y="210312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1A336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03</a:t>
            </a:r>
            <a:endParaRPr lang="en-US" sz="9600" dirty="0"/>
          </a:p>
        </p:txBody>
      </p:sp>
      <p:pic>
        <p:nvPicPr>
          <p:cNvPr id="5" name="Image 1" descr="ic_warn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0048" y="2331720"/>
            <a:ext cx="822960" cy="8229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675888" y="23317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투자 리스크</a:t>
            </a:r>
            <a:endParaRPr lang="en-US" sz="4000" dirty="0"/>
          </a:p>
        </p:txBody>
      </p:sp>
      <p:sp>
        <p:nvSpPr>
          <p:cNvPr id="7" name="Text 3"/>
          <p:cNvSpPr/>
          <p:nvPr/>
        </p:nvSpPr>
        <p:spPr>
          <a:xfrm>
            <a:off x="3703320" y="31546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FB0E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Investment Risk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66928" y="4434840"/>
            <a:ext cx="2558720" cy="868680"/>
          </a:xfrm>
          <a:prstGeom prst="roundRect">
            <a:avLst>
              <a:gd name="adj" fmla="val 8421"/>
            </a:avLst>
          </a:prstGeom>
          <a:solidFill>
            <a:srgbClr val="14233F"/>
          </a:solidFill>
          <a:ln w="12700">
            <a:solidFill>
              <a:srgbClr val="23406E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4434840"/>
            <a:ext cx="2229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7E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시장·기술 리스크 진단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3399968" y="4434840"/>
            <a:ext cx="2558720" cy="868680"/>
          </a:xfrm>
          <a:prstGeom prst="roundRect">
            <a:avLst>
              <a:gd name="adj" fmla="val 8421"/>
            </a:avLst>
          </a:prstGeom>
          <a:solidFill>
            <a:srgbClr val="14233F"/>
          </a:solidFill>
          <a:ln w="12700">
            <a:solidFill>
              <a:srgbClr val="23406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564560" y="4434840"/>
            <a:ext cx="2229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7E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재무·경영 리스크 점검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233008" y="4434840"/>
            <a:ext cx="2558720" cy="868680"/>
          </a:xfrm>
          <a:prstGeom prst="roundRect">
            <a:avLst>
              <a:gd name="adj" fmla="val 8421"/>
            </a:avLst>
          </a:prstGeom>
          <a:solidFill>
            <a:srgbClr val="14233F"/>
          </a:solidFill>
          <a:ln w="12700">
            <a:solidFill>
              <a:srgbClr val="23406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397600" y="4434840"/>
            <a:ext cx="2229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7E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리스크별 완화 전략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9066047" y="4434840"/>
            <a:ext cx="2558720" cy="868680"/>
          </a:xfrm>
          <a:prstGeom prst="roundRect">
            <a:avLst>
              <a:gd name="adj" fmla="val 8421"/>
            </a:avLst>
          </a:prstGeom>
          <a:solidFill>
            <a:srgbClr val="14233F"/>
          </a:solidFill>
          <a:ln w="12700">
            <a:solidFill>
              <a:srgbClr val="23406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230639" y="4434840"/>
            <a:ext cx="2229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7E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종합 리스크 매트릭스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AA4B4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Sapien Semiconductors  |  KOSDAQ 452430  |  Investment Analysis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B4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33856" y="42062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투자 리스크</a:t>
            </a:r>
            <a:endParaRPr lang="en-US" sz="1200" dirty="0"/>
          </a:p>
        </p:txBody>
      </p:sp>
      <p:pic>
        <p:nvPicPr>
          <p:cNvPr id="5" name="Image 0" descr="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7135" y="384048"/>
            <a:ext cx="1627632" cy="4790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시장 · 기술 리스크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66928" y="14447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매출의 90%+가 AR 글래스 LEDoS에 집중 — 시장·기술 변수에 대한 노출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AA4B4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Sapien Semiconductors  |  KOSDAQ 452430  |  Investment Analysis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B4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16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" y="2020824"/>
            <a:ext cx="3503066" cy="4379976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86384" y="2221992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D64550"/>
          </a:solidFill>
          <a:ln/>
        </p:spPr>
      </p:sp>
      <p:sp>
        <p:nvSpPr>
          <p:cNvPr id="12" name="Text 9"/>
          <p:cNvSpPr/>
          <p:nvPr/>
        </p:nvSpPr>
        <p:spPr>
          <a:xfrm>
            <a:off x="786384" y="222199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HIGH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755648" y="2185416"/>
            <a:ext cx="21314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AR 시장 상용화 지연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86384" y="2624328"/>
            <a:ext cx="306415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AR 글래스 시장은 개화 초기. 가격·배터리·착용감 문제 해결 중. 대중화가 늦어질 경우 양산 매출 시점 지연. 매출 90%+가 AR 글래스용 LEDoS에 집중된 구조.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86384" y="5687568"/>
            <a:ext cx="3064154" cy="566928"/>
          </a:xfrm>
          <a:prstGeom prst="roundRect">
            <a:avLst>
              <a:gd name="adj" fmla="val 9677"/>
            </a:avLst>
          </a:prstGeom>
          <a:solidFill>
            <a:srgbClr val="EAF1FB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5705856"/>
            <a:ext cx="282641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완화  </a:t>
            </a:r>
            <a:r>
              <a:rPr lang="en-US" sz="105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북미·중국·일본·유럽 4개권 다변화 + 대형 DDIC 병행 매출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344314" y="2020824"/>
            <a:ext cx="3503066" cy="4379976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63770" y="2221992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E0A030"/>
          </a:solidFill>
          <a:ln/>
        </p:spPr>
      </p:sp>
      <p:sp>
        <p:nvSpPr>
          <p:cNvPr id="19" name="Text 16"/>
          <p:cNvSpPr/>
          <p:nvPr/>
        </p:nvSpPr>
        <p:spPr>
          <a:xfrm>
            <a:off x="4563770" y="222199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MID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533034" y="2185416"/>
            <a:ext cx="21314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OLEDoS 기술 전환 가능성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4563770" y="2624328"/>
            <a:ext cx="306415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애플 비전프로는 OLEDoS 채용. OLEDoS가 LEDoS보다 먼저 대중화될 경우 성장 스토리에 영향 가능. 단, 메타·구글은 LEDoS 방향 NRE 진행 중.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63770" y="5687568"/>
            <a:ext cx="3064154" cy="566928"/>
          </a:xfrm>
          <a:prstGeom prst="roundRect">
            <a:avLst>
              <a:gd name="adj" fmla="val 9677"/>
            </a:avLst>
          </a:prstGeom>
          <a:solidFill>
            <a:srgbClr val="EAF1FB"/>
          </a:solidFill>
          <a:ln/>
        </p:spPr>
      </p:sp>
      <p:sp>
        <p:nvSpPr>
          <p:cNvPr id="23" name="Text 20"/>
          <p:cNvSpPr/>
          <p:nvPr/>
        </p:nvSpPr>
        <p:spPr>
          <a:xfrm>
            <a:off x="4691786" y="5705856"/>
            <a:ext cx="282641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완화  </a:t>
            </a:r>
            <a:r>
              <a:rPr lang="en-US" sz="105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메타·구글·중국 JBD 등 주요 AR 플레이어 LEDoS NRE 체결 중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121701" y="2020824"/>
            <a:ext cx="3503066" cy="4379976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341157" y="2221992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E0A030"/>
          </a:solidFill>
          <a:ln/>
        </p:spPr>
      </p:sp>
      <p:sp>
        <p:nvSpPr>
          <p:cNvPr id="26" name="Text 23"/>
          <p:cNvSpPr/>
          <p:nvPr/>
        </p:nvSpPr>
        <p:spPr>
          <a:xfrm>
            <a:off x="8341157" y="222199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MID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9310421" y="2185416"/>
            <a:ext cx="21314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중국 경쟁사 기술 추격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8341157" y="2624328"/>
            <a:ext cx="306415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JBD 등 중국 경쟁사가 국가 지원 하에 LEDoS 기술 가속화. 현재 2~5년 격차이나 자원 집중 시 축소 가능. 단, 사피엔은 JBD와 동시에 파트너 관계.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341157" y="5687568"/>
            <a:ext cx="3064154" cy="566928"/>
          </a:xfrm>
          <a:prstGeom prst="roundRect">
            <a:avLst>
              <a:gd name="adj" fmla="val 9677"/>
            </a:avLst>
          </a:prstGeom>
          <a:solidFill>
            <a:srgbClr val="EAF1FB"/>
          </a:solidFill>
          <a:ln/>
        </p:spPr>
      </p:sp>
      <p:sp>
        <p:nvSpPr>
          <p:cNvPr id="30" name="Text 27"/>
          <p:cNvSpPr/>
          <p:nvPr/>
        </p:nvSpPr>
        <p:spPr>
          <a:xfrm>
            <a:off x="8469173" y="5705856"/>
            <a:ext cx="282641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완화  </a:t>
            </a:r>
            <a:r>
              <a:rPr lang="en-US" sz="105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MiP 원천특허 법적 장벽 + 차세대(3세대) 제품 선행 개발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33856" y="42062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투자 리스크</a:t>
            </a:r>
            <a:endParaRPr lang="en-US" sz="1200" dirty="0"/>
          </a:p>
        </p:txBody>
      </p:sp>
      <p:pic>
        <p:nvPicPr>
          <p:cNvPr id="5" name="Image 0" descr="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7135" y="384048"/>
            <a:ext cx="1627632" cy="4790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재무 · 경영 리스크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66928" y="14447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흑자전환 이전까지의 자금 운용과 정보 불투명성에 대한 점검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AA4B4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Sapien Semiconductors  |  KOSDAQ 452430  |  Investment Analysis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B4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17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" y="2020824"/>
            <a:ext cx="3503066" cy="4379976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86384" y="2221992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D64550"/>
          </a:solidFill>
          <a:ln/>
        </p:spPr>
      </p:sp>
      <p:sp>
        <p:nvSpPr>
          <p:cNvPr id="12" name="Text 9"/>
          <p:cNvSpPr/>
          <p:nvPr/>
        </p:nvSpPr>
        <p:spPr>
          <a:xfrm>
            <a:off x="786384" y="222199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HIGH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755648" y="2185416"/>
            <a:ext cx="21314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지속적 영업 적자·자금 소요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86384" y="2624328"/>
            <a:ext cx="306415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2022년부터 영업 적자 지속. R&amp;D·인력 비용이 매출보다 빠르게 증가. 2026 흑자전환까지 자금 운용이 핵심. 계획 이상 투자 시 유상증자 가능성.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86384" y="5687568"/>
            <a:ext cx="3064154" cy="566928"/>
          </a:xfrm>
          <a:prstGeom prst="roundRect">
            <a:avLst>
              <a:gd name="adj" fmla="val 9677"/>
            </a:avLst>
          </a:prstGeom>
          <a:solidFill>
            <a:srgbClr val="EAF1FB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5705856"/>
            <a:ext cx="282641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완화  </a:t>
            </a:r>
            <a:r>
              <a:rPr lang="en-US" sz="105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2024 코스닥 상장 자금 확보 + NRE 계약 수입으로 현금흐름 유지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344314" y="2020824"/>
            <a:ext cx="3503066" cy="4379976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63770" y="2221992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E0A030"/>
          </a:solidFill>
          <a:ln/>
        </p:spPr>
      </p:sp>
      <p:sp>
        <p:nvSpPr>
          <p:cNvPr id="19" name="Text 16"/>
          <p:cNvSpPr/>
          <p:nvPr/>
        </p:nvSpPr>
        <p:spPr>
          <a:xfrm>
            <a:off x="4563770" y="222199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MID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533034" y="2185416"/>
            <a:ext cx="21314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고객 비공개·정보 불투명성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4563770" y="2624328"/>
            <a:ext cx="306415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주요 고객사는 NDA로 미공개. 메타·JBD·일본 광학기업 등 추정되나 공식 확인 불가. 투자자가 독립적으로 고객 기반을 검증하기 어려운 구조.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63770" y="5687568"/>
            <a:ext cx="3064154" cy="566928"/>
          </a:xfrm>
          <a:prstGeom prst="roundRect">
            <a:avLst>
              <a:gd name="adj" fmla="val 9677"/>
            </a:avLst>
          </a:prstGeom>
          <a:solidFill>
            <a:srgbClr val="EAF1FB"/>
          </a:solidFill>
          <a:ln/>
        </p:spPr>
      </p:sp>
      <p:sp>
        <p:nvSpPr>
          <p:cNvPr id="23" name="Text 20"/>
          <p:cNvSpPr/>
          <p:nvPr/>
        </p:nvSpPr>
        <p:spPr>
          <a:xfrm>
            <a:off x="4691786" y="5705856"/>
            <a:ext cx="282641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완화  </a:t>
            </a:r>
            <a:r>
              <a:rPr lang="en-US" sz="105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정기 공시·IR 자료 통한 간접 정보 수집 + 계약 공시 모니터링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121701" y="2020824"/>
            <a:ext cx="3503066" cy="4379976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341157" y="2221992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1F9E5A"/>
          </a:solidFill>
          <a:ln/>
        </p:spPr>
      </p:sp>
      <p:sp>
        <p:nvSpPr>
          <p:cNvPr id="26" name="Text 23"/>
          <p:cNvSpPr/>
          <p:nvPr/>
        </p:nvSpPr>
        <p:spPr>
          <a:xfrm>
            <a:off x="8341157" y="222199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LOW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9310421" y="2185416"/>
            <a:ext cx="21314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파운드리 의존·공급망 리스크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8341157" y="2624328"/>
            <a:ext cx="306415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팹리스로서 생산 전량 파운드리 위탁. 수급 이슈·미중 갈등·양산 초기 수율 문제 발생 시 매출 지연 가능. 소규모 기업이라 우선순위에서 밀릴 수 있음.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341157" y="5687568"/>
            <a:ext cx="3064154" cy="566928"/>
          </a:xfrm>
          <a:prstGeom prst="roundRect">
            <a:avLst>
              <a:gd name="adj" fmla="val 9677"/>
            </a:avLst>
          </a:prstGeom>
          <a:solidFill>
            <a:srgbClr val="EAF1FB"/>
          </a:solidFill>
          <a:ln/>
        </p:spPr>
      </p:sp>
      <p:sp>
        <p:nvSpPr>
          <p:cNvPr id="30" name="Text 27"/>
          <p:cNvSpPr/>
          <p:nvPr/>
        </p:nvSpPr>
        <p:spPr>
          <a:xfrm>
            <a:off x="8469173" y="5705856"/>
            <a:ext cx="282641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완화  </a:t>
            </a:r>
            <a:r>
              <a:rPr lang="en-US" sz="105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다수 파운드리 협력 유지 + 국내 파운드리 우선 활용으로 완화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66928" y="42062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굴림"/>
                <a:ea typeface="굴림"/>
                <a:cs typeface="굴림"/>
              </a:rPr>
              <a:t>3</a:t>
            </a:r>
            <a:endParaRPr lang="en-US" sz="1500"/>
          </a:p>
        </p:txBody>
      </p:sp>
      <p:sp>
        <p:nvSpPr>
          <p:cNvPr id="4" name="Text 2"/>
          <p:cNvSpPr/>
          <p:nvPr/>
        </p:nvSpPr>
        <p:spPr>
          <a:xfrm>
            <a:off x="1133856" y="42062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1200" b="1" kern="0" spc="200">
                <a:solidFill>
                  <a:srgbClr val="1C56B8"/>
                </a:solidFill>
                <a:latin typeface="굴림"/>
                <a:ea typeface="굴림"/>
                <a:cs typeface="굴림"/>
              </a:rPr>
              <a:t>투자 리스크</a:t>
            </a:r>
            <a:endParaRPr lang="en-US" sz="1200"/>
          </a:p>
        </p:txBody>
      </p:sp>
      <p:pic>
        <p:nvPicPr>
          <p:cNvPr id="5" name="Image 0" descr="logo_light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997135" y="384048"/>
            <a:ext cx="1627632" cy="4790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종합 리스크 매트릭스</a:t>
            </a:r>
            <a:endParaRPr lang="en-US" sz="3000"/>
          </a:p>
        </p:txBody>
      </p:sp>
      <p:sp>
        <p:nvSpPr>
          <p:cNvPr id="7" name="Text 4"/>
          <p:cNvSpPr/>
          <p:nvPr/>
        </p:nvSpPr>
        <p:spPr>
          <a:xfrm>
            <a:off x="566928" y="14447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135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발생 가능성과 영향도로 평가한 6대 리스크와 대응 방안</a:t>
            </a:r>
            <a:endParaRPr lang="en-US" sz="1350"/>
          </a:p>
        </p:txBody>
      </p:sp>
      <p:sp>
        <p:nvSpPr>
          <p:cNvPr id="8" name="Text 5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9AA4B4"/>
                </a:solidFill>
                <a:latin typeface="굴림"/>
                <a:ea typeface="굴림"/>
                <a:cs typeface="굴림"/>
              </a:rPr>
              <a:t>Sapien Semiconductors  |  KOSDAQ 452430  |  Investment Analysis</a:t>
            </a:r>
            <a:endParaRPr lang="en-US" sz="850"/>
          </a:p>
        </p:txBody>
      </p:sp>
      <p:sp>
        <p:nvSpPr>
          <p:cNvPr id="9" name="Text 6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9AA4B4"/>
                </a:solidFill>
                <a:latin typeface="굴림"/>
                <a:ea typeface="굴림"/>
                <a:cs typeface="굴림"/>
              </a:rPr>
              <a:t>18</a:t>
            </a:r>
            <a:endParaRPr lang="en-US" sz="900"/>
          </a:p>
        </p:txBody>
      </p:sp>
      <p:sp>
        <p:nvSpPr>
          <p:cNvPr id="10" name="Shape 7"/>
          <p:cNvSpPr/>
          <p:nvPr/>
        </p:nvSpPr>
        <p:spPr>
          <a:xfrm>
            <a:off x="566928" y="2020824"/>
            <a:ext cx="11057839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graphicFrame>
        <p:nvGraphicFramePr>
          <p:cNvPr id="21" name="Table 0"/>
          <p:cNvGraphicFramePr>
            <a:graphicFrameLocks noGrp="1"/>
          </p:cNvGraphicFramePr>
          <p:nvPr/>
        </p:nvGraphicFramePr>
        <p:xfrm>
          <a:off x="786384" y="2240280"/>
          <a:ext cx="10881360" cy="3200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굴림"/>
                          <a:ea typeface="굴림"/>
                          <a:cs typeface="굴림"/>
                        </a:rPr>
                        <a:t>리스크 항목</a:t>
                      </a:r>
                      <a:endParaRPr lang="en-US" sz="110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E2E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굴림"/>
                          <a:ea typeface="굴림"/>
                          <a:cs typeface="굴림"/>
                        </a:rPr>
                        <a:t>발생 가능성</a:t>
                      </a:r>
                      <a:endParaRPr lang="en-US" sz="110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E2E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굴림"/>
                          <a:ea typeface="굴림"/>
                          <a:cs typeface="굴림"/>
                        </a:rPr>
                        <a:t>영향도</a:t>
                      </a:r>
                      <a:endParaRPr lang="en-US" sz="110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E2E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굴림"/>
                          <a:ea typeface="굴림"/>
                          <a:cs typeface="굴림"/>
                        </a:rPr>
                        <a:t>종합 위험</a:t>
                      </a:r>
                      <a:endParaRPr lang="en-US" sz="110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E2E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굴림"/>
                          <a:ea typeface="굴림"/>
                          <a:cs typeface="굴림"/>
                        </a:rPr>
                        <a:t>대응 방안</a:t>
                      </a:r>
                      <a:endParaRPr lang="en-US" sz="110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E2E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10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AR 시장 지연</a:t>
                      </a:r>
                      <a:endParaRPr lang="en-US" sz="110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중간 (40%)</a:t>
                      </a:r>
                      <a:endParaRPr lang="en-US" sz="110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매우 높음</a:t>
                      </a:r>
                      <a:endParaRPr lang="en-US" sz="110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 b="1">
                          <a:solidFill>
                            <a:srgbClr val="D64550"/>
                          </a:solidFill>
                          <a:latin typeface="굴림"/>
                          <a:ea typeface="굴림"/>
                          <a:cs typeface="굴림"/>
                        </a:rPr>
                        <a:t>⚠ 높음</a:t>
                      </a:r>
                      <a:endParaRPr lang="en-US" sz="110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4개권 고객 다변화</a:t>
                      </a:r>
                      <a:endParaRPr lang="en-US" sz="110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10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영업 적자 지속</a:t>
                      </a:r>
                      <a:endParaRPr lang="en-US" sz="110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현재 진행중</a:t>
                      </a:r>
                      <a:endParaRPr lang="en-US" sz="110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중간</a:t>
                      </a:r>
                      <a:endParaRPr lang="en-US" sz="110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 b="1">
                          <a:solidFill>
                            <a:srgbClr val="D64550"/>
                          </a:solidFill>
                          <a:latin typeface="굴림"/>
                          <a:ea typeface="굴림"/>
                          <a:cs typeface="굴림"/>
                        </a:rPr>
                        <a:t>⚠ 높음</a:t>
                      </a:r>
                      <a:endParaRPr lang="en-US" sz="110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현금 81억, 2026 BEP</a:t>
                      </a:r>
                      <a:endParaRPr lang="en-US" sz="110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10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OLEDoS 전환</a:t>
                      </a:r>
                      <a:endParaRPr lang="en-US" sz="110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낮음 (20%)</a:t>
                      </a:r>
                      <a:endParaRPr lang="en-US" sz="110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매우 높음</a:t>
                      </a:r>
                      <a:endParaRPr lang="en-US" sz="110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 b="1">
                          <a:solidFill>
                            <a:srgbClr val="E0A030"/>
                          </a:solidFill>
                          <a:latin typeface="굴림"/>
                          <a:ea typeface="굴림"/>
                          <a:cs typeface="굴림"/>
                        </a:rPr>
                        <a:t>▲ 중간</a:t>
                      </a:r>
                      <a:endParaRPr lang="en-US" sz="110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메타·구글 LEDoS 확인</a:t>
                      </a:r>
                      <a:endParaRPr lang="en-US" sz="110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10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중국 경쟁사 추격</a:t>
                      </a:r>
                      <a:endParaRPr lang="en-US" sz="110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중간 (35%)</a:t>
                      </a:r>
                      <a:endParaRPr lang="en-US" sz="110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중간</a:t>
                      </a:r>
                      <a:endParaRPr lang="en-US" sz="110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 b="1">
                          <a:solidFill>
                            <a:srgbClr val="E0A030"/>
                          </a:solidFill>
                          <a:latin typeface="굴림"/>
                          <a:ea typeface="굴림"/>
                          <a:cs typeface="굴림"/>
                        </a:rPr>
                        <a:t>▲ 중간</a:t>
                      </a:r>
                      <a:endParaRPr lang="en-US" sz="110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특허 장벽·기술격차 유지</a:t>
                      </a:r>
                      <a:endParaRPr lang="en-US" sz="110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10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고객 비공개</a:t>
                      </a:r>
                      <a:endParaRPr lang="en-US" sz="110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현재 진행중</a:t>
                      </a:r>
                      <a:endParaRPr lang="en-US" sz="110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낮음</a:t>
                      </a:r>
                      <a:endParaRPr lang="en-US" sz="110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 b="1">
                          <a:solidFill>
                            <a:srgbClr val="1F9E5A"/>
                          </a:solidFill>
                          <a:latin typeface="굴림"/>
                          <a:ea typeface="굴림"/>
                          <a:cs typeface="굴림"/>
                        </a:rPr>
                        <a:t>● 낮음</a:t>
                      </a:r>
                      <a:endParaRPr lang="en-US" sz="110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공시 계약 모니터링</a:t>
                      </a:r>
                      <a:endParaRPr lang="en-US" sz="110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10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파운드리 공급망</a:t>
                      </a:r>
                      <a:endParaRPr lang="en-US" sz="110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낮음 (10%)</a:t>
                      </a:r>
                      <a:endParaRPr lang="en-US" sz="110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중간</a:t>
                      </a:r>
                      <a:endParaRPr lang="en-US" sz="110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 b="1">
                          <a:solidFill>
                            <a:srgbClr val="1F9E5A"/>
                          </a:solidFill>
                          <a:latin typeface="굴림"/>
                          <a:ea typeface="굴림"/>
                          <a:cs typeface="굴림"/>
                        </a:rPr>
                        <a:t>● 낮음</a:t>
                      </a:r>
                      <a:endParaRPr lang="en-US" sz="110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10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다수 파운드리 협력</a:t>
                      </a:r>
                      <a:endParaRPr lang="en-US" sz="110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66928" y="5907024"/>
            <a:ext cx="11057839" cy="493776"/>
          </a:xfrm>
          <a:prstGeom prst="roundRect">
            <a:avLst>
              <a:gd name="adj" fmla="val 14815"/>
            </a:avLst>
          </a:prstGeom>
          <a:solidFill>
            <a:srgbClr val="0B1830"/>
          </a:solidFill>
          <a:ln/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3" name="Image 1" descr="ic_idea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841248" y="5975604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89888" y="5952744"/>
            <a:ext cx="10051999" cy="40233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300" b="1">
                <a:solidFill>
                  <a:srgbClr val="00B2D6"/>
                </a:solidFill>
                <a:latin typeface="굴림"/>
                <a:ea typeface="굴림"/>
                <a:cs typeface="굴림"/>
              </a:rPr>
              <a:t>결론  </a:t>
            </a:r>
            <a:r>
              <a:rPr lang="en-US" sz="1200">
                <a:solidFill>
                  <a:srgbClr val="FFFFFF"/>
                </a:solidFill>
                <a:latin typeface="굴림"/>
                <a:ea typeface="굴림"/>
                <a:cs typeface="굴림"/>
              </a:rPr>
              <a:t>고위험·고수익 성장주. AR 글래스 시장의 불확실성을 감수해야 하나, 원천특허·선점 계약이라는 강력한 투자 논거가 존재. 중장기 분할 매수 전략이 필요.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0287" y="457200"/>
            <a:ext cx="1554480" cy="4575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1828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B2D6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CHAPTER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66928" y="210312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1A336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04</a:t>
            </a:r>
            <a:endParaRPr lang="en-US" sz="9600" dirty="0"/>
          </a:p>
        </p:txBody>
      </p:sp>
      <p:pic>
        <p:nvPicPr>
          <p:cNvPr id="5" name="Image 1" descr="ic_road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0048" y="2331720"/>
            <a:ext cx="822960" cy="8229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675888" y="23317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투자 로드맵</a:t>
            </a:r>
            <a:endParaRPr lang="en-US" sz="4000" dirty="0"/>
          </a:p>
        </p:txBody>
      </p:sp>
      <p:sp>
        <p:nvSpPr>
          <p:cNvPr id="7" name="Text 3"/>
          <p:cNvSpPr/>
          <p:nvPr/>
        </p:nvSpPr>
        <p:spPr>
          <a:xfrm>
            <a:off x="3703320" y="31546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FB0E0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Investment Roadmap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66928" y="4434840"/>
            <a:ext cx="2558720" cy="868680"/>
          </a:xfrm>
          <a:prstGeom prst="roundRect">
            <a:avLst>
              <a:gd name="adj" fmla="val 8421"/>
            </a:avLst>
          </a:prstGeom>
          <a:solidFill>
            <a:srgbClr val="14233F"/>
          </a:solidFill>
          <a:ln w="12700">
            <a:solidFill>
              <a:srgbClr val="23406E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4434840"/>
            <a:ext cx="2229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7E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단계별 투자 3-Phase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3399968" y="4434840"/>
            <a:ext cx="2558720" cy="868680"/>
          </a:xfrm>
          <a:prstGeom prst="roundRect">
            <a:avLst>
              <a:gd name="adj" fmla="val 8421"/>
            </a:avLst>
          </a:prstGeom>
          <a:solidFill>
            <a:srgbClr val="14233F"/>
          </a:solidFill>
          <a:ln w="12700">
            <a:solidFill>
              <a:srgbClr val="23406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564560" y="4434840"/>
            <a:ext cx="2229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7E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상승·하락 카탈리스트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233008" y="4434840"/>
            <a:ext cx="2558720" cy="868680"/>
          </a:xfrm>
          <a:prstGeom prst="roundRect">
            <a:avLst>
              <a:gd name="adj" fmla="val 8421"/>
            </a:avLst>
          </a:prstGeom>
          <a:solidFill>
            <a:srgbClr val="14233F"/>
          </a:solidFill>
          <a:ln w="12700">
            <a:solidFill>
              <a:srgbClr val="23406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397600" y="4434840"/>
            <a:ext cx="2229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7E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목표주가 시나리오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9066047" y="4434840"/>
            <a:ext cx="2558720" cy="868680"/>
          </a:xfrm>
          <a:prstGeom prst="roundRect">
            <a:avLst>
              <a:gd name="adj" fmla="val 8421"/>
            </a:avLst>
          </a:prstGeom>
          <a:solidFill>
            <a:srgbClr val="14233F"/>
          </a:solidFill>
          <a:ln w="12700">
            <a:solidFill>
              <a:srgbClr val="23406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230639" y="4434840"/>
            <a:ext cx="2229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7EE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분할 매수·모니터링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AA4B4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Sapien Semiconductors  |  KOSDAQ 452430  |  Investment Analysis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B4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66928" y="42062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굴림"/>
                <a:ea typeface="굴림"/>
                <a:cs typeface="굴림"/>
              </a:rPr>
              <a:t>4</a:t>
            </a:r>
            <a:endParaRPr lang="en-US" sz="1500"/>
          </a:p>
        </p:txBody>
      </p:sp>
      <p:sp>
        <p:nvSpPr>
          <p:cNvPr id="4" name="Text 2"/>
          <p:cNvSpPr/>
          <p:nvPr/>
        </p:nvSpPr>
        <p:spPr>
          <a:xfrm>
            <a:off x="1133856" y="42062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1200" b="1" kern="0" spc="200">
                <a:solidFill>
                  <a:srgbClr val="1C56B8"/>
                </a:solidFill>
                <a:latin typeface="굴림"/>
                <a:ea typeface="굴림"/>
                <a:cs typeface="굴림"/>
              </a:rPr>
              <a:t>투자 로드맵</a:t>
            </a:r>
            <a:endParaRPr lang="en-US" sz="1200"/>
          </a:p>
        </p:txBody>
      </p:sp>
      <p:pic>
        <p:nvPicPr>
          <p:cNvPr id="5" name="Image 0" descr="logo_light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997135" y="384048"/>
            <a:ext cx="1627632" cy="4790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단계별 투자 로드맵 · 3-Phase</a:t>
            </a:r>
            <a:endParaRPr lang="en-US" sz="3000"/>
          </a:p>
        </p:txBody>
      </p:sp>
      <p:sp>
        <p:nvSpPr>
          <p:cNvPr id="7" name="Text 4"/>
          <p:cNvSpPr/>
          <p:nvPr/>
        </p:nvSpPr>
        <p:spPr>
          <a:xfrm>
            <a:off x="566928" y="14447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135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이벤트 드리븐 분할 매수 — 양산 확인과 실적 검증에 따라 단계적 확대</a:t>
            </a:r>
            <a:endParaRPr lang="en-US" sz="1350"/>
          </a:p>
        </p:txBody>
      </p:sp>
      <p:sp>
        <p:nvSpPr>
          <p:cNvPr id="8" name="Text 5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9AA4B4"/>
                </a:solidFill>
                <a:latin typeface="굴림"/>
                <a:ea typeface="굴림"/>
                <a:cs typeface="굴림"/>
              </a:rPr>
              <a:t>Sapien Semiconductors  |  KOSDAQ 452430  |  Investment Analysis</a:t>
            </a:r>
            <a:endParaRPr lang="en-US" sz="850"/>
          </a:p>
        </p:txBody>
      </p:sp>
      <p:sp>
        <p:nvSpPr>
          <p:cNvPr id="9" name="Text 6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9AA4B4"/>
                </a:solidFill>
                <a:latin typeface="굴림"/>
                <a:ea typeface="굴림"/>
                <a:cs typeface="굴림"/>
              </a:rPr>
              <a:t>20</a:t>
            </a:r>
            <a:endParaRPr lang="en-US" sz="900"/>
          </a:p>
        </p:txBody>
      </p:sp>
      <p:sp>
        <p:nvSpPr>
          <p:cNvPr id="10" name="Shape 7"/>
          <p:cNvSpPr/>
          <p:nvPr/>
        </p:nvSpPr>
        <p:spPr>
          <a:xfrm>
            <a:off x="566928" y="2020824"/>
            <a:ext cx="3503066" cy="4379976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566928" y="2020824"/>
            <a:ext cx="3503066" cy="841248"/>
          </a:xfrm>
          <a:prstGeom prst="roundRect">
            <a:avLst>
              <a:gd name="adj" fmla="val 8696"/>
            </a:avLst>
          </a:prstGeom>
          <a:solidFill>
            <a:srgbClr val="1C56B8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804672" y="2148840"/>
            <a:ext cx="3045866" cy="32918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굴림"/>
                <a:ea typeface="굴림"/>
                <a:cs typeface="굴림"/>
              </a:rPr>
              <a:t>PHASE 1</a:t>
            </a:r>
            <a:endParaRPr lang="en-US" sz="1600"/>
          </a:p>
        </p:txBody>
      </p:sp>
      <p:sp>
        <p:nvSpPr>
          <p:cNvPr id="13" name="Text 10"/>
          <p:cNvSpPr/>
          <p:nvPr/>
        </p:nvSpPr>
        <p:spPr>
          <a:xfrm>
            <a:off x="804672" y="2496312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D7E2F4"/>
                </a:solidFill>
                <a:latin typeface="굴림"/>
                <a:ea typeface="굴림"/>
                <a:cs typeface="굴림"/>
              </a:rPr>
              <a:t>현재 ~ 2026 상반기</a:t>
            </a:r>
            <a:endParaRPr lang="en-US" sz="1100"/>
          </a:p>
        </p:txBody>
      </p:sp>
      <p:sp>
        <p:nvSpPr>
          <p:cNvPr id="14" name="Text 11"/>
          <p:cNvSpPr/>
          <p:nvPr/>
        </p:nvSpPr>
        <p:spPr>
          <a:xfrm>
            <a:off x="804672" y="3008376"/>
            <a:ext cx="3045866" cy="54864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en-US" sz="135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포지션 구축 &amp; 모니터링</a:t>
            </a:r>
            <a:endParaRPr lang="en-US" sz="1350"/>
          </a:p>
        </p:txBody>
      </p:sp>
      <p:sp>
        <p:nvSpPr>
          <p:cNvPr id="15" name="Text 12"/>
          <p:cNvSpPr/>
          <p:nvPr/>
        </p:nvSpPr>
        <p:spPr>
          <a:xfrm>
            <a:off x="822960" y="3648456"/>
            <a:ext cx="2991002" cy="1371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현 주가(~33,250원) 소량 선취매 진입</a:t>
            </a:r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AR 글래스 출시 일정·NRE 공시 모니터링</a:t>
            </a:r>
            <a:endParaRPr lang="en-US" sz="1150"/>
          </a:p>
        </p:txBody>
      </p:sp>
      <p:sp>
        <p:nvSpPr>
          <p:cNvPr id="16" name="Shape 13"/>
          <p:cNvSpPr/>
          <p:nvPr/>
        </p:nvSpPr>
        <p:spPr>
          <a:xfrm>
            <a:off x="804672" y="5486400"/>
            <a:ext cx="3027578" cy="749808"/>
          </a:xfrm>
          <a:prstGeom prst="roundRect">
            <a:avLst>
              <a:gd name="adj" fmla="val 7317"/>
            </a:avLst>
          </a:prstGeom>
          <a:solidFill>
            <a:srgbClr val="EAF1FB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932688" y="5504688"/>
            <a:ext cx="2771546" cy="7132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050" b="1">
                <a:solidFill>
                  <a:srgbClr val="1C56B8"/>
                </a:solidFill>
                <a:latin typeface="굴림"/>
                <a:ea typeface="굴림"/>
                <a:cs typeface="굴림"/>
              </a:rPr>
              <a:t>트리거: 빅테크 AR 출시 발표 · 양산 매출 본격화</a:t>
            </a:r>
            <a:endParaRPr lang="en-US" sz="1050"/>
          </a:p>
        </p:txBody>
      </p:sp>
      <p:sp>
        <p:nvSpPr>
          <p:cNvPr id="18" name="Shape 15"/>
          <p:cNvSpPr/>
          <p:nvPr/>
        </p:nvSpPr>
        <p:spPr>
          <a:xfrm>
            <a:off x="4344314" y="2020824"/>
            <a:ext cx="3503066" cy="4379976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4344314" y="2020824"/>
            <a:ext cx="3503066" cy="841248"/>
          </a:xfrm>
          <a:prstGeom prst="roundRect">
            <a:avLst>
              <a:gd name="adj" fmla="val 8696"/>
            </a:avLst>
          </a:prstGeom>
          <a:solidFill>
            <a:srgbClr val="00B2D6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4582058" y="2148840"/>
            <a:ext cx="3045866" cy="32918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굴림"/>
                <a:ea typeface="굴림"/>
                <a:cs typeface="굴림"/>
              </a:rPr>
              <a:t>PHASE 2</a:t>
            </a:r>
            <a:endParaRPr lang="en-US" sz="1600"/>
          </a:p>
        </p:txBody>
      </p:sp>
      <p:sp>
        <p:nvSpPr>
          <p:cNvPr id="21" name="Text 18"/>
          <p:cNvSpPr/>
          <p:nvPr/>
        </p:nvSpPr>
        <p:spPr>
          <a:xfrm>
            <a:off x="4582058" y="2496312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D7E2F4"/>
                </a:solidFill>
                <a:latin typeface="굴림"/>
                <a:ea typeface="굴림"/>
                <a:cs typeface="굴림"/>
              </a:rPr>
              <a:t>2026 하반기</a:t>
            </a:r>
            <a:endParaRPr lang="en-US" sz="1100"/>
          </a:p>
        </p:txBody>
      </p:sp>
      <p:sp>
        <p:nvSpPr>
          <p:cNvPr id="22" name="Text 19"/>
          <p:cNvSpPr/>
          <p:nvPr/>
        </p:nvSpPr>
        <p:spPr>
          <a:xfrm>
            <a:off x="4582058" y="3008376"/>
            <a:ext cx="3045866" cy="54864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en-US" sz="135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본격 투자 확대 (양산 확인)</a:t>
            </a:r>
            <a:endParaRPr lang="en-US" sz="1350"/>
          </a:p>
        </p:txBody>
      </p:sp>
      <p:sp>
        <p:nvSpPr>
          <p:cNvPr id="23" name="Text 20"/>
          <p:cNvSpPr/>
          <p:nvPr/>
        </p:nvSpPr>
        <p:spPr>
          <a:xfrm>
            <a:off x="4600346" y="3648456"/>
            <a:ext cx="2991002" cy="1371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중국·북미 고객사 양산 제품 매출 확인 후 확대</a:t>
            </a:r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분기 매출 100억 돌파 여부 확인</a:t>
            </a:r>
            <a:endParaRPr lang="en-US" sz="1150"/>
          </a:p>
        </p:txBody>
      </p:sp>
      <p:sp>
        <p:nvSpPr>
          <p:cNvPr id="24" name="Shape 21"/>
          <p:cNvSpPr/>
          <p:nvPr/>
        </p:nvSpPr>
        <p:spPr>
          <a:xfrm>
            <a:off x="4582058" y="5486400"/>
            <a:ext cx="3027578" cy="749808"/>
          </a:xfrm>
          <a:prstGeom prst="roundRect">
            <a:avLst>
              <a:gd name="adj" fmla="val 7317"/>
            </a:avLst>
          </a:prstGeom>
          <a:solidFill>
            <a:srgbClr val="EAF1FB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4710074" y="5504688"/>
            <a:ext cx="2771546" cy="7132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050" b="1">
                <a:solidFill>
                  <a:srgbClr val="1C56B8"/>
                </a:solidFill>
                <a:latin typeface="굴림"/>
                <a:ea typeface="굴림"/>
                <a:cs typeface="굴림"/>
              </a:rPr>
              <a:t>트리거: 분기 제품 매출 10억+ · 영업이익 흑자</a:t>
            </a:r>
            <a:endParaRPr lang="en-US" sz="1050"/>
          </a:p>
        </p:txBody>
      </p:sp>
      <p:sp>
        <p:nvSpPr>
          <p:cNvPr id="26" name="Shape 23"/>
          <p:cNvSpPr/>
          <p:nvPr/>
        </p:nvSpPr>
        <p:spPr>
          <a:xfrm>
            <a:off x="8121701" y="2020824"/>
            <a:ext cx="3503066" cy="4379976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8121701" y="2020824"/>
            <a:ext cx="3503066" cy="841248"/>
          </a:xfrm>
          <a:prstGeom prst="roundRect">
            <a:avLst>
              <a:gd name="adj" fmla="val 8696"/>
            </a:avLst>
          </a:prstGeom>
          <a:solidFill>
            <a:srgbClr val="0E2E63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8359445" y="2148840"/>
            <a:ext cx="3045866" cy="32918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굴림"/>
                <a:ea typeface="굴림"/>
                <a:cs typeface="굴림"/>
              </a:rPr>
              <a:t>PHASE 3</a:t>
            </a:r>
            <a:endParaRPr lang="en-US" sz="1600"/>
          </a:p>
        </p:txBody>
      </p:sp>
      <p:sp>
        <p:nvSpPr>
          <p:cNvPr id="29" name="Text 26"/>
          <p:cNvSpPr/>
          <p:nvPr/>
        </p:nvSpPr>
        <p:spPr>
          <a:xfrm>
            <a:off x="8359445" y="2496312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D7E2F4"/>
                </a:solidFill>
                <a:latin typeface="굴림"/>
                <a:ea typeface="굴림"/>
                <a:cs typeface="굴림"/>
              </a:rPr>
              <a:t>2027 이후</a:t>
            </a:r>
            <a:endParaRPr lang="en-US" sz="1100"/>
          </a:p>
        </p:txBody>
      </p:sp>
      <p:sp>
        <p:nvSpPr>
          <p:cNvPr id="30" name="Text 27"/>
          <p:cNvSpPr/>
          <p:nvPr/>
        </p:nvSpPr>
        <p:spPr>
          <a:xfrm>
            <a:off x="8359445" y="3008376"/>
            <a:ext cx="3045866" cy="54864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en-US" sz="135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수익 실현 &amp; 포트폴리오 조정</a:t>
            </a:r>
            <a:endParaRPr lang="en-US" sz="1350"/>
          </a:p>
        </p:txBody>
      </p:sp>
      <p:sp>
        <p:nvSpPr>
          <p:cNvPr id="31" name="Text 28"/>
          <p:cNvSpPr/>
          <p:nvPr/>
        </p:nvSpPr>
        <p:spPr>
          <a:xfrm>
            <a:off x="8377733" y="3648456"/>
            <a:ext cx="2991002" cy="1371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매출 957억·영업이익 168억 달성 검증</a:t>
            </a:r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연매출 1,000억 돌파 시 수익 실현 검토</a:t>
            </a:r>
            <a:endParaRPr lang="en-US" sz="1150"/>
          </a:p>
        </p:txBody>
      </p:sp>
      <p:sp>
        <p:nvSpPr>
          <p:cNvPr id="32" name="Shape 29"/>
          <p:cNvSpPr/>
          <p:nvPr/>
        </p:nvSpPr>
        <p:spPr>
          <a:xfrm>
            <a:off x="8359445" y="5486400"/>
            <a:ext cx="3027578" cy="749808"/>
          </a:xfrm>
          <a:prstGeom prst="roundRect">
            <a:avLst>
              <a:gd name="adj" fmla="val 7317"/>
            </a:avLst>
          </a:prstGeom>
          <a:solidFill>
            <a:srgbClr val="EAF1FB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8487461" y="5504688"/>
            <a:ext cx="2771546" cy="7132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050" b="1">
                <a:solidFill>
                  <a:srgbClr val="1C56B8"/>
                </a:solidFill>
                <a:latin typeface="굴림"/>
                <a:ea typeface="굴림"/>
                <a:cs typeface="굴림"/>
              </a:rPr>
              <a:t>트리거: 연매출 1,000억 돌파 · 컨센서스 상향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33856" y="42062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투자 로드맵</a:t>
            </a:r>
            <a:endParaRPr lang="en-US" sz="1200" dirty="0"/>
          </a:p>
        </p:txBody>
      </p:sp>
      <p:pic>
        <p:nvPicPr>
          <p:cNvPr id="5" name="Image 0" descr="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7135" y="384048"/>
            <a:ext cx="1627632" cy="4790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핵심 카탈리스트 &amp; 체크포인트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66928" y="14447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주가의 방향성을 가를 상승·하락 변수 점검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AA4B4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Sapien Semiconductors  |  KOSDAQ 452430  |  Investment Analysis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B4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21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" y="2020824"/>
            <a:ext cx="5391760" cy="4379976"/>
          </a:xfrm>
          <a:prstGeom prst="roundRect">
            <a:avLst>
              <a:gd name="adj" fmla="val 1670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6928" y="2020824"/>
            <a:ext cx="5391760" cy="640080"/>
          </a:xfrm>
          <a:prstGeom prst="roundRect">
            <a:avLst>
              <a:gd name="adj" fmla="val 11429"/>
            </a:avLst>
          </a:prstGeom>
          <a:solidFill>
            <a:srgbClr val="1F9E5A"/>
          </a:solidFill>
          <a:ln/>
        </p:spPr>
      </p:sp>
      <p:pic>
        <p:nvPicPr>
          <p:cNvPr id="12" name="Image 1" descr="ic_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185416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43584" y="2020824"/>
            <a:ext cx="456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주가 상승 카탈리스트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877824" y="2862072"/>
            <a:ext cx="4806544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글로벌 빅테크 AR 글래스 출시 공식 발표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분기 제품 매출 비중 30%+ 전환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추가 NRE 계약 공시 (연간 3건+)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영업이익 첫 흑자 달성 분기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애플·삼성 AR 글래스 LEDoS 채택 확인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2026년 매출 가이던스 상향 조정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233008" y="2020824"/>
            <a:ext cx="5391760" cy="4379976"/>
          </a:xfrm>
          <a:prstGeom prst="roundRect">
            <a:avLst>
              <a:gd name="adj" fmla="val 1670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33008" y="2020824"/>
            <a:ext cx="5391760" cy="640080"/>
          </a:xfrm>
          <a:prstGeom prst="roundRect">
            <a:avLst>
              <a:gd name="adj" fmla="val 11429"/>
            </a:avLst>
          </a:prstGeom>
          <a:solidFill>
            <a:srgbClr val="D64550"/>
          </a:solidFill>
          <a:ln/>
        </p:spPr>
      </p:sp>
      <p:pic>
        <p:nvPicPr>
          <p:cNvPr id="17" name="Image 2" descr="ic_dow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9040" y="2185416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09664" y="2020824"/>
            <a:ext cx="456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주가 하락 카탈리스트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543904" y="2862072"/>
            <a:ext cx="4806544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분기 매출이 컨센서스 크게 하회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AR 글래스 출시 연기 (6개월+)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주요 고객사 NRE 계약 해지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유상증자 또는 대규모 자금 조달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OLEDoS가 업계 표준으로 채택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중국 경쟁사 대규모 양산 성공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66928" y="42062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굴림"/>
                <a:ea typeface="굴림"/>
                <a:cs typeface="굴림"/>
              </a:rPr>
              <a:t>4</a:t>
            </a:r>
            <a:endParaRPr lang="en-US" sz="1500"/>
          </a:p>
        </p:txBody>
      </p:sp>
      <p:sp>
        <p:nvSpPr>
          <p:cNvPr id="4" name="Text 2"/>
          <p:cNvSpPr/>
          <p:nvPr/>
        </p:nvSpPr>
        <p:spPr>
          <a:xfrm>
            <a:off x="1133856" y="42062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1200" b="1" kern="0" spc="200">
                <a:solidFill>
                  <a:srgbClr val="1C56B8"/>
                </a:solidFill>
                <a:latin typeface="굴림"/>
                <a:ea typeface="굴림"/>
                <a:cs typeface="굴림"/>
              </a:rPr>
              <a:t>투자 로드맵</a:t>
            </a:r>
            <a:endParaRPr lang="en-US" sz="1200"/>
          </a:p>
        </p:txBody>
      </p:sp>
      <p:pic>
        <p:nvPicPr>
          <p:cNvPr id="5" name="Image 0" descr="logo_light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997135" y="384048"/>
            <a:ext cx="1627632" cy="4790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목표주가 시나리오 분석</a:t>
            </a:r>
            <a:endParaRPr lang="en-US" sz="3000"/>
          </a:p>
        </p:txBody>
      </p:sp>
      <p:sp>
        <p:nvSpPr>
          <p:cNvPr id="8" name="Text 5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9AA4B4"/>
                </a:solidFill>
                <a:latin typeface="굴림"/>
                <a:ea typeface="굴림"/>
                <a:cs typeface="굴림"/>
              </a:rPr>
              <a:t>Sapien Semiconductors  |  KOSDAQ 452430  |  Investment Analysis</a:t>
            </a:r>
            <a:endParaRPr lang="en-US" sz="850"/>
          </a:p>
        </p:txBody>
      </p:sp>
      <p:sp>
        <p:nvSpPr>
          <p:cNvPr id="9" name="Text 6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9AA4B4"/>
                </a:solidFill>
                <a:latin typeface="굴림"/>
                <a:ea typeface="굴림"/>
                <a:cs typeface="굴림"/>
              </a:rPr>
              <a:t>22</a:t>
            </a:r>
            <a:endParaRPr lang="en-US" sz="900"/>
          </a:p>
        </p:txBody>
      </p:sp>
      <p:sp>
        <p:nvSpPr>
          <p:cNvPr id="105" name="Text 11"/>
          <p:cNvSpPr/>
          <p:nvPr/>
        </p:nvSpPr>
        <p:spPr>
          <a:xfrm>
            <a:off x="542925" y="1373124"/>
            <a:ext cx="11277295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sz="1350" b="0" i="0" u="none" strike="noStrike" kern="1200" cap="none" spc="0" normalizeH="0" baseline="0">
                <a:solidFill>
                  <a:srgbClr val="5B6170"/>
                </a:solidFill>
                <a:latin typeface="굴림"/>
                <a:ea typeface="굴림"/>
              </a:rPr>
              <a:t>현재주가 ₩3</a:t>
            </a:r>
            <a:r>
              <a:rPr kumimoji="0" lang="en-US" altLang="ko-KR" sz="1350" b="0" i="0" u="none" strike="noStrike" kern="1200" cap="none" spc="0" normalizeH="0" baseline="0">
                <a:solidFill>
                  <a:srgbClr val="5B6170"/>
                </a:solidFill>
                <a:latin typeface="굴림"/>
                <a:ea typeface="굴림"/>
              </a:rPr>
              <a:t>3</a:t>
            </a:r>
            <a:r>
              <a:rPr kumimoji="0" lang="en-US" sz="1350" b="0" i="0" u="none" strike="noStrike" kern="1200" cap="none" spc="0" normalizeH="0" baseline="0">
                <a:solidFill>
                  <a:srgbClr val="5B6170"/>
                </a:solidFill>
                <a:latin typeface="굴림"/>
                <a:ea typeface="굴림"/>
              </a:rPr>
              <a:t>,</a:t>
            </a:r>
            <a:r>
              <a:rPr kumimoji="0" lang="en-US" altLang="ko-KR" sz="1350" b="0" i="0" u="none" strike="noStrike" kern="1200" cap="none" spc="0" normalizeH="0" baseline="0">
                <a:solidFill>
                  <a:srgbClr val="5B6170"/>
                </a:solidFill>
                <a:latin typeface="굴림"/>
                <a:ea typeface="굴림"/>
              </a:rPr>
              <a:t>2</a:t>
            </a:r>
            <a:r>
              <a:rPr kumimoji="0" lang="en-US" sz="1350" b="0" i="0" u="none" strike="noStrike" kern="1200" cap="none" spc="0" normalizeH="0" baseline="0">
                <a:solidFill>
                  <a:srgbClr val="5B6170"/>
                </a:solidFill>
                <a:latin typeface="굴림"/>
                <a:ea typeface="굴림"/>
              </a:rPr>
              <a:t>50원 기준 · 27F EPS x Target P/E 산식 + 매출성장률 가정 종합</a:t>
            </a:r>
            <a:r>
              <a:rPr kumimoji="0" lang="ko-KR" altLang="en-US" sz="1350" b="0" i="0" u="none" strike="noStrike" kern="1200" cap="none" spc="0" normalizeH="0" baseline="0">
                <a:solidFill>
                  <a:srgbClr val="5B6170"/>
                </a:solidFill>
                <a:latin typeface="굴림"/>
                <a:ea typeface="굴림"/>
              </a:rPr>
              <a:t>     </a:t>
            </a:r>
            <a:r>
              <a:rPr kumimoji="0" lang="en-US" altLang="ko-KR" sz="1350" b="0" i="0" u="none" strike="noStrike" kern="1200" cap="none" spc="0" normalizeH="0" baseline="0">
                <a:solidFill>
                  <a:srgbClr val="5B6170"/>
                </a:solidFill>
                <a:latin typeface="굴림"/>
                <a:ea typeface="굴림"/>
              </a:rPr>
              <a:t>(</a:t>
            </a:r>
            <a:r>
              <a:rPr kumimoji="0" lang="ko-KR" altLang="en-US" sz="1350" b="0" i="0" u="none" strike="noStrike" kern="1200" cap="none" spc="0" normalizeH="0" baseline="0">
                <a:solidFill>
                  <a:srgbClr val="5B6170"/>
                </a:solidFill>
                <a:latin typeface="굴림"/>
                <a:ea typeface="굴림"/>
              </a:rPr>
              <a:t>현대차증권</a:t>
            </a:r>
            <a:r>
              <a:rPr kumimoji="0" lang="en-US" altLang="ko-KR" sz="1350" b="0" i="0" u="none" strike="noStrike" kern="1200" cap="none" spc="0" normalizeH="0" baseline="0">
                <a:solidFill>
                  <a:srgbClr val="5B6170"/>
                </a:solidFill>
                <a:latin typeface="굴림"/>
                <a:ea typeface="굴림"/>
              </a:rPr>
              <a:t>)</a:t>
            </a:r>
          </a:p>
        </p:txBody>
      </p:sp>
      <p:sp>
        <p:nvSpPr>
          <p:cNvPr id="106" name="Shape 12"/>
          <p:cNvSpPr/>
          <p:nvPr/>
        </p:nvSpPr>
        <p:spPr>
          <a:xfrm>
            <a:off x="485775" y="1912620"/>
            <a:ext cx="11277295" cy="1325880"/>
          </a:xfrm>
          <a:prstGeom prst="roundRect">
            <a:avLst>
              <a:gd name="adj" fmla="val 5517"/>
            </a:avLst>
          </a:prstGeom>
          <a:solidFill>
            <a:srgbClr val="FFFFFF">
              <a:alpha val="100000"/>
            </a:srgbClr>
          </a:solidFill>
          <a:ln/>
          <a:effectLst>
            <a:outerShdw blurRad="101600" dist="38100" dir="5400000" algn="bl" rotWithShape="0">
              <a:srgbClr val="1B1F2A">
                <a:alpha val="7840"/>
              </a:srgbClr>
            </a:outerShdw>
          </a:effectLst>
        </p:spPr>
        <p:txBody>
          <a:bodyPr anchor="ctr"/>
          <a:lstStyle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000000"/>
              </a:solidFill>
              <a:latin typeface="굴림"/>
              <a:ea typeface="굴림"/>
            </a:endParaRPr>
          </a:p>
        </p:txBody>
      </p:sp>
      <p:sp>
        <p:nvSpPr>
          <p:cNvPr id="107" name="Shape 13"/>
          <p:cNvSpPr/>
          <p:nvPr/>
        </p:nvSpPr>
        <p:spPr>
          <a:xfrm>
            <a:off x="485775" y="1912620"/>
            <a:ext cx="11277295" cy="1325880"/>
          </a:xfrm>
          <a:prstGeom prst="roundRect">
            <a:avLst>
              <a:gd name="adj" fmla="val 5517"/>
            </a:avLst>
          </a:prstGeom>
          <a:solidFill>
            <a:srgbClr val="E8F6EE">
              <a:alpha val="100000"/>
            </a:srgbClr>
          </a:solidFill>
          <a:ln/>
        </p:spPr>
        <p:txBody>
          <a:bodyPr anchor="ctr"/>
          <a:lstStyle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000000"/>
              </a:solidFill>
              <a:latin typeface="굴림"/>
              <a:ea typeface="굴림"/>
            </a:endParaRPr>
          </a:p>
        </p:txBody>
      </p:sp>
      <p:sp>
        <p:nvSpPr>
          <p:cNvPr id="108" name="Shape 14"/>
          <p:cNvSpPr/>
          <p:nvPr/>
        </p:nvSpPr>
        <p:spPr>
          <a:xfrm>
            <a:off x="760095" y="2168652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1E9E5A">
              <a:alpha val="100000"/>
            </a:srgbClr>
          </a:solidFill>
          <a:ln/>
        </p:spPr>
        <p:txBody>
          <a:bodyPr anchor="ctr"/>
          <a:lstStyle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000000"/>
              </a:solidFill>
              <a:latin typeface="굴림"/>
              <a:ea typeface="굴림"/>
            </a:endParaRPr>
          </a:p>
        </p:txBody>
      </p:sp>
      <p:sp>
        <p:nvSpPr>
          <p:cNvPr id="109" name="Text 15"/>
          <p:cNvSpPr/>
          <p:nvPr/>
        </p:nvSpPr>
        <p:spPr>
          <a:xfrm>
            <a:off x="760095" y="216865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sz="1300" b="1" i="0" u="none" strike="noStrike" kern="1200" cap="none" spc="0" normalizeH="0" baseline="0">
                <a:solidFill>
                  <a:srgbClr val="FFFFFF"/>
                </a:solidFill>
                <a:latin typeface="굴림"/>
                <a:ea typeface="굴림"/>
              </a:rPr>
              <a:t>Bull Case · 낙관</a:t>
            </a:r>
            <a:endParaRPr kumimoji="0" lang="en-US" sz="1300" b="0" i="0" u="none" strike="noStrike" kern="1200" cap="none" spc="0" normalizeH="0" baseline="0">
              <a:solidFill>
                <a:srgbClr val="000000"/>
              </a:solidFill>
              <a:latin typeface="굴림"/>
              <a:ea typeface="굴림"/>
            </a:endParaRPr>
          </a:p>
        </p:txBody>
      </p:sp>
      <p:sp>
        <p:nvSpPr>
          <p:cNvPr id="110" name="Text 16"/>
          <p:cNvSpPr/>
          <p:nvPr/>
        </p:nvSpPr>
        <p:spPr>
          <a:xfrm>
            <a:off x="760095" y="26258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sz="1100" b="1" i="0" u="none" strike="noStrike" kern="1200" cap="none" spc="0" normalizeH="0" baseline="0">
                <a:solidFill>
                  <a:srgbClr val="1E9E5A"/>
                </a:solidFill>
                <a:latin typeface="굴림"/>
                <a:ea typeface="굴림"/>
              </a:rPr>
              <a:t>확률 25%</a:t>
            </a:r>
            <a:endParaRPr kumimoji="0" lang="en-US" sz="1100" b="0" i="0" u="none" strike="noStrike" kern="1200" cap="none" spc="0" normalizeH="0" baseline="0">
              <a:solidFill>
                <a:srgbClr val="000000"/>
              </a:solidFill>
              <a:latin typeface="굴림"/>
              <a:ea typeface="굴림"/>
            </a:endParaRPr>
          </a:p>
        </p:txBody>
      </p:sp>
      <p:sp>
        <p:nvSpPr>
          <p:cNvPr id="111" name="Text 17"/>
          <p:cNvSpPr/>
          <p:nvPr/>
        </p:nvSpPr>
        <p:spPr>
          <a:xfrm>
            <a:off x="2817495" y="20955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sz="1000" b="0" i="0" u="none" strike="noStrike" kern="1200" cap="none" spc="0" normalizeH="0" baseline="0">
                <a:solidFill>
                  <a:srgbClr val="5B6170"/>
                </a:solidFill>
                <a:latin typeface="굴림"/>
                <a:ea typeface="굴림"/>
              </a:rPr>
              <a:t>목표가</a:t>
            </a:r>
            <a:endParaRPr kumimoji="0" lang="en-US" sz="1000" b="0" i="0" u="none" strike="noStrike" kern="1200" cap="none" spc="0" normalizeH="0" baseline="0">
              <a:solidFill>
                <a:srgbClr val="000000"/>
              </a:solidFill>
              <a:latin typeface="굴림"/>
              <a:ea typeface="굴림"/>
            </a:endParaRPr>
          </a:p>
        </p:txBody>
      </p:sp>
      <p:sp>
        <p:nvSpPr>
          <p:cNvPr id="112" name="Text 18"/>
          <p:cNvSpPr/>
          <p:nvPr/>
        </p:nvSpPr>
        <p:spPr>
          <a:xfrm>
            <a:off x="2817495" y="229666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sz="2000" b="1" i="0" u="none" strike="noStrike" kern="1200" cap="none" spc="0" normalizeH="0" baseline="0">
                <a:solidFill>
                  <a:srgbClr val="1B1F2A"/>
                </a:solidFill>
                <a:latin typeface="굴림"/>
                <a:ea typeface="굴림"/>
              </a:rPr>
              <a:t>₩66,000~89,000</a:t>
            </a:r>
            <a:endParaRPr kumimoji="0" lang="en-US" sz="2000" b="0" i="0" u="none" strike="noStrike" kern="1200" cap="none" spc="0" normalizeH="0" baseline="0">
              <a:solidFill>
                <a:srgbClr val="000000"/>
              </a:solidFill>
              <a:latin typeface="굴림"/>
              <a:ea typeface="굴림"/>
            </a:endParaRPr>
          </a:p>
        </p:txBody>
      </p:sp>
      <p:sp>
        <p:nvSpPr>
          <p:cNvPr id="113" name="Text 19"/>
          <p:cNvSpPr/>
          <p:nvPr/>
        </p:nvSpPr>
        <p:spPr>
          <a:xfrm>
            <a:off x="2817495" y="27538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sz="1300" b="1" i="0" u="none" strike="noStrike" kern="1200" cap="none" spc="0" normalizeH="0" baseline="0">
                <a:solidFill>
                  <a:srgbClr val="1E9E5A"/>
                </a:solidFill>
                <a:latin typeface="굴림"/>
                <a:ea typeface="굴림"/>
              </a:rPr>
              <a:t>+90 ~ +156%</a:t>
            </a:r>
            <a:endParaRPr kumimoji="0" lang="en-US" sz="1300" b="0" i="0" u="none" strike="noStrike" kern="1200" cap="none" spc="0" normalizeH="0" baseline="0">
              <a:solidFill>
                <a:srgbClr val="000000"/>
              </a:solidFill>
              <a:latin typeface="굴림"/>
              <a:ea typeface="굴림"/>
            </a:endParaRPr>
          </a:p>
        </p:txBody>
      </p:sp>
      <p:sp>
        <p:nvSpPr>
          <p:cNvPr id="114" name="Text 20"/>
          <p:cNvSpPr/>
          <p:nvPr/>
        </p:nvSpPr>
        <p:spPr>
          <a:xfrm>
            <a:off x="5560695" y="2095500"/>
            <a:ext cx="5928055" cy="23774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sz="1000" b="0" i="0" u="none" strike="noStrike" kern="1200" cap="none" spc="0" normalizeH="0" baseline="0">
                <a:solidFill>
                  <a:srgbClr val="5B6170"/>
                </a:solidFill>
                <a:latin typeface="굴림"/>
                <a:ea typeface="굴림"/>
              </a:rPr>
              <a:t>근거</a:t>
            </a:r>
            <a:endParaRPr kumimoji="0" lang="en-US" sz="1000" b="0" i="0" u="none" strike="noStrike" kern="1200" cap="none" spc="0" normalizeH="0" baseline="0">
              <a:solidFill>
                <a:srgbClr val="000000"/>
              </a:solidFill>
              <a:latin typeface="굴림"/>
              <a:ea typeface="굴림"/>
            </a:endParaRPr>
          </a:p>
        </p:txBody>
      </p:sp>
      <p:sp>
        <p:nvSpPr>
          <p:cNvPr id="115" name="Text 21"/>
          <p:cNvSpPr/>
          <p:nvPr/>
        </p:nvSpPr>
        <p:spPr>
          <a:xfrm>
            <a:off x="5560695" y="2333244"/>
            <a:ext cx="5928055" cy="77724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 defTabSz="914400" rtl="0" eaLnBrk="1" latinLnBrk="0" hangingPunct="1">
              <a:lnSpc>
                <a:spcPct val="118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sz="1050" b="0" i="0" u="none" strike="noStrike" kern="1200" cap="none" spc="0" normalizeH="0" baseline="0">
                <a:solidFill>
                  <a:srgbClr val="1B1F2A"/>
                </a:solidFill>
                <a:latin typeface="굴림"/>
                <a:ea typeface="굴림"/>
              </a:rPr>
              <a:t>LEDoS  양산 풀가동 + </a:t>
            </a:r>
            <a:r>
              <a:rPr kumimoji="0" lang="ko-KR" altLang="en-US" sz="1050" b="0" i="0" u="none" strike="noStrike" kern="1200" cap="none" spc="0" normalizeH="0" baseline="0">
                <a:solidFill>
                  <a:srgbClr val="1B1F2A"/>
                </a:solidFill>
                <a:latin typeface="굴림"/>
                <a:ea typeface="굴림"/>
                <a:cs typeface="Calibri"/>
              </a:rPr>
              <a:t>북미</a:t>
            </a:r>
            <a:r>
              <a:rPr kumimoji="0" lang="en-US" sz="1050" b="0" i="0" u="none" strike="noStrike" kern="1200" cap="none" spc="0" normalizeH="0" baseline="0">
                <a:solidFill>
                  <a:srgbClr val="1B1F2A"/>
                </a:solidFill>
                <a:latin typeface="굴림"/>
                <a:ea typeface="굴림"/>
              </a:rPr>
              <a:t> 빅테크 NRE→양산 전환 가속 / 2027F 매출 1,000억원+ /</a:t>
            </a:r>
            <a:r>
              <a:rPr kumimoji="0" lang="ko-KR" altLang="en-US" sz="1050" b="0" i="0" u="none" strike="noStrike" kern="1200" cap="none" spc="0" normalizeH="0" baseline="0">
                <a:solidFill>
                  <a:srgbClr val="1B1F2A"/>
                </a:solidFill>
                <a:latin typeface="굴림"/>
                <a:ea typeface="굴림"/>
                <a:cs typeface="Calibri"/>
              </a:rPr>
              <a:t> </a:t>
            </a:r>
            <a:r>
              <a:rPr kumimoji="0" lang="en-US" altLang="ko-KR" sz="1050" b="0" i="0" u="none" strike="noStrike" kern="1200" cap="none" spc="0" normalizeH="0" baseline="0">
                <a:solidFill>
                  <a:srgbClr val="1B1F2A"/>
                </a:solidFill>
                <a:latin typeface="굴림"/>
                <a:ea typeface="굴림"/>
              </a:rPr>
              <a:t>2026 AR</a:t>
            </a:r>
            <a:r>
              <a:rPr kumimoji="0" lang="ko-KR" altLang="en-US" sz="1050" b="0" i="0" u="none" strike="noStrike" kern="1200" cap="none" spc="0" normalizeH="0" baseline="0">
                <a:solidFill>
                  <a:srgbClr val="1B1F2A"/>
                </a:solidFill>
                <a:latin typeface="굴림"/>
                <a:ea typeface="굴림"/>
                <a:cs typeface="Calibri"/>
              </a:rPr>
              <a:t> 글래스 조기 대중화</a:t>
            </a:r>
            <a:r>
              <a:rPr kumimoji="0" lang="en-US" altLang="ko-KR" sz="1050" b="0" i="0" u="none" strike="noStrike" kern="1200" cap="none" spc="0" normalizeH="0" baseline="0">
                <a:solidFill>
                  <a:srgbClr val="1B1F2A"/>
                </a:solidFill>
                <a:latin typeface="굴림"/>
                <a:ea typeface="굴림"/>
              </a:rPr>
              <a:t>/</a:t>
            </a:r>
            <a:r>
              <a:rPr kumimoji="0" lang="ko-KR" altLang="en-US" sz="1050" b="0" i="0" u="none" strike="noStrike" kern="1200" cap="none" spc="0" normalizeH="0" baseline="0">
                <a:solidFill>
                  <a:srgbClr val="1B1F2A"/>
                </a:solidFill>
                <a:latin typeface="굴림"/>
                <a:ea typeface="굴림"/>
                <a:cs typeface="Calibri"/>
              </a:rPr>
              <a:t> 메타</a:t>
            </a:r>
            <a:r>
              <a:rPr kumimoji="0" lang="en-US" altLang="ko-KR" sz="1050" b="0" i="0" u="none" strike="noStrike" kern="1200" cap="none" spc="0" normalizeH="0" baseline="0">
                <a:solidFill>
                  <a:srgbClr val="1B1F2A"/>
                </a:solidFill>
                <a:latin typeface="굴림"/>
                <a:ea typeface="굴림"/>
              </a:rPr>
              <a:t>,</a:t>
            </a:r>
            <a:r>
              <a:rPr kumimoji="0" lang="ko-KR" altLang="en-US" sz="1050" b="0" i="0" u="none" strike="noStrike" kern="1200" cap="none" spc="0" normalizeH="0" baseline="0">
                <a:solidFill>
                  <a:srgbClr val="1B1F2A"/>
                </a:solidFill>
                <a:latin typeface="굴림"/>
                <a:ea typeface="굴림"/>
                <a:cs typeface="Calibri"/>
              </a:rPr>
              <a:t> 삼성 동시 양산 공급 확인</a:t>
            </a:r>
            <a:r>
              <a:rPr kumimoji="0" lang="en-US" sz="1050" b="0" i="0" u="none" strike="noStrike" kern="1200" cap="none" spc="0" normalizeH="0" baseline="0">
                <a:solidFill>
                  <a:srgbClr val="1B1F2A"/>
                </a:solidFill>
                <a:latin typeface="굴림"/>
                <a:ea typeface="굴림"/>
              </a:rPr>
              <a:t> / Target P/E 28~33배(밸류에이션 리레이팅)</a:t>
            </a:r>
          </a:p>
        </p:txBody>
      </p:sp>
      <p:sp>
        <p:nvSpPr>
          <p:cNvPr id="116" name="Shape 22"/>
          <p:cNvSpPr/>
          <p:nvPr/>
        </p:nvSpPr>
        <p:spPr>
          <a:xfrm>
            <a:off x="485775" y="3439668"/>
            <a:ext cx="11277295" cy="1325880"/>
          </a:xfrm>
          <a:prstGeom prst="roundRect">
            <a:avLst>
              <a:gd name="adj" fmla="val 5517"/>
            </a:avLst>
          </a:prstGeom>
          <a:solidFill>
            <a:srgbClr val="FFFFFF">
              <a:alpha val="100000"/>
            </a:srgbClr>
          </a:solidFill>
          <a:ln/>
          <a:effectLst>
            <a:outerShdw blurRad="101600" dist="38100" dir="5400000" algn="bl" rotWithShape="0">
              <a:srgbClr val="1B1F2A">
                <a:alpha val="7840"/>
              </a:srgbClr>
            </a:outerShdw>
          </a:effectLst>
        </p:spPr>
        <p:txBody>
          <a:bodyPr anchor="ctr"/>
          <a:lstStyle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000000"/>
              </a:solidFill>
              <a:latin typeface="굴림"/>
              <a:ea typeface="굴림"/>
            </a:endParaRPr>
          </a:p>
        </p:txBody>
      </p:sp>
      <p:sp>
        <p:nvSpPr>
          <p:cNvPr id="117" name="Shape 23"/>
          <p:cNvSpPr/>
          <p:nvPr/>
        </p:nvSpPr>
        <p:spPr>
          <a:xfrm>
            <a:off x="485775" y="3439668"/>
            <a:ext cx="11277295" cy="1325880"/>
          </a:xfrm>
          <a:prstGeom prst="roundRect">
            <a:avLst>
              <a:gd name="adj" fmla="val 5517"/>
            </a:avLst>
          </a:prstGeom>
          <a:solidFill>
            <a:srgbClr val="EAEEFC">
              <a:alpha val="100000"/>
            </a:srgbClr>
          </a:solidFill>
          <a:ln/>
        </p:spPr>
        <p:txBody>
          <a:bodyPr anchor="ctr"/>
          <a:lstStyle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000000"/>
              </a:solidFill>
              <a:latin typeface="굴림"/>
              <a:ea typeface="굴림"/>
            </a:endParaRPr>
          </a:p>
        </p:txBody>
      </p:sp>
      <p:sp>
        <p:nvSpPr>
          <p:cNvPr id="118" name="Shape 24"/>
          <p:cNvSpPr/>
          <p:nvPr/>
        </p:nvSpPr>
        <p:spPr>
          <a:xfrm>
            <a:off x="760095" y="3695700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2F4DD6">
              <a:alpha val="100000"/>
            </a:srgbClr>
          </a:solidFill>
          <a:ln/>
        </p:spPr>
        <p:txBody>
          <a:bodyPr anchor="ctr"/>
          <a:lstStyle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000000"/>
              </a:solidFill>
              <a:latin typeface="굴림"/>
              <a:ea typeface="굴림"/>
            </a:endParaRPr>
          </a:p>
        </p:txBody>
      </p:sp>
      <p:sp>
        <p:nvSpPr>
          <p:cNvPr id="119" name="Text 25"/>
          <p:cNvSpPr/>
          <p:nvPr/>
        </p:nvSpPr>
        <p:spPr>
          <a:xfrm>
            <a:off x="760095" y="36957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sz="1300" b="1" i="0" u="none" strike="noStrike" kern="1200" cap="none" spc="0" normalizeH="0" baseline="0">
                <a:solidFill>
                  <a:srgbClr val="FFFFFF"/>
                </a:solidFill>
                <a:latin typeface="굴림"/>
                <a:ea typeface="굴림"/>
              </a:rPr>
              <a:t>Base Case · 기본</a:t>
            </a:r>
            <a:endParaRPr kumimoji="0" lang="en-US" sz="1300" b="0" i="0" u="none" strike="noStrike" kern="1200" cap="none" spc="0" normalizeH="0" baseline="0">
              <a:solidFill>
                <a:srgbClr val="000000"/>
              </a:solidFill>
              <a:latin typeface="굴림"/>
              <a:ea typeface="굴림"/>
            </a:endParaRPr>
          </a:p>
        </p:txBody>
      </p:sp>
      <p:sp>
        <p:nvSpPr>
          <p:cNvPr id="120" name="Text 26"/>
          <p:cNvSpPr/>
          <p:nvPr/>
        </p:nvSpPr>
        <p:spPr>
          <a:xfrm>
            <a:off x="760095" y="41529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sz="1100" b="1" i="0" u="none" strike="noStrike" kern="1200" cap="none" spc="0" normalizeH="0" baseline="0">
                <a:solidFill>
                  <a:srgbClr val="2F4DD6"/>
                </a:solidFill>
                <a:latin typeface="굴림"/>
                <a:ea typeface="굴림"/>
              </a:rPr>
              <a:t>확률 50%</a:t>
            </a:r>
            <a:endParaRPr kumimoji="0" lang="en-US" sz="1100" b="0" i="0" u="none" strike="noStrike" kern="1200" cap="none" spc="0" normalizeH="0" baseline="0">
              <a:solidFill>
                <a:srgbClr val="000000"/>
              </a:solidFill>
              <a:latin typeface="굴림"/>
              <a:ea typeface="굴림"/>
            </a:endParaRPr>
          </a:p>
        </p:txBody>
      </p:sp>
      <p:sp>
        <p:nvSpPr>
          <p:cNvPr id="121" name="Text 27"/>
          <p:cNvSpPr/>
          <p:nvPr/>
        </p:nvSpPr>
        <p:spPr>
          <a:xfrm>
            <a:off x="2817495" y="362254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sz="1000" b="0" i="0" u="none" strike="noStrike" kern="1200" cap="none" spc="0" normalizeH="0" baseline="0">
                <a:solidFill>
                  <a:srgbClr val="5B6170"/>
                </a:solidFill>
                <a:latin typeface="굴림"/>
                <a:ea typeface="굴림"/>
              </a:rPr>
              <a:t>목표가</a:t>
            </a:r>
            <a:endParaRPr kumimoji="0" lang="en-US" sz="1000" b="0" i="0" u="none" strike="noStrike" kern="1200" cap="none" spc="0" normalizeH="0" baseline="0">
              <a:solidFill>
                <a:srgbClr val="000000"/>
              </a:solidFill>
              <a:latin typeface="굴림"/>
              <a:ea typeface="굴림"/>
            </a:endParaRPr>
          </a:p>
        </p:txBody>
      </p:sp>
      <p:sp>
        <p:nvSpPr>
          <p:cNvPr id="122" name="Text 28"/>
          <p:cNvSpPr/>
          <p:nvPr/>
        </p:nvSpPr>
        <p:spPr>
          <a:xfrm>
            <a:off x="2817495" y="382371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sz="2000" b="1" i="0" u="none" strike="noStrike" kern="1200" cap="none" spc="0" normalizeH="0" baseline="0">
                <a:solidFill>
                  <a:srgbClr val="1B1F2A"/>
                </a:solidFill>
                <a:latin typeface="굴림"/>
                <a:ea typeface="굴림"/>
              </a:rPr>
              <a:t>₩39,000~47,000</a:t>
            </a:r>
            <a:endParaRPr kumimoji="0" lang="en-US" sz="2000" b="0" i="0" u="none" strike="noStrike" kern="1200" cap="none" spc="0" normalizeH="0" baseline="0">
              <a:solidFill>
                <a:srgbClr val="000000"/>
              </a:solidFill>
              <a:latin typeface="굴림"/>
              <a:ea typeface="굴림"/>
            </a:endParaRPr>
          </a:p>
        </p:txBody>
      </p:sp>
      <p:sp>
        <p:nvSpPr>
          <p:cNvPr id="123" name="Text 29"/>
          <p:cNvSpPr/>
          <p:nvPr/>
        </p:nvSpPr>
        <p:spPr>
          <a:xfrm>
            <a:off x="2817495" y="428091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sz="1300" b="1" i="0" u="none" strike="noStrike" kern="1200" cap="none" spc="0" normalizeH="0" baseline="0">
                <a:solidFill>
                  <a:srgbClr val="2F4DD6"/>
                </a:solidFill>
                <a:latin typeface="굴림"/>
                <a:ea typeface="굴림"/>
              </a:rPr>
              <a:t>+12 ~ +35%</a:t>
            </a:r>
            <a:endParaRPr kumimoji="0" lang="en-US" sz="1300" b="0" i="0" u="none" strike="noStrike" kern="1200" cap="none" spc="0" normalizeH="0" baseline="0">
              <a:solidFill>
                <a:srgbClr val="000000"/>
              </a:solidFill>
              <a:latin typeface="굴림"/>
              <a:ea typeface="굴림"/>
            </a:endParaRPr>
          </a:p>
        </p:txBody>
      </p:sp>
      <p:sp>
        <p:nvSpPr>
          <p:cNvPr id="124" name="Text 30"/>
          <p:cNvSpPr/>
          <p:nvPr/>
        </p:nvSpPr>
        <p:spPr>
          <a:xfrm>
            <a:off x="5560695" y="3622548"/>
            <a:ext cx="5928055" cy="23774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sz="1000" b="0" i="0" u="none" strike="noStrike" kern="1200" cap="none" spc="0" normalizeH="0" baseline="0">
                <a:solidFill>
                  <a:srgbClr val="5B6170"/>
                </a:solidFill>
                <a:latin typeface="굴림"/>
                <a:ea typeface="굴림"/>
              </a:rPr>
              <a:t>근거</a:t>
            </a:r>
            <a:endParaRPr kumimoji="0" lang="en-US" sz="1000" b="0" i="0" u="none" strike="noStrike" kern="1200" cap="none" spc="0" normalizeH="0" baseline="0">
              <a:solidFill>
                <a:srgbClr val="000000"/>
              </a:solidFill>
              <a:latin typeface="굴림"/>
              <a:ea typeface="굴림"/>
            </a:endParaRPr>
          </a:p>
        </p:txBody>
      </p:sp>
      <p:sp>
        <p:nvSpPr>
          <p:cNvPr id="125" name="Text 31"/>
          <p:cNvSpPr/>
          <p:nvPr/>
        </p:nvSpPr>
        <p:spPr>
          <a:xfrm>
            <a:off x="5560695" y="3860292"/>
            <a:ext cx="5928055" cy="77724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 defTabSz="914400" rtl="0" eaLnBrk="1" latinLnBrk="0" hangingPunct="1">
              <a:lnSpc>
                <a:spcPct val="118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sz="1050" b="0" i="0" u="none" strike="noStrike" kern="1200" cap="none" spc="0" normalizeH="0" baseline="0">
                <a:solidFill>
                  <a:srgbClr val="1B1F2A"/>
                </a:solidFill>
                <a:latin typeface="굴림"/>
                <a:ea typeface="굴림"/>
              </a:rPr>
              <a:t>리포트 기준 시나리오 : 2027F EPS 2,047원 · 2027F 매출 957억원 · Target P/E 22.9배(2017년 OLED Cycle 소재/부품 Peer 평균 적용)</a:t>
            </a:r>
            <a:endParaRPr kumimoji="0" lang="en-US" sz="1050" b="0" i="0" u="none" strike="noStrike" kern="1200" cap="none" spc="0" normalizeH="0" baseline="0">
              <a:solidFill>
                <a:srgbClr val="000000"/>
              </a:solidFill>
              <a:latin typeface="굴림"/>
              <a:ea typeface="굴림"/>
            </a:endParaRPr>
          </a:p>
        </p:txBody>
      </p:sp>
      <p:sp>
        <p:nvSpPr>
          <p:cNvPr id="126" name="Shape 32"/>
          <p:cNvSpPr/>
          <p:nvPr/>
        </p:nvSpPr>
        <p:spPr>
          <a:xfrm>
            <a:off x="485775" y="4966716"/>
            <a:ext cx="11277295" cy="1325880"/>
          </a:xfrm>
          <a:prstGeom prst="roundRect">
            <a:avLst>
              <a:gd name="adj" fmla="val 5517"/>
            </a:avLst>
          </a:prstGeom>
          <a:solidFill>
            <a:srgbClr val="FFFFFF">
              <a:alpha val="100000"/>
            </a:srgbClr>
          </a:solidFill>
          <a:ln/>
          <a:effectLst>
            <a:outerShdw blurRad="101600" dist="38100" dir="5400000" algn="bl" rotWithShape="0">
              <a:srgbClr val="1B1F2A">
                <a:alpha val="7840"/>
              </a:srgbClr>
            </a:outerShdw>
          </a:effectLst>
        </p:spPr>
        <p:txBody>
          <a:bodyPr anchor="ctr"/>
          <a:lstStyle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000000"/>
              </a:solidFill>
              <a:latin typeface="굴림"/>
              <a:ea typeface="굴림"/>
            </a:endParaRPr>
          </a:p>
        </p:txBody>
      </p:sp>
      <p:sp>
        <p:nvSpPr>
          <p:cNvPr id="127" name="Shape 33"/>
          <p:cNvSpPr/>
          <p:nvPr/>
        </p:nvSpPr>
        <p:spPr>
          <a:xfrm>
            <a:off x="485775" y="4966716"/>
            <a:ext cx="11277295" cy="1325880"/>
          </a:xfrm>
          <a:prstGeom prst="roundRect">
            <a:avLst>
              <a:gd name="adj" fmla="val 5517"/>
            </a:avLst>
          </a:prstGeom>
          <a:solidFill>
            <a:srgbClr val="FCEAEA">
              <a:alpha val="100000"/>
            </a:srgbClr>
          </a:solidFill>
          <a:ln/>
        </p:spPr>
        <p:txBody>
          <a:bodyPr anchor="ctr"/>
          <a:lstStyle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000000"/>
              </a:solidFill>
              <a:latin typeface="굴림"/>
              <a:ea typeface="굴림"/>
            </a:endParaRPr>
          </a:p>
        </p:txBody>
      </p:sp>
      <p:sp>
        <p:nvSpPr>
          <p:cNvPr id="128" name="Shape 34"/>
          <p:cNvSpPr/>
          <p:nvPr/>
        </p:nvSpPr>
        <p:spPr>
          <a:xfrm>
            <a:off x="760095" y="5222748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D43B3B">
              <a:alpha val="100000"/>
            </a:srgbClr>
          </a:solidFill>
          <a:ln/>
        </p:spPr>
        <p:txBody>
          <a:bodyPr anchor="ctr"/>
          <a:lstStyle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000000"/>
              </a:solidFill>
              <a:latin typeface="굴림"/>
              <a:ea typeface="굴림"/>
            </a:endParaRPr>
          </a:p>
        </p:txBody>
      </p:sp>
      <p:sp>
        <p:nvSpPr>
          <p:cNvPr id="129" name="Text 35"/>
          <p:cNvSpPr/>
          <p:nvPr/>
        </p:nvSpPr>
        <p:spPr>
          <a:xfrm>
            <a:off x="760095" y="522274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sz="1300" b="1" i="0" u="none" strike="noStrike" kern="1200" cap="none" spc="0" normalizeH="0" baseline="0">
                <a:solidFill>
                  <a:srgbClr val="FFFFFF"/>
                </a:solidFill>
                <a:latin typeface="굴림"/>
                <a:ea typeface="굴림"/>
              </a:rPr>
              <a:t>Bear Case · 비관</a:t>
            </a:r>
            <a:endParaRPr kumimoji="0" lang="en-US" sz="1300" b="0" i="0" u="none" strike="noStrike" kern="1200" cap="none" spc="0" normalizeH="0" baseline="0">
              <a:solidFill>
                <a:srgbClr val="000000"/>
              </a:solidFill>
              <a:latin typeface="굴림"/>
              <a:ea typeface="굴림"/>
            </a:endParaRPr>
          </a:p>
        </p:txBody>
      </p:sp>
      <p:sp>
        <p:nvSpPr>
          <p:cNvPr id="130" name="Text 36"/>
          <p:cNvSpPr/>
          <p:nvPr/>
        </p:nvSpPr>
        <p:spPr>
          <a:xfrm>
            <a:off x="760095" y="56799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sz="1100" b="1" i="0" u="none" strike="noStrike" kern="1200" cap="none" spc="0" normalizeH="0" baseline="0">
                <a:solidFill>
                  <a:srgbClr val="D43B3B"/>
                </a:solidFill>
                <a:latin typeface="굴림"/>
                <a:ea typeface="굴림"/>
              </a:rPr>
              <a:t>확률 25%</a:t>
            </a:r>
            <a:endParaRPr kumimoji="0" lang="en-US" sz="1100" b="0" i="0" u="none" strike="noStrike" kern="1200" cap="none" spc="0" normalizeH="0" baseline="0">
              <a:solidFill>
                <a:srgbClr val="000000"/>
              </a:solidFill>
              <a:latin typeface="굴림"/>
              <a:ea typeface="굴림"/>
            </a:endParaRPr>
          </a:p>
        </p:txBody>
      </p:sp>
      <p:sp>
        <p:nvSpPr>
          <p:cNvPr id="131" name="Text 37"/>
          <p:cNvSpPr/>
          <p:nvPr/>
        </p:nvSpPr>
        <p:spPr>
          <a:xfrm>
            <a:off x="2817495" y="514959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sz="1000" b="0" i="0" u="none" strike="noStrike" kern="1200" cap="none" spc="0" normalizeH="0" baseline="0">
                <a:solidFill>
                  <a:srgbClr val="5B6170"/>
                </a:solidFill>
                <a:latin typeface="굴림"/>
                <a:ea typeface="굴림"/>
              </a:rPr>
              <a:t>목표가</a:t>
            </a:r>
            <a:endParaRPr kumimoji="0" lang="en-US" sz="1000" b="0" i="0" u="none" strike="noStrike" kern="1200" cap="none" spc="0" normalizeH="0" baseline="0">
              <a:solidFill>
                <a:srgbClr val="000000"/>
              </a:solidFill>
              <a:latin typeface="굴림"/>
              <a:ea typeface="굴림"/>
            </a:endParaRPr>
          </a:p>
        </p:txBody>
      </p:sp>
      <p:sp>
        <p:nvSpPr>
          <p:cNvPr id="132" name="Text 38"/>
          <p:cNvSpPr/>
          <p:nvPr/>
        </p:nvSpPr>
        <p:spPr>
          <a:xfrm>
            <a:off x="2817495" y="535076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sz="2000" b="1" i="0" u="none" strike="noStrike" kern="1200" cap="none" spc="0" normalizeH="0" baseline="0">
                <a:solidFill>
                  <a:srgbClr val="1B1F2A"/>
                </a:solidFill>
                <a:latin typeface="굴림"/>
                <a:ea typeface="굴림"/>
              </a:rPr>
              <a:t>₩18,000~23,000</a:t>
            </a:r>
            <a:endParaRPr kumimoji="0" lang="en-US" sz="2000" b="0" i="0" u="none" strike="noStrike" kern="1200" cap="none" spc="0" normalizeH="0" baseline="0">
              <a:solidFill>
                <a:srgbClr val="000000"/>
              </a:solidFill>
              <a:latin typeface="굴림"/>
              <a:ea typeface="굴림"/>
            </a:endParaRPr>
          </a:p>
        </p:txBody>
      </p:sp>
      <p:sp>
        <p:nvSpPr>
          <p:cNvPr id="133" name="Text 39"/>
          <p:cNvSpPr/>
          <p:nvPr/>
        </p:nvSpPr>
        <p:spPr>
          <a:xfrm>
            <a:off x="2817495" y="580796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sz="1300" b="1" i="0" u="none" strike="noStrike" kern="1200" cap="none" spc="0" normalizeH="0" baseline="0">
                <a:solidFill>
                  <a:srgbClr val="D43B3B"/>
                </a:solidFill>
                <a:latin typeface="굴림"/>
                <a:ea typeface="굴림"/>
              </a:rPr>
              <a:t>-48 ~ -34%</a:t>
            </a:r>
            <a:endParaRPr kumimoji="0" lang="en-US" sz="1300" b="0" i="0" u="none" strike="noStrike" kern="1200" cap="none" spc="0" normalizeH="0" baseline="0">
              <a:solidFill>
                <a:srgbClr val="000000"/>
              </a:solidFill>
              <a:latin typeface="굴림"/>
              <a:ea typeface="굴림"/>
            </a:endParaRPr>
          </a:p>
        </p:txBody>
      </p:sp>
      <p:sp>
        <p:nvSpPr>
          <p:cNvPr id="134" name="Text 40"/>
          <p:cNvSpPr/>
          <p:nvPr/>
        </p:nvSpPr>
        <p:spPr>
          <a:xfrm>
            <a:off x="5560695" y="5149596"/>
            <a:ext cx="5928055" cy="23774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sz="1000" b="0" i="0" u="none" strike="noStrike" kern="1200" cap="none" spc="0" normalizeH="0" baseline="0">
                <a:solidFill>
                  <a:srgbClr val="5B6170"/>
                </a:solidFill>
                <a:latin typeface="굴림"/>
                <a:ea typeface="굴림"/>
              </a:rPr>
              <a:t>근거</a:t>
            </a:r>
            <a:endParaRPr kumimoji="0" lang="en-US" sz="1000" b="0" i="0" u="none" strike="noStrike" kern="1200" cap="none" spc="0" normalizeH="0" baseline="0">
              <a:solidFill>
                <a:srgbClr val="000000"/>
              </a:solidFill>
              <a:latin typeface="굴림"/>
              <a:ea typeface="굴림"/>
            </a:endParaRPr>
          </a:p>
        </p:txBody>
      </p:sp>
      <p:sp>
        <p:nvSpPr>
          <p:cNvPr id="135" name="Text 41"/>
          <p:cNvSpPr/>
          <p:nvPr/>
        </p:nvSpPr>
        <p:spPr>
          <a:xfrm>
            <a:off x="5560695" y="5387340"/>
            <a:ext cx="5928055" cy="77724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 defTabSz="914400" rtl="0" eaLnBrk="1" latinLnBrk="0" hangingPunct="1">
              <a:lnSpc>
                <a:spcPct val="118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sz="1050" b="0" i="0" u="none" strike="noStrike" kern="1200" cap="none" spc="0" normalizeH="0" baseline="0">
                <a:solidFill>
                  <a:srgbClr val="1B1F2A"/>
                </a:solidFill>
                <a:latin typeface="굴림"/>
                <a:ea typeface="굴림"/>
              </a:rPr>
              <a:t>고객사 양산 전환 지연 </a:t>
            </a:r>
            <a:r>
              <a:rPr kumimoji="0" lang="en-US" altLang="ko-KR" sz="1050" b="0" i="0" u="none" strike="noStrike" kern="1200" cap="none" spc="0" normalizeH="0" baseline="0">
                <a:solidFill>
                  <a:srgbClr val="1B1F2A"/>
                </a:solidFill>
                <a:latin typeface="굴림"/>
                <a:ea typeface="굴림"/>
              </a:rPr>
              <a:t>/</a:t>
            </a:r>
            <a:r>
              <a:rPr kumimoji="0" lang="ko-KR" altLang="en-US" sz="1050" b="0" i="0" u="none" strike="noStrike" kern="1200" cap="none" spc="0" normalizeH="0" baseline="0">
                <a:solidFill>
                  <a:srgbClr val="1B1F2A"/>
                </a:solidFill>
                <a:latin typeface="굴림"/>
                <a:ea typeface="굴림"/>
                <a:cs typeface="Calibri"/>
              </a:rPr>
              <a:t> </a:t>
            </a:r>
            <a:r>
              <a:rPr kumimoji="0" lang="en-US" altLang="ko-KR" sz="1050" b="0" i="0" u="none" strike="noStrike" kern="1200" cap="none" spc="0" normalizeH="0" baseline="0">
                <a:solidFill>
                  <a:srgbClr val="1B1F2A"/>
                </a:solidFill>
                <a:latin typeface="굴림"/>
                <a:ea typeface="굴림"/>
              </a:rPr>
              <a:t>AR </a:t>
            </a:r>
            <a:r>
              <a:rPr kumimoji="0" lang="ko-KR" altLang="en-US" sz="1050" b="0" i="0" u="none" strike="noStrike" kern="1200" cap="none" spc="0" normalizeH="0" baseline="0">
                <a:solidFill>
                  <a:srgbClr val="1B1F2A"/>
                </a:solidFill>
                <a:latin typeface="굴림"/>
                <a:ea typeface="굴림"/>
                <a:cs typeface="Calibri"/>
              </a:rPr>
              <a:t>글래스 </a:t>
            </a:r>
            <a:r>
              <a:rPr kumimoji="0" lang="en-US" altLang="ko-KR" sz="1050" b="0" i="0" u="none" strike="noStrike" kern="1200" cap="none" spc="0" normalizeH="0" baseline="0">
                <a:solidFill>
                  <a:srgbClr val="1B1F2A"/>
                </a:solidFill>
                <a:latin typeface="굴림"/>
                <a:ea typeface="굴림"/>
              </a:rPr>
              <a:t>2</a:t>
            </a:r>
            <a:r>
              <a:rPr kumimoji="0" lang="ko-KR" altLang="en-US" sz="1050" b="0" i="0" u="none" strike="noStrike" kern="1200" cap="none" spc="0" normalizeH="0" baseline="0">
                <a:solidFill>
                  <a:srgbClr val="1B1F2A"/>
                </a:solidFill>
                <a:latin typeface="굴림"/>
                <a:ea typeface="굴림"/>
                <a:cs typeface="Calibri"/>
              </a:rPr>
              <a:t>년 </a:t>
            </a:r>
            <a:r>
              <a:rPr kumimoji="0" lang="en-US" altLang="ko-KR" sz="1050" b="0" i="0" u="none" strike="noStrike" kern="1200" cap="none" spc="0" normalizeH="0" baseline="0">
                <a:solidFill>
                  <a:srgbClr val="1B1F2A"/>
                </a:solidFill>
                <a:latin typeface="굴림"/>
                <a:ea typeface="굴림"/>
              </a:rPr>
              <a:t>+</a:t>
            </a:r>
            <a:r>
              <a:rPr kumimoji="0" lang="ko-KR" altLang="en-US" sz="1050" b="0" i="0" u="none" strike="noStrike" kern="1200" cap="none" spc="0" normalizeH="0" baseline="0">
                <a:solidFill>
                  <a:srgbClr val="1B1F2A"/>
                </a:solidFill>
                <a:latin typeface="굴림"/>
                <a:ea typeface="굴림"/>
                <a:cs typeface="Calibri"/>
              </a:rPr>
              <a:t>지연</a:t>
            </a:r>
            <a:r>
              <a:rPr kumimoji="0" lang="en-US" sz="1050" b="0" i="0" u="none" strike="noStrike" kern="1200" cap="none" spc="0" normalizeH="0" baseline="0">
                <a:solidFill>
                  <a:srgbClr val="1B1F2A"/>
                </a:solidFill>
                <a:latin typeface="굴림"/>
                <a:ea typeface="굴림"/>
              </a:rPr>
              <a:t> / 2027F 매출 700억원 이하 / </a:t>
            </a:r>
            <a:r>
              <a:rPr kumimoji="0" lang="ko-KR" altLang="en-US" sz="1050" b="0" i="0" u="none" strike="noStrike" kern="1200" cap="none" spc="0" normalizeH="0" baseline="0">
                <a:solidFill>
                  <a:srgbClr val="1B1F2A"/>
                </a:solidFill>
                <a:latin typeface="굴림"/>
                <a:ea typeface="굴림"/>
                <a:cs typeface="Calibri"/>
              </a:rPr>
              <a:t>흑자전환 </a:t>
            </a:r>
            <a:r>
              <a:rPr kumimoji="0" lang="en-US" altLang="ko-KR" sz="1050" b="0" i="0" u="none" strike="noStrike" kern="1200" cap="none" spc="0" normalizeH="0" baseline="0">
                <a:solidFill>
                  <a:srgbClr val="1B1F2A"/>
                </a:solidFill>
                <a:latin typeface="굴림"/>
                <a:ea typeface="굴림"/>
              </a:rPr>
              <a:t>2028</a:t>
            </a:r>
            <a:r>
              <a:rPr kumimoji="0" lang="ko-KR" altLang="en-US" sz="1050" b="0" i="0" u="none" strike="noStrike" kern="1200" cap="none" spc="0" normalizeH="0" baseline="0">
                <a:solidFill>
                  <a:srgbClr val="1B1F2A"/>
                </a:solidFill>
                <a:latin typeface="굴림"/>
                <a:ea typeface="굴림"/>
                <a:cs typeface="Calibri"/>
              </a:rPr>
              <a:t>년 이후 연기</a:t>
            </a:r>
            <a:r>
              <a:rPr kumimoji="0" lang="en-US" sz="1050" b="0" i="0" u="none" strike="noStrike" kern="1200" cap="none" spc="0" normalizeH="0" baseline="0">
                <a:solidFill>
                  <a:srgbClr val="1B1F2A"/>
                </a:solidFill>
                <a:latin typeface="굴림"/>
                <a:ea typeface="굴림"/>
              </a:rPr>
              <a:t> / Target P/E 13~15배(디스카운트)</a:t>
            </a:r>
          </a:p>
        </p:txBody>
      </p:sp>
      <p:sp>
        <p:nvSpPr>
          <p:cNvPr id="138" name="Text 17"/>
          <p:cNvSpPr/>
          <p:nvPr/>
        </p:nvSpPr>
        <p:spPr>
          <a:xfrm>
            <a:off x="8016566" y="1373124"/>
            <a:ext cx="2051212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sz="1400" b="1" i="0" u="none" strike="noStrike" kern="1200" cap="none" spc="0" normalizeH="0" baseline="0">
                <a:solidFill>
                  <a:srgbClr val="1F9E5A"/>
                </a:solidFill>
                <a:latin typeface="굴림"/>
                <a:ea typeface="굴림"/>
                <a:cs typeface="굴림"/>
              </a:rPr>
              <a:t>1,938</a:t>
            </a:r>
            <a:r>
              <a:rPr kumimoji="0" lang="en-US" altLang="ko-KR" sz="1400" b="1" i="0" u="none" strike="noStrike" kern="1200" cap="none" spc="0" normalizeH="0" baseline="0">
                <a:solidFill>
                  <a:srgbClr val="1F9E5A"/>
                </a:solidFill>
                <a:latin typeface="굴림"/>
                <a:ea typeface="굴림"/>
                <a:cs typeface="굴림"/>
              </a:rPr>
              <a:t> x 23 = 46,000</a:t>
            </a:r>
            <a:r>
              <a:rPr kumimoji="0" lang="ko-KR" altLang="en-US" sz="1400" b="1" i="0" u="none" strike="noStrike" kern="1200" cap="none" spc="0" normalizeH="0" baseline="0">
                <a:solidFill>
                  <a:srgbClr val="1F9E5A"/>
                </a:solidFill>
                <a:latin typeface="굴림"/>
                <a:ea typeface="굴림"/>
                <a:cs typeface="굴림"/>
              </a:rPr>
              <a:t> </a:t>
            </a:r>
          </a:p>
        </p:txBody>
      </p:sp>
      <p:sp>
        <p:nvSpPr>
          <p:cNvPr id="139" name="Text 17"/>
          <p:cNvSpPr/>
          <p:nvPr/>
        </p:nvSpPr>
        <p:spPr>
          <a:xfrm>
            <a:off x="9941357" y="1373124"/>
            <a:ext cx="1907438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400" b="1" i="0" u="none" strike="noStrike" kern="1200" cap="none" spc="0" normalizeH="0" baseline="0">
                <a:solidFill>
                  <a:srgbClr val="1F9E5A"/>
                </a:solidFill>
                <a:latin typeface="굴림"/>
                <a:ea typeface="굴림"/>
                <a:cs typeface="굴림"/>
              </a:rPr>
              <a:t>6,135x 23 = 141,100</a:t>
            </a:r>
            <a:r>
              <a:rPr kumimoji="0" lang="ko-KR" altLang="en-US" sz="1400" b="1" i="0" u="none" strike="noStrike" kern="1200" cap="none" spc="0" normalizeH="0" baseline="0">
                <a:solidFill>
                  <a:srgbClr val="1F9E5A"/>
                </a:solidFill>
                <a:latin typeface="굴림"/>
                <a:ea typeface="굴림"/>
                <a:cs typeface="굴림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66928" y="42062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굴림"/>
                <a:ea typeface="굴림"/>
                <a:cs typeface="굴림"/>
              </a:rPr>
              <a:t>4</a:t>
            </a:r>
            <a:endParaRPr lang="en-US" sz="1500"/>
          </a:p>
        </p:txBody>
      </p:sp>
      <p:sp>
        <p:nvSpPr>
          <p:cNvPr id="4" name="Text 2"/>
          <p:cNvSpPr/>
          <p:nvPr/>
        </p:nvSpPr>
        <p:spPr>
          <a:xfrm>
            <a:off x="1133856" y="42062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1200" b="1" kern="0" spc="200">
                <a:solidFill>
                  <a:srgbClr val="1C56B8"/>
                </a:solidFill>
                <a:latin typeface="굴림"/>
                <a:ea typeface="굴림"/>
                <a:cs typeface="굴림"/>
              </a:rPr>
              <a:t>투자 로드맵</a:t>
            </a:r>
            <a:endParaRPr lang="en-US" sz="1200"/>
          </a:p>
        </p:txBody>
      </p:sp>
      <p:pic>
        <p:nvPicPr>
          <p:cNvPr id="5" name="Image 0" descr="logo_light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997135" y="384048"/>
            <a:ext cx="1627632" cy="4790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목표주가 시나리오 분석</a:t>
            </a:r>
            <a:endParaRPr lang="en-US" sz="3000"/>
          </a:p>
        </p:txBody>
      </p:sp>
      <p:sp>
        <p:nvSpPr>
          <p:cNvPr id="7" name="Text 4"/>
          <p:cNvSpPr/>
          <p:nvPr/>
        </p:nvSpPr>
        <p:spPr>
          <a:xfrm>
            <a:off x="566928" y="14447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135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현재주가 ₩3</a:t>
            </a:r>
            <a:r>
              <a:rPr lang="en-US" altLang="ko-KR" sz="135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3</a:t>
            </a:r>
            <a:r>
              <a:rPr lang="en-US" sz="135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,</a:t>
            </a:r>
            <a:r>
              <a:rPr lang="en-US" altLang="ko-KR" sz="135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25</a:t>
            </a:r>
            <a:r>
              <a:rPr lang="en-US" sz="135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0 기준 · 2027E EPS × PER 25~35배 산정</a:t>
            </a:r>
            <a:r>
              <a:rPr lang="ko-KR" altLang="en-US" sz="135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 </a:t>
            </a:r>
            <a:r>
              <a:rPr lang="en-US" altLang="ko-KR" sz="135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(26</a:t>
            </a:r>
            <a:r>
              <a:rPr lang="ko-KR" altLang="en-US" sz="135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년 사피엔반도체 분기보고서</a:t>
            </a:r>
            <a:r>
              <a:rPr lang="en-US" altLang="ko-KR" sz="135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)</a:t>
            </a:r>
          </a:p>
        </p:txBody>
      </p:sp>
      <p:sp>
        <p:nvSpPr>
          <p:cNvPr id="8" name="Text 5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9AA4B4"/>
                </a:solidFill>
                <a:latin typeface="굴림"/>
                <a:ea typeface="굴림"/>
                <a:cs typeface="굴림"/>
              </a:rPr>
              <a:t>Sapien Semiconductors  |  KOSDAQ 452430  |  Investment Analysis</a:t>
            </a:r>
            <a:endParaRPr lang="en-US" sz="850"/>
          </a:p>
        </p:txBody>
      </p:sp>
      <p:sp>
        <p:nvSpPr>
          <p:cNvPr id="9" name="Text 6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9AA4B4"/>
                </a:solidFill>
                <a:latin typeface="굴림"/>
                <a:ea typeface="굴림"/>
                <a:cs typeface="굴림"/>
              </a:rPr>
              <a:t>22</a:t>
            </a:r>
            <a:endParaRPr lang="en-US" sz="900"/>
          </a:p>
        </p:txBody>
      </p:sp>
      <p:sp>
        <p:nvSpPr>
          <p:cNvPr id="10" name="Shape 7"/>
          <p:cNvSpPr/>
          <p:nvPr/>
        </p:nvSpPr>
        <p:spPr>
          <a:xfrm>
            <a:off x="566928" y="2020824"/>
            <a:ext cx="11057839" cy="1277112"/>
          </a:xfrm>
          <a:prstGeom prst="roundRect">
            <a:avLst>
              <a:gd name="adj" fmla="val 572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86384" y="2221992"/>
            <a:ext cx="2286000" cy="874776"/>
          </a:xfrm>
          <a:prstGeom prst="roundRect">
            <a:avLst>
              <a:gd name="adj" fmla="val 8362"/>
            </a:avLst>
          </a:prstGeom>
          <a:solidFill>
            <a:srgbClr val="1F9E5A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86384" y="22768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450" b="1">
                <a:solidFill>
                  <a:srgbClr val="FFFFFF"/>
                </a:solidFill>
                <a:latin typeface="굴림"/>
                <a:ea typeface="굴림"/>
                <a:cs typeface="굴림"/>
              </a:rPr>
              <a:t>Bull Case · 낙관</a:t>
            </a:r>
            <a:endParaRPr lang="en-US" sz="1450"/>
          </a:p>
        </p:txBody>
      </p:sp>
      <p:sp>
        <p:nvSpPr>
          <p:cNvPr id="13" name="Text 10"/>
          <p:cNvSpPr/>
          <p:nvPr/>
        </p:nvSpPr>
        <p:spPr>
          <a:xfrm>
            <a:off x="786384" y="26944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EAF1FB"/>
                </a:solidFill>
                <a:latin typeface="굴림"/>
                <a:ea typeface="굴림"/>
                <a:cs typeface="굴림"/>
              </a:rPr>
              <a:t>확률 30%</a:t>
            </a:r>
            <a:endParaRPr lang="en-US" sz="1200"/>
          </a:p>
        </p:txBody>
      </p:sp>
      <p:sp>
        <p:nvSpPr>
          <p:cNvPr id="14" name="Text 11"/>
          <p:cNvSpPr/>
          <p:nvPr/>
        </p:nvSpPr>
        <p:spPr>
          <a:xfrm>
            <a:off x="3264408" y="2221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목표가</a:t>
            </a:r>
            <a:endParaRPr lang="en-US" sz="1050"/>
          </a:p>
        </p:txBody>
      </p:sp>
      <p:sp>
        <p:nvSpPr>
          <p:cNvPr id="15" name="Text 12"/>
          <p:cNvSpPr/>
          <p:nvPr/>
        </p:nvSpPr>
        <p:spPr>
          <a:xfrm>
            <a:off x="3264408" y="24414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900" b="1">
                <a:solidFill>
                  <a:srgbClr val="1F9E5A"/>
                </a:solidFill>
                <a:latin typeface="굴림"/>
                <a:ea typeface="굴림"/>
                <a:cs typeface="굴림"/>
              </a:rPr>
              <a:t>₩</a:t>
            </a:r>
            <a:r>
              <a:rPr lang="en-US" altLang="ko-KR" sz="1900" b="1">
                <a:solidFill>
                  <a:srgbClr val="1F9E5A"/>
                </a:solidFill>
                <a:latin typeface="굴림"/>
                <a:ea typeface="굴림"/>
                <a:cs typeface="굴림"/>
              </a:rPr>
              <a:t>7</a:t>
            </a:r>
            <a:r>
              <a:rPr lang="en-US" sz="1900" b="1">
                <a:solidFill>
                  <a:srgbClr val="1F9E5A"/>
                </a:solidFill>
                <a:latin typeface="굴림"/>
                <a:ea typeface="굴림"/>
                <a:cs typeface="굴림"/>
              </a:rPr>
              <a:t>0,000~</a:t>
            </a:r>
            <a:r>
              <a:rPr lang="en-US" altLang="ko-KR" sz="1900" b="1">
                <a:solidFill>
                  <a:srgbClr val="1F9E5A"/>
                </a:solidFill>
                <a:latin typeface="굴림"/>
                <a:ea typeface="굴림"/>
                <a:cs typeface="굴림"/>
              </a:rPr>
              <a:t>9</a:t>
            </a:r>
            <a:r>
              <a:rPr lang="en-US" sz="1900" b="1">
                <a:solidFill>
                  <a:srgbClr val="1F9E5A"/>
                </a:solidFill>
                <a:latin typeface="굴림"/>
                <a:ea typeface="굴림"/>
                <a:cs typeface="굴림"/>
              </a:rPr>
              <a:t>0,000</a:t>
            </a:r>
          </a:p>
        </p:txBody>
      </p:sp>
      <p:sp>
        <p:nvSpPr>
          <p:cNvPr id="16" name="Text 13"/>
          <p:cNvSpPr/>
          <p:nvPr/>
        </p:nvSpPr>
        <p:spPr>
          <a:xfrm>
            <a:off x="3264408" y="27310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+1</a:t>
            </a:r>
            <a:r>
              <a:rPr lang="en-US" altLang="ko-KR" sz="140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11</a:t>
            </a:r>
            <a:r>
              <a:rPr lang="en-US" sz="140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 ~ +1</a:t>
            </a:r>
            <a:r>
              <a:rPr lang="en-US" altLang="ko-KR" sz="140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71</a:t>
            </a:r>
            <a:r>
              <a:rPr lang="en-US" sz="140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%</a:t>
            </a:r>
          </a:p>
        </p:txBody>
      </p:sp>
      <p:sp>
        <p:nvSpPr>
          <p:cNvPr id="17" name="Shape 14"/>
          <p:cNvSpPr/>
          <p:nvPr/>
        </p:nvSpPr>
        <p:spPr>
          <a:xfrm>
            <a:off x="6510528" y="2295144"/>
            <a:ext cx="0" cy="728472"/>
          </a:xfrm>
          <a:prstGeom prst="line">
            <a:avLst/>
          </a:prstGeom>
          <a:noFill/>
          <a:ln w="12700">
            <a:solidFill>
              <a:srgbClr val="E2E8F2"/>
            </a:solidFill>
            <a:prstDash val="solid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6739128" y="2221992"/>
            <a:ext cx="4702759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1C56B8"/>
                </a:solidFill>
                <a:latin typeface="굴림"/>
                <a:ea typeface="굴림"/>
                <a:cs typeface="굴림"/>
              </a:rPr>
              <a:t>근거</a:t>
            </a:r>
            <a:endParaRPr lang="en-US" sz="1050"/>
          </a:p>
        </p:txBody>
      </p:sp>
      <p:sp>
        <p:nvSpPr>
          <p:cNvPr id="19" name="Text 16"/>
          <p:cNvSpPr/>
          <p:nvPr/>
        </p:nvSpPr>
        <p:spPr>
          <a:xfrm>
            <a:off x="6739128" y="2478024"/>
            <a:ext cx="4702759" cy="673608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ct val="112000"/>
              </a:lnSpc>
              <a:buNone/>
              <a:defRPr/>
            </a:pPr>
            <a:r>
              <a:rPr lang="en-US" sz="120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2026 AR 글래스 조기 대중화 / 메타·삼성 동시 양산 공급 확인 / 202</a:t>
            </a:r>
            <a:r>
              <a:rPr lang="en-US" altLang="ko-KR" sz="120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7</a:t>
            </a:r>
            <a:r>
              <a:rPr lang="en-US" sz="120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E 매출 </a:t>
            </a:r>
            <a:r>
              <a:rPr lang="en-US" altLang="ko-KR" sz="120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1,000</a:t>
            </a:r>
            <a:r>
              <a:rPr lang="en-US" sz="120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억+</a:t>
            </a:r>
          </a:p>
        </p:txBody>
      </p:sp>
      <p:sp>
        <p:nvSpPr>
          <p:cNvPr id="20" name="Shape 17"/>
          <p:cNvSpPr/>
          <p:nvPr/>
        </p:nvSpPr>
        <p:spPr>
          <a:xfrm>
            <a:off x="566928" y="3572256"/>
            <a:ext cx="11057839" cy="1277112"/>
          </a:xfrm>
          <a:prstGeom prst="roundRect">
            <a:avLst>
              <a:gd name="adj" fmla="val 572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786384" y="3773424"/>
            <a:ext cx="2286000" cy="874776"/>
          </a:xfrm>
          <a:prstGeom prst="roundRect">
            <a:avLst>
              <a:gd name="adj" fmla="val 8362"/>
            </a:avLst>
          </a:prstGeom>
          <a:solidFill>
            <a:srgbClr val="1C56B8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786384" y="38282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450" b="1">
                <a:solidFill>
                  <a:srgbClr val="FFFFFF"/>
                </a:solidFill>
                <a:latin typeface="굴림"/>
                <a:ea typeface="굴림"/>
                <a:cs typeface="굴림"/>
              </a:rPr>
              <a:t>Base Case · 기본</a:t>
            </a:r>
            <a:endParaRPr lang="en-US" sz="1450"/>
          </a:p>
        </p:txBody>
      </p:sp>
      <p:sp>
        <p:nvSpPr>
          <p:cNvPr id="23" name="Text 20"/>
          <p:cNvSpPr/>
          <p:nvPr/>
        </p:nvSpPr>
        <p:spPr>
          <a:xfrm>
            <a:off x="786384" y="424586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EAF1FB"/>
                </a:solidFill>
                <a:latin typeface="굴림"/>
                <a:ea typeface="굴림"/>
                <a:cs typeface="굴림"/>
              </a:rPr>
              <a:t>확률 50%</a:t>
            </a:r>
            <a:endParaRPr lang="en-US" sz="1200"/>
          </a:p>
        </p:txBody>
      </p:sp>
      <p:sp>
        <p:nvSpPr>
          <p:cNvPr id="24" name="Text 21"/>
          <p:cNvSpPr/>
          <p:nvPr/>
        </p:nvSpPr>
        <p:spPr>
          <a:xfrm>
            <a:off x="3264408" y="37734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목표가</a:t>
            </a:r>
            <a:endParaRPr lang="en-US" sz="1050"/>
          </a:p>
        </p:txBody>
      </p:sp>
      <p:sp>
        <p:nvSpPr>
          <p:cNvPr id="25" name="Text 22"/>
          <p:cNvSpPr/>
          <p:nvPr/>
        </p:nvSpPr>
        <p:spPr>
          <a:xfrm>
            <a:off x="3264408" y="3992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900" b="1">
                <a:solidFill>
                  <a:srgbClr val="1C56B8"/>
                </a:solidFill>
                <a:latin typeface="굴림"/>
                <a:ea typeface="굴림"/>
                <a:cs typeface="굴림"/>
              </a:rPr>
              <a:t>₩</a:t>
            </a:r>
            <a:r>
              <a:rPr lang="en-US" altLang="ko-KR" sz="1900" b="1">
                <a:solidFill>
                  <a:srgbClr val="1C56B8"/>
                </a:solidFill>
                <a:latin typeface="굴림"/>
                <a:ea typeface="굴림"/>
                <a:cs typeface="굴림"/>
              </a:rPr>
              <a:t>48</a:t>
            </a:r>
            <a:r>
              <a:rPr lang="en-US" sz="1900" b="1">
                <a:solidFill>
                  <a:srgbClr val="1C56B8"/>
                </a:solidFill>
                <a:latin typeface="굴림"/>
                <a:ea typeface="굴림"/>
                <a:cs typeface="굴림"/>
              </a:rPr>
              <a:t>,000~</a:t>
            </a:r>
            <a:r>
              <a:rPr lang="en-US" altLang="ko-KR" sz="1900" b="1">
                <a:solidFill>
                  <a:srgbClr val="1C56B8"/>
                </a:solidFill>
                <a:latin typeface="굴림"/>
                <a:ea typeface="굴림"/>
                <a:cs typeface="굴림"/>
              </a:rPr>
              <a:t>62</a:t>
            </a:r>
            <a:r>
              <a:rPr lang="en-US" sz="1900" b="1">
                <a:solidFill>
                  <a:srgbClr val="1C56B8"/>
                </a:solidFill>
                <a:latin typeface="굴림"/>
                <a:ea typeface="굴림"/>
                <a:cs typeface="굴림"/>
              </a:rPr>
              <a:t>,000</a:t>
            </a:r>
          </a:p>
        </p:txBody>
      </p:sp>
      <p:sp>
        <p:nvSpPr>
          <p:cNvPr id="26" name="Text 23"/>
          <p:cNvSpPr/>
          <p:nvPr/>
        </p:nvSpPr>
        <p:spPr>
          <a:xfrm>
            <a:off x="3264408" y="4282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+4</a:t>
            </a:r>
            <a:r>
              <a:rPr lang="en-US" altLang="ko-KR" sz="140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4</a:t>
            </a:r>
            <a:r>
              <a:rPr lang="en-US" sz="140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 ~ +8</a:t>
            </a:r>
            <a:r>
              <a:rPr lang="en-US" altLang="ko-KR" sz="140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6</a:t>
            </a:r>
            <a:r>
              <a:rPr lang="en-US" sz="140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%</a:t>
            </a:r>
          </a:p>
        </p:txBody>
      </p:sp>
      <p:sp>
        <p:nvSpPr>
          <p:cNvPr id="27" name="Shape 24"/>
          <p:cNvSpPr/>
          <p:nvPr/>
        </p:nvSpPr>
        <p:spPr>
          <a:xfrm>
            <a:off x="6510528" y="3846576"/>
            <a:ext cx="0" cy="728472"/>
          </a:xfrm>
          <a:prstGeom prst="line">
            <a:avLst/>
          </a:prstGeom>
          <a:noFill/>
          <a:ln w="12700">
            <a:solidFill>
              <a:srgbClr val="E2E8F2"/>
            </a:solidFill>
            <a:prstDash val="solid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6739128" y="3773424"/>
            <a:ext cx="4702759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1C56B8"/>
                </a:solidFill>
                <a:latin typeface="굴림"/>
                <a:ea typeface="굴림"/>
                <a:cs typeface="굴림"/>
              </a:rPr>
              <a:t>근거</a:t>
            </a:r>
            <a:endParaRPr lang="en-US" sz="1050"/>
          </a:p>
        </p:txBody>
      </p:sp>
      <p:sp>
        <p:nvSpPr>
          <p:cNvPr id="29" name="Text 26"/>
          <p:cNvSpPr/>
          <p:nvPr/>
        </p:nvSpPr>
        <p:spPr>
          <a:xfrm>
            <a:off x="6739128" y="4029456"/>
            <a:ext cx="4702759" cy="673608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ct val="112000"/>
              </a:lnSpc>
              <a:buNone/>
              <a:defRPr/>
            </a:pPr>
            <a:r>
              <a:rPr lang="en-US" sz="120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2026 하반기 양산 매출 본격화 / 202</a:t>
            </a:r>
            <a:r>
              <a:rPr lang="en-US" altLang="ko-KR" sz="120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7</a:t>
            </a:r>
            <a:r>
              <a:rPr lang="en-US" sz="120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E 매출 </a:t>
            </a:r>
            <a:r>
              <a:rPr lang="en-US" altLang="ko-KR" sz="120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957</a:t>
            </a:r>
            <a:r>
              <a:rPr lang="en-US" sz="120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억 달성 / 영업이익 흑자전환 성공</a:t>
            </a:r>
          </a:p>
        </p:txBody>
      </p:sp>
      <p:sp>
        <p:nvSpPr>
          <p:cNvPr id="30" name="Shape 27"/>
          <p:cNvSpPr/>
          <p:nvPr/>
        </p:nvSpPr>
        <p:spPr>
          <a:xfrm>
            <a:off x="566928" y="5123688"/>
            <a:ext cx="11057839" cy="1277112"/>
          </a:xfrm>
          <a:prstGeom prst="roundRect">
            <a:avLst>
              <a:gd name="adj" fmla="val 572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1" name="Shape 28"/>
          <p:cNvSpPr/>
          <p:nvPr/>
        </p:nvSpPr>
        <p:spPr>
          <a:xfrm>
            <a:off x="786384" y="5324856"/>
            <a:ext cx="2286000" cy="874776"/>
          </a:xfrm>
          <a:prstGeom prst="roundRect">
            <a:avLst>
              <a:gd name="adj" fmla="val 8362"/>
            </a:avLst>
          </a:prstGeom>
          <a:solidFill>
            <a:srgbClr val="D64550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786384" y="5379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450" b="1">
                <a:solidFill>
                  <a:srgbClr val="FFFFFF"/>
                </a:solidFill>
                <a:latin typeface="굴림"/>
                <a:ea typeface="굴림"/>
                <a:cs typeface="굴림"/>
              </a:rPr>
              <a:t>Bear Case · 비관</a:t>
            </a:r>
            <a:endParaRPr lang="en-US" sz="1450"/>
          </a:p>
        </p:txBody>
      </p:sp>
      <p:sp>
        <p:nvSpPr>
          <p:cNvPr id="33" name="Text 30"/>
          <p:cNvSpPr/>
          <p:nvPr/>
        </p:nvSpPr>
        <p:spPr>
          <a:xfrm>
            <a:off x="786384" y="57972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EAF1FB"/>
                </a:solidFill>
                <a:latin typeface="굴림"/>
                <a:ea typeface="굴림"/>
                <a:cs typeface="굴림"/>
              </a:rPr>
              <a:t>확률 20%</a:t>
            </a:r>
            <a:endParaRPr lang="en-US" sz="1200"/>
          </a:p>
        </p:txBody>
      </p:sp>
      <p:sp>
        <p:nvSpPr>
          <p:cNvPr id="34" name="Text 31"/>
          <p:cNvSpPr/>
          <p:nvPr/>
        </p:nvSpPr>
        <p:spPr>
          <a:xfrm>
            <a:off x="3264408" y="53248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목표가</a:t>
            </a:r>
            <a:endParaRPr lang="en-US" sz="1050"/>
          </a:p>
        </p:txBody>
      </p:sp>
      <p:sp>
        <p:nvSpPr>
          <p:cNvPr id="35" name="Text 32"/>
          <p:cNvSpPr/>
          <p:nvPr/>
        </p:nvSpPr>
        <p:spPr>
          <a:xfrm>
            <a:off x="3264408" y="55443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900" b="1">
                <a:solidFill>
                  <a:srgbClr val="D64550"/>
                </a:solidFill>
                <a:latin typeface="굴림"/>
                <a:ea typeface="굴림"/>
                <a:cs typeface="굴림"/>
              </a:rPr>
              <a:t>₩1</a:t>
            </a:r>
            <a:r>
              <a:rPr lang="en-US" altLang="ko-KR" sz="1900" b="1">
                <a:solidFill>
                  <a:srgbClr val="D64550"/>
                </a:solidFill>
                <a:latin typeface="굴림"/>
                <a:ea typeface="굴림"/>
                <a:cs typeface="굴림"/>
              </a:rPr>
              <a:t>6</a:t>
            </a:r>
            <a:r>
              <a:rPr lang="en-US" sz="1900" b="1">
                <a:solidFill>
                  <a:srgbClr val="D64550"/>
                </a:solidFill>
                <a:latin typeface="굴림"/>
                <a:ea typeface="굴림"/>
                <a:cs typeface="굴림"/>
              </a:rPr>
              <a:t>,000~2</a:t>
            </a:r>
            <a:r>
              <a:rPr lang="en-US" altLang="ko-KR" sz="1900" b="1">
                <a:solidFill>
                  <a:srgbClr val="D64550"/>
                </a:solidFill>
                <a:latin typeface="굴림"/>
                <a:ea typeface="굴림"/>
                <a:cs typeface="굴림"/>
              </a:rPr>
              <a:t>4</a:t>
            </a:r>
            <a:r>
              <a:rPr lang="en-US" sz="1900" b="1">
                <a:solidFill>
                  <a:srgbClr val="D64550"/>
                </a:solidFill>
                <a:latin typeface="굴림"/>
                <a:ea typeface="굴림"/>
                <a:cs typeface="굴림"/>
              </a:rPr>
              <a:t>,000</a:t>
            </a:r>
          </a:p>
        </p:txBody>
      </p:sp>
      <p:sp>
        <p:nvSpPr>
          <p:cNvPr id="36" name="Text 33"/>
          <p:cNvSpPr/>
          <p:nvPr/>
        </p:nvSpPr>
        <p:spPr>
          <a:xfrm>
            <a:off x="3264408" y="58338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-28 ~ -5</a:t>
            </a:r>
            <a:r>
              <a:rPr lang="en-US" altLang="ko-KR" sz="140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2</a:t>
            </a:r>
            <a:r>
              <a:rPr lang="en-US" sz="140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%</a:t>
            </a:r>
          </a:p>
        </p:txBody>
      </p:sp>
      <p:sp>
        <p:nvSpPr>
          <p:cNvPr id="37" name="Shape 34"/>
          <p:cNvSpPr/>
          <p:nvPr/>
        </p:nvSpPr>
        <p:spPr>
          <a:xfrm>
            <a:off x="6510528" y="5398008"/>
            <a:ext cx="0" cy="728472"/>
          </a:xfrm>
          <a:prstGeom prst="line">
            <a:avLst/>
          </a:prstGeom>
          <a:noFill/>
          <a:ln w="12700">
            <a:solidFill>
              <a:srgbClr val="E2E8F2"/>
            </a:solidFill>
            <a:prstDash val="solid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6739128" y="5324856"/>
            <a:ext cx="4702759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1C56B8"/>
                </a:solidFill>
                <a:latin typeface="굴림"/>
                <a:ea typeface="굴림"/>
                <a:cs typeface="굴림"/>
              </a:rPr>
              <a:t>근거</a:t>
            </a:r>
            <a:endParaRPr lang="en-US" sz="1050"/>
          </a:p>
        </p:txBody>
      </p:sp>
      <p:sp>
        <p:nvSpPr>
          <p:cNvPr id="39" name="Text 36"/>
          <p:cNvSpPr/>
          <p:nvPr/>
        </p:nvSpPr>
        <p:spPr>
          <a:xfrm>
            <a:off x="6739128" y="5580888"/>
            <a:ext cx="4702759" cy="673608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ct val="112000"/>
              </a:lnSpc>
              <a:buNone/>
              <a:defRPr/>
            </a:pPr>
            <a:r>
              <a:rPr lang="en-US" sz="120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AR 글래스 2년+ 지연 / 추가 유상증자 지분 희석 / 흑자전환 2028년 이후 연기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66928" y="42062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굴림"/>
                <a:ea typeface="굴림"/>
                <a:cs typeface="굴림"/>
              </a:rPr>
              <a:t>4</a:t>
            </a:r>
            <a:endParaRPr lang="en-US" sz="1500"/>
          </a:p>
        </p:txBody>
      </p:sp>
      <p:sp>
        <p:nvSpPr>
          <p:cNvPr id="4" name="Text 2"/>
          <p:cNvSpPr/>
          <p:nvPr/>
        </p:nvSpPr>
        <p:spPr>
          <a:xfrm>
            <a:off x="1133856" y="42062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1200" b="1" kern="0" spc="200">
                <a:solidFill>
                  <a:srgbClr val="1C56B8"/>
                </a:solidFill>
                <a:latin typeface="굴림"/>
                <a:ea typeface="굴림"/>
                <a:cs typeface="굴림"/>
              </a:rPr>
              <a:t>투자 로드맵</a:t>
            </a:r>
            <a:endParaRPr lang="en-US" sz="1200"/>
          </a:p>
        </p:txBody>
      </p:sp>
      <p:pic>
        <p:nvPicPr>
          <p:cNvPr id="5" name="Image 0" descr="logo_light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997135" y="384048"/>
            <a:ext cx="1627632" cy="4790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분할 매수 전략 &amp; 손절·목표가</a:t>
            </a:r>
            <a:endParaRPr lang="en-US" sz="3000"/>
          </a:p>
        </p:txBody>
      </p:sp>
      <p:sp>
        <p:nvSpPr>
          <p:cNvPr id="7" name="Text 4"/>
          <p:cNvSpPr/>
          <p:nvPr/>
        </p:nvSpPr>
        <p:spPr>
          <a:xfrm>
            <a:off x="566928" y="14447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135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이벤트 드리븐 분할 매수 — 일시 매수 지양, 단계적 포지션 확대</a:t>
            </a:r>
            <a:endParaRPr lang="en-US" sz="1350"/>
          </a:p>
        </p:txBody>
      </p:sp>
      <p:sp>
        <p:nvSpPr>
          <p:cNvPr id="8" name="Text 5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9AA4B4"/>
                </a:solidFill>
                <a:latin typeface="굴림"/>
                <a:ea typeface="굴림"/>
                <a:cs typeface="굴림"/>
              </a:rPr>
              <a:t>Sapien Semiconductors  |  KOSDAQ 452430  |  Investment Analysis</a:t>
            </a:r>
            <a:endParaRPr lang="en-US" sz="850"/>
          </a:p>
        </p:txBody>
      </p:sp>
      <p:sp>
        <p:nvSpPr>
          <p:cNvPr id="9" name="Text 6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9AA4B4"/>
                </a:solidFill>
                <a:latin typeface="굴림"/>
                <a:ea typeface="굴림"/>
                <a:cs typeface="굴림"/>
              </a:rPr>
              <a:t>23</a:t>
            </a:r>
            <a:endParaRPr lang="en-US" sz="900"/>
          </a:p>
        </p:txBody>
      </p:sp>
      <p:sp>
        <p:nvSpPr>
          <p:cNvPr id="10" name="Shape 7"/>
          <p:cNvSpPr/>
          <p:nvPr/>
        </p:nvSpPr>
        <p:spPr>
          <a:xfrm>
            <a:off x="566928" y="2020824"/>
            <a:ext cx="6675120" cy="4379976"/>
          </a:xfrm>
          <a:prstGeom prst="roundRect">
            <a:avLst>
              <a:gd name="adj" fmla="val 1670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804672" y="218541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단계별 분할 매수 계획</a:t>
            </a:r>
            <a:endParaRPr lang="en-US" sz="1450"/>
          </a:p>
        </p:txBody>
      </p:sp>
      <p:graphicFrame>
        <p:nvGraphicFramePr>
          <p:cNvPr id="26" name="Table 0"/>
          <p:cNvGraphicFramePr>
            <a:graphicFrameLocks noGrp="1"/>
          </p:cNvGraphicFramePr>
          <p:nvPr/>
        </p:nvGraphicFramePr>
        <p:xfrm>
          <a:off x="804672" y="2587752"/>
          <a:ext cx="6217920" cy="3145536"/>
        </p:xfrm>
        <a:graphic>
          <a:graphicData uri="http://schemas.openxmlformats.org/drawingml/2006/table">
            <a:tbl>
              <a:tblPr firstRow="1" bandRow="1"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86384"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굴림"/>
                          <a:ea typeface="굴림"/>
                          <a:cs typeface="굴림"/>
                        </a:rPr>
                        <a:t>단계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E2E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굴림"/>
                          <a:ea typeface="굴림"/>
                          <a:cs typeface="굴림"/>
                        </a:rPr>
                        <a:t>시점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E2E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굴림"/>
                          <a:ea typeface="굴림"/>
                          <a:cs typeface="굴림"/>
                        </a:rPr>
                        <a:t>비중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E2E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굴림"/>
                          <a:ea typeface="굴림"/>
                          <a:cs typeface="굴림"/>
                        </a:rPr>
                        <a:t>기준가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E2E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굴림"/>
                          <a:ea typeface="굴림"/>
                          <a:cs typeface="굴림"/>
                        </a:rPr>
                        <a:t>조건</a:t>
                      </a:r>
                      <a:endParaRPr lang="en-US" sz="105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E2E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00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1차 매수</a:t>
                      </a:r>
                      <a:endParaRPr lang="en-US" sz="100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지금 즉시</a:t>
                      </a:r>
                      <a:endParaRPr lang="en-US" sz="100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3~5%</a:t>
                      </a:r>
                      <a:endParaRPr lang="en-US" sz="100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₩30,000</a:t>
                      </a:r>
                    </a:p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~36,000</a:t>
                      </a:r>
                      <a:endParaRPr lang="en-US" sz="100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AR 기대감</a:t>
                      </a:r>
                    </a:p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선반영</a:t>
                      </a:r>
                      <a:endParaRPr lang="en-US" sz="100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00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2차 확대</a:t>
                      </a:r>
                      <a:endParaRPr lang="en-US" sz="100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2026 3Q</a:t>
                      </a:r>
                    </a:p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양산 확인</a:t>
                      </a:r>
                      <a:endParaRPr lang="en-US" sz="100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5~10%</a:t>
                      </a:r>
                      <a:endParaRPr lang="en-US" sz="100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₩48,000</a:t>
                      </a:r>
                    </a:p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~62,000</a:t>
                      </a:r>
                      <a:endParaRPr lang="en-US" sz="100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제품 매출</a:t>
                      </a:r>
                    </a:p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월 10억+</a:t>
                      </a:r>
                      <a:endParaRPr lang="en-US" sz="100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 algn="l">
                        <a:buNone/>
                        <a:defRPr/>
                      </a:pPr>
                      <a:r>
                        <a:rPr lang="en-US" sz="100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3차 집중</a:t>
                      </a:r>
                      <a:endParaRPr lang="en-US" sz="100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2026 4Q</a:t>
                      </a:r>
                    </a:p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~2027 1Q</a:t>
                      </a:r>
                      <a:endParaRPr lang="en-US" sz="100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10~15%</a:t>
                      </a:r>
                      <a:endParaRPr lang="en-US" sz="100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₩62,000</a:t>
                      </a:r>
                    </a:p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~78,000</a:t>
                      </a:r>
                      <a:endParaRPr lang="en-US" sz="100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흑자전환+</a:t>
                      </a:r>
                    </a:p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141C2C"/>
                          </a:solidFill>
                          <a:latin typeface="굴림"/>
                          <a:ea typeface="굴림"/>
                          <a:cs typeface="굴림"/>
                        </a:rPr>
                        <a:t>연매출 500억</a:t>
                      </a:r>
                      <a:endParaRPr lang="en-US" sz="1000">
                        <a:latin typeface="굴림"/>
                        <a:ea typeface="굴림"/>
                        <a:cs typeface="굴림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2E8F2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7470648" y="2020824"/>
            <a:ext cx="4154119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4" name="Image 1" descr="ic_down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7708392" y="2240280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29016" y="2203704"/>
            <a:ext cx="3331159" cy="38404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D64550"/>
                </a:solidFill>
                <a:latin typeface="굴림"/>
                <a:ea typeface="굴림"/>
                <a:cs typeface="굴림"/>
              </a:rPr>
              <a:t>손절 기준</a:t>
            </a:r>
            <a:endParaRPr lang="en-US" sz="1400"/>
          </a:p>
        </p:txBody>
      </p:sp>
      <p:sp>
        <p:nvSpPr>
          <p:cNvPr id="16" name="Text 11"/>
          <p:cNvSpPr/>
          <p:nvPr/>
        </p:nvSpPr>
        <p:spPr>
          <a:xfrm>
            <a:off x="7726680" y="2679192"/>
            <a:ext cx="3642055" cy="1371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141C2C"/>
                </a:solidFill>
                <a:latin typeface="굴림"/>
                <a:ea typeface="굴림"/>
                <a:cs typeface="굴림"/>
              </a:rPr>
              <a:t>현재가 대비 −25~30% (₩23,000~25,000 이하)</a:t>
            </a:r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141C2C"/>
                </a:solidFill>
                <a:latin typeface="굴림"/>
                <a:ea typeface="굴림"/>
                <a:cs typeface="굴림"/>
              </a:rPr>
              <a:t>2026 흑자전환 불가 확정 시 포지션 정리</a:t>
            </a:r>
          </a:p>
          <a:p>
            <a:pPr marL="177800" indent="-177800">
              <a:lnSpc>
                <a:spcPct val="105000"/>
              </a:lnSpc>
              <a:buSzPct val="100000"/>
              <a:buChar char="•"/>
              <a:defRPr/>
            </a:pPr>
            <a:r>
              <a:rPr lang="en-US" sz="1150">
                <a:solidFill>
                  <a:srgbClr val="141C2C"/>
                </a:solidFill>
                <a:latin typeface="굴림"/>
                <a:ea typeface="굴림"/>
                <a:cs typeface="굴림"/>
              </a:rPr>
              <a:t>주요 NRE 계약 중도 해지 공시 시 즉각 대응</a:t>
            </a:r>
            <a:endParaRPr lang="en-US" sz="1150"/>
          </a:p>
        </p:txBody>
      </p:sp>
      <p:sp>
        <p:nvSpPr>
          <p:cNvPr id="17" name="Shape 12"/>
          <p:cNvSpPr/>
          <p:nvPr/>
        </p:nvSpPr>
        <p:spPr>
          <a:xfrm>
            <a:off x="7470648" y="4306824"/>
            <a:ext cx="4154119" cy="2093976"/>
          </a:xfrm>
          <a:prstGeom prst="roundRect">
            <a:avLst>
              <a:gd name="adj" fmla="val 349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8" name="Image 2" descr="ic_up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7708392" y="4526280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129016" y="4489704"/>
            <a:ext cx="3331159" cy="38404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F9E5A"/>
                </a:solidFill>
                <a:latin typeface="굴림"/>
                <a:ea typeface="굴림"/>
                <a:cs typeface="굴림"/>
              </a:rPr>
              <a:t>목표가 &amp; 익절</a:t>
            </a:r>
            <a:endParaRPr lang="en-US" sz="1400"/>
          </a:p>
        </p:txBody>
      </p:sp>
      <p:sp>
        <p:nvSpPr>
          <p:cNvPr id="20" name="Text 14"/>
          <p:cNvSpPr/>
          <p:nvPr/>
        </p:nvSpPr>
        <p:spPr>
          <a:xfrm>
            <a:off x="7726680" y="4965192"/>
            <a:ext cx="3642055" cy="1362456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141C2C"/>
                </a:solidFill>
                <a:latin typeface="굴림"/>
                <a:ea typeface="굴림"/>
                <a:cs typeface="굴림"/>
              </a:rPr>
              <a:t>1차 목표가 ₩62,000 (Base Case 중단)</a:t>
            </a:r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141C2C"/>
                </a:solidFill>
                <a:latin typeface="굴림"/>
                <a:ea typeface="굴림"/>
                <a:cs typeface="굴림"/>
              </a:rPr>
              <a:t>2차 목표가 ₩80,000~90,000 (Bull)</a:t>
            </a:r>
          </a:p>
          <a:p>
            <a:pPr marL="177800" indent="-177800">
              <a:lnSpc>
                <a:spcPct val="105000"/>
              </a:lnSpc>
              <a:buSzPct val="100000"/>
              <a:buChar char="•"/>
              <a:defRPr/>
            </a:pPr>
            <a:r>
              <a:rPr lang="en-US" sz="1150">
                <a:solidFill>
                  <a:srgbClr val="141C2C"/>
                </a:solidFill>
                <a:latin typeface="굴림"/>
                <a:ea typeface="굴림"/>
                <a:cs typeface="굴림"/>
              </a:rPr>
              <a:t>2027 컨센서스 크게 상회 시 홀드</a:t>
            </a:r>
          </a:p>
          <a:p>
            <a:pPr marL="177800" indent="-177800">
              <a:lnSpc>
                <a:spcPct val="105000"/>
              </a:lnSpc>
              <a:buSzPct val="100000"/>
              <a:buChar char="•"/>
              <a:defRPr/>
            </a:pPr>
            <a:endParaRPr lang="en-US" sz="1150">
              <a:solidFill>
                <a:srgbClr val="141C2C"/>
              </a:solidFill>
              <a:latin typeface="굴림"/>
              <a:ea typeface="굴림"/>
              <a:cs typeface="굴림"/>
            </a:endParaRPr>
          </a:p>
          <a:p>
            <a:pPr marL="177800" indent="-177800">
              <a:lnSpc>
                <a:spcPct val="105000"/>
              </a:lnSpc>
              <a:buSzPct val="100000"/>
              <a:buChar char="•"/>
              <a:defRPr/>
            </a:pPr>
            <a:r>
              <a:rPr lang="ko-KR" altLang="en-US" sz="1150">
                <a:solidFill>
                  <a:srgbClr val="141C2C"/>
                </a:solidFill>
                <a:latin typeface="굴림"/>
                <a:ea typeface="굴림"/>
                <a:cs typeface="굴림"/>
              </a:rPr>
              <a:t>홀드 홀드 홀드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33856" y="42062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투자 로드맵</a:t>
            </a:r>
            <a:endParaRPr lang="en-US" sz="1200" dirty="0"/>
          </a:p>
        </p:txBody>
      </p:sp>
      <p:pic>
        <p:nvPicPr>
          <p:cNvPr id="5" name="Image 0" descr="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7135" y="384048"/>
            <a:ext cx="1627632" cy="4790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투자자 모니터링 체크리스트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66928" y="14447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실적·공시·시장 3개 축의 정기 점검 항목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AA4B4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Sapien Semiconductors  |  KOSDAQ 452430  |  Investment Analysis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B4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24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" y="2020824"/>
            <a:ext cx="3503066" cy="4379976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86384" y="2240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EAF1FB"/>
          </a:solidFill>
          <a:ln/>
        </p:spPr>
      </p:sp>
      <p:pic>
        <p:nvPicPr>
          <p:cNvPr id="12" name="Image 1" descr="ic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233172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08176" y="2221992"/>
            <a:ext cx="249722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실적 모니터링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(분기별)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04672" y="3063240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6510">
            <a:solidFill>
              <a:srgbClr val="1C56B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170432" y="2971800"/>
            <a:ext cx="26801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분기 매출 — 제품 비중 30%+ 달성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04672" y="3739896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6510">
            <a:solidFill>
              <a:srgbClr val="1C56B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70432" y="3648456"/>
            <a:ext cx="26801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영업손익 추이 — BEP 달성 시점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04672" y="4416552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6510">
            <a:solidFill>
              <a:srgbClr val="1C56B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170432" y="4325112"/>
            <a:ext cx="26801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매출총이익률 30%→43%+ 진행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804672" y="5093208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6510">
            <a:solidFill>
              <a:srgbClr val="1C56B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170432" y="5001768"/>
            <a:ext cx="26801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NRE vs 제품 매출 구성 변화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4344314" y="2020824"/>
            <a:ext cx="3503066" cy="4379976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563770" y="2240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EAF1FB"/>
          </a:solidFill>
          <a:ln/>
        </p:spPr>
      </p:sp>
      <p:pic>
        <p:nvPicPr>
          <p:cNvPr id="24" name="Image 2" descr="ic_cl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5210" y="2331720"/>
            <a:ext cx="347472" cy="34747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185562" y="2221992"/>
            <a:ext cx="249722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공시 &amp; 계약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(상시)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4582058" y="3063240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6510">
            <a:solidFill>
              <a:srgbClr val="1C56B8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947818" y="2971800"/>
            <a:ext cx="26801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신규 NRE 계약 공시 — 연 3건+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4582058" y="3739896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6510">
            <a:solidFill>
              <a:srgbClr val="1C56B8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4947818" y="3648456"/>
            <a:ext cx="26801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기존 계약 금액 증액 공시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4582058" y="4416552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6510">
            <a:solidFill>
              <a:srgbClr val="1C56B8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947818" y="4325112"/>
            <a:ext cx="26801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계약 해지·중단 여부 즉시 확인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4582058" y="5093208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6510">
            <a:solidFill>
              <a:srgbClr val="1C56B8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4947818" y="5001768"/>
            <a:ext cx="26801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유상증자·CB·BW 자금조달 공시</a:t>
            </a:r>
            <a:endParaRPr lang="en-US" sz="1150" dirty="0"/>
          </a:p>
        </p:txBody>
      </p:sp>
      <p:sp>
        <p:nvSpPr>
          <p:cNvPr id="34" name="Shape 29"/>
          <p:cNvSpPr/>
          <p:nvPr/>
        </p:nvSpPr>
        <p:spPr>
          <a:xfrm>
            <a:off x="8121701" y="2020824"/>
            <a:ext cx="3503066" cy="4379976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8341157" y="224028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EAF1FB"/>
          </a:solidFill>
          <a:ln/>
        </p:spPr>
      </p:sp>
      <p:pic>
        <p:nvPicPr>
          <p:cNvPr id="36" name="Image 3" descr="ic_glo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2597" y="2331720"/>
            <a:ext cx="347472" cy="347472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8962949" y="2221992"/>
            <a:ext cx="249722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시장 &amp; 경쟁사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(월별)</a:t>
            </a:r>
            <a:endParaRPr lang="en-US" sz="1500" dirty="0"/>
          </a:p>
        </p:txBody>
      </p:sp>
      <p:sp>
        <p:nvSpPr>
          <p:cNvPr id="38" name="Shape 32"/>
          <p:cNvSpPr/>
          <p:nvPr/>
        </p:nvSpPr>
        <p:spPr>
          <a:xfrm>
            <a:off x="8359445" y="3063240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6510">
            <a:solidFill>
              <a:srgbClr val="1C56B8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8725205" y="2971800"/>
            <a:ext cx="26801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빅테크 AR 글래스 출시 일정</a:t>
            </a:r>
            <a:endParaRPr lang="en-US" sz="1150" dirty="0"/>
          </a:p>
        </p:txBody>
      </p:sp>
      <p:sp>
        <p:nvSpPr>
          <p:cNvPr id="40" name="Shape 34"/>
          <p:cNvSpPr/>
          <p:nvPr/>
        </p:nvSpPr>
        <p:spPr>
          <a:xfrm>
            <a:off x="8359445" y="3739896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6510">
            <a:solidFill>
              <a:srgbClr val="1C56B8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8725205" y="3648456"/>
            <a:ext cx="26801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JBD·라온텍 등 경쟁사 동향</a:t>
            </a:r>
            <a:endParaRPr lang="en-US" sz="1150" dirty="0"/>
          </a:p>
        </p:txBody>
      </p:sp>
      <p:sp>
        <p:nvSpPr>
          <p:cNvPr id="42" name="Shape 36"/>
          <p:cNvSpPr/>
          <p:nvPr/>
        </p:nvSpPr>
        <p:spPr>
          <a:xfrm>
            <a:off x="8359445" y="4416552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6510">
            <a:solidFill>
              <a:srgbClr val="1C56B8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8725205" y="4325112"/>
            <a:ext cx="26801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LEDoS vs OLEDoS 점유율 변화</a:t>
            </a:r>
            <a:endParaRPr lang="en-US" sz="1150" dirty="0"/>
          </a:p>
        </p:txBody>
      </p:sp>
      <p:sp>
        <p:nvSpPr>
          <p:cNvPr id="44" name="Shape 38"/>
          <p:cNvSpPr/>
          <p:nvPr/>
        </p:nvSpPr>
        <p:spPr>
          <a:xfrm>
            <a:off x="8359445" y="5093208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6510">
            <a:solidFill>
              <a:srgbClr val="1C56B8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8725205" y="5001768"/>
            <a:ext cx="26801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파운드리 수급·단가 변동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457200"/>
            <a:ext cx="137160" cy="137160"/>
          </a:xfrm>
          <a:prstGeom prst="ellipse">
            <a:avLst/>
          </a:prstGeom>
          <a:solidFill>
            <a:srgbClr val="00B2D6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899648" y="457200"/>
            <a:ext cx="137160" cy="137160"/>
          </a:xfrm>
          <a:prstGeom prst="ellipse">
            <a:avLst/>
          </a:prstGeom>
          <a:solidFill>
            <a:srgbClr val="1E3A66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1283696" y="457200"/>
            <a:ext cx="137160" cy="137160"/>
          </a:xfrm>
          <a:prstGeom prst="ellipse">
            <a:avLst/>
          </a:prstGeom>
          <a:solidFill>
            <a:srgbClr val="1E3A66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667744" y="457200"/>
            <a:ext cx="137160" cy="137160"/>
          </a:xfrm>
          <a:prstGeom prst="ellipse">
            <a:avLst/>
          </a:prstGeom>
          <a:solidFill>
            <a:srgbClr val="00B2D6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515600" y="841248"/>
            <a:ext cx="137160" cy="137160"/>
          </a:xfrm>
          <a:prstGeom prst="ellipse">
            <a:avLst/>
          </a:prstGeom>
          <a:solidFill>
            <a:srgbClr val="1E3A66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899648" y="841248"/>
            <a:ext cx="137160" cy="137160"/>
          </a:xfrm>
          <a:prstGeom prst="ellipse">
            <a:avLst/>
          </a:prstGeom>
          <a:solidFill>
            <a:srgbClr val="1E3A66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1283696" y="841248"/>
            <a:ext cx="137160" cy="137160"/>
          </a:xfrm>
          <a:prstGeom prst="ellipse">
            <a:avLst/>
          </a:prstGeom>
          <a:solidFill>
            <a:srgbClr val="00B2D6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1667744" y="841248"/>
            <a:ext cx="137160" cy="137160"/>
          </a:xfrm>
          <a:prstGeom prst="ellipse">
            <a:avLst/>
          </a:prstGeom>
          <a:solidFill>
            <a:srgbClr val="1E3A66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0515600" y="1225296"/>
            <a:ext cx="137160" cy="137160"/>
          </a:xfrm>
          <a:prstGeom prst="ellipse">
            <a:avLst/>
          </a:prstGeom>
          <a:solidFill>
            <a:srgbClr val="1E3A66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899648" y="1225296"/>
            <a:ext cx="137160" cy="137160"/>
          </a:xfrm>
          <a:prstGeom prst="ellipse">
            <a:avLst/>
          </a:prstGeom>
          <a:solidFill>
            <a:srgbClr val="00B2D6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1283696" y="1225296"/>
            <a:ext cx="137160" cy="137160"/>
          </a:xfrm>
          <a:prstGeom prst="ellipse">
            <a:avLst/>
          </a:prstGeom>
          <a:solidFill>
            <a:srgbClr val="1E3A66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1667744" y="1225296"/>
            <a:ext cx="137160" cy="137160"/>
          </a:xfrm>
          <a:prstGeom prst="ellipse">
            <a:avLst/>
          </a:prstGeom>
          <a:solidFill>
            <a:srgbClr val="1E3A66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515600" y="1609344"/>
            <a:ext cx="137160" cy="137160"/>
          </a:xfrm>
          <a:prstGeom prst="ellipse">
            <a:avLst/>
          </a:prstGeom>
          <a:solidFill>
            <a:srgbClr val="00B2D6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899648" y="1609344"/>
            <a:ext cx="137160" cy="137160"/>
          </a:xfrm>
          <a:prstGeom prst="ellipse">
            <a:avLst/>
          </a:prstGeom>
          <a:solidFill>
            <a:srgbClr val="1E3A66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1283696" y="1609344"/>
            <a:ext cx="137160" cy="137160"/>
          </a:xfrm>
          <a:prstGeom prst="ellipse">
            <a:avLst/>
          </a:prstGeom>
          <a:solidFill>
            <a:srgbClr val="1E3A66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1667744" y="1609344"/>
            <a:ext cx="137160" cy="137160"/>
          </a:xfrm>
          <a:prstGeom prst="ellipse">
            <a:avLst/>
          </a:prstGeom>
          <a:solidFill>
            <a:srgbClr val="00B2D6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66928" y="5029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300" b="1" kern="0" spc="300">
                <a:solidFill>
                  <a:srgbClr val="00B2D6"/>
                </a:solidFill>
                <a:latin typeface="굴림"/>
                <a:ea typeface="굴림"/>
                <a:cs typeface="굴림"/>
              </a:rPr>
              <a:t>CONCLUSION</a:t>
            </a:r>
            <a:endParaRPr lang="en-US" sz="1300"/>
          </a:p>
        </p:txBody>
      </p:sp>
      <p:sp>
        <p:nvSpPr>
          <p:cNvPr id="19" name="Text 17"/>
          <p:cNvSpPr/>
          <p:nvPr/>
        </p:nvSpPr>
        <p:spPr>
          <a:xfrm>
            <a:off x="566928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FFFFFF"/>
                </a:solidFill>
                <a:latin typeface="굴림"/>
                <a:ea typeface="굴림"/>
                <a:cs typeface="굴림"/>
              </a:rPr>
              <a:t>종합 결론 &amp; 투자 의견</a:t>
            </a:r>
            <a:endParaRPr lang="en-US" sz="3200"/>
          </a:p>
        </p:txBody>
      </p:sp>
      <p:sp>
        <p:nvSpPr>
          <p:cNvPr id="20" name="Shape 18"/>
          <p:cNvSpPr/>
          <p:nvPr/>
        </p:nvSpPr>
        <p:spPr>
          <a:xfrm>
            <a:off x="566928" y="1600200"/>
            <a:ext cx="5120640" cy="548640"/>
          </a:xfrm>
          <a:prstGeom prst="roundRect">
            <a:avLst>
              <a:gd name="adj" fmla="val 50000"/>
            </a:avLst>
          </a:prstGeom>
          <a:solidFill>
            <a:srgbClr val="1C56B8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6692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굴림"/>
                <a:ea typeface="굴림"/>
                <a:cs typeface="굴림"/>
              </a:rPr>
              <a:t>투자 의견 : 중장기 매수 관심 (적극 모니터링)</a:t>
            </a:r>
            <a:endParaRPr lang="en-US" sz="1350"/>
          </a:p>
        </p:txBody>
      </p:sp>
      <p:sp>
        <p:nvSpPr>
          <p:cNvPr id="22" name="Text 20"/>
          <p:cNvSpPr/>
          <p:nvPr/>
        </p:nvSpPr>
        <p:spPr>
          <a:xfrm>
            <a:off x="566928" y="2286000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300">
                <a:solidFill>
                  <a:srgbClr val="D7E2F4"/>
                </a:solidFill>
                <a:latin typeface="굴림"/>
                <a:ea typeface="굴림"/>
                <a:cs typeface="굴림"/>
              </a:rPr>
              <a:t>사피엔반도체는 AR 글래스 시대의 핵심 반도체를 공급하는 독보적 팹리스. LEDoS CMOS Backplane 원천기술과 글로벌 빅테크 NRE 계약을 바탕으로 2026~27년 폭발적 실적 성장이 기대된다. 현재 영업적자와 시장 불확실성이 있으나, 분할 매수와 지속 모니터링을 통한 중장기 투자를 고려할 수 있다.</a:t>
            </a:r>
            <a:endParaRPr lang="en-US" sz="1300"/>
          </a:p>
        </p:txBody>
      </p:sp>
      <p:sp>
        <p:nvSpPr>
          <p:cNvPr id="23" name="Shape 21"/>
          <p:cNvSpPr/>
          <p:nvPr/>
        </p:nvSpPr>
        <p:spPr>
          <a:xfrm>
            <a:off x="566928" y="3383280"/>
            <a:ext cx="3503066" cy="2331720"/>
          </a:xfrm>
          <a:prstGeom prst="roundRect">
            <a:avLst>
              <a:gd name="adj" fmla="val 3137"/>
            </a:avLst>
          </a:prstGeom>
          <a:solidFill>
            <a:srgbClr val="14233F"/>
          </a:solidFill>
          <a:ln w="12700">
            <a:solidFill>
              <a:srgbClr val="23406E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24" name="Image 0" descr="ic_check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04672" y="3602736"/>
            <a:ext cx="365760" cy="36576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280160" y="3566160"/>
            <a:ext cx="2588666" cy="42062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00B2D6"/>
                </a:solidFill>
                <a:latin typeface="굴림"/>
                <a:ea typeface="굴림"/>
                <a:cs typeface="굴림"/>
              </a:rPr>
              <a:t>매수 근거</a:t>
            </a:r>
            <a:endParaRPr lang="en-US" sz="1450"/>
          </a:p>
        </p:txBody>
      </p:sp>
      <p:sp>
        <p:nvSpPr>
          <p:cNvPr id="26" name="Text 23"/>
          <p:cNvSpPr/>
          <p:nvPr/>
        </p:nvSpPr>
        <p:spPr>
          <a:xfrm>
            <a:off x="841248" y="4133088"/>
            <a:ext cx="2991002" cy="146304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D7E2F4"/>
                </a:solidFill>
                <a:latin typeface="굴림"/>
                <a:ea typeface="굴림"/>
                <a:cs typeface="굴림"/>
              </a:rPr>
              <a:t>AR 글래스 시장 성장 수혜</a:t>
            </a:r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D7E2F4"/>
                </a:solidFill>
                <a:latin typeface="굴림"/>
                <a:ea typeface="굴림"/>
                <a:cs typeface="굴림"/>
              </a:rPr>
              <a:t>원천특허 &amp; 기술격차</a:t>
            </a:r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D7E2F4"/>
                </a:solidFill>
                <a:latin typeface="굴림"/>
                <a:ea typeface="굴림"/>
                <a:cs typeface="굴림"/>
              </a:rPr>
              <a:t>2026 흑자전환 전망</a:t>
            </a:r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D7E2F4"/>
                </a:solidFill>
                <a:latin typeface="굴림"/>
                <a:ea typeface="굴림"/>
                <a:cs typeface="굴림"/>
              </a:rPr>
              <a:t>글로벌 4개권 NRE 선점</a:t>
            </a:r>
            <a:endParaRPr lang="en-US" sz="1150"/>
          </a:p>
        </p:txBody>
      </p:sp>
      <p:sp>
        <p:nvSpPr>
          <p:cNvPr id="27" name="Shape 24"/>
          <p:cNvSpPr/>
          <p:nvPr/>
        </p:nvSpPr>
        <p:spPr>
          <a:xfrm>
            <a:off x="4344314" y="3383280"/>
            <a:ext cx="3503066" cy="2331720"/>
          </a:xfrm>
          <a:prstGeom prst="roundRect">
            <a:avLst>
              <a:gd name="adj" fmla="val 3137"/>
            </a:avLst>
          </a:prstGeom>
          <a:solidFill>
            <a:srgbClr val="14233F"/>
          </a:solidFill>
          <a:ln w="12700">
            <a:solidFill>
              <a:srgbClr val="23406E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28" name="Image 1" descr="ic_warn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582058" y="3602736"/>
            <a:ext cx="365760" cy="36576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057546" y="3566160"/>
            <a:ext cx="2588666" cy="42062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E0A030"/>
                </a:solidFill>
                <a:latin typeface="굴림"/>
                <a:ea typeface="굴림"/>
                <a:cs typeface="굴림"/>
              </a:rPr>
              <a:t>주의 요인</a:t>
            </a:r>
            <a:endParaRPr lang="en-US" sz="1450"/>
          </a:p>
        </p:txBody>
      </p:sp>
      <p:sp>
        <p:nvSpPr>
          <p:cNvPr id="30" name="Text 26"/>
          <p:cNvSpPr/>
          <p:nvPr/>
        </p:nvSpPr>
        <p:spPr>
          <a:xfrm>
            <a:off x="4618634" y="4133088"/>
            <a:ext cx="2991002" cy="146304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D7E2F4"/>
                </a:solidFill>
                <a:latin typeface="굴림"/>
                <a:ea typeface="굴림"/>
                <a:cs typeface="굴림"/>
              </a:rPr>
              <a:t>영업 적자 지속 중</a:t>
            </a:r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D7E2F4"/>
                </a:solidFill>
                <a:latin typeface="굴림"/>
                <a:ea typeface="굴림"/>
                <a:cs typeface="굴림"/>
              </a:rPr>
              <a:t>시장 개화 지연 위험</a:t>
            </a:r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D7E2F4"/>
                </a:solidFill>
                <a:latin typeface="굴림"/>
                <a:ea typeface="굴림"/>
                <a:cs typeface="굴림"/>
              </a:rPr>
              <a:t>고객 정보 불투명</a:t>
            </a:r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D7E2F4"/>
                </a:solidFill>
                <a:latin typeface="굴림"/>
                <a:ea typeface="굴림"/>
                <a:cs typeface="굴림"/>
              </a:rPr>
              <a:t>주가 변동성 매우 높음</a:t>
            </a:r>
            <a:endParaRPr lang="en-US" sz="1150"/>
          </a:p>
        </p:txBody>
      </p:sp>
      <p:sp>
        <p:nvSpPr>
          <p:cNvPr id="31" name="Shape 27"/>
          <p:cNvSpPr/>
          <p:nvPr/>
        </p:nvSpPr>
        <p:spPr>
          <a:xfrm>
            <a:off x="8121701" y="3383280"/>
            <a:ext cx="3503066" cy="2331720"/>
          </a:xfrm>
          <a:prstGeom prst="roundRect">
            <a:avLst>
              <a:gd name="adj" fmla="val 3137"/>
            </a:avLst>
          </a:prstGeom>
          <a:solidFill>
            <a:srgbClr val="14233F"/>
          </a:solidFill>
          <a:ln w="12700">
            <a:solidFill>
              <a:srgbClr val="23406E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32" name="Image 2" descr="ic_eye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8359445" y="3602736"/>
            <a:ext cx="365760" cy="36576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8834933" y="3566160"/>
            <a:ext cx="2588666" cy="42062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50" b="1">
                <a:solidFill>
                  <a:srgbClr val="1F9E5A"/>
                </a:solidFill>
                <a:latin typeface="굴림"/>
                <a:ea typeface="굴림"/>
                <a:cs typeface="굴림"/>
              </a:rPr>
              <a:t>관찰 포인트</a:t>
            </a:r>
            <a:endParaRPr lang="en-US" sz="1450"/>
          </a:p>
        </p:txBody>
      </p:sp>
      <p:sp>
        <p:nvSpPr>
          <p:cNvPr id="34" name="Text 29"/>
          <p:cNvSpPr/>
          <p:nvPr/>
        </p:nvSpPr>
        <p:spPr>
          <a:xfrm>
            <a:off x="8396021" y="4133088"/>
            <a:ext cx="2991002" cy="146304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D7E2F4"/>
                </a:solidFill>
                <a:latin typeface="굴림"/>
                <a:ea typeface="굴림"/>
                <a:cs typeface="굴림"/>
              </a:rPr>
              <a:t>분기 제품 매출 전환</a:t>
            </a:r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D7E2F4"/>
                </a:solidFill>
                <a:latin typeface="굴림"/>
                <a:ea typeface="굴림"/>
                <a:cs typeface="굴림"/>
              </a:rPr>
              <a:t>빅테크 AR 출시 일정</a:t>
            </a:r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D7E2F4"/>
                </a:solidFill>
                <a:latin typeface="굴림"/>
                <a:ea typeface="굴림"/>
                <a:cs typeface="굴림"/>
              </a:rPr>
              <a:t>추가 NRE 계약 공시</a:t>
            </a:r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D7E2F4"/>
                </a:solidFill>
                <a:latin typeface="굴림"/>
                <a:ea typeface="굴림"/>
                <a:cs typeface="굴림"/>
              </a:rPr>
              <a:t>2026 실적 달성 여부</a:t>
            </a:r>
            <a:endParaRPr lang="en-US" sz="1150"/>
          </a:p>
        </p:txBody>
      </p:sp>
      <p:sp>
        <p:nvSpPr>
          <p:cNvPr id="35" name="Text 30"/>
          <p:cNvSpPr/>
          <p:nvPr/>
        </p:nvSpPr>
        <p:spPr>
          <a:xfrm>
            <a:off x="566928" y="640080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50" i="1">
                <a:solidFill>
                  <a:srgbClr val="6E84A8"/>
                </a:solidFill>
                <a:latin typeface="굴림"/>
                <a:ea typeface="굴림"/>
                <a:cs typeface="굴림"/>
              </a:rPr>
              <a:t>※ 본 자료는 투자 참고용이며, 투자 결과의 책임은 투자자 본인에게 있습니다. 과거 실적은 미래 성과를 보장하지 않습니다.</a:t>
            </a:r>
            <a:endParaRPr lang="en-US" sz="95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dark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070287" y="457200"/>
            <a:ext cx="1554480" cy="4575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18288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300" b="1" kern="0" spc="300">
                <a:solidFill>
                  <a:srgbClr val="00B2D6"/>
                </a:solidFill>
                <a:latin typeface="굴림"/>
                <a:ea typeface="굴림"/>
                <a:cs typeface="굴림"/>
              </a:rPr>
              <a:t>CHAPTER</a:t>
            </a:r>
            <a:endParaRPr lang="en-US" sz="1300"/>
          </a:p>
        </p:txBody>
      </p:sp>
      <p:sp>
        <p:nvSpPr>
          <p:cNvPr id="4" name="Text 1"/>
          <p:cNvSpPr/>
          <p:nvPr/>
        </p:nvSpPr>
        <p:spPr>
          <a:xfrm>
            <a:off x="566928" y="210312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600" b="1">
                <a:solidFill>
                  <a:srgbClr val="1A3360"/>
                </a:solidFill>
                <a:latin typeface="굴림"/>
                <a:ea typeface="굴림"/>
                <a:cs typeface="굴림"/>
              </a:rPr>
              <a:t>05</a:t>
            </a:r>
            <a:endParaRPr lang="en-US" sz="9600"/>
          </a:p>
        </p:txBody>
      </p:sp>
      <p:pic>
        <p:nvPicPr>
          <p:cNvPr id="5" name="Image 1" descr="ic_warn_w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670048" y="2331720"/>
            <a:ext cx="822960" cy="8229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675888" y="23317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4000" b="1">
                <a:solidFill>
                  <a:srgbClr val="FFFFFF"/>
                </a:solidFill>
                <a:latin typeface="굴림"/>
                <a:ea typeface="굴림"/>
                <a:cs typeface="굴림"/>
              </a:rPr>
              <a:t>주식담당자 통화 및 답변</a:t>
            </a:r>
            <a:endParaRPr lang="en-US" sz="4000"/>
          </a:p>
        </p:txBody>
      </p:sp>
      <p:sp>
        <p:nvSpPr>
          <p:cNvPr id="7" name="Text 3"/>
          <p:cNvSpPr/>
          <p:nvPr/>
        </p:nvSpPr>
        <p:spPr>
          <a:xfrm>
            <a:off x="3703320" y="31546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8FB0E0"/>
                </a:solidFill>
                <a:latin typeface="굴림"/>
                <a:ea typeface="굴림"/>
                <a:cs typeface="굴림"/>
              </a:rPr>
              <a:t>IR Q&amp;A Session</a:t>
            </a:r>
            <a:endParaRPr lang="en-US" sz="1600"/>
          </a:p>
        </p:txBody>
      </p:sp>
      <p:sp>
        <p:nvSpPr>
          <p:cNvPr id="8" name="Shape 4"/>
          <p:cNvSpPr/>
          <p:nvPr/>
        </p:nvSpPr>
        <p:spPr>
          <a:xfrm>
            <a:off x="566928" y="4434840"/>
            <a:ext cx="2558720" cy="868680"/>
          </a:xfrm>
          <a:prstGeom prst="roundRect">
            <a:avLst>
              <a:gd name="adj" fmla="val 8421"/>
            </a:avLst>
          </a:prstGeom>
          <a:solidFill>
            <a:srgbClr val="14233F"/>
          </a:solidFill>
          <a:ln w="12700">
            <a:solidFill>
              <a:srgbClr val="23406E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 5"/>
          <p:cNvSpPr/>
          <p:nvPr/>
        </p:nvSpPr>
        <p:spPr>
          <a:xfrm>
            <a:off x="731520" y="4434840"/>
            <a:ext cx="2229536" cy="8686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C9D7EE"/>
                </a:solidFill>
                <a:latin typeface="굴림"/>
                <a:ea typeface="굴림"/>
                <a:cs typeface="굴림"/>
              </a:rPr>
              <a:t>사업·양산 전환 / 고객·수주</a:t>
            </a:r>
            <a:endParaRPr lang="en-US" sz="1250"/>
          </a:p>
        </p:txBody>
      </p:sp>
      <p:sp>
        <p:nvSpPr>
          <p:cNvPr id="10" name="Shape 6"/>
          <p:cNvSpPr/>
          <p:nvPr/>
        </p:nvSpPr>
        <p:spPr>
          <a:xfrm>
            <a:off x="3399968" y="4434840"/>
            <a:ext cx="2558720" cy="868680"/>
          </a:xfrm>
          <a:prstGeom prst="roundRect">
            <a:avLst>
              <a:gd name="adj" fmla="val 8421"/>
            </a:avLst>
          </a:prstGeom>
          <a:solidFill>
            <a:srgbClr val="14233F"/>
          </a:solidFill>
          <a:ln w="12700">
            <a:solidFill>
              <a:srgbClr val="23406E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Text 7"/>
          <p:cNvSpPr/>
          <p:nvPr/>
        </p:nvSpPr>
        <p:spPr>
          <a:xfrm>
            <a:off x="3564560" y="4434840"/>
            <a:ext cx="2229536" cy="8686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C9D7EE"/>
                </a:solidFill>
                <a:latin typeface="굴림"/>
                <a:ea typeface="굴림"/>
                <a:cs typeface="굴림"/>
              </a:rPr>
              <a:t>재무·자금 / 기술 경쟁력</a:t>
            </a:r>
            <a:endParaRPr lang="en-US" sz="1250"/>
          </a:p>
        </p:txBody>
      </p:sp>
      <p:sp>
        <p:nvSpPr>
          <p:cNvPr id="12" name="Shape 8"/>
          <p:cNvSpPr/>
          <p:nvPr/>
        </p:nvSpPr>
        <p:spPr>
          <a:xfrm>
            <a:off x="6233008" y="4434840"/>
            <a:ext cx="2558720" cy="868680"/>
          </a:xfrm>
          <a:prstGeom prst="roundRect">
            <a:avLst>
              <a:gd name="adj" fmla="val 8421"/>
            </a:avLst>
          </a:prstGeom>
          <a:solidFill>
            <a:srgbClr val="14233F"/>
          </a:solidFill>
          <a:ln w="12700">
            <a:solidFill>
              <a:srgbClr val="23406E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3" name="Text 9"/>
          <p:cNvSpPr/>
          <p:nvPr/>
        </p:nvSpPr>
        <p:spPr>
          <a:xfrm>
            <a:off x="6397600" y="4434840"/>
            <a:ext cx="2229536" cy="8686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C9D7EE"/>
                </a:solidFill>
                <a:latin typeface="굴림"/>
                <a:ea typeface="굴림"/>
                <a:cs typeface="굴림"/>
              </a:rPr>
              <a:t>시장·생산 / 경영·거버넌스</a:t>
            </a:r>
            <a:endParaRPr lang="en-US" sz="1250"/>
          </a:p>
        </p:txBody>
      </p:sp>
      <p:sp>
        <p:nvSpPr>
          <p:cNvPr id="14" name="Shape 10"/>
          <p:cNvSpPr/>
          <p:nvPr/>
        </p:nvSpPr>
        <p:spPr>
          <a:xfrm>
            <a:off x="9066047" y="4434840"/>
            <a:ext cx="2558720" cy="868680"/>
          </a:xfrm>
          <a:prstGeom prst="roundRect">
            <a:avLst>
              <a:gd name="adj" fmla="val 8421"/>
            </a:avLst>
          </a:prstGeom>
          <a:solidFill>
            <a:srgbClr val="14233F"/>
          </a:solidFill>
          <a:ln w="12700">
            <a:solidFill>
              <a:srgbClr val="23406E"/>
            </a:solidFill>
            <a:prstDash val="solid"/>
          </a:ln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9230639" y="4434840"/>
            <a:ext cx="2229536" cy="8686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50">
                <a:solidFill>
                  <a:srgbClr val="C9D7EE"/>
                </a:solidFill>
                <a:latin typeface="굴림"/>
                <a:ea typeface="굴림"/>
                <a:cs typeface="굴림"/>
              </a:rPr>
              <a:t>최근 공시·뉴스 Q&amp;A</a:t>
            </a:r>
            <a:endParaRPr lang="en-US" sz="1250"/>
          </a:p>
        </p:txBody>
      </p:sp>
      <p:sp>
        <p:nvSpPr>
          <p:cNvPr id="16" name="Text 12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9AA4B4"/>
                </a:solidFill>
                <a:latin typeface="굴림"/>
                <a:ea typeface="굴림"/>
                <a:cs typeface="굴림"/>
              </a:rPr>
              <a:t>Sapien Semiconductors  |  KOSDAQ 452430  |  Investment Analysis</a:t>
            </a:r>
            <a:endParaRPr lang="en-US" sz="850"/>
          </a:p>
        </p:txBody>
      </p:sp>
      <p:sp>
        <p:nvSpPr>
          <p:cNvPr id="17" name="Text 13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9AA4B4"/>
                </a:solidFill>
                <a:latin typeface="굴림"/>
                <a:ea typeface="굴림"/>
                <a:cs typeface="굴림"/>
              </a:rPr>
              <a:t>25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66928" y="42062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굴림"/>
                <a:ea typeface="굴림"/>
                <a:cs typeface="굴림"/>
              </a:rPr>
              <a:t>5</a:t>
            </a:r>
            <a:endParaRPr lang="en-US" sz="1500"/>
          </a:p>
        </p:txBody>
      </p:sp>
      <p:sp>
        <p:nvSpPr>
          <p:cNvPr id="4" name="Text 2"/>
          <p:cNvSpPr/>
          <p:nvPr/>
        </p:nvSpPr>
        <p:spPr>
          <a:xfrm>
            <a:off x="1133856" y="42062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1200" b="1" kern="0" spc="200">
                <a:solidFill>
                  <a:srgbClr val="1C56B8"/>
                </a:solidFill>
                <a:latin typeface="굴림"/>
                <a:ea typeface="굴림"/>
                <a:cs typeface="굴림"/>
              </a:rPr>
              <a:t>주식담당자 통화 및 답변</a:t>
            </a:r>
            <a:endParaRPr lang="en-US" sz="1200"/>
          </a:p>
        </p:txBody>
      </p:sp>
      <p:pic>
        <p:nvPicPr>
          <p:cNvPr id="5" name="Image 0" descr="logo_light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997135" y="384048"/>
            <a:ext cx="1627632" cy="4790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사업 · 양산 전환 (1/2)</a:t>
            </a:r>
            <a:endParaRPr lang="en-US" sz="3000"/>
          </a:p>
        </p:txBody>
      </p:sp>
      <p:sp>
        <p:nvSpPr>
          <p:cNvPr id="7" name="Text 4"/>
          <p:cNvSpPr/>
          <p:nvPr/>
        </p:nvSpPr>
        <p:spPr>
          <a:xfrm>
            <a:off x="566928" y="14447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135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NRE→양산 전환 시점, 제품 비중, 매출 배수에 대한 IR 답변</a:t>
            </a:r>
            <a:endParaRPr lang="en-US" sz="1350"/>
          </a:p>
        </p:txBody>
      </p:sp>
      <p:sp>
        <p:nvSpPr>
          <p:cNvPr id="8" name="Text 5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9AA4B4"/>
                </a:solidFill>
                <a:latin typeface="굴림"/>
                <a:ea typeface="굴림"/>
                <a:cs typeface="굴림"/>
              </a:rPr>
              <a:t>Sapien Semiconductors  |  KOSDAQ 452430  |  Investment Analysis</a:t>
            </a:r>
            <a:endParaRPr lang="en-US" sz="850"/>
          </a:p>
        </p:txBody>
      </p:sp>
      <p:sp>
        <p:nvSpPr>
          <p:cNvPr id="9" name="Text 6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9AA4B4"/>
                </a:solidFill>
                <a:latin typeface="굴림"/>
                <a:ea typeface="굴림"/>
                <a:cs typeface="굴림"/>
              </a:rPr>
              <a:t>26</a:t>
            </a:r>
            <a:endParaRPr lang="en-US" sz="900"/>
          </a:p>
        </p:txBody>
      </p:sp>
      <p:sp>
        <p:nvSpPr>
          <p:cNvPr id="10" name="Shape 7"/>
          <p:cNvSpPr/>
          <p:nvPr/>
        </p:nvSpPr>
        <p:spPr>
          <a:xfrm>
            <a:off x="566928" y="2020824"/>
            <a:ext cx="3503066" cy="4379976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86384" y="2221992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86384" y="222199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굴림"/>
                <a:ea typeface="굴림"/>
                <a:cs typeface="굴림"/>
              </a:rPr>
              <a:t>Q1</a:t>
            </a:r>
            <a:endParaRPr lang="en-US" sz="1100"/>
          </a:p>
        </p:txBody>
      </p:sp>
      <p:sp>
        <p:nvSpPr>
          <p:cNvPr id="13" name="Text 10"/>
          <p:cNvSpPr/>
          <p:nvPr/>
        </p:nvSpPr>
        <p:spPr>
          <a:xfrm>
            <a:off x="1755648" y="2185416"/>
            <a:ext cx="2131466" cy="38404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양산 전환 시점 (고객/제품)</a:t>
            </a:r>
            <a:endParaRPr lang="en-US" sz="1350"/>
          </a:p>
        </p:txBody>
      </p:sp>
      <p:sp>
        <p:nvSpPr>
          <p:cNvPr id="14" name="Text 11"/>
          <p:cNvSpPr/>
          <p:nvPr/>
        </p:nvSpPr>
        <p:spPr>
          <a:xfrm>
            <a:off x="786384" y="2624328"/>
            <a:ext cx="3064154" cy="82296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ct val="112000"/>
              </a:lnSpc>
              <a:buNone/>
              <a:defRPr/>
            </a:pPr>
            <a:r>
              <a:rPr lang="en-US" sz="1050" i="1">
                <a:solidFill>
                  <a:srgbClr val="5A6373"/>
                </a:solidFill>
                <a:latin typeface="굴림"/>
                <a:ea typeface="굴림"/>
                <a:cs typeface="굴림"/>
              </a:rPr>
              <a:t>Q. NRE 용역에서 제품 양산 매출로의 전환이 가장 가시화된 고객/제품은 무엇이며, 양산 본격화 시점은 언제로 보시나요?</a:t>
            </a:r>
            <a:endParaRPr lang="en-US" sz="1100"/>
          </a:p>
        </p:txBody>
      </p:sp>
      <p:sp>
        <p:nvSpPr>
          <p:cNvPr id="15" name="Shape 12"/>
          <p:cNvSpPr/>
          <p:nvPr/>
        </p:nvSpPr>
        <p:spPr>
          <a:xfrm>
            <a:off x="786384" y="3520440"/>
            <a:ext cx="3064154" cy="2734056"/>
          </a:xfrm>
          <a:prstGeom prst="roundRect">
            <a:avLst>
              <a:gd name="adj" fmla="val 9677"/>
            </a:avLst>
          </a:prstGeom>
          <a:solidFill>
            <a:srgbClr val="EAF1FB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914400" y="3647736"/>
            <a:ext cx="2826410" cy="2479464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050" b="1">
                <a:solidFill>
                  <a:srgbClr val="1C56B8"/>
                </a:solidFill>
                <a:latin typeface="굴림"/>
                <a:ea typeface="굴림"/>
                <a:cs typeface="굴림"/>
              </a:rPr>
              <a:t>A.  </a:t>
            </a:r>
            <a:r>
              <a:rPr lang="en-US" sz="1050">
                <a:solidFill>
                  <a:srgbClr val="141C2C"/>
                </a:solidFill>
                <a:latin typeface="굴림"/>
                <a:ea typeface="굴림"/>
                <a:cs typeface="굴림"/>
              </a:rPr>
              <a:t>고객과 NDA를 체결하여 구체적인 고객·개발 내용은 말씀드리기 어렵습니다. 다만 2025년 하반기 ES(Engineering Sample) 전달 제품은 올 하반기부터 양산이 시작될 것으로 보며, 올 상반기 ES 전달 제품도 빠르면 올 하반기 또는 내년 초 양산이 시작될 것으로 봅니다.</a:t>
            </a:r>
            <a:endParaRPr lang="en-US" sz="1050"/>
          </a:p>
        </p:txBody>
      </p:sp>
      <p:sp>
        <p:nvSpPr>
          <p:cNvPr id="17" name="Shape 14"/>
          <p:cNvSpPr/>
          <p:nvPr/>
        </p:nvSpPr>
        <p:spPr>
          <a:xfrm>
            <a:off x="4344314" y="2020824"/>
            <a:ext cx="3503066" cy="4379976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4563770" y="2221992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4563770" y="222199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굴림"/>
                <a:ea typeface="굴림"/>
                <a:cs typeface="굴림"/>
              </a:rPr>
              <a:t>Q2</a:t>
            </a:r>
            <a:endParaRPr lang="en-US" sz="1100"/>
          </a:p>
        </p:txBody>
      </p:sp>
      <p:sp>
        <p:nvSpPr>
          <p:cNvPr id="20" name="Text 17"/>
          <p:cNvSpPr/>
          <p:nvPr/>
        </p:nvSpPr>
        <p:spPr>
          <a:xfrm>
            <a:off x="5533034" y="2185416"/>
            <a:ext cx="2131466" cy="38404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2026년 분기 제품 매출 비중</a:t>
            </a:r>
            <a:endParaRPr lang="en-US" sz="1350"/>
          </a:p>
        </p:txBody>
      </p:sp>
      <p:sp>
        <p:nvSpPr>
          <p:cNvPr id="21" name="Text 18"/>
          <p:cNvSpPr/>
          <p:nvPr/>
        </p:nvSpPr>
        <p:spPr>
          <a:xfrm>
            <a:off x="4563770" y="2624328"/>
            <a:ext cx="3064154" cy="82296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ct val="112000"/>
              </a:lnSpc>
              <a:buNone/>
              <a:defRPr/>
            </a:pPr>
            <a:r>
              <a:rPr lang="en-US" sz="1050" i="1">
                <a:solidFill>
                  <a:srgbClr val="5A6373"/>
                </a:solidFill>
                <a:latin typeface="굴림"/>
                <a:ea typeface="굴림"/>
                <a:cs typeface="굴림"/>
              </a:rPr>
              <a:t>Q. 2025년 3분기 제품 매출 비중이 약 10%였는데, 2026년 중 분기 제품 비중은 어느 수준까지 올라갈 것으로 보시나요?</a:t>
            </a:r>
            <a:endParaRPr lang="en-US" sz="1100"/>
          </a:p>
        </p:txBody>
      </p:sp>
      <p:sp>
        <p:nvSpPr>
          <p:cNvPr id="22" name="Shape 19"/>
          <p:cNvSpPr/>
          <p:nvPr/>
        </p:nvSpPr>
        <p:spPr>
          <a:xfrm>
            <a:off x="4563770" y="3520440"/>
            <a:ext cx="3064154" cy="2734056"/>
          </a:xfrm>
          <a:prstGeom prst="roundRect">
            <a:avLst>
              <a:gd name="adj" fmla="val 9677"/>
            </a:avLst>
          </a:prstGeom>
          <a:solidFill>
            <a:srgbClr val="EAF1FB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4691786" y="3647736"/>
            <a:ext cx="2826410" cy="2479464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050" b="1">
                <a:solidFill>
                  <a:srgbClr val="1C56B8"/>
                </a:solidFill>
                <a:latin typeface="굴림"/>
                <a:ea typeface="굴림"/>
                <a:cs typeface="굴림"/>
              </a:rPr>
              <a:t>A.  </a:t>
            </a:r>
            <a:r>
              <a:rPr lang="en-US" sz="1050">
                <a:solidFill>
                  <a:srgbClr val="141C2C"/>
                </a:solidFill>
                <a:latin typeface="굴림"/>
                <a:ea typeface="굴림"/>
                <a:cs typeface="굴림"/>
              </a:rPr>
              <a:t>3·4분기는 제품 매출 비중이 올라갈 것으로 예상하며, 2026년 전체로는 용역 대 제품이 2:8 또는 3:7 수준을 기대하고 있습니다.</a:t>
            </a:r>
            <a:endParaRPr lang="en-US" sz="1050"/>
          </a:p>
        </p:txBody>
      </p:sp>
      <p:sp>
        <p:nvSpPr>
          <p:cNvPr id="24" name="Shape 21"/>
          <p:cNvSpPr/>
          <p:nvPr/>
        </p:nvSpPr>
        <p:spPr>
          <a:xfrm>
            <a:off x="8121701" y="2020824"/>
            <a:ext cx="3503066" cy="4379976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5" name="Shape 22"/>
          <p:cNvSpPr/>
          <p:nvPr/>
        </p:nvSpPr>
        <p:spPr>
          <a:xfrm>
            <a:off x="8341157" y="2221992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6" name="Text 23"/>
          <p:cNvSpPr/>
          <p:nvPr/>
        </p:nvSpPr>
        <p:spPr>
          <a:xfrm>
            <a:off x="8341157" y="222199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굴림"/>
                <a:ea typeface="굴림"/>
                <a:cs typeface="굴림"/>
              </a:rPr>
              <a:t>Q3</a:t>
            </a:r>
            <a:endParaRPr lang="en-US" sz="1100"/>
          </a:p>
        </p:txBody>
      </p:sp>
      <p:sp>
        <p:nvSpPr>
          <p:cNvPr id="27" name="Text 24"/>
          <p:cNvSpPr/>
          <p:nvPr/>
        </p:nvSpPr>
        <p:spPr>
          <a:xfrm>
            <a:off x="9310421" y="2185416"/>
            <a:ext cx="2131466" cy="38404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NRE→양산 전환 비율</a:t>
            </a:r>
            <a:endParaRPr lang="en-US" sz="1350"/>
          </a:p>
        </p:txBody>
      </p:sp>
      <p:sp>
        <p:nvSpPr>
          <p:cNvPr id="28" name="Text 25"/>
          <p:cNvSpPr/>
          <p:nvPr/>
        </p:nvSpPr>
        <p:spPr>
          <a:xfrm>
            <a:off x="8341157" y="2624328"/>
            <a:ext cx="3064154" cy="82296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ct val="112000"/>
              </a:lnSpc>
              <a:buNone/>
              <a:defRPr/>
            </a:pPr>
            <a:r>
              <a:rPr lang="en-US" sz="1050" i="1">
                <a:solidFill>
                  <a:srgbClr val="5A6373"/>
                </a:solidFill>
                <a:latin typeface="굴림"/>
                <a:ea typeface="굴림"/>
                <a:cs typeface="굴림"/>
              </a:rPr>
              <a:t>Q. 지금까지 체결된 NRE 계약 중 실제 양산으로 이어진 비율이나, 양산 단계까지 진행된 프로젝트가 있는지요?</a:t>
            </a:r>
            <a:endParaRPr lang="en-US" sz="1100"/>
          </a:p>
        </p:txBody>
      </p:sp>
      <p:sp>
        <p:nvSpPr>
          <p:cNvPr id="29" name="Shape 26"/>
          <p:cNvSpPr/>
          <p:nvPr/>
        </p:nvSpPr>
        <p:spPr>
          <a:xfrm>
            <a:off x="8341157" y="3520440"/>
            <a:ext cx="3064154" cy="2734056"/>
          </a:xfrm>
          <a:prstGeom prst="roundRect">
            <a:avLst>
              <a:gd name="adj" fmla="val 9677"/>
            </a:avLst>
          </a:prstGeom>
          <a:solidFill>
            <a:srgbClr val="EAF1FB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8469173" y="3647736"/>
            <a:ext cx="2826410" cy="2479464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050" b="1">
                <a:solidFill>
                  <a:srgbClr val="1C56B8"/>
                </a:solidFill>
                <a:latin typeface="굴림"/>
                <a:ea typeface="굴림"/>
                <a:cs typeface="굴림"/>
              </a:rPr>
              <a:t>A.  </a:t>
            </a:r>
            <a:r>
              <a:rPr lang="en-US" sz="1050">
                <a:solidFill>
                  <a:srgbClr val="141C2C"/>
                </a:solidFill>
                <a:latin typeface="굴림"/>
                <a:ea typeface="굴림"/>
                <a:cs typeface="굴림"/>
              </a:rPr>
              <a:t>당사는 모든 NRE 계약이 양산으로 이어질 것으로 보고 있습니다.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33856" y="42062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주식담당자 통화 및 답변</a:t>
            </a:r>
            <a:endParaRPr lang="en-US" sz="1200" dirty="0"/>
          </a:p>
        </p:txBody>
      </p:sp>
      <p:pic>
        <p:nvPicPr>
          <p:cNvPr id="5" name="Image 0" descr="logo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384048"/>
            <a:ext cx="1627632" cy="4790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사업 · 양산 전환 (2/2) / 고객 · 수주 (1/2)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66928" y="14447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ASP 배수 전망 및 고객 의존도 · 신규 NRE 활동 수준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AA4B4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Sapien Semiconductors  |  KOSDAQ 452430  |  Investment Analysis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B4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27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" y="2020824"/>
            <a:ext cx="3503066" cy="4379976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86384" y="2221992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</p:sp>
      <p:sp>
        <p:nvSpPr>
          <p:cNvPr id="12" name="Text 9"/>
          <p:cNvSpPr/>
          <p:nvPr/>
        </p:nvSpPr>
        <p:spPr>
          <a:xfrm>
            <a:off x="786384" y="222199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Q4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755648" y="2185416"/>
            <a:ext cx="21314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양산 vs NRE 매출 배수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86384" y="2624328"/>
            <a:ext cx="30641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Q. 양산 제품 1개당 단가(ASP)와 NRE 대비 매출 규모가 “수십~수백배”라는데, 보수적으로 보면 어느 정도 배수일까요?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86384" y="3520440"/>
            <a:ext cx="3064154" cy="2734056"/>
          </a:xfrm>
          <a:prstGeom prst="roundRect">
            <a:avLst>
              <a:gd name="adj" fmla="val 9677"/>
            </a:avLst>
          </a:prstGeom>
          <a:solidFill>
            <a:srgbClr val="EAF1FB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3647736"/>
            <a:ext cx="2826410" cy="247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A.  </a:t>
            </a:r>
            <a:r>
              <a:rPr lang="en-US" sz="105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이 부분은 답변 드리기 매우 곤란합니다. 다만 2024년부터 지속적으로 CAGR 기준 매출이 100% 이상 성장하고 있으며, 2027년부터는 퀀텀점프를 기대하고 있습니다.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344314" y="2020824"/>
            <a:ext cx="3503066" cy="4379976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63770" y="2221992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</p:sp>
      <p:sp>
        <p:nvSpPr>
          <p:cNvPr id="19" name="Text 16"/>
          <p:cNvSpPr/>
          <p:nvPr/>
        </p:nvSpPr>
        <p:spPr>
          <a:xfrm>
            <a:off x="4563770" y="222199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Q5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533034" y="2185416"/>
            <a:ext cx="21314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상위 고객 비중 및 의존 리스크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4563770" y="2624328"/>
            <a:ext cx="30641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Q. 현재 매출에서 상위 1~2개 고객 비중은 어느 정도이며, 특정 고객 의존 리스크를 어떻게 관리하시나요?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63770" y="3520440"/>
            <a:ext cx="3064154" cy="2734056"/>
          </a:xfrm>
          <a:prstGeom prst="roundRect">
            <a:avLst>
              <a:gd name="adj" fmla="val 9677"/>
            </a:avLst>
          </a:prstGeom>
          <a:solidFill>
            <a:srgbClr val="EAF1FB"/>
          </a:solidFill>
          <a:ln/>
        </p:spPr>
      </p:sp>
      <p:sp>
        <p:nvSpPr>
          <p:cNvPr id="23" name="Text 20"/>
          <p:cNvSpPr/>
          <p:nvPr/>
        </p:nvSpPr>
        <p:spPr>
          <a:xfrm>
            <a:off x="4691786" y="3647736"/>
            <a:ext cx="2826410" cy="247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A.  </a:t>
            </a:r>
            <a:r>
              <a:rPr lang="en-US" sz="105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다수의 빅테크 기업들과 협업을 진행하고 있으며, 비중 기준에 따라 다르겠지만 AI 기반 AR 스마트 안경 시장이 성장할수록 메이저 고객 비중이 더 커질 것으로 기대하고 있습니다.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121701" y="2020824"/>
            <a:ext cx="3503066" cy="4379976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341157" y="2221992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</p:sp>
      <p:sp>
        <p:nvSpPr>
          <p:cNvPr id="26" name="Text 23"/>
          <p:cNvSpPr/>
          <p:nvPr/>
        </p:nvSpPr>
        <p:spPr>
          <a:xfrm>
            <a:off x="8341157" y="222199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Q6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9310421" y="2185416"/>
            <a:ext cx="21314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신규 NRE 협의 활동 수준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8341157" y="2624328"/>
            <a:ext cx="30641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Q. 공시된 4개 계약 외에 협의 중인 신규 NRE 활동 수준이 작년 대비 늘었는지 줄었는지 정도는 알 수 있을까요?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341157" y="3520440"/>
            <a:ext cx="3064154" cy="2734056"/>
          </a:xfrm>
          <a:prstGeom prst="roundRect">
            <a:avLst>
              <a:gd name="adj" fmla="val 9677"/>
            </a:avLst>
          </a:prstGeom>
          <a:solidFill>
            <a:srgbClr val="EAF1FB"/>
          </a:solidFill>
          <a:ln/>
        </p:spPr>
      </p:sp>
      <p:sp>
        <p:nvSpPr>
          <p:cNvPr id="30" name="Text 27"/>
          <p:cNvSpPr/>
          <p:nvPr/>
        </p:nvSpPr>
        <p:spPr>
          <a:xfrm>
            <a:off x="8469173" y="3647736"/>
            <a:ext cx="2826410" cy="247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A.  </a:t>
            </a:r>
            <a:r>
              <a:rPr lang="en-US" sz="105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R&amp;D 개발 Capacity를 늘리기 위해 지속적으로 인력 투자를 해오고 있으며, 매년 개발 규모·수준·건수가 증가하고 있습니다.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33856" y="42062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주식담당자 통화 및 답변</a:t>
            </a:r>
            <a:endParaRPr lang="en-US" sz="1200" dirty="0"/>
          </a:p>
        </p:txBody>
      </p:sp>
      <p:pic>
        <p:nvPicPr>
          <p:cNvPr id="5" name="Image 0" descr="logo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384048"/>
            <a:ext cx="1627632" cy="4790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고객 · 수주 (2/2) / 재무 · 자금 (1/2)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66928" y="14447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계약 연장 논의, 고객 인증 진행 상황 및 BEP 전망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AA4B4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Sapien Semiconductors  |  KOSDAQ 452430  |  Investment Analysis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B4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28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" y="2020824"/>
            <a:ext cx="3503066" cy="4379976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86384" y="2221992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</p:sp>
      <p:sp>
        <p:nvSpPr>
          <p:cNvPr id="12" name="Text 9"/>
          <p:cNvSpPr/>
          <p:nvPr/>
        </p:nvSpPr>
        <p:spPr>
          <a:xfrm>
            <a:off x="786384" y="222199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Q7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755648" y="2185416"/>
            <a:ext cx="21314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기존 계약 연장 · 증액 논의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86384" y="2624328"/>
            <a:ext cx="30641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Q. 기존 계약(특히 2026년 종료 건)의 연장 또는 증액 논의가 진행 중인지요?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86384" y="3520440"/>
            <a:ext cx="3064154" cy="2734056"/>
          </a:xfrm>
          <a:prstGeom prst="roundRect">
            <a:avLst>
              <a:gd name="adj" fmla="val 9677"/>
            </a:avLst>
          </a:prstGeom>
          <a:solidFill>
            <a:srgbClr val="EAF1FB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3647736"/>
            <a:ext cx="2826410" cy="247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A.  </a:t>
            </a:r>
            <a:r>
              <a:rPr lang="en-US" sz="105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이 부분에 대한 답변은 공시를 통해서만 공유 가능합니다.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344314" y="2020824"/>
            <a:ext cx="3503066" cy="4379976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63770" y="2221992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</p:sp>
      <p:sp>
        <p:nvSpPr>
          <p:cNvPr id="19" name="Text 16"/>
          <p:cNvSpPr/>
          <p:nvPr/>
        </p:nvSpPr>
        <p:spPr>
          <a:xfrm>
            <a:off x="4563770" y="222199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Q8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533034" y="2185416"/>
            <a:ext cx="21314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고객 인증 진행 일정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4563770" y="2624328"/>
            <a:ext cx="30641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Q. 주요 고객사의 샘플 인증·퀄(qualification) 진행이 계획 대비 온트랙인지, 지연 요소가 있는지요?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63770" y="3520440"/>
            <a:ext cx="3064154" cy="2734056"/>
          </a:xfrm>
          <a:prstGeom prst="roundRect">
            <a:avLst>
              <a:gd name="adj" fmla="val 9677"/>
            </a:avLst>
          </a:prstGeom>
          <a:solidFill>
            <a:srgbClr val="EAF1FB"/>
          </a:solidFill>
          <a:ln/>
        </p:spPr>
      </p:sp>
      <p:sp>
        <p:nvSpPr>
          <p:cNvPr id="23" name="Text 20"/>
          <p:cNvSpPr/>
          <p:nvPr/>
        </p:nvSpPr>
        <p:spPr>
          <a:xfrm>
            <a:off x="4691786" y="3647736"/>
            <a:ext cx="2826410" cy="247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A.  </a:t>
            </a:r>
            <a:r>
              <a:rPr lang="en-US" sz="105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계획대로 진행되고 있습니다.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121701" y="2020824"/>
            <a:ext cx="3503066" cy="4379976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341157" y="2221992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</p:sp>
      <p:sp>
        <p:nvSpPr>
          <p:cNvPr id="26" name="Text 23"/>
          <p:cNvSpPr/>
          <p:nvPr/>
        </p:nvSpPr>
        <p:spPr>
          <a:xfrm>
            <a:off x="8341157" y="222199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Q9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9310421" y="2185416"/>
            <a:ext cx="21314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BEP 분기 매출 수준 · 흑자전환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8341157" y="2624328"/>
            <a:ext cx="30641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Q. 분기 영업이익 흑자전환(BEP)을 위한 최소 분기 매출은 대략 어느 수준이며, 2026년 흑자전환 전망에 대한 입장은?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341157" y="3520440"/>
            <a:ext cx="3064154" cy="2734056"/>
          </a:xfrm>
          <a:prstGeom prst="roundRect">
            <a:avLst>
              <a:gd name="adj" fmla="val 9677"/>
            </a:avLst>
          </a:prstGeom>
          <a:solidFill>
            <a:srgbClr val="EAF1FB"/>
          </a:solidFill>
          <a:ln/>
        </p:spPr>
      </p:sp>
      <p:sp>
        <p:nvSpPr>
          <p:cNvPr id="30" name="Text 27"/>
          <p:cNvSpPr/>
          <p:nvPr/>
        </p:nvSpPr>
        <p:spPr>
          <a:xfrm>
            <a:off x="8469173" y="3647736"/>
            <a:ext cx="2826410" cy="247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A.  </a:t>
            </a:r>
            <a:r>
              <a:rPr lang="en-US" sz="105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여러 복잡한 요소가 있어 숫자로 말씀드리기 곤란합니다. 2025년 4분기 및 2026년 1분기 공시자료를 참고해 주시기 바랍니다. 당사는 2026년 흑자를 달성할 것으로 전망하고 있습니다.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33856" y="42062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주식담당자 통화 및 답변</a:t>
            </a:r>
            <a:endParaRPr lang="en-US" sz="1200" dirty="0"/>
          </a:p>
        </p:txBody>
      </p:sp>
      <p:pic>
        <p:nvPicPr>
          <p:cNvPr id="5" name="Image 0" descr="logo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384048"/>
            <a:ext cx="1627632" cy="4790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재무 · 자금 (2/2) / 기술 경쟁력 (1/2)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66928" y="14447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현금 운영 기간 전망과 차세대 제품 로드맵 · OLEDoS 대응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AA4B4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Sapien Semiconductors  |  KOSDAQ 452430  |  Investment Analysis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B4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29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" y="2020824"/>
            <a:ext cx="3503066" cy="4379976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86384" y="2221992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</p:sp>
      <p:sp>
        <p:nvSpPr>
          <p:cNvPr id="12" name="Text 9"/>
          <p:cNvSpPr/>
          <p:nvPr/>
        </p:nvSpPr>
        <p:spPr>
          <a:xfrm>
            <a:off x="786384" y="222199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Q10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755648" y="2185416"/>
            <a:ext cx="21314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현금 운영 가능 기간(런웨이)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86384" y="2624328"/>
            <a:ext cx="30641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Q. 현재 현금(약 81억) 기준, 추가 자금 조달 없이 운영 가능한 기간(런웨이)은 어느 정도로 보시나요?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86384" y="3520440"/>
            <a:ext cx="3064154" cy="2734056"/>
          </a:xfrm>
          <a:prstGeom prst="roundRect">
            <a:avLst>
              <a:gd name="adj" fmla="val 9677"/>
            </a:avLst>
          </a:prstGeom>
          <a:solidFill>
            <a:srgbClr val="EAF1FB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3647736"/>
            <a:ext cx="2826410" cy="247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A.  </a:t>
            </a:r>
            <a:r>
              <a:rPr lang="en-US" sz="105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이 부분에 대한 답변은 말씀드릴 수 없는 점 양해를 부탁드립니다.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344314" y="2020824"/>
            <a:ext cx="3503066" cy="4379976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63770" y="2221992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</p:sp>
      <p:sp>
        <p:nvSpPr>
          <p:cNvPr id="19" name="Text 16"/>
          <p:cNvSpPr/>
          <p:nvPr/>
        </p:nvSpPr>
        <p:spPr>
          <a:xfrm>
            <a:off x="4563770" y="222199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Q11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533034" y="2185416"/>
            <a:ext cx="21314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차세대(3세대) 제품 로드맵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4563770" y="2624328"/>
            <a:ext cx="30641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Q. 중국(JBD 등)과의 2~5년 기술 격차 유지를 위한 차세대(3세대) 제품 로드맵과 개발 진척도는 어떤가요?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63770" y="3520440"/>
            <a:ext cx="3064154" cy="2734056"/>
          </a:xfrm>
          <a:prstGeom prst="roundRect">
            <a:avLst>
              <a:gd name="adj" fmla="val 9677"/>
            </a:avLst>
          </a:prstGeom>
          <a:solidFill>
            <a:srgbClr val="EAF1FB"/>
          </a:solidFill>
          <a:ln/>
        </p:spPr>
      </p:sp>
      <p:sp>
        <p:nvSpPr>
          <p:cNvPr id="23" name="Text 20"/>
          <p:cNvSpPr/>
          <p:nvPr/>
        </p:nvSpPr>
        <p:spPr>
          <a:xfrm>
            <a:off x="4691786" y="3647736"/>
            <a:ext cx="2826410" cy="247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A.  </a:t>
            </a:r>
            <a:r>
              <a:rPr lang="en-US" sz="105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이 부분에 대한 답변은 말씀드릴 수 없는 점 양해를 부탁드립니다.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121701" y="2020824"/>
            <a:ext cx="3503066" cy="4379976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341157" y="2221992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</p:sp>
      <p:sp>
        <p:nvSpPr>
          <p:cNvPr id="26" name="Text 23"/>
          <p:cNvSpPr/>
          <p:nvPr/>
        </p:nvSpPr>
        <p:spPr>
          <a:xfrm>
            <a:off x="8341157" y="222199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Q12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9310421" y="2185416"/>
            <a:ext cx="21314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OLEDoS 대중화 가능성 대비책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8341157" y="2624328"/>
            <a:ext cx="30641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Q. OLEDoS가 LEDoS보다 먼저 대중화될 가능성을 어떻게 평가하시며, 기술 포트폴리오상 대비책이 있는지요?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341157" y="3520440"/>
            <a:ext cx="3064154" cy="2734056"/>
          </a:xfrm>
          <a:prstGeom prst="roundRect">
            <a:avLst>
              <a:gd name="adj" fmla="val 9677"/>
            </a:avLst>
          </a:prstGeom>
          <a:solidFill>
            <a:srgbClr val="EAF1FB"/>
          </a:solidFill>
          <a:ln/>
        </p:spPr>
      </p:sp>
      <p:sp>
        <p:nvSpPr>
          <p:cNvPr id="30" name="Text 27"/>
          <p:cNvSpPr/>
          <p:nvPr/>
        </p:nvSpPr>
        <p:spPr>
          <a:xfrm>
            <a:off x="8469173" y="3647736"/>
            <a:ext cx="2826410" cy="247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A.  </a:t>
            </a:r>
            <a:r>
              <a:rPr lang="en-US" sz="105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LEDoS 디스플레이는 향후 스마트 안경의 80~90% 시장을 지배할 것이라고 주요 시장 보고서들이 예측하고 있으며, 사피엔반도체는 LEDoS 핵심 부품인 CMOS 백플레인에 집중해 시장 주도권을 유지할 계획입니다.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33856" y="42062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주식담당자 통화 및 답변</a:t>
            </a:r>
            <a:endParaRPr lang="en-US" sz="1200" dirty="0"/>
          </a:p>
        </p:txBody>
      </p:sp>
      <p:pic>
        <p:nvPicPr>
          <p:cNvPr id="5" name="Image 0" descr="logo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384048"/>
            <a:ext cx="1627632" cy="4790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기술 경쟁력 (2/2) / 시장 · 생산 (1/2)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66928" y="14447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JBD 파트너 리스크와 AR 대중화 지연 시 실적 영향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AA4B4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Sapien Semiconductors  |  KOSDAQ 452430  |  Investment Analysis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B4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30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" y="2020824"/>
            <a:ext cx="3503066" cy="4379976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86384" y="2221992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</p:sp>
      <p:sp>
        <p:nvSpPr>
          <p:cNvPr id="12" name="Text 9"/>
          <p:cNvSpPr/>
          <p:nvPr/>
        </p:nvSpPr>
        <p:spPr>
          <a:xfrm>
            <a:off x="786384" y="222199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Q13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755648" y="2185416"/>
            <a:ext cx="21314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JBD 파트너·경쟁 관계 리스크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86384" y="2624328"/>
            <a:ext cx="30641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Q. Jade Bird Display는 경쟁사이자 NRE 파트너인데, 이 관계가 기술 유출·사업 충돌 리스크로 이어질 가능성은 없는지요?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86384" y="3520440"/>
            <a:ext cx="3064154" cy="2734056"/>
          </a:xfrm>
          <a:prstGeom prst="roundRect">
            <a:avLst>
              <a:gd name="adj" fmla="val 9677"/>
            </a:avLst>
          </a:prstGeom>
          <a:solidFill>
            <a:srgbClr val="EAF1FB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3647736"/>
            <a:ext cx="2826410" cy="247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A.  </a:t>
            </a:r>
            <a:r>
              <a:rPr lang="en-US" sz="105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이 부분에 대한 답변은 말씀드릴 수 없는 점 양해를 부탁드립니다.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344314" y="2020824"/>
            <a:ext cx="3503066" cy="4379976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63770" y="2221992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</p:sp>
      <p:sp>
        <p:nvSpPr>
          <p:cNvPr id="19" name="Text 16"/>
          <p:cNvSpPr/>
          <p:nvPr/>
        </p:nvSpPr>
        <p:spPr>
          <a:xfrm>
            <a:off x="4563770" y="222199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Q14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533034" y="2185416"/>
            <a:ext cx="21314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AR 대중화 지연 시 실적 영향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4563770" y="2624328"/>
            <a:ext cx="30641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Q. 2026~27년 실적 전망이 전제하는 AR 글래스 대중화 시나리오는 무엇이며, 6개월~1년 지연 시 실적 영향은?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63770" y="3520440"/>
            <a:ext cx="3064154" cy="2734056"/>
          </a:xfrm>
          <a:prstGeom prst="roundRect">
            <a:avLst>
              <a:gd name="adj" fmla="val 9677"/>
            </a:avLst>
          </a:prstGeom>
          <a:solidFill>
            <a:srgbClr val="EAF1FB"/>
          </a:solidFill>
          <a:ln/>
        </p:spPr>
      </p:sp>
      <p:sp>
        <p:nvSpPr>
          <p:cNvPr id="23" name="Text 20"/>
          <p:cNvSpPr/>
          <p:nvPr/>
        </p:nvSpPr>
        <p:spPr>
          <a:xfrm>
            <a:off x="4691786" y="3647736"/>
            <a:ext cx="2826410" cy="247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A.  </a:t>
            </a:r>
            <a:r>
              <a:rPr lang="en-US" sz="105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북미·일본·중국 글로벌 파트너사와 NRE 개발 계약을 체결하고 제품을 공동 개발 중입니다. 2026~27년 빅테크 스마트 글래스 출시 시점에 맞춰 양산 매출이 빠르게 증가할 예정이며, 일정이 지연되면 제품매출 시기가 다소 지연될 수 있습니다.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121701" y="2020824"/>
            <a:ext cx="3503066" cy="4379976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341157" y="2221992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</p:sp>
      <p:sp>
        <p:nvSpPr>
          <p:cNvPr id="26" name="Text 23"/>
          <p:cNvSpPr/>
          <p:nvPr/>
        </p:nvSpPr>
        <p:spPr>
          <a:xfrm>
            <a:off x="8341157" y="222199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Q15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9310421" y="2185416"/>
            <a:ext cx="21314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파운드리 캐파 확보 전략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8341157" y="2624328"/>
            <a:ext cx="30641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Q. 양산 물량 급증 시 파운드리 캐파 확보가 가능한지, 소규모 기업으로서 우선순위 확보 전략이 있는지요?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341157" y="3520440"/>
            <a:ext cx="3064154" cy="2734056"/>
          </a:xfrm>
          <a:prstGeom prst="roundRect">
            <a:avLst>
              <a:gd name="adj" fmla="val 9677"/>
            </a:avLst>
          </a:prstGeom>
          <a:solidFill>
            <a:srgbClr val="EAF1FB"/>
          </a:solidFill>
          <a:ln/>
        </p:spPr>
      </p:sp>
      <p:sp>
        <p:nvSpPr>
          <p:cNvPr id="30" name="Text 27"/>
          <p:cNvSpPr/>
          <p:nvPr/>
        </p:nvSpPr>
        <p:spPr>
          <a:xfrm>
            <a:off x="8469173" y="3647736"/>
            <a:ext cx="2826410" cy="247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A.  </a:t>
            </a:r>
            <a:r>
              <a:rPr lang="en-US" sz="105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당사 DDIC 내장 wafer를 고객에 전달하면 고객의 MicroLED wafer와 bonding하므로, 당사와 고객의 wafer 캐파가 동일해야 합니다. 주요 고객이 글로벌 빅테크·업계 티어1 업체로 캐파 control을 고객과 함께 진행할 예정이라 우려하지 않습니다.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66928" y="42062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굴림"/>
                <a:ea typeface="굴림"/>
                <a:cs typeface="굴림"/>
              </a:rPr>
              <a:t>5</a:t>
            </a:r>
            <a:endParaRPr lang="en-US" sz="1500"/>
          </a:p>
        </p:txBody>
      </p:sp>
      <p:sp>
        <p:nvSpPr>
          <p:cNvPr id="4" name="Text 2"/>
          <p:cNvSpPr/>
          <p:nvPr/>
        </p:nvSpPr>
        <p:spPr>
          <a:xfrm>
            <a:off x="1133856" y="42062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1200" b="1" kern="0" spc="200">
                <a:solidFill>
                  <a:srgbClr val="1C56B8"/>
                </a:solidFill>
                <a:latin typeface="굴림"/>
                <a:ea typeface="굴림"/>
                <a:cs typeface="굴림"/>
              </a:rPr>
              <a:t>주식담당자 통화 및 답변</a:t>
            </a:r>
            <a:endParaRPr lang="en-US" sz="1200"/>
          </a:p>
        </p:txBody>
      </p:sp>
      <p:pic>
        <p:nvPicPr>
          <p:cNvPr id="5" name="Image 0" descr="logo_light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997135" y="384048"/>
            <a:ext cx="1627632" cy="4790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시장 · 생산 (2/2) / 경영 · 거버넌스 (1/2)</a:t>
            </a:r>
            <a:endParaRPr lang="en-US" sz="3000"/>
          </a:p>
        </p:txBody>
      </p:sp>
      <p:sp>
        <p:nvSpPr>
          <p:cNvPr id="7" name="Text 4"/>
          <p:cNvSpPr/>
          <p:nvPr/>
        </p:nvSpPr>
        <p:spPr>
          <a:xfrm>
            <a:off x="566928" y="14447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135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대형 DDIC 매출 다변화 전망과 실적 가이던스 · 지분 희석</a:t>
            </a:r>
            <a:endParaRPr lang="en-US" sz="1350"/>
          </a:p>
        </p:txBody>
      </p:sp>
      <p:sp>
        <p:nvSpPr>
          <p:cNvPr id="8" name="Text 5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9AA4B4"/>
                </a:solidFill>
                <a:latin typeface="굴림"/>
                <a:ea typeface="굴림"/>
                <a:cs typeface="굴림"/>
              </a:rPr>
              <a:t>Sapien Semiconductors  |  KOSDAQ 452430  |  Investment Analysis</a:t>
            </a:r>
            <a:endParaRPr lang="en-US" sz="850"/>
          </a:p>
        </p:txBody>
      </p:sp>
      <p:sp>
        <p:nvSpPr>
          <p:cNvPr id="9" name="Text 6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9AA4B4"/>
                </a:solidFill>
                <a:latin typeface="굴림"/>
                <a:ea typeface="굴림"/>
                <a:cs typeface="굴림"/>
              </a:rPr>
              <a:t>31</a:t>
            </a:r>
            <a:endParaRPr lang="en-US" sz="900"/>
          </a:p>
        </p:txBody>
      </p:sp>
      <p:sp>
        <p:nvSpPr>
          <p:cNvPr id="10" name="Shape 7"/>
          <p:cNvSpPr/>
          <p:nvPr/>
        </p:nvSpPr>
        <p:spPr>
          <a:xfrm>
            <a:off x="566928" y="2020824"/>
            <a:ext cx="3503066" cy="4379976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86384" y="2221992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86384" y="222199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굴림"/>
                <a:ea typeface="굴림"/>
                <a:cs typeface="굴림"/>
              </a:rPr>
              <a:t>Q16</a:t>
            </a:r>
            <a:endParaRPr lang="en-US" sz="1100"/>
          </a:p>
        </p:txBody>
      </p:sp>
      <p:sp>
        <p:nvSpPr>
          <p:cNvPr id="13" name="Text 10"/>
          <p:cNvSpPr/>
          <p:nvPr/>
        </p:nvSpPr>
        <p:spPr>
          <a:xfrm>
            <a:off x="1755648" y="2185416"/>
            <a:ext cx="2131466" cy="38404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대형 DDIC 사업 다변화 가능성</a:t>
            </a:r>
            <a:endParaRPr lang="en-US" sz="1350"/>
          </a:p>
        </p:txBody>
      </p:sp>
      <p:sp>
        <p:nvSpPr>
          <p:cNvPr id="14" name="Text 11"/>
          <p:cNvSpPr/>
          <p:nvPr/>
        </p:nvSpPr>
        <p:spPr>
          <a:xfrm>
            <a:off x="786384" y="2624328"/>
            <a:ext cx="3064154" cy="82296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ct val="112000"/>
              </a:lnSpc>
              <a:buNone/>
              <a:defRPr/>
            </a:pPr>
            <a:r>
              <a:rPr lang="en-US" sz="1050" i="1">
                <a:solidFill>
                  <a:srgbClr val="5A6373"/>
                </a:solidFill>
                <a:latin typeface="굴림"/>
                <a:ea typeface="굴림"/>
                <a:cs typeface="굴림"/>
              </a:rPr>
              <a:t>Q. AR 글래스 외에 대형 LED 사이니지·TV용 DDIC 사업이 매출 다변화 측면에서 의미 있게 성장할 가능성은?</a:t>
            </a:r>
            <a:endParaRPr lang="en-US" sz="1100"/>
          </a:p>
        </p:txBody>
      </p:sp>
      <p:sp>
        <p:nvSpPr>
          <p:cNvPr id="15" name="Shape 12"/>
          <p:cNvSpPr/>
          <p:nvPr/>
        </p:nvSpPr>
        <p:spPr>
          <a:xfrm>
            <a:off x="786384" y="3520440"/>
            <a:ext cx="3064154" cy="2734056"/>
          </a:xfrm>
          <a:prstGeom prst="roundRect">
            <a:avLst>
              <a:gd name="adj" fmla="val 9677"/>
            </a:avLst>
          </a:prstGeom>
          <a:solidFill>
            <a:srgbClr val="EAF1FB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914400" y="3647736"/>
            <a:ext cx="2826410" cy="2479464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050" b="1">
                <a:solidFill>
                  <a:srgbClr val="1C56B8"/>
                </a:solidFill>
                <a:latin typeface="굴림"/>
                <a:ea typeface="굴림"/>
                <a:cs typeface="굴림"/>
              </a:rPr>
              <a:t>A.  </a:t>
            </a:r>
            <a:r>
              <a:rPr lang="en-US" sz="1050">
                <a:solidFill>
                  <a:srgbClr val="141C2C"/>
                </a:solidFill>
                <a:latin typeface="굴림"/>
                <a:ea typeface="굴림"/>
                <a:cs typeface="굴림"/>
              </a:rPr>
              <a:t>차량용 AR-HUD, 프리미엄 Micro-LED TV, 군사용 고글 등 특수목적 웨어러블까지 Micro-LED 기술이 적용되는 다양한 응용처가 잠재 시장입니다. 이미 다양한 제품을 준비해 프로모션 중이며, 제품화를 통한 매출 증대·시장 확대를 기대하고 있습니다.</a:t>
            </a:r>
            <a:endParaRPr lang="en-US" sz="1050"/>
          </a:p>
        </p:txBody>
      </p:sp>
      <p:sp>
        <p:nvSpPr>
          <p:cNvPr id="17" name="Shape 14"/>
          <p:cNvSpPr/>
          <p:nvPr/>
        </p:nvSpPr>
        <p:spPr>
          <a:xfrm>
            <a:off x="4344314" y="2020824"/>
            <a:ext cx="3503066" cy="4379976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4563770" y="2221992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4563770" y="222199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굴림"/>
                <a:ea typeface="굴림"/>
                <a:cs typeface="굴림"/>
              </a:rPr>
              <a:t>Q17</a:t>
            </a:r>
            <a:endParaRPr lang="en-US" sz="1100"/>
          </a:p>
        </p:txBody>
      </p:sp>
      <p:sp>
        <p:nvSpPr>
          <p:cNvPr id="20" name="Text 17"/>
          <p:cNvSpPr/>
          <p:nvPr/>
        </p:nvSpPr>
        <p:spPr>
          <a:xfrm>
            <a:off x="5533034" y="2185416"/>
            <a:ext cx="2131466" cy="38404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2026년 매출 가이던스 달성 가능성</a:t>
            </a:r>
            <a:endParaRPr lang="en-US" sz="1350"/>
          </a:p>
        </p:txBody>
      </p:sp>
      <p:sp>
        <p:nvSpPr>
          <p:cNvPr id="21" name="Text 18"/>
          <p:cNvSpPr/>
          <p:nvPr/>
        </p:nvSpPr>
        <p:spPr>
          <a:xfrm>
            <a:off x="4563770" y="2624328"/>
            <a:ext cx="3064154" cy="82296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ct val="112000"/>
              </a:lnSpc>
              <a:buNone/>
              <a:defRPr/>
            </a:pPr>
            <a:r>
              <a:rPr lang="en-US" sz="1050" i="1">
                <a:solidFill>
                  <a:srgbClr val="5A6373"/>
                </a:solidFill>
                <a:latin typeface="굴림"/>
                <a:ea typeface="굴림"/>
                <a:cs typeface="굴림"/>
              </a:rPr>
              <a:t>Q. 과거 예측치 대비 실적 괴리(미달)가 컸는데, 2026년 매출 예측치의 달성 가능성을 어떻게 보시나요?</a:t>
            </a:r>
            <a:endParaRPr lang="en-US" sz="1100"/>
          </a:p>
        </p:txBody>
      </p:sp>
      <p:sp>
        <p:nvSpPr>
          <p:cNvPr id="22" name="Shape 19"/>
          <p:cNvSpPr/>
          <p:nvPr/>
        </p:nvSpPr>
        <p:spPr>
          <a:xfrm>
            <a:off x="4563770" y="3520440"/>
            <a:ext cx="3064154" cy="2734056"/>
          </a:xfrm>
          <a:prstGeom prst="roundRect">
            <a:avLst>
              <a:gd name="adj" fmla="val 9677"/>
            </a:avLst>
          </a:prstGeom>
          <a:solidFill>
            <a:srgbClr val="EAF1FB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4691786" y="3647736"/>
            <a:ext cx="2826410" cy="2479464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050" b="1">
                <a:solidFill>
                  <a:srgbClr val="1C56B8"/>
                </a:solidFill>
                <a:latin typeface="굴림"/>
                <a:ea typeface="굴림"/>
                <a:cs typeface="굴림"/>
              </a:rPr>
              <a:t>A.  </a:t>
            </a:r>
            <a:r>
              <a:rPr lang="en-US" sz="1050">
                <a:solidFill>
                  <a:srgbClr val="141C2C"/>
                </a:solidFill>
                <a:latin typeface="굴림"/>
                <a:ea typeface="굴림"/>
                <a:cs typeface="굴림"/>
              </a:rPr>
              <a:t>2026년은 직전연도 대비 100% 성장할 것으로 예측됩니다.</a:t>
            </a:r>
          </a:p>
        </p:txBody>
      </p:sp>
      <p:sp>
        <p:nvSpPr>
          <p:cNvPr id="24" name="Shape 21"/>
          <p:cNvSpPr/>
          <p:nvPr/>
        </p:nvSpPr>
        <p:spPr>
          <a:xfrm>
            <a:off x="8121701" y="2020824"/>
            <a:ext cx="3503066" cy="4379976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5" name="Shape 22"/>
          <p:cNvSpPr/>
          <p:nvPr/>
        </p:nvSpPr>
        <p:spPr>
          <a:xfrm>
            <a:off x="8341157" y="2221992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6" name="Text 23"/>
          <p:cNvSpPr/>
          <p:nvPr/>
        </p:nvSpPr>
        <p:spPr>
          <a:xfrm>
            <a:off x="8341157" y="222199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굴림"/>
                <a:ea typeface="굴림"/>
                <a:cs typeface="굴림"/>
              </a:rPr>
              <a:t>Q18</a:t>
            </a:r>
            <a:endParaRPr lang="en-US" sz="1100"/>
          </a:p>
        </p:txBody>
      </p:sp>
      <p:sp>
        <p:nvSpPr>
          <p:cNvPr id="27" name="Text 24"/>
          <p:cNvSpPr/>
          <p:nvPr/>
        </p:nvSpPr>
        <p:spPr>
          <a:xfrm>
            <a:off x="9310421" y="2185416"/>
            <a:ext cx="2131466" cy="38404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스톡옵션 · 지분 희석 규모</a:t>
            </a:r>
            <a:endParaRPr lang="en-US" sz="1350"/>
          </a:p>
        </p:txBody>
      </p:sp>
      <p:sp>
        <p:nvSpPr>
          <p:cNvPr id="28" name="Text 25"/>
          <p:cNvSpPr/>
          <p:nvPr/>
        </p:nvSpPr>
        <p:spPr>
          <a:xfrm>
            <a:off x="8341157" y="2624328"/>
            <a:ext cx="3064154" cy="82296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ct val="112000"/>
              </a:lnSpc>
              <a:buNone/>
              <a:defRPr/>
            </a:pPr>
            <a:r>
              <a:rPr lang="en-US" sz="1050" i="1">
                <a:solidFill>
                  <a:srgbClr val="5A6373"/>
                </a:solidFill>
                <a:latin typeface="굴림"/>
                <a:ea typeface="굴림"/>
                <a:cs typeface="굴림"/>
              </a:rPr>
              <a:t>Q. 스톡옵션 행사·주식 보상에 따른 추가 지분 희석 규모와, 내부자(경영진)의 지분 변동 계획이 있는지요?</a:t>
            </a:r>
            <a:endParaRPr lang="en-US" sz="1100"/>
          </a:p>
        </p:txBody>
      </p:sp>
      <p:sp>
        <p:nvSpPr>
          <p:cNvPr id="29" name="Shape 26"/>
          <p:cNvSpPr/>
          <p:nvPr/>
        </p:nvSpPr>
        <p:spPr>
          <a:xfrm>
            <a:off x="8341157" y="3520440"/>
            <a:ext cx="3064154" cy="2734056"/>
          </a:xfrm>
          <a:prstGeom prst="roundRect">
            <a:avLst>
              <a:gd name="adj" fmla="val 9677"/>
            </a:avLst>
          </a:prstGeom>
          <a:solidFill>
            <a:srgbClr val="EAF1FB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8469173" y="3647736"/>
            <a:ext cx="2826410" cy="2479464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050" b="1">
                <a:solidFill>
                  <a:srgbClr val="1C56B8"/>
                </a:solidFill>
                <a:latin typeface="굴림"/>
                <a:ea typeface="굴림"/>
                <a:cs typeface="굴림"/>
              </a:rPr>
              <a:t>A.  </a:t>
            </a:r>
            <a:r>
              <a:rPr lang="en-US" sz="1050">
                <a:solidFill>
                  <a:srgbClr val="141C2C"/>
                </a:solidFill>
                <a:latin typeface="굴림"/>
                <a:ea typeface="굴림"/>
                <a:cs typeface="굴림"/>
              </a:rPr>
              <a:t>매년 회사 성장에 기여할 임직원의 장기 근속·인센티브 부여를 목적으로 스톡옵션을 부여하고 있으며, 그 규모는 전체 발행주식수의 0.1~0.2% 수준으로 매우 적은 수량으로 판단됩니다.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33856" y="42062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주식담당자 통화 및 답변</a:t>
            </a:r>
            <a:endParaRPr lang="en-US" sz="1200" dirty="0"/>
          </a:p>
        </p:txBody>
      </p:sp>
      <p:pic>
        <p:nvPicPr>
          <p:cNvPr id="5" name="Image 0" descr="logo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384048"/>
            <a:ext cx="1627632" cy="4790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최근 공시 · 뉴스 Q&amp;A (1/3)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66928" y="14447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신제품 진행 단계와 신산업 진출 현황 점검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AA4B4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Sapien Semiconductors  |  KOSDAQ 452430  |  Investment Analysis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B4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32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" y="2020824"/>
            <a:ext cx="3503066" cy="4379976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86384" y="2221992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</p:sp>
      <p:sp>
        <p:nvSpPr>
          <p:cNvPr id="12" name="Text 9"/>
          <p:cNvSpPr/>
          <p:nvPr/>
        </p:nvSpPr>
        <p:spPr>
          <a:xfrm>
            <a:off x="786384" y="222199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Q19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755648" y="2185416"/>
            <a:ext cx="21314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UXGA+ 구동칩 진행 단계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86384" y="2624328"/>
            <a:ext cx="30641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Q. 4월 출시한 UXGA+(1600×1200) 구동칩은 현재 어느 단계(샘플/인증/양산)이며, 협의 중인 고객사가 있는지요?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86384" y="3520440"/>
            <a:ext cx="3064154" cy="2734056"/>
          </a:xfrm>
          <a:prstGeom prst="roundRect">
            <a:avLst>
              <a:gd name="adj" fmla="val 9677"/>
            </a:avLst>
          </a:prstGeom>
          <a:solidFill>
            <a:srgbClr val="EAF1FB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3647736"/>
            <a:ext cx="2826410" cy="247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A.  </a:t>
            </a:r>
            <a:r>
              <a:rPr lang="en-US" sz="105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현재 이 제품에 대한 문의가 많이 오고 있습니다. 다만 구체적인 내용은 말씀드릴 수 없는 점 양해를 부탁드립니다.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344314" y="2020824"/>
            <a:ext cx="3503066" cy="4379976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63770" y="2221992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</p:sp>
      <p:sp>
        <p:nvSpPr>
          <p:cNvPr id="19" name="Text 16"/>
          <p:cNvSpPr/>
          <p:nvPr/>
        </p:nvSpPr>
        <p:spPr>
          <a:xfrm>
            <a:off x="4563770" y="222199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Q20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533034" y="2185416"/>
            <a:ext cx="21314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신제품 픽셀 구조 특허 보호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4563770" y="2624328"/>
            <a:ext cx="30641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Q. 신제품의 벌집(육각형) 픽셀 구조가 경쟁사가 모방하기 어려운 기술인지, 별도 특허로 보호되는지요?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63770" y="3520440"/>
            <a:ext cx="3064154" cy="2734056"/>
          </a:xfrm>
          <a:prstGeom prst="roundRect">
            <a:avLst>
              <a:gd name="adj" fmla="val 9677"/>
            </a:avLst>
          </a:prstGeom>
          <a:solidFill>
            <a:srgbClr val="EAF1FB"/>
          </a:solidFill>
          <a:ln/>
        </p:spPr>
      </p:sp>
      <p:sp>
        <p:nvSpPr>
          <p:cNvPr id="23" name="Text 20"/>
          <p:cNvSpPr/>
          <p:nvPr/>
        </p:nvSpPr>
        <p:spPr>
          <a:xfrm>
            <a:off x="4691786" y="3647736"/>
            <a:ext cx="2826410" cy="247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A.  </a:t>
            </a:r>
            <a:r>
              <a:rPr lang="en-US" sz="105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벌집 육각형 구조 자체가 중요한 것이 아니라, 그러한 구조를 지원하는 구동 회로에 당사 특허가 다수 적용되어 있습니다.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121701" y="2020824"/>
            <a:ext cx="3503066" cy="4379976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341157" y="2221992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</p:sp>
      <p:sp>
        <p:nvSpPr>
          <p:cNvPr id="26" name="Text 23"/>
          <p:cNvSpPr/>
          <p:nvPr/>
        </p:nvSpPr>
        <p:spPr>
          <a:xfrm>
            <a:off x="8341157" y="222199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Q21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9310421" y="2185416"/>
            <a:ext cx="21314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AI 서버룸용 광통신 진출 현황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8341157" y="2624328"/>
            <a:ext cx="30641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Q. 발표하신 ‘AI 서버룸용 광통신’ 시장 진출은 어느 정도 구체화됐나요? 매출 기여 시점과 비중은?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341157" y="3520440"/>
            <a:ext cx="3064154" cy="2734056"/>
          </a:xfrm>
          <a:prstGeom prst="roundRect">
            <a:avLst>
              <a:gd name="adj" fmla="val 9677"/>
            </a:avLst>
          </a:prstGeom>
          <a:solidFill>
            <a:srgbClr val="EAF1FB"/>
          </a:solidFill>
          <a:ln/>
        </p:spPr>
      </p:sp>
      <p:sp>
        <p:nvSpPr>
          <p:cNvPr id="30" name="Text 27"/>
          <p:cNvSpPr/>
          <p:nvPr/>
        </p:nvSpPr>
        <p:spPr>
          <a:xfrm>
            <a:off x="8469173" y="3647736"/>
            <a:ext cx="2826410" cy="247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A.  </a:t>
            </a:r>
            <a:r>
              <a:rPr lang="en-US" sz="105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당장의 매출보다 미래 성장성에 방점이 찍힌 초기 진입 단계입니다. 업계 표준화가 선행되어야 해 시장 기대감이 실제 수요보다 다소 앞서 있다고 판단하나, 이는 신산업 개화의 자연스러운 과정입니다. 전방 광통신 업체 요구에 대응할 커스텀 기술력을 고도화하며, 시장이 성숙했을 때 독점적 지위를 확보할 핵심 기술력을 축적해 실질적 매출 기회를 선점해 나가겠습니다.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66928" y="42062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굴림"/>
                <a:ea typeface="굴림"/>
                <a:cs typeface="굴림"/>
              </a:rPr>
              <a:t>5</a:t>
            </a:r>
            <a:endParaRPr lang="en-US" sz="1500"/>
          </a:p>
        </p:txBody>
      </p:sp>
      <p:sp>
        <p:nvSpPr>
          <p:cNvPr id="4" name="Text 2"/>
          <p:cNvSpPr/>
          <p:nvPr/>
        </p:nvSpPr>
        <p:spPr>
          <a:xfrm>
            <a:off x="1133856" y="42062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1200" b="1" kern="0" spc="200">
                <a:solidFill>
                  <a:srgbClr val="1C56B8"/>
                </a:solidFill>
                <a:latin typeface="굴림"/>
                <a:ea typeface="굴림"/>
                <a:cs typeface="굴림"/>
              </a:rPr>
              <a:t>주식담당자 통화 및 답변</a:t>
            </a:r>
            <a:endParaRPr lang="en-US" sz="1200"/>
          </a:p>
        </p:txBody>
      </p:sp>
      <p:pic>
        <p:nvPicPr>
          <p:cNvPr id="5" name="Image 0" descr="logo_light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997135" y="384048"/>
            <a:ext cx="1627632" cy="4790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최근 공시 · 뉴스 Q&amp;A (2/3)</a:t>
            </a:r>
            <a:endParaRPr lang="en-US" sz="3000"/>
          </a:p>
        </p:txBody>
      </p:sp>
      <p:sp>
        <p:nvSpPr>
          <p:cNvPr id="7" name="Text 4"/>
          <p:cNvSpPr/>
          <p:nvPr/>
        </p:nvSpPr>
        <p:spPr>
          <a:xfrm>
            <a:off x="566928" y="14447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1350">
                <a:solidFill>
                  <a:srgbClr val="5A6373"/>
                </a:solidFill>
                <a:latin typeface="굴림"/>
                <a:ea typeface="굴림"/>
                <a:cs typeface="굴림"/>
              </a:rPr>
              <a:t>고객 문의 추이와 흑자 기조의 지속 가능성</a:t>
            </a:r>
            <a:endParaRPr lang="en-US" sz="1350"/>
          </a:p>
        </p:txBody>
      </p:sp>
      <p:sp>
        <p:nvSpPr>
          <p:cNvPr id="8" name="Text 5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9AA4B4"/>
                </a:solidFill>
                <a:latin typeface="굴림"/>
                <a:ea typeface="굴림"/>
                <a:cs typeface="굴림"/>
              </a:rPr>
              <a:t>Sapien Semiconductors  |  KOSDAQ 452430  |  Investment Analysis</a:t>
            </a:r>
            <a:endParaRPr lang="en-US" sz="850"/>
          </a:p>
        </p:txBody>
      </p:sp>
      <p:sp>
        <p:nvSpPr>
          <p:cNvPr id="9" name="Text 6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9AA4B4"/>
                </a:solidFill>
                <a:latin typeface="굴림"/>
                <a:ea typeface="굴림"/>
                <a:cs typeface="굴림"/>
              </a:rPr>
              <a:t>33</a:t>
            </a:r>
            <a:endParaRPr lang="en-US" sz="900"/>
          </a:p>
        </p:txBody>
      </p:sp>
      <p:sp>
        <p:nvSpPr>
          <p:cNvPr id="10" name="Shape 7"/>
          <p:cNvSpPr/>
          <p:nvPr/>
        </p:nvSpPr>
        <p:spPr>
          <a:xfrm>
            <a:off x="566928" y="2020824"/>
            <a:ext cx="3503066" cy="4379976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86384" y="2221992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86384" y="222199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굴림"/>
                <a:ea typeface="굴림"/>
                <a:cs typeface="굴림"/>
              </a:rPr>
              <a:t>Q22</a:t>
            </a:r>
            <a:endParaRPr lang="en-US" sz="1100"/>
          </a:p>
        </p:txBody>
      </p:sp>
      <p:sp>
        <p:nvSpPr>
          <p:cNvPr id="13" name="Text 10"/>
          <p:cNvSpPr/>
          <p:nvPr/>
        </p:nvSpPr>
        <p:spPr>
          <a:xfrm>
            <a:off x="1755648" y="2185416"/>
            <a:ext cx="2131466" cy="38404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디스플레이위크 이후 고객 반응</a:t>
            </a:r>
            <a:endParaRPr lang="en-US" sz="1350"/>
          </a:p>
        </p:txBody>
      </p:sp>
      <p:sp>
        <p:nvSpPr>
          <p:cNvPr id="14" name="Text 11"/>
          <p:cNvSpPr/>
          <p:nvPr/>
        </p:nvSpPr>
        <p:spPr>
          <a:xfrm>
            <a:off x="786384" y="2624328"/>
            <a:ext cx="3064154" cy="82296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ct val="112000"/>
              </a:lnSpc>
              <a:buNone/>
              <a:defRPr/>
            </a:pPr>
            <a:r>
              <a:rPr lang="en-US" sz="1050" i="1">
                <a:solidFill>
                  <a:srgbClr val="5A6373"/>
                </a:solidFill>
                <a:latin typeface="굴림"/>
                <a:ea typeface="굴림"/>
                <a:cs typeface="굴림"/>
              </a:rPr>
              <a:t>Q. 5월 디스플레이위크 신제품 공개 이후, 신규 고객 문의나 NDA·협의가 실제로 늘었는지요?</a:t>
            </a:r>
            <a:endParaRPr lang="en-US" sz="1100"/>
          </a:p>
        </p:txBody>
      </p:sp>
      <p:sp>
        <p:nvSpPr>
          <p:cNvPr id="15" name="Shape 12"/>
          <p:cNvSpPr/>
          <p:nvPr/>
        </p:nvSpPr>
        <p:spPr>
          <a:xfrm>
            <a:off x="786384" y="3520440"/>
            <a:ext cx="3064154" cy="2734056"/>
          </a:xfrm>
          <a:prstGeom prst="roundRect">
            <a:avLst>
              <a:gd name="adj" fmla="val 9677"/>
            </a:avLst>
          </a:prstGeom>
          <a:solidFill>
            <a:srgbClr val="EAF1FB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914400" y="3647736"/>
            <a:ext cx="2826410" cy="2479464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050" b="1">
                <a:solidFill>
                  <a:srgbClr val="1C56B8"/>
                </a:solidFill>
                <a:latin typeface="굴림"/>
                <a:ea typeface="굴림"/>
                <a:cs typeface="굴림"/>
              </a:rPr>
              <a:t>A.  </a:t>
            </a:r>
            <a:r>
              <a:rPr lang="en-US" sz="1050">
                <a:solidFill>
                  <a:srgbClr val="141C2C"/>
                </a:solidFill>
                <a:latin typeface="굴림"/>
                <a:ea typeface="굴림"/>
                <a:cs typeface="굴림"/>
              </a:rPr>
              <a:t>지속적으로 기술협의 및 개발문의가 들어오고 있으며, 그 규모와 빈도가 늘어나고 있습니다.</a:t>
            </a:r>
            <a:endParaRPr lang="en-US" sz="1050"/>
          </a:p>
        </p:txBody>
      </p:sp>
      <p:sp>
        <p:nvSpPr>
          <p:cNvPr id="17" name="Shape 14"/>
          <p:cNvSpPr/>
          <p:nvPr/>
        </p:nvSpPr>
        <p:spPr>
          <a:xfrm>
            <a:off x="4344314" y="2020824"/>
            <a:ext cx="3503066" cy="4379976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4563770" y="2221992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4563770" y="222199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굴림"/>
                <a:ea typeface="굴림"/>
                <a:cs typeface="굴림"/>
              </a:rPr>
              <a:t>Q23</a:t>
            </a:r>
            <a:endParaRPr lang="en-US" sz="1100"/>
          </a:p>
        </p:txBody>
      </p:sp>
      <p:sp>
        <p:nvSpPr>
          <p:cNvPr id="20" name="Text 17"/>
          <p:cNvSpPr/>
          <p:nvPr/>
        </p:nvSpPr>
        <p:spPr>
          <a:xfrm>
            <a:off x="5533034" y="2185416"/>
            <a:ext cx="2131466" cy="38404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1분기 흑자전환의 지속 가능성</a:t>
            </a:r>
            <a:endParaRPr lang="en-US" sz="1350"/>
          </a:p>
        </p:txBody>
      </p:sp>
      <p:sp>
        <p:nvSpPr>
          <p:cNvPr id="21" name="Text 18"/>
          <p:cNvSpPr/>
          <p:nvPr/>
        </p:nvSpPr>
        <p:spPr>
          <a:xfrm>
            <a:off x="4563770" y="2624328"/>
            <a:ext cx="3064154" cy="82296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ct val="112000"/>
              </a:lnSpc>
              <a:buNone/>
              <a:defRPr/>
            </a:pPr>
            <a:r>
              <a:rPr lang="en-US" sz="1050" i="1">
                <a:solidFill>
                  <a:srgbClr val="5A6373"/>
                </a:solidFill>
                <a:latin typeface="굴림"/>
                <a:ea typeface="굴림"/>
                <a:cs typeface="굴림"/>
              </a:rPr>
              <a:t>Q. 1분기 흑자전환을 달성했지만 매출 99%가 용역(NRE)입니다. 이 흑자가 일회성인지, 유지 가능한 추세인지요?</a:t>
            </a:r>
            <a:endParaRPr lang="en-US" sz="1100"/>
          </a:p>
        </p:txBody>
      </p:sp>
      <p:sp>
        <p:nvSpPr>
          <p:cNvPr id="22" name="Shape 19"/>
          <p:cNvSpPr/>
          <p:nvPr/>
        </p:nvSpPr>
        <p:spPr>
          <a:xfrm>
            <a:off x="4563770" y="3520440"/>
            <a:ext cx="3064154" cy="2734056"/>
          </a:xfrm>
          <a:prstGeom prst="roundRect">
            <a:avLst>
              <a:gd name="adj" fmla="val 9677"/>
            </a:avLst>
          </a:prstGeom>
          <a:solidFill>
            <a:srgbClr val="EAF1FB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4691786" y="3647736"/>
            <a:ext cx="2826410" cy="2479464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050" b="1">
                <a:solidFill>
                  <a:srgbClr val="1C56B8"/>
                </a:solidFill>
                <a:latin typeface="굴림"/>
                <a:ea typeface="굴림"/>
                <a:cs typeface="굴림"/>
              </a:rPr>
              <a:t>A.  </a:t>
            </a:r>
            <a:r>
              <a:rPr lang="en-US" sz="1050">
                <a:solidFill>
                  <a:srgbClr val="141C2C"/>
                </a:solidFill>
                <a:latin typeface="굴림"/>
                <a:ea typeface="굴림"/>
                <a:cs typeface="굴림"/>
              </a:rPr>
              <a:t>앞서 말씀드린 바와 같이 흑자 기조가 유지될 수 있도록 노력하고 있습니다.</a:t>
            </a:r>
            <a:endParaRPr lang="en-US" sz="1050"/>
          </a:p>
        </p:txBody>
      </p:sp>
      <p:sp>
        <p:nvSpPr>
          <p:cNvPr id="24" name="Shape 21"/>
          <p:cNvSpPr/>
          <p:nvPr/>
        </p:nvSpPr>
        <p:spPr>
          <a:xfrm>
            <a:off x="8121701" y="2020824"/>
            <a:ext cx="3503066" cy="4379976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5" name="Shape 22"/>
          <p:cNvSpPr/>
          <p:nvPr/>
        </p:nvSpPr>
        <p:spPr>
          <a:xfrm>
            <a:off x="8341157" y="2221992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6" name="Text 23"/>
          <p:cNvSpPr/>
          <p:nvPr/>
        </p:nvSpPr>
        <p:spPr>
          <a:xfrm>
            <a:off x="8341157" y="222199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굴림"/>
                <a:ea typeface="굴림"/>
                <a:cs typeface="굴림"/>
              </a:rPr>
              <a:t>Q24</a:t>
            </a:r>
            <a:endParaRPr lang="en-US" sz="1100"/>
          </a:p>
        </p:txBody>
      </p:sp>
      <p:sp>
        <p:nvSpPr>
          <p:cNvPr id="27" name="Text 24"/>
          <p:cNvSpPr/>
          <p:nvPr/>
        </p:nvSpPr>
        <p:spPr>
          <a:xfrm>
            <a:off x="9310421" y="2185416"/>
            <a:ext cx="2131466" cy="38404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141C2C"/>
                </a:solidFill>
                <a:latin typeface="굴림"/>
                <a:ea typeface="굴림"/>
                <a:cs typeface="굴림"/>
              </a:rPr>
              <a:t>증권사 매출 전망 편차에 대한 입장</a:t>
            </a:r>
            <a:endParaRPr lang="en-US" sz="1350"/>
          </a:p>
        </p:txBody>
      </p:sp>
      <p:sp>
        <p:nvSpPr>
          <p:cNvPr id="28" name="Text 25"/>
          <p:cNvSpPr/>
          <p:nvPr/>
        </p:nvSpPr>
        <p:spPr>
          <a:xfrm>
            <a:off x="8341157" y="2624328"/>
            <a:ext cx="3064154" cy="82296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ct val="112000"/>
              </a:lnSpc>
              <a:buNone/>
              <a:defRPr/>
            </a:pPr>
            <a:r>
              <a:rPr lang="en-US" sz="1050" i="1">
                <a:solidFill>
                  <a:srgbClr val="5A6373"/>
                </a:solidFill>
                <a:latin typeface="굴림"/>
                <a:ea typeface="굴림"/>
                <a:cs typeface="굴림"/>
              </a:rPr>
              <a:t>Q. 증권사 전망에 편차(매출 351억~428억)가 있는데, 회사 내부에서는 어느 시나리오가 현실적이라 보시나요?</a:t>
            </a:r>
            <a:endParaRPr lang="en-US" sz="1100"/>
          </a:p>
        </p:txBody>
      </p:sp>
      <p:sp>
        <p:nvSpPr>
          <p:cNvPr id="29" name="Shape 26"/>
          <p:cNvSpPr/>
          <p:nvPr/>
        </p:nvSpPr>
        <p:spPr>
          <a:xfrm>
            <a:off x="8341157" y="3520440"/>
            <a:ext cx="3064154" cy="2734056"/>
          </a:xfrm>
          <a:prstGeom prst="roundRect">
            <a:avLst>
              <a:gd name="adj" fmla="val 9677"/>
            </a:avLst>
          </a:prstGeom>
          <a:solidFill>
            <a:srgbClr val="EAF1FB"/>
          </a:solidFill>
          <a:ln/>
        </p:spPr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8469173" y="3647736"/>
            <a:ext cx="2826410" cy="2479464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050" b="1">
                <a:solidFill>
                  <a:srgbClr val="1C56B8"/>
                </a:solidFill>
                <a:latin typeface="굴림"/>
                <a:ea typeface="굴림"/>
                <a:cs typeface="굴림"/>
              </a:rPr>
              <a:t>A.  </a:t>
            </a:r>
            <a:r>
              <a:rPr lang="en-US" sz="1050">
                <a:solidFill>
                  <a:srgbClr val="141C2C"/>
                </a:solidFill>
                <a:latin typeface="굴림"/>
                <a:ea typeface="굴림"/>
                <a:cs typeface="굴림"/>
              </a:rPr>
              <a:t>앞서 말씀드린 것과 같이 2026년은 직전연도 대비 100% 성장할 것으로 예측됩니다.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457200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2062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33856" y="420624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주식담당자 통화 및 답변</a:t>
            </a:r>
            <a:endParaRPr lang="en-US" sz="1200" dirty="0"/>
          </a:p>
        </p:txBody>
      </p:sp>
      <p:pic>
        <p:nvPicPr>
          <p:cNvPr id="5" name="Image 0" descr="logo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384048"/>
            <a:ext cx="1627632" cy="4790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최근 공시 · 뉴스 Q&amp;A (3/3)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66928" y="14447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캘리포니아 빅테크 양산 일정과 하반기 출시 캘린더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AA4B4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Sapien Semiconductors  |  KOSDAQ 452430  |  Investment Analysis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B4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34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" y="2020824"/>
            <a:ext cx="5414384" cy="4379976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86384" y="2221992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</p:sp>
      <p:sp>
        <p:nvSpPr>
          <p:cNvPr id="12" name="Text 9"/>
          <p:cNvSpPr/>
          <p:nvPr/>
        </p:nvSpPr>
        <p:spPr>
          <a:xfrm>
            <a:off x="786384" y="222199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Q25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755648" y="2185416"/>
            <a:ext cx="4042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캘리포니아 빅테크 양산 일정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86384" y="2624328"/>
            <a:ext cx="4975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Q. 언론은 캘리포니아 빅테크를 메타로 추정하며 ‘2026 하반기 양산’을 거론합니다. 9월 메타 커넥트에서 신규 AR글래스 발표가 예상되는데, 양산 일정이 보도와 큰 차이 없는지요?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86384" y="3520440"/>
            <a:ext cx="4975472" cy="2734056"/>
          </a:xfrm>
          <a:prstGeom prst="roundRect">
            <a:avLst>
              <a:gd name="adj" fmla="val 9677"/>
            </a:avLst>
          </a:prstGeom>
          <a:solidFill>
            <a:srgbClr val="EAF1FB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3647736"/>
            <a:ext cx="4737728" cy="247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A.  </a:t>
            </a:r>
            <a:r>
              <a:rPr lang="en-US" sz="105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이 부분에 대한 답변은 말씀드릴 수 없는 점 양해를 부탁드립니다.</a:t>
            </a:r>
            <a:endParaRPr lang="en-US" sz="1050" dirty="0"/>
          </a:p>
        </p:txBody>
      </p:sp>
      <p:sp>
        <p:nvSpPr>
          <p:cNvPr id="18" name="Shape 7"/>
          <p:cNvSpPr/>
          <p:nvPr/>
        </p:nvSpPr>
        <p:spPr>
          <a:xfrm>
            <a:off x="6210383" y="2020824"/>
            <a:ext cx="5414384" cy="4379976"/>
          </a:xfrm>
          <a:prstGeom prst="roundRect">
            <a:avLst>
              <a:gd name="adj" fmla="val 2088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blurRad="114300" dist="38100" dir="5400000" algn="bl" rotWithShape="0">
              <a:srgbClr val="0B1830">
                <a:alpha val="10000"/>
              </a:srgbClr>
            </a:outerShdw>
          </a:effectLst>
        </p:spPr>
      </p:sp>
      <p:sp>
        <p:nvSpPr>
          <p:cNvPr id="19" name="Shape 8"/>
          <p:cNvSpPr/>
          <p:nvPr/>
        </p:nvSpPr>
        <p:spPr>
          <a:xfrm>
            <a:off x="6429839" y="2221992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1C56B8"/>
          </a:solidFill>
          <a:ln/>
        </p:spPr>
      </p:sp>
      <p:sp>
        <p:nvSpPr>
          <p:cNvPr id="20" name="Text 9"/>
          <p:cNvSpPr/>
          <p:nvPr/>
        </p:nvSpPr>
        <p:spPr>
          <a:xfrm>
            <a:off x="6429839" y="222199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Q26</a:t>
            </a:r>
            <a:endParaRPr lang="en-US" sz="1100" dirty="0"/>
          </a:p>
        </p:txBody>
      </p:sp>
      <p:sp>
        <p:nvSpPr>
          <p:cNvPr id="21" name="Text 10"/>
          <p:cNvSpPr/>
          <p:nvPr/>
        </p:nvSpPr>
        <p:spPr>
          <a:xfrm>
            <a:off x="7399103" y="2185416"/>
            <a:ext cx="4042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빅테크 출시 일정과 양산 전환 시점</a:t>
            </a:r>
            <a:endParaRPr lang="en-US" sz="1350" dirty="0"/>
          </a:p>
        </p:txBody>
      </p:sp>
      <p:sp>
        <p:nvSpPr>
          <p:cNvPr id="22" name="Text 11"/>
          <p:cNvSpPr/>
          <p:nvPr/>
        </p:nvSpPr>
        <p:spPr>
          <a:xfrm>
            <a:off x="6429839" y="2624328"/>
            <a:ext cx="4975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5A6373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Q. 하반기에 글로벌 빅테크들의 AR 글래스 신제품 발표가 몰려 있는데, 이런 출시 일정이 회사의 양산 전환 시점과 어떻게 맞물리는지 방향성만이라도 알 수 있을까요?</a:t>
            </a:r>
            <a:endParaRPr lang="en-US" sz="1100" dirty="0"/>
          </a:p>
        </p:txBody>
      </p:sp>
      <p:sp>
        <p:nvSpPr>
          <p:cNvPr id="23" name="Shape 12"/>
          <p:cNvSpPr/>
          <p:nvPr/>
        </p:nvSpPr>
        <p:spPr>
          <a:xfrm>
            <a:off x="6429839" y="3520440"/>
            <a:ext cx="4975472" cy="2734056"/>
          </a:xfrm>
          <a:prstGeom prst="roundRect">
            <a:avLst>
              <a:gd name="adj" fmla="val 9677"/>
            </a:avLst>
          </a:prstGeom>
          <a:solidFill>
            <a:srgbClr val="EAF1FB"/>
          </a:solidFill>
          <a:ln/>
        </p:spPr>
      </p:sp>
      <p:sp>
        <p:nvSpPr>
          <p:cNvPr id="24" name="Text 13"/>
          <p:cNvSpPr/>
          <p:nvPr/>
        </p:nvSpPr>
        <p:spPr>
          <a:xfrm>
            <a:off x="6557855" y="3647736"/>
            <a:ext cx="4737728" cy="247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C56B8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A.  </a:t>
            </a:r>
            <a:r>
              <a:rPr lang="en-US" sz="1050" dirty="0">
                <a:solidFill>
                  <a:srgbClr val="141C2C"/>
                </a:solidFill>
                <a:latin typeface="Gulim" pitchFamily="34" charset="0"/>
                <a:ea typeface="Gulim" pitchFamily="34" charset="-122"/>
                <a:cs typeface="Gulim" pitchFamily="34" charset="-120"/>
              </a:rPr>
              <a:t>당사 ES 제품이 고객에 전달되면 약 9~12개월간의 신뢰성 testing 기간이 필요합니다. 이 test 및 검증이 완료되면 본격적으로 양산에 들어가며, 즉 고객의 제품 출시 목표일 1년 전에 당사는 고객으로부터 양산 PO를 받게 됩니다.</a:t>
            </a:r>
            <a:endParaRPr lang="en-US" sz="10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dark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070287" y="457200"/>
            <a:ext cx="1554480" cy="45755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666848" y="2094927"/>
            <a:ext cx="6858000" cy="27953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ko-KR" altLang="en-US" sz="4000" b="1">
                <a:solidFill>
                  <a:srgbClr val="FFFFFF"/>
                </a:solidFill>
                <a:latin typeface="굴림"/>
                <a:ea typeface="굴림"/>
                <a:cs typeface="굴림"/>
              </a:rPr>
              <a:t>감사합니다</a:t>
            </a:r>
            <a:r>
              <a:rPr lang="en-US" altLang="ko-KR" sz="4000" b="1">
                <a:solidFill>
                  <a:srgbClr val="FFFFFF"/>
                </a:solidFill>
                <a:latin typeface="굴림"/>
                <a:ea typeface="굴림"/>
                <a:cs typeface="굴림"/>
              </a:rPr>
              <a:t>.</a:t>
            </a:r>
          </a:p>
          <a:p>
            <a:pPr marL="0" indent="0" algn="ctr">
              <a:buNone/>
              <a:defRPr/>
            </a:pPr>
            <a:endParaRPr lang="en-US" altLang="ko-KR" sz="4000" b="1">
              <a:solidFill>
                <a:srgbClr val="FFFFFF"/>
              </a:solidFill>
              <a:latin typeface="굴림"/>
              <a:ea typeface="굴림"/>
              <a:cs typeface="굴림"/>
            </a:endParaRPr>
          </a:p>
          <a:p>
            <a:pPr marL="0" indent="0" algn="ctr">
              <a:buNone/>
              <a:defRPr/>
            </a:pPr>
            <a:r>
              <a:rPr lang="en-US" altLang="ko-KR" sz="4000" b="1">
                <a:solidFill>
                  <a:srgbClr val="FFFFFF"/>
                </a:solidFill>
                <a:latin typeface="굴림"/>
                <a:ea typeface="굴림"/>
                <a:cs typeface="굴림"/>
              </a:rPr>
              <a:t>Q &amp; A</a:t>
            </a:r>
          </a:p>
          <a:p>
            <a:pPr marL="0" indent="0" algn="ctr">
              <a:buNone/>
              <a:defRPr/>
            </a:pPr>
            <a:endParaRPr lang="en-US" altLang="ko-KR" sz="4000" b="1">
              <a:solidFill>
                <a:srgbClr val="FFFFFF"/>
              </a:solidFill>
              <a:latin typeface="굴림"/>
              <a:ea typeface="굴림"/>
              <a:cs typeface="굴림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566928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850">
                <a:solidFill>
                  <a:srgbClr val="9AA4B4"/>
                </a:solidFill>
                <a:latin typeface="굴림"/>
                <a:ea typeface="굴림"/>
                <a:cs typeface="굴림"/>
              </a:rPr>
              <a:t>Sapien Semiconductors  |  KOSDAQ 452430  |  Investment Analysis</a:t>
            </a:r>
            <a:endParaRPr lang="en-US" sz="850"/>
          </a:p>
        </p:txBody>
      </p:sp>
      <p:sp>
        <p:nvSpPr>
          <p:cNvPr id="17" name="Text 13"/>
          <p:cNvSpPr/>
          <p:nvPr/>
        </p:nvSpPr>
        <p:spPr>
          <a:xfrm>
            <a:off x="11076127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r">
              <a:buNone/>
              <a:defRPr/>
            </a:pPr>
            <a:r>
              <a:rPr lang="en-US" altLang="ko-KR" sz="900">
                <a:solidFill>
                  <a:srgbClr val="9AA4B4"/>
                </a:solidFill>
                <a:latin typeface="굴림"/>
                <a:ea typeface="굴림"/>
                <a:cs typeface="굴림"/>
              </a:rPr>
              <a:t>3</a:t>
            </a:r>
            <a:r>
              <a:rPr lang="en-US" sz="900">
                <a:solidFill>
                  <a:srgbClr val="9AA4B4"/>
                </a:solidFill>
                <a:latin typeface="굴림"/>
                <a:ea typeface="굴림"/>
                <a:cs typeface="굴림"/>
              </a:rPr>
              <a:t>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Times New Roman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Times New Roman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4932</Words>
  <Application>Microsoft Office PowerPoint</Application>
  <PresentationFormat>와이드스크린</PresentationFormat>
  <Paragraphs>900</Paragraphs>
  <Slides>41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46" baseType="lpstr">
      <vt:lpstr>Gulim</vt:lpstr>
      <vt:lpstr>Gulim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>PptxGenJS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사피엔반도체 투자분석</dc:title>
  <dc:subject>PptxGenJS Presentation</dc:subject>
  <dc:creator>Sapien Investment Analysis</dc:creator>
  <cp:lastModifiedBy>mypcsfive@naver.com</cp:lastModifiedBy>
  <cp:revision>50</cp:revision>
  <dcterms:created xsi:type="dcterms:W3CDTF">2026-06-10T14:06:49Z</dcterms:created>
  <dcterms:modified xsi:type="dcterms:W3CDTF">2026-06-28T13:58:11Z</dcterms:modified>
  <cp:version/>
</cp:coreProperties>
</file>